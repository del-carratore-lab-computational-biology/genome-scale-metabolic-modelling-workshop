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a2bf9e-89b2-3c0b-4378-326448872364}">
          <p14:sldIdLst>
            <p14:sldId id="256"/>
          </p14:sldIdLst>
        </p14:section>
        <p14:section name="Recap of Day 1" id="{da93d9b3-a714-4698-2d9f-3b387916a6f5}">
          <p14:sldIdLst>
            <p14:sldId id="257"/>
            <p14:sldId id="258"/>
            <p14:sldId id="259"/>
          </p14:sldIdLst>
        </p14:section>
        <p14:section name="The reconstruction problem" id="{f12488ad-a21a-28a4-29f7-56c22967b641}">
          <p14:sldIdLst>
            <p14:sldId id="260"/>
            <p14:sldId id="261"/>
          </p14:sldIdLst>
        </p14:section>
        <p14:section name="Today" id="{9ff553c0-725d-4e0a-6923-8d2b37e95192}">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welcome back to Day 2.
Yesterday you learned what a genome-scale metabolic model is and how to use one: load it, constrain it, run FBA, look at the fluxes. Today we ask the question that Day 1 quietly skipped: where does a model like that come from in the first place?
In the next ten minutes: a quick recap of the three ideas from yesterday that we need today, then the reconstruction problem itself, and finally the plan for the day.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Day 1 in one line, left to right.
We started from omics and databases — NCBI, PDB, KEGG — which tell us what a genome encodes. Then Stephen introduced genome-scale models: you downloaded one as an SBML file from BiGG and loaded it with cobrapy. Flux balance analysis turned that model into a linear program, and the solution gave you predictions: a growth rate, a flux distribution, FVA ranges, and an Escher map to look at it.
Notice where the chain starts: with a finished model. Everything today is about the step before that.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Underneath, a model is just a structured parts list — and today you will write one yourself, so it is worth naming the parts.
Metabolites, each tagged with a compartment: glucose outside the cell is glc__D_e. Reactions, with exact stoichiometry. Bounds, which encode both direction — an irreversible reaction has a lower bound of zero — and how much of a nutrient can be taken up. Gene–protein–reaction rules: AND means the genes form a complex and all are needed; OR means isozymes, and any one is enough. That is why some knockouts kill growth and others do nothing. An objective, usually a biomass reaction. And the whole thing is saved in SBML so anyone can reload exactly the same model.
Keep this list in mind: each part is something a reconstruction has to get right.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behind every prediction yesterday was FBA. Steady state gives S times v equals zero; bounds limit each flux; and we maximise an objective, usually biomass.
Why optimise at all? Because a model has more reactions than metabolites, so the steady-state equations alone have infinitely many solutions. The objective picks one optimum, and FVA tells you how much each flux could vary while staying near that optimum.
The point I want you to carry into today: predictions come from the constraints. Take the E. coli core model with glucose uptake capped at 10. With oxygen it grows at 0.87 per hour. Set one bound — oxygen uptake — to zero and it drops to 0.21. Same network, one number changed.
So if a reaction is missing, has the wrong direction, or has the wrong gene rule, the prediction is wrong — and FBA will not warn you. The model is only as good as its reconstruction.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who built the models you downloaded? People did, slowly.
This is the lineage of the E. coli K-12 model. iJE660 in 2000, then iJR904, iAF1260, iJO1366 — which we'll use on Day 3 — and iML1515 in 2017. There is a naming convention hiding here: i for in silico, the builder's initials, and the number of genes. Each version added genes, fixed reactions, and was checked against experiments and the literature.
That is seventeen years of community curation, for the best-studied bacterium we have. Now think about the organism you work on. Most organisms will never get that treatment — which is exactly the problem we tackle today.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its simplest form. The input is a genome sequence. The output is a model that simulates — an SBML file you can run FBA on. Everything in between is reconstruction.
To get from one to the other you have to answer five questions. Annotation: which genes encode enzymes, and what do they do? Stoichiometry: is every reaction balanced, and does it run in the right direction? Compartments: where does each reaction happen, and what has to be transported? Biomass: what is the cell made of, and in what proportions — that becomes your objective. And gaps: put it all together and the network almost never grows at first, because something is missing.
Done carefully by hand, the standard protocol from Thiele and Palsson has 96 steps and takes six months to two years for one organism. That doesn't scale to thousands of sequenced genomes — so automated pipelines exist. They trade some accuracy for enormous speed.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how today is built: first by hand, then automated.
Straight after this, you build a small toy model from scratch in cobrapy — metabolites, reactions, bounds, gene rules, objective — so every part we just listed is in your hands. That takes us to lunch. At one I'll talk through how real reconstruction pipelines work, from annotation to curation, and the main tools: CarveMe, ModelSEED, gapseq, KBase.
At two you use one of them, ModelSEED in KBase, to build models of three real bacteria (E. coli, Bacillus subtilis and Lactococcus lactis) and compare them with their curated models in BiGG. Nothing to install: it all runs in the browser. We finish with a discussion on how far to trust an automated reconstruction, with MEMOTE quality reports, and at four the drop-in clinic if you want help on your own laptop.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to carry through every session today: how much should we trust an automated reconstruction, and how would we check?
We will come back to it in the afternoon discussion. To answer it well you first need to know what a model is made of — so let's open the first notebook and build one by hand.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120640" cy="36576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554480"/>
            <a:ext cx="5303520" cy="14173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063240"/>
            <a:ext cx="5120640" cy="50292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
        <p:nvSpPr>
          <p:cNvPr id="5" name="Text 0"/>
          <p:cNvSpPr/>
          <p:nvPr>
            <p:ph idx="103" type="body" hasCustomPrompt="1"/>
          </p:nvPr>
        </p:nvSpPr>
        <p:spPr>
          <a:xfrm>
            <a:off x="548640" y="4069080"/>
            <a:ext cx="5120640" cy="36576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457200" y="4736592"/>
            <a:ext cx="5486400" cy="274320"/>
          </a:xfrm>
          <a:prstGeom prst="rect">
            <a:avLst/>
          </a:prstGeom>
          <a:noFill/>
          <a:ln/>
        </p:spPr>
        <p:txBody>
          <a:bodyPr wrap="square" lIns="0" tIns="0" rIns="0" bIns="0" rtlCol="0" anchor="t"/>
          <a:lstStyle/>
          <a:p>
            <a:pPr indent="0" marL="0">
              <a:buNone/>
            </a:pPr>
            <a:r>
              <a:rPr lang="en-US" sz="1000" dirty="0">
                <a:solidFill>
                  <a:schemeClr val="accent3"/>
                </a:solidFill>
              </a:rPr>
              <a:t>CODE-M Workshop · Day 2</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5394960" cy="36576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600200"/>
            <a:ext cx="5486400" cy="2011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548640" y="3840480"/>
            <a:ext cx="5394960" cy="50292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120640" cy="365760"/>
          </a:xfrm>
          <a:prstGeom prst="rect">
            <a:avLst/>
          </a:prstGeom>
          <a:noFill/>
          <a:ln/>
        </p:spPr>
        <p:txBody>
          <a:bodyPr wrap="square" lIns="0" tIns="0" rIns="0" bIns="0" rtlCol="0" anchor="ctr"/>
          <a:lstStyle/>
          <a:p>
            <a:pPr indent="0" marL="0">
              <a:buNone/>
            </a:pPr>
            <a:r>
              <a:rPr lang="en-US" sz="1400" b="1" dirty="0">
                <a:solidFill>
                  <a:schemeClr val="accent2"/>
                </a:solidFill>
              </a:rPr>
              <a:t>CODE-M Workshop · Day 2</a:t>
            </a:r>
            <a:endParaRPr lang="en-US" sz="1400" dirty="0"/>
          </a:p>
        </p:txBody>
      </p:sp>
      <p:sp>
        <p:nvSpPr>
          <p:cNvPr id="3" name="Text 0"/>
          <p:cNvSpPr/>
          <p:nvPr>
            <p:ph idx="101" type="title" hasCustomPrompt="1"/>
          </p:nvPr>
        </p:nvSpPr>
        <p:spPr>
          <a:xfrm>
            <a:off x="548640" y="1554480"/>
            <a:ext cx="5303520" cy="1417320"/>
          </a:xfrm>
          <a:prstGeom prst="rect">
            <a:avLst/>
          </a:prstGeom>
          <a:noFill/>
          <a:ln/>
        </p:spPr>
        <p:txBody>
          <a:bodyPr wrap="square" lIns="0" tIns="0" rIns="0" bIns="0" rtlCol="0" anchor="t"/>
          <a:lstStyle/>
          <a:p>
            <a:pPr algn="l" indent="0" marL="0">
              <a:buNone/>
            </a:pPr>
            <a:r>
              <a:rPr lang="en-US" sz="4000" b="1" dirty="0">
                <a:solidFill>
                  <a:schemeClr val="bg1"/>
                </a:solidFill>
              </a:rPr>
              <a:t>Where do metabolic models come from?</a:t>
            </a:r>
            <a:endParaRPr lang="en-US" sz="4000" dirty="0"/>
          </a:p>
        </p:txBody>
      </p:sp>
      <p:sp>
        <p:nvSpPr>
          <p:cNvPr id="4" name="Text 0"/>
          <p:cNvSpPr/>
          <p:nvPr>
            <p:ph idx="102" type="body" hasCustomPrompt="1"/>
          </p:nvPr>
        </p:nvSpPr>
        <p:spPr>
          <a:xfrm>
            <a:off x="548640" y="3063240"/>
            <a:ext cx="5120640" cy="502920"/>
          </a:xfrm>
          <a:prstGeom prst="rect">
            <a:avLst/>
          </a:prstGeom>
          <a:noFill/>
          <a:ln/>
        </p:spPr>
        <p:txBody>
          <a:bodyPr wrap="square" lIns="0" tIns="0" rIns="0" bIns="0" rtlCol="0" anchor="t"/>
          <a:lstStyle/>
          <a:p>
            <a:pPr indent="0" marL="0">
              <a:buNone/>
            </a:pPr>
            <a:r>
              <a:rPr lang="en-US" sz="1800" dirty="0">
                <a:solidFill>
                  <a:schemeClr val="accent4"/>
                </a:solidFill>
              </a:rPr>
              <a:t>Recap of Day 1 and the reconstruction problem</a:t>
            </a:r>
            <a:endParaRPr lang="en-US" sz="1800" dirty="0"/>
          </a:p>
        </p:txBody>
      </p:sp>
      <p:sp>
        <p:nvSpPr>
          <p:cNvPr id="5" name="Text 0"/>
          <p:cNvSpPr/>
          <p:nvPr>
            <p:ph idx="103" type="body" hasCustomPrompt="1"/>
          </p:nvPr>
        </p:nvSpPr>
        <p:spPr>
          <a:xfrm>
            <a:off x="548640" y="4069080"/>
            <a:ext cx="5120640" cy="365760"/>
          </a:xfrm>
          <a:prstGeom prst="rect">
            <a:avLst/>
          </a:prstGeom>
          <a:noFill/>
          <a:ln/>
        </p:spPr>
        <p:txBody>
          <a:bodyPr wrap="square" lIns="0" tIns="0" rIns="0" bIns="0" rtlCol="0" anchor="ctr"/>
          <a:lstStyle/>
          <a:p>
            <a:pPr indent="0" marL="0">
              <a:buNone/>
            </a:pPr>
            <a:r>
              <a:rPr lang="en-US" sz="1400" dirty="0">
                <a:solidFill>
                  <a:schemeClr val="bg1"/>
                </a:solidFill>
              </a:rPr>
              <a:t>Francesco Del Carratore</a:t>
            </a:r>
            <a:endParaRPr lang="en-US" sz="1400" dirty="0"/>
          </a:p>
        </p:txBody>
      </p:sp>
      <p:sp>
        <p:nvSpPr>
          <p:cNvPr id="6" name="Title edge AC"/>
          <p:cNvSpPr/>
          <p:nvPr/>
        </p:nvSpPr>
        <p:spPr>
          <a:xfrm>
            <a:off x="6363621" y="1456625"/>
            <a:ext cx="333297" cy="435850"/>
          </a:xfrm>
          <a:prstGeom prst="line">
            <a:avLst/>
          </a:prstGeom>
          <a:noFill/>
          <a:ln w="15875">
            <a:solidFill>
              <a:schemeClr val="accent4"/>
            </a:solidFill>
            <a:prstDash val="solid"/>
            <a:tailEnd type="triangle"/>
          </a:ln>
        </p:spPr>
      </p:sp>
      <p:sp>
        <p:nvSpPr>
          <p:cNvPr id="7" name="Title edge BD"/>
          <p:cNvSpPr/>
          <p:nvPr/>
        </p:nvSpPr>
        <p:spPr>
          <a:xfrm>
            <a:off x="7507172" y="1235407"/>
            <a:ext cx="530456" cy="500987"/>
          </a:xfrm>
          <a:prstGeom prst="line">
            <a:avLst/>
          </a:prstGeom>
          <a:noFill/>
          <a:ln w="15875">
            <a:solidFill>
              <a:schemeClr val="accent4"/>
            </a:solidFill>
            <a:prstDash val="solid"/>
            <a:tailEnd type="triangle"/>
          </a:ln>
        </p:spPr>
      </p:sp>
      <p:sp>
        <p:nvSpPr>
          <p:cNvPr id="8" name="Title edge CD"/>
          <p:cNvSpPr/>
          <p:nvPr/>
        </p:nvSpPr>
        <p:spPr>
          <a:xfrm flipV="1">
            <a:off x="7101298" y="1908700"/>
            <a:ext cx="884339" cy="152472"/>
          </a:xfrm>
          <a:prstGeom prst="line">
            <a:avLst/>
          </a:prstGeom>
          <a:noFill/>
          <a:ln w="15875">
            <a:solidFill>
              <a:schemeClr val="accent4"/>
            </a:solidFill>
            <a:prstDash val="solid"/>
            <a:tailEnd type="triangle"/>
          </a:ln>
        </p:spPr>
      </p:sp>
      <p:sp>
        <p:nvSpPr>
          <p:cNvPr id="9" name="Title edge DE"/>
          <p:cNvSpPr/>
          <p:nvPr/>
        </p:nvSpPr>
        <p:spPr>
          <a:xfrm flipH="1">
            <a:off x="7745652" y="2038093"/>
            <a:ext cx="356442" cy="712884"/>
          </a:xfrm>
          <a:prstGeom prst="line">
            <a:avLst/>
          </a:prstGeom>
          <a:noFill/>
          <a:ln w="15875">
            <a:solidFill>
              <a:schemeClr val="accent4"/>
            </a:solidFill>
            <a:prstDash val="solid"/>
            <a:tailEnd type="triangle"/>
          </a:ln>
        </p:spPr>
      </p:sp>
      <p:sp>
        <p:nvSpPr>
          <p:cNvPr id="10" name="Title edge CF"/>
          <p:cNvSpPr/>
          <p:nvPr/>
        </p:nvSpPr>
        <p:spPr>
          <a:xfrm flipH="1">
            <a:off x="6437930" y="2325846"/>
            <a:ext cx="313549" cy="655602"/>
          </a:xfrm>
          <a:prstGeom prst="line">
            <a:avLst/>
          </a:prstGeom>
          <a:noFill/>
          <a:ln w="15875">
            <a:solidFill>
              <a:schemeClr val="accent4"/>
            </a:solidFill>
            <a:prstDash val="solid"/>
            <a:tailEnd type="triangle"/>
          </a:ln>
        </p:spPr>
      </p:sp>
      <p:sp>
        <p:nvSpPr>
          <p:cNvPr id="11" name="Title edge FH"/>
          <p:cNvSpPr/>
          <p:nvPr/>
        </p:nvSpPr>
        <p:spPr>
          <a:xfrm>
            <a:off x="6470027" y="3284954"/>
            <a:ext cx="455905" cy="516692"/>
          </a:xfrm>
          <a:prstGeom prst="line">
            <a:avLst/>
          </a:prstGeom>
          <a:noFill/>
          <a:ln w="15875">
            <a:solidFill>
              <a:schemeClr val="accent4"/>
            </a:solidFill>
            <a:prstDash val="solid"/>
            <a:tailEnd type="triangle"/>
          </a:ln>
        </p:spPr>
      </p:sp>
      <p:sp>
        <p:nvSpPr>
          <p:cNvPr id="12" name="Title edge EH"/>
          <p:cNvSpPr/>
          <p:nvPr/>
        </p:nvSpPr>
        <p:spPr>
          <a:xfrm flipH="1">
            <a:off x="7132327" y="3166171"/>
            <a:ext cx="382589" cy="618028"/>
          </a:xfrm>
          <a:prstGeom prst="line">
            <a:avLst/>
          </a:prstGeom>
          <a:noFill/>
          <a:ln w="15875">
            <a:solidFill>
              <a:schemeClr val="accent4"/>
            </a:solidFill>
            <a:prstDash val="solid"/>
            <a:tailEnd type="triangle"/>
          </a:ln>
        </p:spPr>
      </p:sp>
      <p:sp>
        <p:nvSpPr>
          <p:cNvPr id="13" name="Title edge DG"/>
          <p:cNvSpPr/>
          <p:nvPr/>
        </p:nvSpPr>
        <p:spPr>
          <a:xfrm>
            <a:off x="8215662" y="2054617"/>
            <a:ext cx="202811" cy="1149261"/>
          </a:xfrm>
          <a:prstGeom prst="line">
            <a:avLst/>
          </a:prstGeom>
          <a:noFill/>
          <a:ln w="15875">
            <a:solidFill>
              <a:schemeClr val="accent4"/>
            </a:solidFill>
            <a:prstDash val="solid"/>
            <a:tailEnd type="triangle"/>
          </a:ln>
        </p:spPr>
      </p:sp>
      <p:sp>
        <p:nvSpPr>
          <p:cNvPr id="14" name="Title flux BC"/>
          <p:cNvSpPr/>
          <p:nvPr/>
        </p:nvSpPr>
        <p:spPr>
          <a:xfrm flipH="1">
            <a:off x="6976590" y="1277210"/>
            <a:ext cx="294365" cy="588729"/>
          </a:xfrm>
          <a:prstGeom prst="line">
            <a:avLst/>
          </a:prstGeom>
          <a:noFill/>
          <a:ln w="31750">
            <a:solidFill>
              <a:schemeClr val="accent2"/>
            </a:solidFill>
            <a:prstDash val="solid"/>
            <a:tailEnd type="triangle"/>
          </a:ln>
        </p:spPr>
      </p:sp>
      <p:sp>
        <p:nvSpPr>
          <p:cNvPr id="15" name="Title flux CE"/>
          <p:cNvSpPr/>
          <p:nvPr/>
        </p:nvSpPr>
        <p:spPr>
          <a:xfrm>
            <a:off x="7022624" y="2287111"/>
            <a:ext cx="447993" cy="500698"/>
          </a:xfrm>
          <a:prstGeom prst="line">
            <a:avLst/>
          </a:prstGeom>
          <a:noFill/>
          <a:ln w="31750">
            <a:solidFill>
              <a:schemeClr val="accent2"/>
            </a:solidFill>
            <a:prstDash val="solid"/>
            <a:tailEnd type="triangle"/>
          </a:ln>
        </p:spPr>
      </p:sp>
      <p:sp>
        <p:nvSpPr>
          <p:cNvPr id="16" name="Title flux EG"/>
          <p:cNvSpPr/>
          <p:nvPr/>
        </p:nvSpPr>
        <p:spPr>
          <a:xfrm>
            <a:off x="7835072" y="3082818"/>
            <a:ext cx="423295" cy="235164"/>
          </a:xfrm>
          <a:prstGeom prst="line">
            <a:avLst/>
          </a:prstGeom>
          <a:noFill/>
          <a:ln w="31750">
            <a:solidFill>
              <a:schemeClr val="accent2"/>
            </a:solidFill>
            <a:prstDash val="solid"/>
            <a:tailEnd type="triangle"/>
          </a:ln>
        </p:spPr>
      </p:sp>
      <p:sp>
        <p:nvSpPr>
          <p:cNvPr id="17" name="Title node A"/>
          <p:cNvSpPr/>
          <p:nvPr/>
        </p:nvSpPr>
        <p:spPr>
          <a:xfrm>
            <a:off x="6144768" y="1207008"/>
            <a:ext cx="237744" cy="237744"/>
          </a:xfrm>
          <a:prstGeom prst="ellipse">
            <a:avLst/>
          </a:prstGeom>
          <a:solidFill>
            <a:schemeClr val="accent1"/>
          </a:solidFill>
          <a:ln/>
        </p:spPr>
      </p:sp>
      <p:sp>
        <p:nvSpPr>
          <p:cNvPr id="18" name="Title node B"/>
          <p:cNvSpPr/>
          <p:nvPr/>
        </p:nvSpPr>
        <p:spPr>
          <a:xfrm>
            <a:off x="7205472" y="941832"/>
            <a:ext cx="310896" cy="310896"/>
          </a:xfrm>
          <a:prstGeom prst="ellipse">
            <a:avLst/>
          </a:prstGeom>
          <a:solidFill>
            <a:schemeClr val="accent2"/>
          </a:solidFill>
          <a:ln/>
        </p:spPr>
      </p:sp>
      <p:sp>
        <p:nvSpPr>
          <p:cNvPr id="19" name="Title node C"/>
          <p:cNvSpPr/>
          <p:nvPr/>
        </p:nvSpPr>
        <p:spPr>
          <a:xfrm>
            <a:off x="6656832" y="1901952"/>
            <a:ext cx="402336" cy="402336"/>
          </a:xfrm>
          <a:prstGeom prst="ellipse">
            <a:avLst/>
          </a:prstGeom>
          <a:solidFill>
            <a:schemeClr val="accent2"/>
          </a:solidFill>
          <a:ln/>
        </p:spPr>
      </p:sp>
      <p:sp>
        <p:nvSpPr>
          <p:cNvPr id="20" name="Title node D"/>
          <p:cNvSpPr/>
          <p:nvPr/>
        </p:nvSpPr>
        <p:spPr>
          <a:xfrm>
            <a:off x="8046720" y="1737360"/>
            <a:ext cx="274320" cy="274320"/>
          </a:xfrm>
          <a:prstGeom prst="ellipse">
            <a:avLst/>
          </a:prstGeom>
          <a:solidFill>
            <a:schemeClr val="accent1"/>
          </a:solidFill>
          <a:ln/>
        </p:spPr>
      </p:sp>
      <p:sp>
        <p:nvSpPr>
          <p:cNvPr id="21" name="Title node E"/>
          <p:cNvSpPr/>
          <p:nvPr/>
        </p:nvSpPr>
        <p:spPr>
          <a:xfrm>
            <a:off x="7452360" y="2788920"/>
            <a:ext cx="365760" cy="365760"/>
          </a:xfrm>
          <a:prstGeom prst="ellipse">
            <a:avLst/>
          </a:prstGeom>
          <a:solidFill>
            <a:schemeClr val="accent2"/>
          </a:solidFill>
          <a:ln/>
        </p:spPr>
      </p:sp>
      <p:sp>
        <p:nvSpPr>
          <p:cNvPr id="22" name="Title node F"/>
          <p:cNvSpPr/>
          <p:nvPr/>
        </p:nvSpPr>
        <p:spPr>
          <a:xfrm>
            <a:off x="6227064" y="3026664"/>
            <a:ext cx="256032" cy="256032"/>
          </a:xfrm>
          <a:prstGeom prst="ellipse">
            <a:avLst/>
          </a:prstGeom>
          <a:solidFill>
            <a:schemeClr val="accent1"/>
          </a:solidFill>
          <a:ln/>
        </p:spPr>
      </p:sp>
      <p:sp>
        <p:nvSpPr>
          <p:cNvPr id="23" name="Title node G"/>
          <p:cNvSpPr/>
          <p:nvPr/>
        </p:nvSpPr>
        <p:spPr>
          <a:xfrm>
            <a:off x="8293608" y="3264408"/>
            <a:ext cx="329184" cy="329184"/>
          </a:xfrm>
          <a:prstGeom prst="ellipse">
            <a:avLst/>
          </a:prstGeom>
          <a:solidFill>
            <a:schemeClr val="accent2"/>
          </a:solidFill>
          <a:ln/>
        </p:spPr>
      </p:sp>
      <p:sp>
        <p:nvSpPr>
          <p:cNvPr id="24" name="Title node H"/>
          <p:cNvSpPr/>
          <p:nvPr/>
        </p:nvSpPr>
        <p:spPr>
          <a:xfrm>
            <a:off x="6931152" y="3822192"/>
            <a:ext cx="219456" cy="219456"/>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Day 1: from model to prediction</a:t>
            </a:r>
            <a:endParaRPr lang="en-US" sz="3600" dirty="0"/>
          </a:p>
        </p:txBody>
      </p:sp>
      <p:sp>
        <p:nvSpPr>
          <p:cNvPr id="3" name="Step 1 node"/>
          <p:cNvSpPr/>
          <p:nvPr/>
        </p:nvSpPr>
        <p:spPr>
          <a:xfrm>
            <a:off x="960120" y="1325880"/>
            <a:ext cx="777240" cy="777240"/>
          </a:xfrm>
          <a:prstGeom prst="ellipse">
            <a:avLst/>
          </a:prstGeom>
          <a:solidFill>
            <a:schemeClr val="accent1"/>
          </a:solidFill>
          <a:ln/>
        </p:spPr>
      </p:sp>
      <p:pic>
        <p:nvPicPr>
          <p:cNvPr id="4" name="Step 1 icon" descr="preencoded.png">    </p:cNvPr>
          <p:cNvPicPr>
            <a:picLocks noChangeAspect="1"/>
          </p:cNvPicPr>
          <p:nvPr/>
        </p:nvPicPr>
        <p:blipFill>
          <a:blip r:embed="rId1"/>
          <a:stretch>
            <a:fillRect/>
          </a:stretch>
        </p:blipFill>
        <p:spPr>
          <a:xfrm>
            <a:off x="1154430" y="1520190"/>
            <a:ext cx="388620" cy="388620"/>
          </a:xfrm>
          <a:prstGeom prst="rect">
            <a:avLst/>
          </a:prstGeom>
        </p:spPr>
      </p:pic>
      <p:sp>
        <p:nvSpPr>
          <p:cNvPr id="5" name="Step 1 label"/>
          <p:cNvSpPr txBox="1"/>
          <p:nvPr/>
        </p:nvSpPr>
        <p:spPr>
          <a:xfrm>
            <a:off x="457200" y="2240280"/>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Omics &amp; databases</a:t>
            </a:r>
            <a:endParaRPr lang="en-US" sz="1600" dirty="0"/>
          </a:p>
        </p:txBody>
      </p:sp>
      <p:sp>
        <p:nvSpPr>
          <p:cNvPr id="6" name="Step 1 text"/>
          <p:cNvSpPr txBox="1"/>
          <p:nvPr/>
        </p:nvSpPr>
        <p:spPr>
          <a:xfrm>
            <a:off x="457200" y="2633472"/>
            <a:ext cx="1783080" cy="685800"/>
          </a:xfrm>
          <a:prstGeom prst="rect">
            <a:avLst/>
          </a:prstGeom>
          <a:noFill/>
          <a:ln/>
        </p:spPr>
        <p:txBody>
          <a:bodyPr wrap="square" lIns="0" tIns="0" rIns="0" bIns="0" rtlCol="0" anchor="t"/>
          <a:lstStyle/>
          <a:p>
            <a:pPr algn="ctr" indent="0" marL="0">
              <a:buNone/>
            </a:pPr>
            <a:r>
              <a:rPr lang="en-US" sz="1400" dirty="0">
                <a:solidFill>
                  <a:schemeClr val="tx1"/>
                </a:solidFill>
              </a:rPr>
              <a:t>NCBI, PDB, KEGG: what a genome encodes</a:t>
            </a:r>
            <a:endParaRPr lang="en-US" sz="1400" dirty="0"/>
          </a:p>
        </p:txBody>
      </p:sp>
      <p:sp>
        <p:nvSpPr>
          <p:cNvPr id="7" name="Flow arrow 1"/>
          <p:cNvSpPr/>
          <p:nvPr/>
        </p:nvSpPr>
        <p:spPr>
          <a:xfrm>
            <a:off x="1847088" y="1714500"/>
            <a:ext cx="1152144" cy="0"/>
          </a:xfrm>
          <a:prstGeom prst="line">
            <a:avLst/>
          </a:prstGeom>
          <a:noFill/>
          <a:ln w="31750">
            <a:solidFill>
              <a:schemeClr val="accent2"/>
            </a:solidFill>
            <a:prstDash val="solid"/>
            <a:tailEnd type="triangle"/>
          </a:ln>
        </p:spPr>
      </p:sp>
      <p:sp>
        <p:nvSpPr>
          <p:cNvPr id="8" name="Step 2 node"/>
          <p:cNvSpPr/>
          <p:nvPr/>
        </p:nvSpPr>
        <p:spPr>
          <a:xfrm>
            <a:off x="3108960" y="1325880"/>
            <a:ext cx="777240" cy="777240"/>
          </a:xfrm>
          <a:prstGeom prst="ellipse">
            <a:avLst/>
          </a:prstGeom>
          <a:solidFill>
            <a:schemeClr val="accent1"/>
          </a:solidFill>
          <a:ln/>
        </p:spPr>
      </p:sp>
      <p:pic>
        <p:nvPicPr>
          <p:cNvPr id="9" name="Step 2 icon" descr="preencoded.png">    </p:cNvPr>
          <p:cNvPicPr>
            <a:picLocks noChangeAspect="1"/>
          </p:cNvPicPr>
          <p:nvPr/>
        </p:nvPicPr>
        <p:blipFill>
          <a:blip r:embed="rId2"/>
          <a:stretch>
            <a:fillRect/>
          </a:stretch>
        </p:blipFill>
        <p:spPr>
          <a:xfrm>
            <a:off x="3303270" y="1520190"/>
            <a:ext cx="388620" cy="388620"/>
          </a:xfrm>
          <a:prstGeom prst="rect">
            <a:avLst/>
          </a:prstGeom>
        </p:spPr>
      </p:pic>
      <p:sp>
        <p:nvSpPr>
          <p:cNvPr id="10" name="Step 2 label"/>
          <p:cNvSpPr txBox="1"/>
          <p:nvPr/>
        </p:nvSpPr>
        <p:spPr>
          <a:xfrm>
            <a:off x="2606040" y="2240280"/>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Genome-scale model</a:t>
            </a:r>
            <a:endParaRPr lang="en-US" sz="1600" dirty="0"/>
          </a:p>
        </p:txBody>
      </p:sp>
      <p:sp>
        <p:nvSpPr>
          <p:cNvPr id="11" name="Step 2 text"/>
          <p:cNvSpPr txBox="1"/>
          <p:nvPr/>
        </p:nvSpPr>
        <p:spPr>
          <a:xfrm>
            <a:off x="2606040" y="2633472"/>
            <a:ext cx="1783080" cy="685800"/>
          </a:xfrm>
          <a:prstGeom prst="rect">
            <a:avLst/>
          </a:prstGeom>
          <a:noFill/>
          <a:ln/>
        </p:spPr>
        <p:txBody>
          <a:bodyPr wrap="square" lIns="0" tIns="0" rIns="0" bIns="0" rtlCol="0" anchor="t"/>
          <a:lstStyle/>
          <a:p>
            <a:pPr algn="ctr" indent="0" marL="0">
              <a:buNone/>
            </a:pPr>
            <a:r>
              <a:rPr lang="en-US" sz="1400" dirty="0">
                <a:solidFill>
                  <a:schemeClr val="tx1"/>
                </a:solidFill>
              </a:rPr>
              <a:t>SBML from BiGG, loaded with cobrapy</a:t>
            </a:r>
            <a:endParaRPr lang="en-US" sz="1400" dirty="0"/>
          </a:p>
        </p:txBody>
      </p:sp>
      <p:sp>
        <p:nvSpPr>
          <p:cNvPr id="12" name="Flow arrow 2"/>
          <p:cNvSpPr/>
          <p:nvPr/>
        </p:nvSpPr>
        <p:spPr>
          <a:xfrm>
            <a:off x="3995928" y="1714500"/>
            <a:ext cx="1152144" cy="0"/>
          </a:xfrm>
          <a:prstGeom prst="line">
            <a:avLst/>
          </a:prstGeom>
          <a:noFill/>
          <a:ln w="31750">
            <a:solidFill>
              <a:schemeClr val="accent2"/>
            </a:solidFill>
            <a:prstDash val="solid"/>
            <a:tailEnd type="triangle"/>
          </a:ln>
        </p:spPr>
      </p:sp>
      <p:sp>
        <p:nvSpPr>
          <p:cNvPr id="13" name="Step 3 node"/>
          <p:cNvSpPr/>
          <p:nvPr/>
        </p:nvSpPr>
        <p:spPr>
          <a:xfrm>
            <a:off x="5257800" y="1325880"/>
            <a:ext cx="777240" cy="777240"/>
          </a:xfrm>
          <a:prstGeom prst="ellipse">
            <a:avLst/>
          </a:prstGeom>
          <a:solidFill>
            <a:schemeClr val="accent1"/>
          </a:solidFill>
          <a:ln/>
        </p:spPr>
      </p:sp>
      <p:pic>
        <p:nvPicPr>
          <p:cNvPr id="14" name="Step 3 icon" descr="preencoded.png">    </p:cNvPr>
          <p:cNvPicPr>
            <a:picLocks noChangeAspect="1"/>
          </p:cNvPicPr>
          <p:nvPr/>
        </p:nvPicPr>
        <p:blipFill>
          <a:blip r:embed="rId3"/>
          <a:stretch>
            <a:fillRect/>
          </a:stretch>
        </p:blipFill>
        <p:spPr>
          <a:xfrm>
            <a:off x="5452110" y="1520190"/>
            <a:ext cx="388620" cy="388620"/>
          </a:xfrm>
          <a:prstGeom prst="rect">
            <a:avLst/>
          </a:prstGeom>
        </p:spPr>
      </p:pic>
      <p:sp>
        <p:nvSpPr>
          <p:cNvPr id="15" name="Step 3 label"/>
          <p:cNvSpPr txBox="1"/>
          <p:nvPr/>
        </p:nvSpPr>
        <p:spPr>
          <a:xfrm>
            <a:off x="4754880" y="2240280"/>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Flux balance analysis</a:t>
            </a:r>
            <a:endParaRPr lang="en-US" sz="1600" dirty="0"/>
          </a:p>
        </p:txBody>
      </p:sp>
      <p:sp>
        <p:nvSpPr>
          <p:cNvPr id="16" name="Step 3 text"/>
          <p:cNvSpPr txBox="1"/>
          <p:nvPr/>
        </p:nvSpPr>
        <p:spPr>
          <a:xfrm>
            <a:off x="4754880" y="2633472"/>
            <a:ext cx="1783080" cy="685800"/>
          </a:xfrm>
          <a:prstGeom prst="rect">
            <a:avLst/>
          </a:prstGeom>
          <a:noFill/>
          <a:ln/>
        </p:spPr>
        <p:txBody>
          <a:bodyPr wrap="square" lIns="0" tIns="0" rIns="0" bIns="0" rtlCol="0" anchor="t"/>
          <a:lstStyle/>
          <a:p>
            <a:pPr algn="ctr" indent="0" marL="0">
              <a:buNone/>
            </a:pPr>
            <a:r>
              <a:rPr lang="en-US" sz="1400" dirty="0">
                <a:solidFill>
                  <a:schemeClr val="tx1"/>
                </a:solidFill>
              </a:rPr>
              <a:t>Constraints + objective → linear program</a:t>
            </a:r>
            <a:endParaRPr lang="en-US" sz="1400" dirty="0"/>
          </a:p>
        </p:txBody>
      </p:sp>
      <p:sp>
        <p:nvSpPr>
          <p:cNvPr id="17" name="Flow arrow 3"/>
          <p:cNvSpPr/>
          <p:nvPr/>
        </p:nvSpPr>
        <p:spPr>
          <a:xfrm>
            <a:off x="6144768" y="1714500"/>
            <a:ext cx="1152144" cy="0"/>
          </a:xfrm>
          <a:prstGeom prst="line">
            <a:avLst/>
          </a:prstGeom>
          <a:noFill/>
          <a:ln w="31750">
            <a:solidFill>
              <a:schemeClr val="accent2"/>
            </a:solidFill>
            <a:prstDash val="solid"/>
            <a:tailEnd type="triangle"/>
          </a:ln>
        </p:spPr>
      </p:sp>
      <p:sp>
        <p:nvSpPr>
          <p:cNvPr id="18" name="Step 4 node"/>
          <p:cNvSpPr/>
          <p:nvPr/>
        </p:nvSpPr>
        <p:spPr>
          <a:xfrm>
            <a:off x="7406640" y="1325880"/>
            <a:ext cx="777240" cy="777240"/>
          </a:xfrm>
          <a:prstGeom prst="ellipse">
            <a:avLst/>
          </a:prstGeom>
          <a:solidFill>
            <a:schemeClr val="accent1"/>
          </a:solidFill>
          <a:ln/>
        </p:spPr>
      </p:sp>
      <p:pic>
        <p:nvPicPr>
          <p:cNvPr id="19" name="Step 4 icon" descr="preencoded.png">    </p:cNvPr>
          <p:cNvPicPr>
            <a:picLocks noChangeAspect="1"/>
          </p:cNvPicPr>
          <p:nvPr/>
        </p:nvPicPr>
        <p:blipFill>
          <a:blip r:embed="rId4"/>
          <a:stretch>
            <a:fillRect/>
          </a:stretch>
        </p:blipFill>
        <p:spPr>
          <a:xfrm>
            <a:off x="7600950" y="1520190"/>
            <a:ext cx="388620" cy="388620"/>
          </a:xfrm>
          <a:prstGeom prst="rect">
            <a:avLst/>
          </a:prstGeom>
        </p:spPr>
      </p:pic>
      <p:sp>
        <p:nvSpPr>
          <p:cNvPr id="20" name="Step 4 label"/>
          <p:cNvSpPr txBox="1"/>
          <p:nvPr/>
        </p:nvSpPr>
        <p:spPr>
          <a:xfrm>
            <a:off x="6903720" y="2240280"/>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Predict &amp; visualise</a:t>
            </a:r>
            <a:endParaRPr lang="en-US" sz="1600" dirty="0"/>
          </a:p>
        </p:txBody>
      </p:sp>
      <p:sp>
        <p:nvSpPr>
          <p:cNvPr id="21" name="Step 4 text"/>
          <p:cNvSpPr txBox="1"/>
          <p:nvPr/>
        </p:nvSpPr>
        <p:spPr>
          <a:xfrm>
            <a:off x="6903720" y="2633472"/>
            <a:ext cx="1783080" cy="685800"/>
          </a:xfrm>
          <a:prstGeom prst="rect">
            <a:avLst/>
          </a:prstGeom>
          <a:noFill/>
          <a:ln/>
        </p:spPr>
        <p:txBody>
          <a:bodyPr wrap="square" lIns="0" tIns="0" rIns="0" bIns="0" rtlCol="0" anchor="t"/>
          <a:lstStyle/>
          <a:p>
            <a:pPr algn="ctr" indent="0" marL="0">
              <a:buNone/>
            </a:pPr>
            <a:r>
              <a:rPr lang="en-US" sz="1400" dirty="0">
                <a:solidFill>
                  <a:schemeClr val="tx1"/>
                </a:solidFill>
              </a:rPr>
              <a:t>Growth, flux ranges (FVA), Escher maps</a:t>
            </a:r>
            <a:endParaRPr lang="en-US" sz="1400" dirty="0"/>
          </a:p>
        </p:txBody>
      </p:sp>
      <p:sp>
        <p:nvSpPr>
          <p:cNvPr id="22" name="Bridge card"/>
          <p:cNvSpPr/>
          <p:nvPr/>
        </p:nvSpPr>
        <p:spPr>
          <a:xfrm>
            <a:off x="457200" y="3611880"/>
            <a:ext cx="8229600" cy="777240"/>
          </a:xfrm>
          <a:prstGeom prst="roundRect">
            <a:avLst>
              <a:gd name="adj" fmla="val 9412"/>
            </a:avLst>
          </a:prstGeom>
          <a:solidFill>
            <a:schemeClr val="bg2"/>
          </a:solidFill>
          <a:ln/>
        </p:spPr>
      </p:sp>
      <p:sp>
        <p:nvSpPr>
          <p:cNvPr id="23" name="Bridge node"/>
          <p:cNvSpPr/>
          <p:nvPr/>
        </p:nvSpPr>
        <p:spPr>
          <a:xfrm>
            <a:off x="685800" y="3771900"/>
            <a:ext cx="457200" cy="457200"/>
          </a:xfrm>
          <a:prstGeom prst="ellipse">
            <a:avLst/>
          </a:prstGeom>
          <a:solidFill>
            <a:schemeClr val="accent5"/>
          </a:solidFill>
          <a:ln/>
        </p:spPr>
      </p:sp>
      <p:pic>
        <p:nvPicPr>
          <p:cNvPr id="24" name="Bridge icon" descr="preencoded.png">    </p:cNvPr>
          <p:cNvPicPr>
            <a:picLocks noChangeAspect="1"/>
          </p:cNvPicPr>
          <p:nvPr/>
        </p:nvPicPr>
        <p:blipFill>
          <a:blip r:embed="rId5"/>
          <a:stretch>
            <a:fillRect/>
          </a:stretch>
        </p:blipFill>
        <p:spPr>
          <a:xfrm>
            <a:off x="800100" y="3886200"/>
            <a:ext cx="228600" cy="228600"/>
          </a:xfrm>
          <a:prstGeom prst="rect">
            <a:avLst/>
          </a:prstGeom>
        </p:spPr>
      </p:pic>
      <p:sp>
        <p:nvSpPr>
          <p:cNvPr id="25" name="Bridge text"/>
          <p:cNvSpPr txBox="1"/>
          <p:nvPr/>
        </p:nvSpPr>
        <p:spPr>
          <a:xfrm>
            <a:off x="1325880" y="3611880"/>
            <a:ext cx="7132320" cy="777240"/>
          </a:xfrm>
          <a:prstGeom prst="rect">
            <a:avLst/>
          </a:prstGeom>
          <a:noFill/>
          <a:ln/>
        </p:spPr>
        <p:txBody>
          <a:bodyPr wrap="square" lIns="0" tIns="0" rIns="0" bIns="0" rtlCol="0" anchor="ctr"/>
          <a:lstStyle/>
          <a:p>
            <a:pPr indent="0" marL="0">
              <a:buNone/>
            </a:pPr>
            <a:r>
              <a:rPr lang="en-US" sz="1600" b="1" dirty="0">
                <a:solidFill>
                  <a:schemeClr val="tx2"/>
                </a:solidFill>
              </a:rPr>
              <a:t>Day 1 started from a finished model. </a:t>
            </a:r>
            <a:pPr indent="0" marL="0">
              <a:buNone/>
            </a:pPr>
            <a:r>
              <a:rPr lang="en-US" sz="1600" dirty="0">
                <a:solidFill>
                  <a:schemeClr val="tx1"/>
                </a:solidFill>
              </a:rPr>
              <a:t>Today: where does that model come from?</a:t>
            </a:r>
            <a:endParaRPr lang="en-US" sz="16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A GSMM is a parts list</a:t>
            </a:r>
            <a:endParaRPr lang="en-US" sz="3600" dirty="0"/>
          </a:p>
        </p:txBody>
      </p:sp>
      <p:sp>
        <p:nvSpPr>
          <p:cNvPr id="3" name="Metabolites card"/>
          <p:cNvSpPr/>
          <p:nvPr/>
        </p:nvSpPr>
        <p:spPr>
          <a:xfrm>
            <a:off x="457200" y="1234440"/>
            <a:ext cx="2560320" cy="1463040"/>
          </a:xfrm>
          <a:prstGeom prst="roundRect">
            <a:avLst>
              <a:gd name="adj" fmla="val 5000"/>
            </a:avLst>
          </a:prstGeom>
          <a:solidFill>
            <a:schemeClr val="bg2"/>
          </a:solidFill>
          <a:ln/>
        </p:spPr>
      </p:sp>
      <p:sp>
        <p:nvSpPr>
          <p:cNvPr id="4" name="Metabolites node"/>
          <p:cNvSpPr/>
          <p:nvPr/>
        </p:nvSpPr>
        <p:spPr>
          <a:xfrm>
            <a:off x="640080" y="1417320"/>
            <a:ext cx="457200" cy="457200"/>
          </a:xfrm>
          <a:prstGeom prst="ellipse">
            <a:avLst/>
          </a:prstGeom>
          <a:solidFill>
            <a:schemeClr val="accent1"/>
          </a:solidFill>
          <a:ln/>
        </p:spPr>
      </p:sp>
      <p:pic>
        <p:nvPicPr>
          <p:cNvPr id="5" name="Metabolites icon"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6" name="Metabolites label"/>
          <p:cNvSpPr txBox="1"/>
          <p:nvPr/>
        </p:nvSpPr>
        <p:spPr>
          <a:xfrm>
            <a:off x="1234440" y="141732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Metabolites</a:t>
            </a:r>
            <a:endParaRPr lang="en-US" sz="1600" dirty="0"/>
          </a:p>
        </p:txBody>
      </p:sp>
      <p:sp>
        <p:nvSpPr>
          <p:cNvPr id="7" name="Metabolites text"/>
          <p:cNvSpPr txBox="1"/>
          <p:nvPr/>
        </p:nvSpPr>
        <p:spPr>
          <a:xfrm>
            <a:off x="640080" y="1947672"/>
            <a:ext cx="2194560" cy="292608"/>
          </a:xfrm>
          <a:prstGeom prst="rect">
            <a:avLst/>
          </a:prstGeom>
          <a:noFill/>
          <a:ln/>
        </p:spPr>
        <p:txBody>
          <a:bodyPr wrap="square" lIns="0" tIns="0" rIns="0" bIns="0" rtlCol="0" anchor="ctr"/>
          <a:lstStyle/>
          <a:p>
            <a:pPr indent="0" marL="0">
              <a:buNone/>
            </a:pPr>
            <a:r>
              <a:rPr lang="en-US" sz="1400" dirty="0">
                <a:solidFill>
                  <a:schemeClr val="tx1"/>
                </a:solidFill>
              </a:rPr>
              <a:t>Tagged by compartment</a:t>
            </a:r>
            <a:endParaRPr lang="en-US" sz="1400" dirty="0"/>
          </a:p>
        </p:txBody>
      </p:sp>
      <p:sp>
        <p:nvSpPr>
          <p:cNvPr id="8" name="Metabolites code chip"/>
          <p:cNvSpPr/>
          <p:nvPr/>
        </p:nvSpPr>
        <p:spPr>
          <a:xfrm>
            <a:off x="640080" y="2286000"/>
            <a:ext cx="2194560" cy="274320"/>
          </a:xfrm>
          <a:prstGeom prst="roundRect">
            <a:avLst>
              <a:gd name="adj" fmla="val 16667"/>
            </a:avLst>
          </a:prstGeom>
          <a:solidFill>
            <a:schemeClr val="bg1"/>
          </a:solidFill>
          <a:ln/>
        </p:spPr>
      </p:sp>
      <p:sp>
        <p:nvSpPr>
          <p:cNvPr id="9" name="Metabolites code"/>
          <p:cNvSpPr txBox="1"/>
          <p:nvPr/>
        </p:nvSpPr>
        <p:spPr>
          <a:xfrm>
            <a:off x="713232" y="2286000"/>
            <a:ext cx="2048256" cy="27432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glc__D_e  g6p_c</a:t>
            </a:r>
            <a:endParaRPr lang="en-US" sz="1100" dirty="0"/>
          </a:p>
        </p:txBody>
      </p:sp>
      <p:sp>
        <p:nvSpPr>
          <p:cNvPr id="10" name="Reactions card"/>
          <p:cNvSpPr/>
          <p:nvPr/>
        </p:nvSpPr>
        <p:spPr>
          <a:xfrm>
            <a:off x="3291840" y="1234440"/>
            <a:ext cx="2560320" cy="1463040"/>
          </a:xfrm>
          <a:prstGeom prst="roundRect">
            <a:avLst>
              <a:gd name="adj" fmla="val 5000"/>
            </a:avLst>
          </a:prstGeom>
          <a:solidFill>
            <a:schemeClr val="bg2"/>
          </a:solidFill>
          <a:ln/>
        </p:spPr>
      </p:sp>
      <p:sp>
        <p:nvSpPr>
          <p:cNvPr id="11" name="Reactions node"/>
          <p:cNvSpPr/>
          <p:nvPr/>
        </p:nvSpPr>
        <p:spPr>
          <a:xfrm>
            <a:off x="3474720" y="1417320"/>
            <a:ext cx="457200" cy="457200"/>
          </a:xfrm>
          <a:prstGeom prst="ellipse">
            <a:avLst/>
          </a:prstGeom>
          <a:solidFill>
            <a:schemeClr val="accent1"/>
          </a:solidFill>
          <a:ln/>
        </p:spPr>
      </p:sp>
      <p:pic>
        <p:nvPicPr>
          <p:cNvPr id="12" name="Reactions icon" descr="preencoded.png">    </p:cNvPr>
          <p:cNvPicPr>
            <a:picLocks noChangeAspect="1"/>
          </p:cNvPicPr>
          <p:nvPr/>
        </p:nvPicPr>
        <p:blipFill>
          <a:blip r:embed="rId2"/>
          <a:stretch>
            <a:fillRect/>
          </a:stretch>
        </p:blipFill>
        <p:spPr>
          <a:xfrm>
            <a:off x="3589020" y="1531620"/>
            <a:ext cx="228600" cy="228600"/>
          </a:xfrm>
          <a:prstGeom prst="rect">
            <a:avLst/>
          </a:prstGeom>
        </p:spPr>
      </p:pic>
      <p:sp>
        <p:nvSpPr>
          <p:cNvPr id="13" name="Reactions label"/>
          <p:cNvSpPr txBox="1"/>
          <p:nvPr/>
        </p:nvSpPr>
        <p:spPr>
          <a:xfrm>
            <a:off x="4069080" y="141732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Reactions</a:t>
            </a:r>
            <a:endParaRPr lang="en-US" sz="1600" dirty="0"/>
          </a:p>
        </p:txBody>
      </p:sp>
      <p:sp>
        <p:nvSpPr>
          <p:cNvPr id="14" name="Reactions text"/>
          <p:cNvSpPr txBox="1"/>
          <p:nvPr/>
        </p:nvSpPr>
        <p:spPr>
          <a:xfrm>
            <a:off x="3474720" y="1947672"/>
            <a:ext cx="2194560" cy="292608"/>
          </a:xfrm>
          <a:prstGeom prst="rect">
            <a:avLst/>
          </a:prstGeom>
          <a:noFill/>
          <a:ln/>
        </p:spPr>
        <p:txBody>
          <a:bodyPr wrap="square" lIns="0" tIns="0" rIns="0" bIns="0" rtlCol="0" anchor="ctr"/>
          <a:lstStyle/>
          <a:p>
            <a:pPr indent="0" marL="0">
              <a:buNone/>
            </a:pPr>
            <a:r>
              <a:rPr lang="en-US" sz="1400" dirty="0">
                <a:solidFill>
                  <a:schemeClr val="tx1"/>
                </a:solidFill>
              </a:rPr>
              <a:t>Exact stoichiometry</a:t>
            </a:r>
            <a:endParaRPr lang="en-US" sz="1400" dirty="0"/>
          </a:p>
        </p:txBody>
      </p:sp>
      <p:sp>
        <p:nvSpPr>
          <p:cNvPr id="15" name="Reactions code chip"/>
          <p:cNvSpPr/>
          <p:nvPr/>
        </p:nvSpPr>
        <p:spPr>
          <a:xfrm>
            <a:off x="3474720" y="2286000"/>
            <a:ext cx="2194560" cy="274320"/>
          </a:xfrm>
          <a:prstGeom prst="roundRect">
            <a:avLst>
              <a:gd name="adj" fmla="val 16667"/>
            </a:avLst>
          </a:prstGeom>
          <a:solidFill>
            <a:schemeClr val="bg1"/>
          </a:solidFill>
          <a:ln/>
        </p:spPr>
      </p:sp>
      <p:sp>
        <p:nvSpPr>
          <p:cNvPr id="16" name="Reactions code"/>
          <p:cNvSpPr txBox="1"/>
          <p:nvPr/>
        </p:nvSpPr>
        <p:spPr>
          <a:xfrm>
            <a:off x="3547872" y="2286000"/>
            <a:ext cx="2048256" cy="27432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PGI: g6p_c &lt;=&gt; f6p_c</a:t>
            </a:r>
            <a:endParaRPr lang="en-US" sz="1100" dirty="0"/>
          </a:p>
        </p:txBody>
      </p:sp>
      <p:sp>
        <p:nvSpPr>
          <p:cNvPr id="17" name="Bounds card"/>
          <p:cNvSpPr/>
          <p:nvPr/>
        </p:nvSpPr>
        <p:spPr>
          <a:xfrm>
            <a:off x="6126480" y="1234440"/>
            <a:ext cx="2560320" cy="1463040"/>
          </a:xfrm>
          <a:prstGeom prst="roundRect">
            <a:avLst>
              <a:gd name="adj" fmla="val 5000"/>
            </a:avLst>
          </a:prstGeom>
          <a:solidFill>
            <a:schemeClr val="bg2"/>
          </a:solidFill>
          <a:ln/>
        </p:spPr>
      </p:sp>
      <p:sp>
        <p:nvSpPr>
          <p:cNvPr id="18" name="Bounds node"/>
          <p:cNvSpPr/>
          <p:nvPr/>
        </p:nvSpPr>
        <p:spPr>
          <a:xfrm>
            <a:off x="6309360" y="1417320"/>
            <a:ext cx="457200" cy="457200"/>
          </a:xfrm>
          <a:prstGeom prst="ellipse">
            <a:avLst/>
          </a:prstGeom>
          <a:solidFill>
            <a:schemeClr val="accent1"/>
          </a:solidFill>
          <a:ln/>
        </p:spPr>
      </p:sp>
      <p:pic>
        <p:nvPicPr>
          <p:cNvPr id="19" name="Bounds icon" descr="preencoded.png">    </p:cNvPr>
          <p:cNvPicPr>
            <a:picLocks noChangeAspect="1"/>
          </p:cNvPicPr>
          <p:nvPr/>
        </p:nvPicPr>
        <p:blipFill>
          <a:blip r:embed="rId3"/>
          <a:stretch>
            <a:fillRect/>
          </a:stretch>
        </p:blipFill>
        <p:spPr>
          <a:xfrm>
            <a:off x="6423660" y="1531620"/>
            <a:ext cx="228600" cy="228600"/>
          </a:xfrm>
          <a:prstGeom prst="rect">
            <a:avLst/>
          </a:prstGeom>
        </p:spPr>
      </p:pic>
      <p:sp>
        <p:nvSpPr>
          <p:cNvPr id="20" name="Bounds label"/>
          <p:cNvSpPr txBox="1"/>
          <p:nvPr/>
        </p:nvSpPr>
        <p:spPr>
          <a:xfrm>
            <a:off x="6903720" y="141732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Bounds</a:t>
            </a:r>
            <a:endParaRPr lang="en-US" sz="1600" dirty="0"/>
          </a:p>
        </p:txBody>
      </p:sp>
      <p:sp>
        <p:nvSpPr>
          <p:cNvPr id="21" name="Bounds text"/>
          <p:cNvSpPr txBox="1"/>
          <p:nvPr/>
        </p:nvSpPr>
        <p:spPr>
          <a:xfrm>
            <a:off x="6309360" y="1947672"/>
            <a:ext cx="2194560" cy="292608"/>
          </a:xfrm>
          <a:prstGeom prst="rect">
            <a:avLst/>
          </a:prstGeom>
          <a:noFill/>
          <a:ln/>
        </p:spPr>
        <p:txBody>
          <a:bodyPr wrap="square" lIns="0" tIns="0" rIns="0" bIns="0" rtlCol="0" anchor="ctr"/>
          <a:lstStyle/>
          <a:p>
            <a:pPr indent="0" marL="0">
              <a:buNone/>
            </a:pPr>
            <a:r>
              <a:rPr lang="en-US" sz="1400" dirty="0">
                <a:solidFill>
                  <a:schemeClr val="tx1"/>
                </a:solidFill>
              </a:rPr>
              <a:t>Direction, uptake limits</a:t>
            </a:r>
            <a:endParaRPr lang="en-US" sz="1400" dirty="0"/>
          </a:p>
        </p:txBody>
      </p:sp>
      <p:sp>
        <p:nvSpPr>
          <p:cNvPr id="22" name="Bounds code chip"/>
          <p:cNvSpPr/>
          <p:nvPr/>
        </p:nvSpPr>
        <p:spPr>
          <a:xfrm>
            <a:off x="6309360" y="2286000"/>
            <a:ext cx="2194560" cy="274320"/>
          </a:xfrm>
          <a:prstGeom prst="roundRect">
            <a:avLst>
              <a:gd name="adj" fmla="val 16667"/>
            </a:avLst>
          </a:prstGeom>
          <a:solidFill>
            <a:schemeClr val="bg1"/>
          </a:solidFill>
          <a:ln/>
        </p:spPr>
      </p:sp>
      <p:sp>
        <p:nvSpPr>
          <p:cNvPr id="23" name="Bounds code"/>
          <p:cNvSpPr txBox="1"/>
          <p:nvPr/>
        </p:nvSpPr>
        <p:spPr>
          <a:xfrm>
            <a:off x="6382512" y="2286000"/>
            <a:ext cx="2048256" cy="27432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-10 &lt;= EX_glc__D_e</a:t>
            </a:r>
            <a:endParaRPr lang="en-US" sz="1100" dirty="0"/>
          </a:p>
        </p:txBody>
      </p:sp>
      <p:sp>
        <p:nvSpPr>
          <p:cNvPr id="24" name="GPR rules card"/>
          <p:cNvSpPr/>
          <p:nvPr/>
        </p:nvSpPr>
        <p:spPr>
          <a:xfrm>
            <a:off x="457200" y="2971800"/>
            <a:ext cx="2560320" cy="1463040"/>
          </a:xfrm>
          <a:prstGeom prst="roundRect">
            <a:avLst>
              <a:gd name="adj" fmla="val 5000"/>
            </a:avLst>
          </a:prstGeom>
          <a:solidFill>
            <a:schemeClr val="bg2"/>
          </a:solidFill>
          <a:ln/>
        </p:spPr>
      </p:sp>
      <p:sp>
        <p:nvSpPr>
          <p:cNvPr id="25" name="GPR rules node"/>
          <p:cNvSpPr/>
          <p:nvPr/>
        </p:nvSpPr>
        <p:spPr>
          <a:xfrm>
            <a:off x="640080" y="3154680"/>
            <a:ext cx="457200" cy="457200"/>
          </a:xfrm>
          <a:prstGeom prst="ellipse">
            <a:avLst/>
          </a:prstGeom>
          <a:solidFill>
            <a:schemeClr val="accent1"/>
          </a:solidFill>
          <a:ln/>
        </p:spPr>
      </p:sp>
      <p:pic>
        <p:nvPicPr>
          <p:cNvPr id="26" name="GPR rules icon" descr="preencoded.png">    </p:cNvPr>
          <p:cNvPicPr>
            <a:picLocks noChangeAspect="1"/>
          </p:cNvPicPr>
          <p:nvPr/>
        </p:nvPicPr>
        <p:blipFill>
          <a:blip r:embed="rId4"/>
          <a:stretch>
            <a:fillRect/>
          </a:stretch>
        </p:blipFill>
        <p:spPr>
          <a:xfrm>
            <a:off x="754380" y="3268980"/>
            <a:ext cx="228600" cy="228600"/>
          </a:xfrm>
          <a:prstGeom prst="rect">
            <a:avLst/>
          </a:prstGeom>
        </p:spPr>
      </p:pic>
      <p:sp>
        <p:nvSpPr>
          <p:cNvPr id="27" name="GPR rules label"/>
          <p:cNvSpPr txBox="1"/>
          <p:nvPr/>
        </p:nvSpPr>
        <p:spPr>
          <a:xfrm>
            <a:off x="1234440" y="315468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GPR rules</a:t>
            </a:r>
            <a:endParaRPr lang="en-US" sz="1600" dirty="0"/>
          </a:p>
        </p:txBody>
      </p:sp>
      <p:sp>
        <p:nvSpPr>
          <p:cNvPr id="28" name="GPR rules text"/>
          <p:cNvSpPr txBox="1"/>
          <p:nvPr/>
        </p:nvSpPr>
        <p:spPr>
          <a:xfrm>
            <a:off x="640080" y="3685032"/>
            <a:ext cx="2194560" cy="292608"/>
          </a:xfrm>
          <a:prstGeom prst="rect">
            <a:avLst/>
          </a:prstGeom>
          <a:noFill/>
          <a:ln/>
        </p:spPr>
        <p:txBody>
          <a:bodyPr wrap="square" lIns="0" tIns="0" rIns="0" bIns="0" rtlCol="0" anchor="ctr"/>
          <a:lstStyle/>
          <a:p>
            <a:pPr indent="0" marL="0">
              <a:buNone/>
            </a:pPr>
            <a:r>
              <a:rPr lang="en-US" sz="1400" dirty="0">
                <a:solidFill>
                  <a:schemeClr val="tx1"/>
                </a:solidFill>
              </a:rPr>
              <a:t>AND complex · OR isozyme</a:t>
            </a:r>
            <a:endParaRPr lang="en-US" sz="1400" dirty="0"/>
          </a:p>
        </p:txBody>
      </p:sp>
      <p:sp>
        <p:nvSpPr>
          <p:cNvPr id="29" name="GPR rules code chip"/>
          <p:cNvSpPr/>
          <p:nvPr/>
        </p:nvSpPr>
        <p:spPr>
          <a:xfrm>
            <a:off x="640080" y="4023360"/>
            <a:ext cx="2194560" cy="274320"/>
          </a:xfrm>
          <a:prstGeom prst="roundRect">
            <a:avLst>
              <a:gd name="adj" fmla="val 16667"/>
            </a:avLst>
          </a:prstGeom>
          <a:solidFill>
            <a:schemeClr val="bg1"/>
          </a:solidFill>
          <a:ln/>
        </p:spPr>
      </p:sp>
      <p:sp>
        <p:nvSpPr>
          <p:cNvPr id="30" name="GPR rules code"/>
          <p:cNvSpPr txBox="1"/>
          <p:nvPr/>
        </p:nvSpPr>
        <p:spPr>
          <a:xfrm>
            <a:off x="713232" y="4023360"/>
            <a:ext cx="2048256" cy="27432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b3115 or b2296 or b1849</a:t>
            </a:r>
            <a:endParaRPr lang="en-US" sz="1100" dirty="0"/>
          </a:p>
        </p:txBody>
      </p:sp>
      <p:sp>
        <p:nvSpPr>
          <p:cNvPr id="31" name="Objective card"/>
          <p:cNvSpPr/>
          <p:nvPr/>
        </p:nvSpPr>
        <p:spPr>
          <a:xfrm>
            <a:off x="3291840" y="2971800"/>
            <a:ext cx="2560320" cy="1463040"/>
          </a:xfrm>
          <a:prstGeom prst="roundRect">
            <a:avLst>
              <a:gd name="adj" fmla="val 5000"/>
            </a:avLst>
          </a:prstGeom>
          <a:solidFill>
            <a:schemeClr val="bg2"/>
          </a:solidFill>
          <a:ln/>
        </p:spPr>
      </p:sp>
      <p:sp>
        <p:nvSpPr>
          <p:cNvPr id="32" name="Objective node"/>
          <p:cNvSpPr/>
          <p:nvPr/>
        </p:nvSpPr>
        <p:spPr>
          <a:xfrm>
            <a:off x="3474720" y="3154680"/>
            <a:ext cx="457200" cy="457200"/>
          </a:xfrm>
          <a:prstGeom prst="ellipse">
            <a:avLst/>
          </a:prstGeom>
          <a:solidFill>
            <a:schemeClr val="accent1"/>
          </a:solidFill>
          <a:ln/>
        </p:spPr>
      </p:sp>
      <p:pic>
        <p:nvPicPr>
          <p:cNvPr id="33" name="Objective icon" descr="preencoded.png">    </p:cNvPr>
          <p:cNvPicPr>
            <a:picLocks noChangeAspect="1"/>
          </p:cNvPicPr>
          <p:nvPr/>
        </p:nvPicPr>
        <p:blipFill>
          <a:blip r:embed="rId5"/>
          <a:stretch>
            <a:fillRect/>
          </a:stretch>
        </p:blipFill>
        <p:spPr>
          <a:xfrm>
            <a:off x="3589020" y="3268980"/>
            <a:ext cx="228600" cy="228600"/>
          </a:xfrm>
          <a:prstGeom prst="rect">
            <a:avLst/>
          </a:prstGeom>
        </p:spPr>
      </p:pic>
      <p:sp>
        <p:nvSpPr>
          <p:cNvPr id="34" name="Objective label"/>
          <p:cNvSpPr txBox="1"/>
          <p:nvPr/>
        </p:nvSpPr>
        <p:spPr>
          <a:xfrm>
            <a:off x="4069080" y="315468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Objective</a:t>
            </a:r>
            <a:endParaRPr lang="en-US" sz="1600" dirty="0"/>
          </a:p>
        </p:txBody>
      </p:sp>
      <p:sp>
        <p:nvSpPr>
          <p:cNvPr id="35" name="Objective text"/>
          <p:cNvSpPr txBox="1"/>
          <p:nvPr/>
        </p:nvSpPr>
        <p:spPr>
          <a:xfrm>
            <a:off x="3474720" y="3685032"/>
            <a:ext cx="2194560" cy="292608"/>
          </a:xfrm>
          <a:prstGeom prst="rect">
            <a:avLst/>
          </a:prstGeom>
          <a:noFill/>
          <a:ln/>
        </p:spPr>
        <p:txBody>
          <a:bodyPr wrap="square" lIns="0" tIns="0" rIns="0" bIns="0" rtlCol="0" anchor="ctr"/>
          <a:lstStyle/>
          <a:p>
            <a:pPr indent="0" marL="0">
              <a:buNone/>
            </a:pPr>
            <a:r>
              <a:rPr lang="en-US" sz="1400" dirty="0">
                <a:solidFill>
                  <a:schemeClr val="tx1"/>
                </a:solidFill>
              </a:rPr>
              <a:t>Usually biomass growth</a:t>
            </a:r>
            <a:endParaRPr lang="en-US" sz="1400" dirty="0"/>
          </a:p>
        </p:txBody>
      </p:sp>
      <p:sp>
        <p:nvSpPr>
          <p:cNvPr id="36" name="Objective code chip"/>
          <p:cNvSpPr/>
          <p:nvPr/>
        </p:nvSpPr>
        <p:spPr>
          <a:xfrm>
            <a:off x="3474720" y="4023360"/>
            <a:ext cx="2194560" cy="274320"/>
          </a:xfrm>
          <a:prstGeom prst="roundRect">
            <a:avLst>
              <a:gd name="adj" fmla="val 16667"/>
            </a:avLst>
          </a:prstGeom>
          <a:solidFill>
            <a:schemeClr val="bg1"/>
          </a:solidFill>
          <a:ln/>
        </p:spPr>
      </p:sp>
      <p:sp>
        <p:nvSpPr>
          <p:cNvPr id="37" name="Objective code"/>
          <p:cNvSpPr txBox="1"/>
          <p:nvPr/>
        </p:nvSpPr>
        <p:spPr>
          <a:xfrm>
            <a:off x="3547872" y="4023360"/>
            <a:ext cx="2048256" cy="27432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BIOMASS_Ecoli_core_w_GAM</a:t>
            </a:r>
            <a:endParaRPr lang="en-US" sz="1100" dirty="0"/>
          </a:p>
        </p:txBody>
      </p:sp>
      <p:sp>
        <p:nvSpPr>
          <p:cNvPr id="38" name="SBML file card"/>
          <p:cNvSpPr/>
          <p:nvPr/>
        </p:nvSpPr>
        <p:spPr>
          <a:xfrm>
            <a:off x="6126480" y="2971800"/>
            <a:ext cx="2560320" cy="1463040"/>
          </a:xfrm>
          <a:prstGeom prst="roundRect">
            <a:avLst>
              <a:gd name="adj" fmla="val 5000"/>
            </a:avLst>
          </a:prstGeom>
          <a:solidFill>
            <a:schemeClr val="bg2"/>
          </a:solidFill>
          <a:ln/>
        </p:spPr>
      </p:sp>
      <p:sp>
        <p:nvSpPr>
          <p:cNvPr id="39" name="SBML file node"/>
          <p:cNvSpPr/>
          <p:nvPr/>
        </p:nvSpPr>
        <p:spPr>
          <a:xfrm>
            <a:off x="6309360" y="3154680"/>
            <a:ext cx="457200" cy="457200"/>
          </a:xfrm>
          <a:prstGeom prst="ellipse">
            <a:avLst/>
          </a:prstGeom>
          <a:solidFill>
            <a:schemeClr val="accent1"/>
          </a:solidFill>
          <a:ln/>
        </p:spPr>
      </p:sp>
      <p:pic>
        <p:nvPicPr>
          <p:cNvPr id="40" name="SBML file icon" descr="preencoded.png">    </p:cNvPr>
          <p:cNvPicPr>
            <a:picLocks noChangeAspect="1"/>
          </p:cNvPicPr>
          <p:nvPr/>
        </p:nvPicPr>
        <p:blipFill>
          <a:blip r:embed="rId6"/>
          <a:stretch>
            <a:fillRect/>
          </a:stretch>
        </p:blipFill>
        <p:spPr>
          <a:xfrm>
            <a:off x="6423660" y="3268980"/>
            <a:ext cx="228600" cy="228600"/>
          </a:xfrm>
          <a:prstGeom prst="rect">
            <a:avLst/>
          </a:prstGeom>
        </p:spPr>
      </p:pic>
      <p:sp>
        <p:nvSpPr>
          <p:cNvPr id="41" name="SBML file label"/>
          <p:cNvSpPr txBox="1"/>
          <p:nvPr/>
        </p:nvSpPr>
        <p:spPr>
          <a:xfrm>
            <a:off x="6903720" y="315468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SBML file</a:t>
            </a:r>
            <a:endParaRPr lang="en-US" sz="1600" dirty="0"/>
          </a:p>
        </p:txBody>
      </p:sp>
      <p:sp>
        <p:nvSpPr>
          <p:cNvPr id="42" name="SBML file text"/>
          <p:cNvSpPr txBox="1"/>
          <p:nvPr/>
        </p:nvSpPr>
        <p:spPr>
          <a:xfrm>
            <a:off x="6309360" y="3685032"/>
            <a:ext cx="2194560" cy="292608"/>
          </a:xfrm>
          <a:prstGeom prst="rect">
            <a:avLst/>
          </a:prstGeom>
          <a:noFill/>
          <a:ln/>
        </p:spPr>
        <p:txBody>
          <a:bodyPr wrap="square" lIns="0" tIns="0" rIns="0" bIns="0" rtlCol="0" anchor="ctr"/>
          <a:lstStyle/>
          <a:p>
            <a:pPr indent="0" marL="0">
              <a:buNone/>
            </a:pPr>
            <a:r>
              <a:rPr lang="en-US" sz="1400" dirty="0">
                <a:solidFill>
                  <a:schemeClr val="tx1"/>
                </a:solidFill>
              </a:rPr>
              <a:t>Shareable standard file</a:t>
            </a:r>
            <a:endParaRPr lang="en-US" sz="1400" dirty="0"/>
          </a:p>
        </p:txBody>
      </p:sp>
      <p:sp>
        <p:nvSpPr>
          <p:cNvPr id="43" name="SBML file code chip"/>
          <p:cNvSpPr/>
          <p:nvPr/>
        </p:nvSpPr>
        <p:spPr>
          <a:xfrm>
            <a:off x="6309360" y="4023360"/>
            <a:ext cx="2194560" cy="274320"/>
          </a:xfrm>
          <a:prstGeom prst="roundRect">
            <a:avLst>
              <a:gd name="adj" fmla="val 16667"/>
            </a:avLst>
          </a:prstGeom>
          <a:solidFill>
            <a:schemeClr val="bg1"/>
          </a:solidFill>
          <a:ln/>
        </p:spPr>
      </p:sp>
      <p:sp>
        <p:nvSpPr>
          <p:cNvPr id="44" name="SBML file code"/>
          <p:cNvSpPr txBox="1"/>
          <p:nvPr/>
        </p:nvSpPr>
        <p:spPr>
          <a:xfrm>
            <a:off x="6382512" y="4023360"/>
            <a:ext cx="2048256" cy="27432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e_coli_core.xml</a:t>
            </a:r>
            <a:endParaRPr lang="en-US" sz="11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Constraints drive predictions</a:t>
            </a:r>
            <a:endParaRPr lang="en-US" sz="3600" dirty="0"/>
          </a:p>
        </p:txBody>
      </p:sp>
      <p:sp>
        <p:nvSpPr>
          <p:cNvPr id="3" name="FBA panel"/>
          <p:cNvSpPr/>
          <p:nvPr/>
        </p:nvSpPr>
        <p:spPr>
          <a:xfrm>
            <a:off x="457200" y="1234440"/>
            <a:ext cx="4480560" cy="3200400"/>
          </a:xfrm>
          <a:prstGeom prst="roundRect">
            <a:avLst>
              <a:gd name="adj" fmla="val 2286"/>
            </a:avLst>
          </a:prstGeom>
          <a:solidFill>
            <a:schemeClr val="bg2"/>
          </a:solidFill>
          <a:ln/>
        </p:spPr>
      </p:sp>
      <p:sp>
        <p:nvSpPr>
          <p:cNvPr id="4" name="FBA label"/>
          <p:cNvSpPr txBox="1"/>
          <p:nvPr/>
        </p:nvSpPr>
        <p:spPr>
          <a:xfrm>
            <a:off x="731520" y="1417320"/>
            <a:ext cx="3931920" cy="320040"/>
          </a:xfrm>
          <a:prstGeom prst="rect">
            <a:avLst/>
          </a:prstGeom>
          <a:noFill/>
          <a:ln/>
        </p:spPr>
        <p:txBody>
          <a:bodyPr wrap="square" lIns="0" tIns="0" rIns="0" bIns="0" rtlCol="0" anchor="ctr"/>
          <a:lstStyle/>
          <a:p>
            <a:pPr indent="0" marL="0">
              <a:buNone/>
            </a:pPr>
            <a:r>
              <a:rPr lang="en-US" sz="1400" b="1" dirty="0">
                <a:solidFill>
                  <a:schemeClr val="accent1"/>
                </a:solidFill>
              </a:rPr>
              <a:t>The FBA problem</a:t>
            </a:r>
            <a:endParaRPr lang="en-US" sz="1400" dirty="0"/>
          </a:p>
        </p:txBody>
      </p:sp>
      <p:sp>
        <p:nvSpPr>
          <p:cNvPr id="5" name="FBA keywords"/>
          <p:cNvSpPr txBox="1"/>
          <p:nvPr/>
        </p:nvSpPr>
        <p:spPr>
          <a:xfrm>
            <a:off x="731520" y="1874520"/>
            <a:ext cx="1325880" cy="1325880"/>
          </a:xfrm>
          <a:prstGeom prst="rect">
            <a:avLst/>
          </a:prstGeom>
          <a:noFill/>
          <a:ln/>
        </p:spPr>
        <p:txBody>
          <a:bodyPr wrap="square" lIns="0" tIns="0" rIns="0" bIns="0" rtlCol="0" anchor="t"/>
          <a:lstStyle/>
          <a:p>
            <a:pPr indent="0" marL="0">
              <a:lnSpc>
                <a:spcPts val="3400"/>
              </a:lnSpc>
              <a:buNone/>
            </a:pPr>
            <a:r>
              <a:rPr lang="en-US" sz="1800" i="1" dirty="0">
                <a:solidFill>
                  <a:schemeClr val="accent3"/>
                </a:solidFill>
              </a:rPr>
              <a:t>maximise</a:t>
            </a:r>
            <a:endParaRPr lang="en-US" sz="1800" dirty="0"/>
          </a:p>
          <a:p>
            <a:pPr indent="0" marL="0">
              <a:lnSpc>
                <a:spcPts val="3400"/>
              </a:lnSpc>
              <a:buNone/>
            </a:pPr>
            <a:r>
              <a:rPr lang="en-US" sz="1800" i="1" dirty="0">
                <a:solidFill>
                  <a:schemeClr val="accent3"/>
                </a:solidFill>
              </a:rPr>
              <a:t>subject to</a:t>
            </a:r>
            <a:endParaRPr lang="en-US" sz="1800" dirty="0"/>
          </a:p>
          <a:p>
            <a:pPr indent="0" marL="0">
              <a:lnSpc>
                <a:spcPts val="3400"/>
              </a:lnSpc>
              <a:buNone/>
            </a:pPr>
            <a:r>
              <a:rPr lang="en-US" sz="1800" i="1" dirty="0">
                <a:solidFill>
                  <a:schemeClr val="accent3"/>
                </a:solidFill>
              </a:rPr>
              <a:t> </a:t>
            </a:r>
            <a:endParaRPr lang="en-US" sz="1800" dirty="0"/>
          </a:p>
        </p:txBody>
      </p:sp>
      <p:sp>
        <p:nvSpPr>
          <p:cNvPr id="6" name="FBA equations"/>
          <p:cNvSpPr txBox="1"/>
          <p:nvPr/>
        </p:nvSpPr>
        <p:spPr>
          <a:xfrm>
            <a:off x="2103120" y="1874520"/>
            <a:ext cx="2560320" cy="1325880"/>
          </a:xfrm>
          <a:prstGeom prst="rect">
            <a:avLst/>
          </a:prstGeom>
          <a:noFill/>
          <a:ln/>
        </p:spPr>
        <p:txBody>
          <a:bodyPr wrap="square" lIns="0" tIns="0" rIns="0" bIns="0" rtlCol="0" anchor="t"/>
          <a:lstStyle/>
          <a:p>
            <a:pPr indent="0" marL="0">
              <a:lnSpc>
                <a:spcPts val="3400"/>
              </a:lnSpc>
              <a:buNone/>
            </a:pPr>
            <a:r>
              <a:rPr lang="en-US" sz="2200" dirty="0">
                <a:solidFill>
                  <a:schemeClr val="tx2"/>
                </a:solidFill>
                <a:latin typeface="+mj-lt" pitchFamily="34" charset="0"/>
                <a:ea typeface="+mj-lt" pitchFamily="34" charset="-122"/>
                <a:cs typeface="+mj-lt" pitchFamily="34" charset="-120"/>
              </a:rPr>
              <a:t>c</a:t>
            </a:r>
            <a:pPr indent="0" marL="0">
              <a:lnSpc>
                <a:spcPts val="3400"/>
              </a:lnSpc>
              <a:buNone/>
            </a:pPr>
            <a:r>
              <a:rPr lang="en-US" sz="2200" baseline="30000" dirty="0">
                <a:solidFill>
                  <a:schemeClr val="tx2"/>
                </a:solidFill>
                <a:latin typeface="+mj-lt" pitchFamily="34" charset="0"/>
                <a:ea typeface="+mj-lt" pitchFamily="34" charset="-122"/>
                <a:cs typeface="+mj-lt" pitchFamily="34" charset="-120"/>
              </a:rPr>
              <a:t>T</a:t>
            </a:r>
            <a:pPr indent="0" marL="0">
              <a:lnSpc>
                <a:spcPts val="3400"/>
              </a:lnSpc>
              <a:buNone/>
            </a:pPr>
            <a:r>
              <a:rPr lang="en-US" sz="2200" dirty="0">
                <a:solidFill>
                  <a:schemeClr val="tx2"/>
                </a:solidFill>
                <a:latin typeface="+mj-lt" pitchFamily="34" charset="0"/>
                <a:ea typeface="+mj-lt" pitchFamily="34" charset="-122"/>
                <a:cs typeface="+mj-lt" pitchFamily="34" charset="-120"/>
              </a:rPr>
              <a:t>v</a:t>
            </a:r>
            <a:endParaRPr lang="en-US" sz="2200" dirty="0"/>
          </a:p>
          <a:p>
            <a:pPr indent="0" marL="0">
              <a:lnSpc>
                <a:spcPts val="3400"/>
              </a:lnSpc>
              <a:buNone/>
            </a:pPr>
            <a:r>
              <a:rPr lang="en-US" sz="2200" dirty="0">
                <a:solidFill>
                  <a:schemeClr val="tx2"/>
                </a:solidFill>
                <a:latin typeface="+mj-lt" pitchFamily="34" charset="0"/>
                <a:ea typeface="+mj-lt" pitchFamily="34" charset="-122"/>
                <a:cs typeface="+mj-lt" pitchFamily="34" charset="-120"/>
              </a:rPr>
              <a:t>S · v = 0</a:t>
            </a:r>
            <a:endParaRPr lang="en-US" sz="2200" dirty="0"/>
          </a:p>
          <a:p>
            <a:pPr indent="0" marL="0">
              <a:lnSpc>
                <a:spcPts val="3400"/>
              </a:lnSpc>
              <a:buNone/>
            </a:pPr>
            <a:r>
              <a:rPr lang="en-US" sz="2200" dirty="0">
                <a:solidFill>
                  <a:schemeClr val="tx2"/>
                </a:solidFill>
                <a:latin typeface="+mj-lt" pitchFamily="34" charset="0"/>
                <a:ea typeface="+mj-lt" pitchFamily="34" charset="-122"/>
                <a:cs typeface="+mj-lt" pitchFamily="34" charset="-120"/>
              </a:rPr>
              <a:t>lb ≤ v ≤ ub</a:t>
            </a:r>
            <a:endParaRPr lang="en-US" sz="2200" dirty="0"/>
          </a:p>
        </p:txBody>
      </p:sp>
      <p:sp>
        <p:nvSpPr>
          <p:cNvPr id="7" name="FBA explanation"/>
          <p:cNvSpPr txBox="1"/>
          <p:nvPr/>
        </p:nvSpPr>
        <p:spPr>
          <a:xfrm>
            <a:off x="731520" y="3383280"/>
            <a:ext cx="3931920" cy="868680"/>
          </a:xfrm>
          <a:prstGeom prst="rect">
            <a:avLst/>
          </a:prstGeom>
          <a:noFill/>
          <a:ln/>
        </p:spPr>
        <p:txBody>
          <a:bodyPr wrap="square" lIns="0" tIns="0" rIns="0" bIns="0" rtlCol="0" anchor="t"/>
          <a:lstStyle/>
          <a:p>
            <a:pPr indent="0" marL="0">
              <a:buNone/>
            </a:pPr>
            <a:r>
              <a:rPr lang="en-US" sz="1400" dirty="0">
                <a:solidFill>
                  <a:schemeClr val="tx1"/>
                </a:solidFill>
              </a:rPr>
              <a:t>More reactions than metabolites, so infinitely many flux vectors satisfy S · v = 0. The objective picks one optimum; FVA shows how far each flux can move.</a:t>
            </a:r>
            <a:endParaRPr lang="en-US" sz="1400" dirty="0"/>
          </a:p>
        </p:txBody>
      </p:sp>
      <p:sp>
        <p:nvSpPr>
          <p:cNvPr id="8" name="Aerobic stat"/>
          <p:cNvSpPr txBox="1"/>
          <p:nvPr/>
        </p:nvSpPr>
        <p:spPr>
          <a:xfrm>
            <a:off x="5303520" y="1188720"/>
            <a:ext cx="3383280" cy="777240"/>
          </a:xfrm>
          <a:prstGeom prst="rect">
            <a:avLst/>
          </a:prstGeom>
          <a:noFill/>
          <a:ln/>
        </p:spPr>
        <p:txBody>
          <a:bodyPr wrap="square" lIns="0" tIns="0" rIns="0" bIns="0" rtlCol="0" anchor="b"/>
          <a:lstStyle/>
          <a:p>
            <a:pPr indent="0" marL="0">
              <a:buNone/>
            </a:pPr>
            <a:r>
              <a:rPr lang="en-US" sz="5400" b="1" dirty="0">
                <a:solidFill>
                  <a:schemeClr val="accent1"/>
                </a:solidFill>
                <a:latin typeface="+mj-lt" pitchFamily="34" charset="0"/>
                <a:ea typeface="+mj-lt" pitchFamily="34" charset="-122"/>
                <a:cs typeface="+mj-lt" pitchFamily="34" charset="-120"/>
              </a:rPr>
              <a:t>0.87</a:t>
            </a:r>
            <a:pPr indent="0" marL="0">
              <a:buNone/>
            </a:pPr>
            <a:r>
              <a:rPr lang="en-US" sz="2400" dirty="0">
                <a:solidFill>
                  <a:schemeClr val="accent1"/>
                </a:solidFill>
              </a:rPr>
              <a:t> h</a:t>
            </a:r>
            <a:pPr indent="0" marL="0">
              <a:buNone/>
            </a:pPr>
            <a:r>
              <a:rPr lang="en-US" sz="2400" baseline="30000" dirty="0">
                <a:solidFill>
                  <a:schemeClr val="accent1"/>
                </a:solidFill>
              </a:rPr>
              <a:t>−1</a:t>
            </a:r>
            <a:endParaRPr lang="en-US" sz="5400" dirty="0"/>
          </a:p>
        </p:txBody>
      </p:sp>
      <p:sp>
        <p:nvSpPr>
          <p:cNvPr id="9" name="Aerobic label"/>
          <p:cNvSpPr txBox="1"/>
          <p:nvPr/>
        </p:nvSpPr>
        <p:spPr>
          <a:xfrm>
            <a:off x="5303520" y="1965960"/>
            <a:ext cx="3383280" cy="320040"/>
          </a:xfrm>
          <a:prstGeom prst="rect">
            <a:avLst/>
          </a:prstGeom>
          <a:noFill/>
          <a:ln/>
        </p:spPr>
        <p:txBody>
          <a:bodyPr wrap="square" lIns="0" tIns="0" rIns="0" bIns="0" rtlCol="0" anchor="t"/>
          <a:lstStyle/>
          <a:p>
            <a:pPr indent="0" marL="0">
              <a:buNone/>
            </a:pPr>
            <a:r>
              <a:rPr lang="en-US" sz="1600" dirty="0">
                <a:solidFill>
                  <a:schemeClr val="tx1"/>
                </a:solidFill>
              </a:rPr>
              <a:t>growth with oxygen</a:t>
            </a:r>
            <a:endParaRPr lang="en-US" sz="1600" dirty="0"/>
          </a:p>
        </p:txBody>
      </p:sp>
      <p:sp>
        <p:nvSpPr>
          <p:cNvPr id="10" name="Anaerobic stat"/>
          <p:cNvSpPr txBox="1"/>
          <p:nvPr/>
        </p:nvSpPr>
        <p:spPr>
          <a:xfrm>
            <a:off x="5303520" y="2423160"/>
            <a:ext cx="3383280" cy="777240"/>
          </a:xfrm>
          <a:prstGeom prst="rect">
            <a:avLst/>
          </a:prstGeom>
          <a:noFill/>
          <a:ln/>
        </p:spPr>
        <p:txBody>
          <a:bodyPr wrap="square" lIns="0" tIns="0" rIns="0" bIns="0" rtlCol="0" anchor="b"/>
          <a:lstStyle/>
          <a:p>
            <a:pPr indent="0" marL="0">
              <a:buNone/>
            </a:pPr>
            <a:r>
              <a:rPr lang="en-US" sz="5400" b="1" dirty="0">
                <a:solidFill>
                  <a:schemeClr val="accent5"/>
                </a:solidFill>
                <a:latin typeface="+mj-lt" pitchFamily="34" charset="0"/>
                <a:ea typeface="+mj-lt" pitchFamily="34" charset="-122"/>
                <a:cs typeface="+mj-lt" pitchFamily="34" charset="-120"/>
              </a:rPr>
              <a:t>0.21</a:t>
            </a:r>
            <a:pPr indent="0" marL="0">
              <a:buNone/>
            </a:pPr>
            <a:r>
              <a:rPr lang="en-US" sz="2400" dirty="0">
                <a:solidFill>
                  <a:schemeClr val="accent5"/>
                </a:solidFill>
              </a:rPr>
              <a:t> h</a:t>
            </a:r>
            <a:pPr indent="0" marL="0">
              <a:buNone/>
            </a:pPr>
            <a:r>
              <a:rPr lang="en-US" sz="2400" baseline="30000" dirty="0">
                <a:solidFill>
                  <a:schemeClr val="accent5"/>
                </a:solidFill>
              </a:rPr>
              <a:t>−1</a:t>
            </a:r>
            <a:endParaRPr lang="en-US" sz="5400" dirty="0"/>
          </a:p>
        </p:txBody>
      </p:sp>
      <p:sp>
        <p:nvSpPr>
          <p:cNvPr id="11" name="Anaerobic label"/>
          <p:cNvSpPr txBox="1"/>
          <p:nvPr/>
        </p:nvSpPr>
        <p:spPr>
          <a:xfrm>
            <a:off x="5303520" y="3200400"/>
            <a:ext cx="3383280" cy="320040"/>
          </a:xfrm>
          <a:prstGeom prst="rect">
            <a:avLst/>
          </a:prstGeom>
          <a:noFill/>
          <a:ln/>
        </p:spPr>
        <p:txBody>
          <a:bodyPr wrap="square" lIns="0" tIns="0" rIns="0" bIns="0" rtlCol="0" anchor="t"/>
          <a:lstStyle/>
          <a:p>
            <a:pPr indent="0" marL="0">
              <a:buNone/>
            </a:pPr>
            <a:r>
              <a:rPr lang="en-US" sz="1600" dirty="0">
                <a:solidFill>
                  <a:schemeClr val="tx1"/>
                </a:solidFill>
              </a:rPr>
              <a:t>growth without oxygen (O</a:t>
            </a:r>
            <a:pPr indent="0" marL="0">
              <a:buNone/>
            </a:pPr>
            <a:r>
              <a:rPr lang="en-US" sz="1600" baseline="-40000" dirty="0">
                <a:solidFill>
                  <a:schemeClr val="tx1"/>
                </a:solidFill>
              </a:rPr>
              <a:t>2</a:t>
            </a:r>
            <a:pPr indent="0" marL="0">
              <a:buNone/>
            </a:pPr>
            <a:r>
              <a:rPr lang="en-US" sz="1600" dirty="0">
                <a:solidFill>
                  <a:schemeClr val="tx1"/>
                </a:solidFill>
              </a:rPr>
              <a:t> uptake = 0)</a:t>
            </a:r>
            <a:endParaRPr lang="en-US" sz="1600" dirty="0"/>
          </a:p>
        </p:txBody>
      </p:sp>
      <p:sp>
        <p:nvSpPr>
          <p:cNvPr id="12" name="Stat caption"/>
          <p:cNvSpPr txBox="1"/>
          <p:nvPr/>
        </p:nvSpPr>
        <p:spPr>
          <a:xfrm>
            <a:off x="5303520" y="3794760"/>
            <a:ext cx="3383280" cy="594360"/>
          </a:xfrm>
          <a:prstGeom prst="rect">
            <a:avLst/>
          </a:prstGeom>
          <a:noFill/>
          <a:ln/>
        </p:spPr>
        <p:txBody>
          <a:bodyPr wrap="square" lIns="0" tIns="0" rIns="0" bIns="0" rtlCol="0" anchor="t"/>
          <a:lstStyle/>
          <a:p>
            <a:pPr indent="0" marL="0">
              <a:buNone/>
            </a:pPr>
            <a:r>
              <a:rPr lang="en-US" sz="1200" i="1" dirty="0">
                <a:solidFill>
                  <a:schemeClr val="accent3"/>
                </a:solidFill>
              </a:rPr>
              <a:t>E. coli core model, glucose uptake ≤ 10 mmol/gDW/h. Same network — one bound changed.</a:t>
            </a:r>
            <a:endParaRPr lang="en-US" sz="12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Someone had to build it</a:t>
            </a:r>
            <a:endParaRPr lang="en-US" sz="3600" dirty="0"/>
          </a:p>
        </p:txBody>
      </p:sp>
      <p:sp>
        <p:nvSpPr>
          <p:cNvPr id="3" name="Lineage intro"/>
          <p:cNvSpPr txBox="1"/>
          <p:nvPr/>
        </p:nvSpPr>
        <p:spPr>
          <a:xfrm>
            <a:off x="457200" y="1051560"/>
            <a:ext cx="8229600" cy="548640"/>
          </a:xfrm>
          <a:prstGeom prst="rect">
            <a:avLst/>
          </a:prstGeom>
          <a:noFill/>
          <a:ln/>
        </p:spPr>
        <p:txBody>
          <a:bodyPr wrap="square" lIns="0" tIns="0" rIns="0" bIns="0" rtlCol="0" anchor="t"/>
          <a:lstStyle/>
          <a:p>
            <a:pPr indent="0" marL="0">
              <a:buNone/>
            </a:pPr>
            <a:r>
              <a:rPr lang="en-US" sz="1600" dirty="0">
                <a:solidFill>
                  <a:schemeClr val="tx1"/>
                </a:solidFill>
              </a:rPr>
              <a:t>Yesterday's models came ready-made. E. coli's alone was rebuilt by hand five times:</a:t>
            </a:r>
            <a:endParaRPr lang="en-US" sz="1600" dirty="0"/>
          </a:p>
        </p:txBody>
      </p:sp>
      <p:sp>
        <p:nvSpPr>
          <p:cNvPr id="4" name="Lineage edge 1"/>
          <p:cNvSpPr/>
          <p:nvPr/>
        </p:nvSpPr>
        <p:spPr>
          <a:xfrm>
            <a:off x="1463040" y="2697480"/>
            <a:ext cx="1065998" cy="0"/>
          </a:xfrm>
          <a:prstGeom prst="line">
            <a:avLst/>
          </a:prstGeom>
          <a:noFill/>
          <a:ln w="25400">
            <a:solidFill>
              <a:schemeClr val="accent1"/>
            </a:solidFill>
            <a:prstDash val="solid"/>
            <a:tailEnd type="triangle"/>
          </a:ln>
        </p:spPr>
      </p:sp>
      <p:sp>
        <p:nvSpPr>
          <p:cNvPr id="5" name="Lineage edge 2"/>
          <p:cNvSpPr/>
          <p:nvPr/>
        </p:nvSpPr>
        <p:spPr>
          <a:xfrm>
            <a:off x="3213394" y="2697480"/>
            <a:ext cx="921619" cy="0"/>
          </a:xfrm>
          <a:prstGeom prst="line">
            <a:avLst/>
          </a:prstGeom>
          <a:noFill/>
          <a:ln w="25400">
            <a:solidFill>
              <a:schemeClr val="accent1"/>
            </a:solidFill>
            <a:prstDash val="solid"/>
            <a:tailEnd type="triangle"/>
          </a:ln>
        </p:spPr>
      </p:sp>
      <p:sp>
        <p:nvSpPr>
          <p:cNvPr id="6" name="Lineage edge 3"/>
          <p:cNvSpPr/>
          <p:nvPr/>
        </p:nvSpPr>
        <p:spPr>
          <a:xfrm>
            <a:off x="4990699" y="2697480"/>
            <a:ext cx="810447" cy="0"/>
          </a:xfrm>
          <a:prstGeom prst="line">
            <a:avLst/>
          </a:prstGeom>
          <a:noFill/>
          <a:ln w="25400">
            <a:solidFill>
              <a:schemeClr val="accent1"/>
            </a:solidFill>
            <a:prstDash val="solid"/>
            <a:tailEnd type="triangle"/>
          </a:ln>
        </p:spPr>
      </p:sp>
      <p:sp>
        <p:nvSpPr>
          <p:cNvPr id="7" name="Lineage edge 4"/>
          <p:cNvSpPr/>
          <p:nvPr/>
        </p:nvSpPr>
        <p:spPr>
          <a:xfrm>
            <a:off x="6707846" y="2697480"/>
            <a:ext cx="749086" cy="0"/>
          </a:xfrm>
          <a:prstGeom prst="line">
            <a:avLst/>
          </a:prstGeom>
          <a:noFill/>
          <a:ln w="25400">
            <a:solidFill>
              <a:schemeClr val="accent1"/>
            </a:solidFill>
            <a:prstDash val="solid"/>
            <a:tailEnd type="triangle"/>
          </a:ln>
        </p:spPr>
      </p:sp>
      <p:sp>
        <p:nvSpPr>
          <p:cNvPr id="8" name="iJE660 year"/>
          <p:cNvSpPr txBox="1"/>
          <p:nvPr/>
        </p:nvSpPr>
        <p:spPr>
          <a:xfrm>
            <a:off x="457200" y="1828800"/>
            <a:ext cx="1463040" cy="274320"/>
          </a:xfrm>
          <a:prstGeom prst="rect">
            <a:avLst/>
          </a:prstGeom>
          <a:noFill/>
          <a:ln/>
        </p:spPr>
        <p:txBody>
          <a:bodyPr wrap="square" lIns="0" tIns="0" rIns="0" bIns="0" rtlCol="0" anchor="ctr"/>
          <a:lstStyle/>
          <a:p>
            <a:pPr algn="ctr" indent="0" marL="0">
              <a:buNone/>
            </a:pPr>
            <a:r>
              <a:rPr lang="en-US" sz="1400" b="1" dirty="0">
                <a:solidFill>
                  <a:schemeClr val="accent3"/>
                </a:solidFill>
              </a:rPr>
              <a:t>2000</a:t>
            </a:r>
            <a:endParaRPr lang="en-US" sz="1400" dirty="0"/>
          </a:p>
        </p:txBody>
      </p:sp>
      <p:sp>
        <p:nvSpPr>
          <p:cNvPr id="9" name="iJE660 node"/>
          <p:cNvSpPr/>
          <p:nvPr/>
        </p:nvSpPr>
        <p:spPr>
          <a:xfrm>
            <a:off x="960120" y="2468880"/>
            <a:ext cx="457200" cy="457200"/>
          </a:xfrm>
          <a:prstGeom prst="ellipse">
            <a:avLst/>
          </a:prstGeom>
          <a:solidFill>
            <a:schemeClr val="accent1"/>
          </a:solidFill>
          <a:ln/>
        </p:spPr>
      </p:sp>
      <p:sp>
        <p:nvSpPr>
          <p:cNvPr id="10" name="iJE660 genes"/>
          <p:cNvSpPr txBox="1"/>
          <p:nvPr/>
        </p:nvSpPr>
        <p:spPr>
          <a:xfrm>
            <a:off x="731520" y="253288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660</a:t>
            </a:r>
            <a:endParaRPr lang="en-US" sz="1200" dirty="0"/>
          </a:p>
        </p:txBody>
      </p:sp>
      <p:sp>
        <p:nvSpPr>
          <p:cNvPr id="11" name="iJE660 name"/>
          <p:cNvSpPr txBox="1"/>
          <p:nvPr/>
        </p:nvSpPr>
        <p:spPr>
          <a:xfrm>
            <a:off x="457200" y="3218688"/>
            <a:ext cx="1463040" cy="274320"/>
          </a:xfrm>
          <a:prstGeom prst="rect">
            <a:avLst/>
          </a:prstGeom>
          <a:noFill/>
          <a:ln/>
        </p:spPr>
        <p:txBody>
          <a:bodyPr wrap="square" lIns="0" tIns="0" rIns="0" bIns="0" rtlCol="0" anchor="ctr"/>
          <a:lstStyle/>
          <a:p>
            <a:pPr algn="ctr" indent="0" marL="0">
              <a:buNone/>
            </a:pPr>
            <a:r>
              <a:rPr lang="en-US" sz="1500" b="1" dirty="0">
                <a:solidFill>
                  <a:schemeClr val="tx2"/>
                </a:solidFill>
              </a:rPr>
              <a:t>iJE660</a:t>
            </a:r>
            <a:endParaRPr lang="en-US" sz="1500" dirty="0"/>
          </a:p>
        </p:txBody>
      </p:sp>
      <p:sp>
        <p:nvSpPr>
          <p:cNvPr id="12" name="iJE660 reference"/>
          <p:cNvSpPr txBox="1"/>
          <p:nvPr/>
        </p:nvSpPr>
        <p:spPr>
          <a:xfrm>
            <a:off x="457200" y="3474720"/>
            <a:ext cx="1463040" cy="237744"/>
          </a:xfrm>
          <a:prstGeom prst="rect">
            <a:avLst/>
          </a:prstGeom>
          <a:noFill/>
          <a:ln/>
        </p:spPr>
        <p:txBody>
          <a:bodyPr wrap="square" lIns="0" tIns="0" rIns="0" bIns="0" rtlCol="0" anchor="ctr"/>
          <a:lstStyle/>
          <a:p>
            <a:pPr algn="ctr" indent="0" marL="0">
              <a:buNone/>
            </a:pPr>
            <a:r>
              <a:rPr lang="en-US" sz="1200" dirty="0">
                <a:solidFill>
                  <a:schemeClr val="accent3"/>
                </a:solidFill>
              </a:rPr>
              <a:t>Edwards &amp; Palsson</a:t>
            </a:r>
            <a:endParaRPr lang="en-US" sz="1200" dirty="0"/>
          </a:p>
        </p:txBody>
      </p:sp>
      <p:sp>
        <p:nvSpPr>
          <p:cNvPr id="13" name="iJR904 year"/>
          <p:cNvSpPr txBox="1"/>
          <p:nvPr/>
        </p:nvSpPr>
        <p:spPr>
          <a:xfrm>
            <a:off x="2148840" y="1828800"/>
            <a:ext cx="1463040" cy="274320"/>
          </a:xfrm>
          <a:prstGeom prst="rect">
            <a:avLst/>
          </a:prstGeom>
          <a:noFill/>
          <a:ln/>
        </p:spPr>
        <p:txBody>
          <a:bodyPr wrap="square" lIns="0" tIns="0" rIns="0" bIns="0" rtlCol="0" anchor="ctr"/>
          <a:lstStyle/>
          <a:p>
            <a:pPr algn="ctr" indent="0" marL="0">
              <a:buNone/>
            </a:pPr>
            <a:r>
              <a:rPr lang="en-US" sz="1400" b="1" dirty="0">
                <a:solidFill>
                  <a:schemeClr val="accent3"/>
                </a:solidFill>
              </a:rPr>
              <a:t>2003</a:t>
            </a:r>
            <a:endParaRPr lang="en-US" sz="1400" dirty="0"/>
          </a:p>
        </p:txBody>
      </p:sp>
      <p:sp>
        <p:nvSpPr>
          <p:cNvPr id="14" name="iJR904 node"/>
          <p:cNvSpPr/>
          <p:nvPr/>
        </p:nvSpPr>
        <p:spPr>
          <a:xfrm>
            <a:off x="2593046" y="2410166"/>
            <a:ext cx="574628" cy="574628"/>
          </a:xfrm>
          <a:prstGeom prst="ellipse">
            <a:avLst/>
          </a:prstGeom>
          <a:solidFill>
            <a:schemeClr val="accent1"/>
          </a:solidFill>
          <a:ln/>
        </p:spPr>
      </p:sp>
      <p:sp>
        <p:nvSpPr>
          <p:cNvPr id="15" name="iJR904 genes"/>
          <p:cNvSpPr txBox="1"/>
          <p:nvPr/>
        </p:nvSpPr>
        <p:spPr>
          <a:xfrm>
            <a:off x="2423160" y="253288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904</a:t>
            </a:r>
            <a:endParaRPr lang="en-US" sz="1200" dirty="0"/>
          </a:p>
        </p:txBody>
      </p:sp>
      <p:sp>
        <p:nvSpPr>
          <p:cNvPr id="16" name="iJR904 name"/>
          <p:cNvSpPr txBox="1"/>
          <p:nvPr/>
        </p:nvSpPr>
        <p:spPr>
          <a:xfrm>
            <a:off x="2148840" y="3218688"/>
            <a:ext cx="1463040" cy="274320"/>
          </a:xfrm>
          <a:prstGeom prst="rect">
            <a:avLst/>
          </a:prstGeom>
          <a:noFill/>
          <a:ln/>
        </p:spPr>
        <p:txBody>
          <a:bodyPr wrap="square" lIns="0" tIns="0" rIns="0" bIns="0" rtlCol="0" anchor="ctr"/>
          <a:lstStyle/>
          <a:p>
            <a:pPr algn="ctr" indent="0" marL="0">
              <a:buNone/>
            </a:pPr>
            <a:r>
              <a:rPr lang="en-US" sz="1500" b="1" dirty="0">
                <a:solidFill>
                  <a:schemeClr val="tx2"/>
                </a:solidFill>
              </a:rPr>
              <a:t>iJR904</a:t>
            </a:r>
            <a:endParaRPr lang="en-US" sz="1500" dirty="0"/>
          </a:p>
        </p:txBody>
      </p:sp>
      <p:sp>
        <p:nvSpPr>
          <p:cNvPr id="17" name="iJR904 reference"/>
          <p:cNvSpPr txBox="1"/>
          <p:nvPr/>
        </p:nvSpPr>
        <p:spPr>
          <a:xfrm>
            <a:off x="2148840" y="3474720"/>
            <a:ext cx="1463040" cy="237744"/>
          </a:xfrm>
          <a:prstGeom prst="rect">
            <a:avLst/>
          </a:prstGeom>
          <a:noFill/>
          <a:ln/>
        </p:spPr>
        <p:txBody>
          <a:bodyPr wrap="square" lIns="0" tIns="0" rIns="0" bIns="0" rtlCol="0" anchor="ctr"/>
          <a:lstStyle/>
          <a:p>
            <a:pPr algn="ctr" indent="0" marL="0">
              <a:buNone/>
            </a:pPr>
            <a:r>
              <a:rPr lang="en-US" sz="1200" dirty="0">
                <a:solidFill>
                  <a:schemeClr val="accent3"/>
                </a:solidFill>
              </a:rPr>
              <a:t>Reed et al.</a:t>
            </a:r>
            <a:endParaRPr lang="en-US" sz="1200" dirty="0"/>
          </a:p>
        </p:txBody>
      </p:sp>
      <p:sp>
        <p:nvSpPr>
          <p:cNvPr id="18" name="iAF1260 year"/>
          <p:cNvSpPr txBox="1"/>
          <p:nvPr/>
        </p:nvSpPr>
        <p:spPr>
          <a:xfrm>
            <a:off x="3840480" y="1828800"/>
            <a:ext cx="1463040" cy="274320"/>
          </a:xfrm>
          <a:prstGeom prst="rect">
            <a:avLst/>
          </a:prstGeom>
          <a:noFill/>
          <a:ln/>
        </p:spPr>
        <p:txBody>
          <a:bodyPr wrap="square" lIns="0" tIns="0" rIns="0" bIns="0" rtlCol="0" anchor="ctr"/>
          <a:lstStyle/>
          <a:p>
            <a:pPr algn="ctr" indent="0" marL="0">
              <a:buNone/>
            </a:pPr>
            <a:r>
              <a:rPr lang="en-US" sz="1400" b="1" dirty="0">
                <a:solidFill>
                  <a:schemeClr val="accent3"/>
                </a:solidFill>
              </a:rPr>
              <a:t>2007</a:t>
            </a:r>
            <a:endParaRPr lang="en-US" sz="1400" dirty="0"/>
          </a:p>
        </p:txBody>
      </p:sp>
      <p:sp>
        <p:nvSpPr>
          <p:cNvPr id="19" name="iAF1260 node"/>
          <p:cNvSpPr/>
          <p:nvPr/>
        </p:nvSpPr>
        <p:spPr>
          <a:xfrm>
            <a:off x="4199021" y="2324501"/>
            <a:ext cx="745958" cy="745958"/>
          </a:xfrm>
          <a:prstGeom prst="ellipse">
            <a:avLst/>
          </a:prstGeom>
          <a:solidFill>
            <a:schemeClr val="accent1"/>
          </a:solidFill>
          <a:ln/>
        </p:spPr>
      </p:sp>
      <p:sp>
        <p:nvSpPr>
          <p:cNvPr id="20" name="iAF1260 genes"/>
          <p:cNvSpPr txBox="1"/>
          <p:nvPr/>
        </p:nvSpPr>
        <p:spPr>
          <a:xfrm>
            <a:off x="4114800" y="253288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1,260</a:t>
            </a:r>
            <a:endParaRPr lang="en-US" sz="1200" dirty="0"/>
          </a:p>
        </p:txBody>
      </p:sp>
      <p:sp>
        <p:nvSpPr>
          <p:cNvPr id="21" name="iAF1260 name"/>
          <p:cNvSpPr txBox="1"/>
          <p:nvPr/>
        </p:nvSpPr>
        <p:spPr>
          <a:xfrm>
            <a:off x="3840480" y="3218688"/>
            <a:ext cx="1463040" cy="274320"/>
          </a:xfrm>
          <a:prstGeom prst="rect">
            <a:avLst/>
          </a:prstGeom>
          <a:noFill/>
          <a:ln/>
        </p:spPr>
        <p:txBody>
          <a:bodyPr wrap="square" lIns="0" tIns="0" rIns="0" bIns="0" rtlCol="0" anchor="ctr"/>
          <a:lstStyle/>
          <a:p>
            <a:pPr algn="ctr" indent="0" marL="0">
              <a:buNone/>
            </a:pPr>
            <a:r>
              <a:rPr lang="en-US" sz="1500" b="1" dirty="0">
                <a:solidFill>
                  <a:schemeClr val="tx2"/>
                </a:solidFill>
              </a:rPr>
              <a:t>iAF1260</a:t>
            </a:r>
            <a:endParaRPr lang="en-US" sz="1500" dirty="0"/>
          </a:p>
        </p:txBody>
      </p:sp>
      <p:sp>
        <p:nvSpPr>
          <p:cNvPr id="22" name="iAF1260 reference"/>
          <p:cNvSpPr txBox="1"/>
          <p:nvPr/>
        </p:nvSpPr>
        <p:spPr>
          <a:xfrm>
            <a:off x="3840480" y="3474720"/>
            <a:ext cx="1463040" cy="237744"/>
          </a:xfrm>
          <a:prstGeom prst="rect">
            <a:avLst/>
          </a:prstGeom>
          <a:noFill/>
          <a:ln/>
        </p:spPr>
        <p:txBody>
          <a:bodyPr wrap="square" lIns="0" tIns="0" rIns="0" bIns="0" rtlCol="0" anchor="ctr"/>
          <a:lstStyle/>
          <a:p>
            <a:pPr algn="ctr" indent="0" marL="0">
              <a:buNone/>
            </a:pPr>
            <a:r>
              <a:rPr lang="en-US" sz="1200" dirty="0">
                <a:solidFill>
                  <a:schemeClr val="accent3"/>
                </a:solidFill>
              </a:rPr>
              <a:t>Feist et al.</a:t>
            </a:r>
            <a:endParaRPr lang="en-US" sz="1200" dirty="0"/>
          </a:p>
        </p:txBody>
      </p:sp>
      <p:sp>
        <p:nvSpPr>
          <p:cNvPr id="23" name="iJO1366 year"/>
          <p:cNvSpPr txBox="1"/>
          <p:nvPr/>
        </p:nvSpPr>
        <p:spPr>
          <a:xfrm>
            <a:off x="5532120" y="1828800"/>
            <a:ext cx="1463040" cy="274320"/>
          </a:xfrm>
          <a:prstGeom prst="rect">
            <a:avLst/>
          </a:prstGeom>
          <a:noFill/>
          <a:ln/>
        </p:spPr>
        <p:txBody>
          <a:bodyPr wrap="square" lIns="0" tIns="0" rIns="0" bIns="0" rtlCol="0" anchor="ctr"/>
          <a:lstStyle/>
          <a:p>
            <a:pPr algn="ctr" indent="0" marL="0">
              <a:buNone/>
            </a:pPr>
            <a:r>
              <a:rPr lang="en-US" sz="1400" b="1" dirty="0">
                <a:solidFill>
                  <a:schemeClr val="accent3"/>
                </a:solidFill>
              </a:rPr>
              <a:t>2011</a:t>
            </a:r>
            <a:endParaRPr lang="en-US" sz="1400" dirty="0"/>
          </a:p>
        </p:txBody>
      </p:sp>
      <p:sp>
        <p:nvSpPr>
          <p:cNvPr id="24" name="iJO1366 node"/>
          <p:cNvSpPr/>
          <p:nvPr/>
        </p:nvSpPr>
        <p:spPr>
          <a:xfrm>
            <a:off x="5865154" y="2298994"/>
            <a:ext cx="796972" cy="796972"/>
          </a:xfrm>
          <a:prstGeom prst="ellipse">
            <a:avLst/>
          </a:prstGeom>
          <a:solidFill>
            <a:schemeClr val="accent1"/>
          </a:solidFill>
          <a:ln/>
        </p:spPr>
      </p:sp>
      <p:sp>
        <p:nvSpPr>
          <p:cNvPr id="25" name="iJO1366 genes"/>
          <p:cNvSpPr txBox="1"/>
          <p:nvPr/>
        </p:nvSpPr>
        <p:spPr>
          <a:xfrm>
            <a:off x="5806440" y="253288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1,366</a:t>
            </a:r>
            <a:endParaRPr lang="en-US" sz="1200" dirty="0"/>
          </a:p>
        </p:txBody>
      </p:sp>
      <p:sp>
        <p:nvSpPr>
          <p:cNvPr id="26" name="iJO1366 name"/>
          <p:cNvSpPr txBox="1"/>
          <p:nvPr/>
        </p:nvSpPr>
        <p:spPr>
          <a:xfrm>
            <a:off x="5532120" y="3218688"/>
            <a:ext cx="1463040" cy="274320"/>
          </a:xfrm>
          <a:prstGeom prst="rect">
            <a:avLst/>
          </a:prstGeom>
          <a:noFill/>
          <a:ln/>
        </p:spPr>
        <p:txBody>
          <a:bodyPr wrap="square" lIns="0" tIns="0" rIns="0" bIns="0" rtlCol="0" anchor="ctr"/>
          <a:lstStyle/>
          <a:p>
            <a:pPr algn="ctr" indent="0" marL="0">
              <a:buNone/>
            </a:pPr>
            <a:r>
              <a:rPr lang="en-US" sz="1500" b="1" dirty="0">
                <a:solidFill>
                  <a:schemeClr val="tx2"/>
                </a:solidFill>
              </a:rPr>
              <a:t>iJO1366</a:t>
            </a:r>
            <a:endParaRPr lang="en-US" sz="1500" dirty="0"/>
          </a:p>
        </p:txBody>
      </p:sp>
      <p:sp>
        <p:nvSpPr>
          <p:cNvPr id="27" name="iJO1366 reference"/>
          <p:cNvSpPr txBox="1"/>
          <p:nvPr/>
        </p:nvSpPr>
        <p:spPr>
          <a:xfrm>
            <a:off x="5532120" y="3474720"/>
            <a:ext cx="1463040" cy="237744"/>
          </a:xfrm>
          <a:prstGeom prst="rect">
            <a:avLst/>
          </a:prstGeom>
          <a:noFill/>
          <a:ln/>
        </p:spPr>
        <p:txBody>
          <a:bodyPr wrap="square" lIns="0" tIns="0" rIns="0" bIns="0" rtlCol="0" anchor="ctr"/>
          <a:lstStyle/>
          <a:p>
            <a:pPr algn="ctr" indent="0" marL="0">
              <a:buNone/>
            </a:pPr>
            <a:r>
              <a:rPr lang="en-US" sz="1200" dirty="0">
                <a:solidFill>
                  <a:schemeClr val="accent3"/>
                </a:solidFill>
              </a:rPr>
              <a:t>Orth et al.</a:t>
            </a:r>
            <a:endParaRPr lang="en-US" sz="1200" dirty="0"/>
          </a:p>
        </p:txBody>
      </p:sp>
      <p:sp>
        <p:nvSpPr>
          <p:cNvPr id="28" name="iML1515 year"/>
          <p:cNvSpPr txBox="1"/>
          <p:nvPr/>
        </p:nvSpPr>
        <p:spPr>
          <a:xfrm>
            <a:off x="7223760" y="1828800"/>
            <a:ext cx="1463040" cy="274320"/>
          </a:xfrm>
          <a:prstGeom prst="rect">
            <a:avLst/>
          </a:prstGeom>
          <a:noFill/>
          <a:ln/>
        </p:spPr>
        <p:txBody>
          <a:bodyPr wrap="square" lIns="0" tIns="0" rIns="0" bIns="0" rtlCol="0" anchor="ctr"/>
          <a:lstStyle/>
          <a:p>
            <a:pPr algn="ctr" indent="0" marL="0">
              <a:buNone/>
            </a:pPr>
            <a:r>
              <a:rPr lang="en-US" sz="1400" b="1" dirty="0">
                <a:solidFill>
                  <a:schemeClr val="accent3"/>
                </a:solidFill>
              </a:rPr>
              <a:t>2017</a:t>
            </a:r>
            <a:endParaRPr lang="en-US" sz="1400" dirty="0"/>
          </a:p>
        </p:txBody>
      </p:sp>
      <p:sp>
        <p:nvSpPr>
          <p:cNvPr id="29" name="iML1515 node"/>
          <p:cNvSpPr/>
          <p:nvPr/>
        </p:nvSpPr>
        <p:spPr>
          <a:xfrm>
            <a:off x="7520940" y="2263140"/>
            <a:ext cx="868680" cy="868680"/>
          </a:xfrm>
          <a:prstGeom prst="ellipse">
            <a:avLst/>
          </a:prstGeom>
          <a:solidFill>
            <a:schemeClr val="accent1"/>
          </a:solidFill>
          <a:ln/>
        </p:spPr>
      </p:sp>
      <p:sp>
        <p:nvSpPr>
          <p:cNvPr id="30" name="iML1515 genes"/>
          <p:cNvSpPr txBox="1"/>
          <p:nvPr/>
        </p:nvSpPr>
        <p:spPr>
          <a:xfrm>
            <a:off x="7498080" y="253288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1,515</a:t>
            </a:r>
            <a:endParaRPr lang="en-US" sz="1200" dirty="0"/>
          </a:p>
        </p:txBody>
      </p:sp>
      <p:sp>
        <p:nvSpPr>
          <p:cNvPr id="31" name="iML1515 name"/>
          <p:cNvSpPr txBox="1"/>
          <p:nvPr/>
        </p:nvSpPr>
        <p:spPr>
          <a:xfrm>
            <a:off x="7223760" y="3218688"/>
            <a:ext cx="1463040" cy="274320"/>
          </a:xfrm>
          <a:prstGeom prst="rect">
            <a:avLst/>
          </a:prstGeom>
          <a:noFill/>
          <a:ln/>
        </p:spPr>
        <p:txBody>
          <a:bodyPr wrap="square" lIns="0" tIns="0" rIns="0" bIns="0" rtlCol="0" anchor="ctr"/>
          <a:lstStyle/>
          <a:p>
            <a:pPr algn="ctr" indent="0" marL="0">
              <a:buNone/>
            </a:pPr>
            <a:r>
              <a:rPr lang="en-US" sz="1500" b="1" dirty="0">
                <a:solidFill>
                  <a:schemeClr val="tx2"/>
                </a:solidFill>
              </a:rPr>
              <a:t>iML1515</a:t>
            </a:r>
            <a:endParaRPr lang="en-US" sz="1500" dirty="0"/>
          </a:p>
        </p:txBody>
      </p:sp>
      <p:sp>
        <p:nvSpPr>
          <p:cNvPr id="32" name="iML1515 reference"/>
          <p:cNvSpPr txBox="1"/>
          <p:nvPr/>
        </p:nvSpPr>
        <p:spPr>
          <a:xfrm>
            <a:off x="7223760" y="3474720"/>
            <a:ext cx="1463040" cy="237744"/>
          </a:xfrm>
          <a:prstGeom prst="rect">
            <a:avLst/>
          </a:prstGeom>
          <a:noFill/>
          <a:ln/>
        </p:spPr>
        <p:txBody>
          <a:bodyPr wrap="square" lIns="0" tIns="0" rIns="0" bIns="0" rtlCol="0" anchor="ctr"/>
          <a:lstStyle/>
          <a:p>
            <a:pPr algn="ctr" indent="0" marL="0">
              <a:buNone/>
            </a:pPr>
            <a:r>
              <a:rPr lang="en-US" sz="1200" dirty="0">
                <a:solidFill>
                  <a:schemeClr val="accent3"/>
                </a:solidFill>
              </a:rPr>
              <a:t>Monk et al.</a:t>
            </a:r>
            <a:endParaRPr lang="en-US" sz="1200" dirty="0"/>
          </a:p>
        </p:txBody>
      </p:sp>
      <p:sp>
        <p:nvSpPr>
          <p:cNvPr id="33" name="Naming card"/>
          <p:cNvSpPr/>
          <p:nvPr/>
        </p:nvSpPr>
        <p:spPr>
          <a:xfrm>
            <a:off x="457200" y="3840480"/>
            <a:ext cx="3977640" cy="713232"/>
          </a:xfrm>
          <a:prstGeom prst="roundRect">
            <a:avLst>
              <a:gd name="adj" fmla="val 10256"/>
            </a:avLst>
          </a:prstGeom>
          <a:solidFill>
            <a:schemeClr val="bg2"/>
          </a:solidFill>
          <a:ln/>
        </p:spPr>
      </p:sp>
      <p:sp>
        <p:nvSpPr>
          <p:cNvPr id="34" name="Naming text"/>
          <p:cNvSpPr txBox="1"/>
          <p:nvPr/>
        </p:nvSpPr>
        <p:spPr>
          <a:xfrm>
            <a:off x="640080" y="3840480"/>
            <a:ext cx="3657600" cy="713232"/>
          </a:xfrm>
          <a:prstGeom prst="rect">
            <a:avLst/>
          </a:prstGeom>
          <a:noFill/>
          <a:ln/>
        </p:spPr>
        <p:txBody>
          <a:bodyPr wrap="square" lIns="0" tIns="0" rIns="0" bIns="0" rtlCol="0" anchor="ctr"/>
          <a:lstStyle/>
          <a:p>
            <a:pPr indent="0" marL="0">
              <a:buNone/>
            </a:pPr>
            <a:r>
              <a:rPr lang="en-US" sz="1400" b="1" dirty="0">
                <a:solidFill>
                  <a:schemeClr val="tx2"/>
                </a:solidFill>
              </a:rPr>
              <a:t>The number is the gene count. </a:t>
            </a:r>
            <a:pPr indent="0" marL="0">
              <a:buNone/>
            </a:pPr>
            <a:r>
              <a:rPr lang="en-US" sz="1400" dirty="0">
                <a:solidFill>
                  <a:schemeClr val="tx1"/>
                </a:solidFill>
              </a:rPr>
              <a:t>iJO1366 links 1,366 genes to its reactions.</a:t>
            </a:r>
            <a:endParaRPr lang="en-US" sz="1400" dirty="0"/>
          </a:p>
        </p:txBody>
      </p:sp>
      <p:sp>
        <p:nvSpPr>
          <p:cNvPr id="35" name="Curation card"/>
          <p:cNvSpPr/>
          <p:nvPr/>
        </p:nvSpPr>
        <p:spPr>
          <a:xfrm>
            <a:off x="4709160" y="3840480"/>
            <a:ext cx="3977640" cy="713232"/>
          </a:xfrm>
          <a:prstGeom prst="roundRect">
            <a:avLst>
              <a:gd name="adj" fmla="val 10256"/>
            </a:avLst>
          </a:prstGeom>
          <a:solidFill>
            <a:schemeClr val="bg2"/>
          </a:solidFill>
          <a:ln/>
        </p:spPr>
      </p:sp>
      <p:sp>
        <p:nvSpPr>
          <p:cNvPr id="36" name="Curation text"/>
          <p:cNvSpPr txBox="1"/>
          <p:nvPr/>
        </p:nvSpPr>
        <p:spPr>
          <a:xfrm>
            <a:off x="4892040" y="3840480"/>
            <a:ext cx="3657600" cy="713232"/>
          </a:xfrm>
          <a:prstGeom prst="rect">
            <a:avLst/>
          </a:prstGeom>
          <a:noFill/>
          <a:ln/>
        </p:spPr>
        <p:txBody>
          <a:bodyPr wrap="square" lIns="0" tIns="0" rIns="0" bIns="0" rtlCol="0" anchor="ctr"/>
          <a:lstStyle/>
          <a:p>
            <a:pPr indent="0" marL="0">
              <a:buNone/>
            </a:pPr>
            <a:r>
              <a:rPr lang="en-US" sz="1400" b="1" dirty="0">
                <a:solidFill>
                  <a:schemeClr val="tx2"/>
                </a:solidFill>
              </a:rPr>
              <a:t>17 years of curation </a:t>
            </a:r>
            <a:pPr indent="0" marL="0">
              <a:buNone/>
            </a:pPr>
            <a:r>
              <a:rPr lang="en-US" sz="1400" dirty="0">
                <a:solidFill>
                  <a:schemeClr val="tx1"/>
                </a:solidFill>
              </a:rPr>
              <a:t>for the best-studied bacterium. Most organisms have nothing like it.</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The reconstruction problem</a:t>
            </a:r>
            <a:endParaRPr lang="en-US" sz="3600" dirty="0"/>
          </a:p>
        </p:txBody>
      </p:sp>
      <p:sp>
        <p:nvSpPr>
          <p:cNvPr id="3" name="Problem panel"/>
          <p:cNvSpPr/>
          <p:nvPr/>
        </p:nvSpPr>
        <p:spPr>
          <a:xfrm>
            <a:off x="457200" y="1188720"/>
            <a:ext cx="3108960" cy="3291840"/>
          </a:xfrm>
          <a:prstGeom prst="roundRect">
            <a:avLst>
              <a:gd name="adj" fmla="val 2353"/>
            </a:avLst>
          </a:prstGeom>
          <a:solidFill>
            <a:schemeClr val="tx2"/>
          </a:solidFill>
          <a:ln/>
        </p:spPr>
      </p:sp>
      <p:sp>
        <p:nvSpPr>
          <p:cNvPr id="4" name="Genome node"/>
          <p:cNvSpPr/>
          <p:nvPr/>
        </p:nvSpPr>
        <p:spPr>
          <a:xfrm>
            <a:off x="777240" y="1371600"/>
            <a:ext cx="548640" cy="548640"/>
          </a:xfrm>
          <a:prstGeom prst="ellipse">
            <a:avLst/>
          </a:prstGeom>
          <a:solidFill>
            <a:schemeClr val="accent2"/>
          </a:solidFill>
          <a:ln/>
        </p:spPr>
      </p:sp>
      <p:pic>
        <p:nvPicPr>
          <p:cNvPr id="5" name="Genome icon" descr="preencoded.png">    </p:cNvPr>
          <p:cNvPicPr>
            <a:picLocks noChangeAspect="1"/>
          </p:cNvPicPr>
          <p:nvPr/>
        </p:nvPicPr>
        <p:blipFill>
          <a:blip r:embed="rId1"/>
          <a:stretch>
            <a:fillRect/>
          </a:stretch>
        </p:blipFill>
        <p:spPr>
          <a:xfrm>
            <a:off x="914400" y="1508760"/>
            <a:ext cx="274320" cy="274320"/>
          </a:xfrm>
          <a:prstGeom prst="rect">
            <a:avLst/>
          </a:prstGeom>
        </p:spPr>
      </p:pic>
      <p:sp>
        <p:nvSpPr>
          <p:cNvPr id="6" name="Model node"/>
          <p:cNvSpPr/>
          <p:nvPr/>
        </p:nvSpPr>
        <p:spPr>
          <a:xfrm>
            <a:off x="2697480" y="1371600"/>
            <a:ext cx="548640" cy="548640"/>
          </a:xfrm>
          <a:prstGeom prst="ellipse">
            <a:avLst/>
          </a:prstGeom>
          <a:solidFill>
            <a:schemeClr val="accent1"/>
          </a:solidFill>
          <a:ln/>
        </p:spPr>
      </p:sp>
      <p:pic>
        <p:nvPicPr>
          <p:cNvPr id="7" name="Model icon" descr="preencoded.png">    </p:cNvPr>
          <p:cNvPicPr>
            <a:picLocks noChangeAspect="1"/>
          </p:cNvPicPr>
          <p:nvPr/>
        </p:nvPicPr>
        <p:blipFill>
          <a:blip r:embed="rId2"/>
          <a:stretch>
            <a:fillRect/>
          </a:stretch>
        </p:blipFill>
        <p:spPr>
          <a:xfrm>
            <a:off x="2834640" y="1508760"/>
            <a:ext cx="274320" cy="274320"/>
          </a:xfrm>
          <a:prstGeom prst="rect">
            <a:avLst/>
          </a:prstGeom>
        </p:spPr>
      </p:pic>
      <p:sp>
        <p:nvSpPr>
          <p:cNvPr id="8" name="Genome to model arrow"/>
          <p:cNvSpPr/>
          <p:nvPr/>
        </p:nvSpPr>
        <p:spPr>
          <a:xfrm>
            <a:off x="1417320" y="1645920"/>
            <a:ext cx="1188720" cy="0"/>
          </a:xfrm>
          <a:prstGeom prst="line">
            <a:avLst/>
          </a:prstGeom>
          <a:noFill/>
          <a:ln w="25400">
            <a:solidFill>
              <a:schemeClr val="accent4"/>
            </a:solidFill>
            <a:prstDash val="solid"/>
            <a:tailEnd type="triangle"/>
          </a:ln>
        </p:spPr>
      </p:sp>
      <p:sp>
        <p:nvSpPr>
          <p:cNvPr id="9" name="Question mark"/>
          <p:cNvSpPr txBox="1"/>
          <p:nvPr/>
        </p:nvSpPr>
        <p:spPr>
          <a:xfrm>
            <a:off x="1783080" y="1261872"/>
            <a:ext cx="457200" cy="32004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0" name="Genome label"/>
          <p:cNvSpPr txBox="1"/>
          <p:nvPr/>
        </p:nvSpPr>
        <p:spPr>
          <a:xfrm>
            <a:off x="594360" y="1965960"/>
            <a:ext cx="914400" cy="256032"/>
          </a:xfrm>
          <a:prstGeom prst="rect">
            <a:avLst/>
          </a:prstGeom>
          <a:noFill/>
          <a:ln/>
        </p:spPr>
        <p:txBody>
          <a:bodyPr wrap="square" lIns="0" tIns="0" rIns="0" bIns="0" rtlCol="0" anchor="ctr"/>
          <a:lstStyle/>
          <a:p>
            <a:pPr algn="ctr" indent="0" marL="0">
              <a:buNone/>
            </a:pPr>
            <a:r>
              <a:rPr lang="en-US" sz="1200" dirty="0">
                <a:solidFill>
                  <a:schemeClr val="accent4"/>
                </a:solidFill>
              </a:rPr>
              <a:t>genome</a:t>
            </a:r>
            <a:endParaRPr lang="en-US" sz="1200" dirty="0"/>
          </a:p>
        </p:txBody>
      </p:sp>
      <p:sp>
        <p:nvSpPr>
          <p:cNvPr id="11" name="Model label"/>
          <p:cNvSpPr txBox="1"/>
          <p:nvPr/>
        </p:nvSpPr>
        <p:spPr>
          <a:xfrm>
            <a:off x="2514600" y="1965960"/>
            <a:ext cx="914400" cy="256032"/>
          </a:xfrm>
          <a:prstGeom prst="rect">
            <a:avLst/>
          </a:prstGeom>
          <a:noFill/>
          <a:ln/>
        </p:spPr>
        <p:txBody>
          <a:bodyPr wrap="square" lIns="0" tIns="0" rIns="0" bIns="0" rtlCol="0" anchor="ctr"/>
          <a:lstStyle/>
          <a:p>
            <a:pPr algn="ctr" indent="0" marL="0">
              <a:buNone/>
            </a:pPr>
            <a:r>
              <a:rPr lang="en-US" sz="1200" dirty="0">
                <a:solidFill>
                  <a:schemeClr val="accent4"/>
                </a:solidFill>
              </a:rPr>
              <a:t>model</a:t>
            </a:r>
            <a:endParaRPr lang="en-US" sz="1200" dirty="0"/>
          </a:p>
        </p:txBody>
      </p:sp>
      <p:sp>
        <p:nvSpPr>
          <p:cNvPr id="12" name="Steps stat"/>
          <p:cNvSpPr txBox="1"/>
          <p:nvPr/>
        </p:nvSpPr>
        <p:spPr>
          <a:xfrm>
            <a:off x="731520" y="2331720"/>
            <a:ext cx="2651760" cy="548640"/>
          </a:xfrm>
          <a:prstGeom prst="rect">
            <a:avLst/>
          </a:prstGeom>
          <a:noFill/>
          <a:ln/>
        </p:spPr>
        <p:txBody>
          <a:bodyPr wrap="square" lIns="0" tIns="0" rIns="0" bIns="0" rtlCol="0" anchor="b"/>
          <a:lstStyle/>
          <a:p>
            <a:pPr indent="0" marL="0">
              <a:buNone/>
            </a:pPr>
            <a:r>
              <a:rPr lang="en-US" sz="4000" b="1" dirty="0">
                <a:solidFill>
                  <a:schemeClr val="bg1"/>
                </a:solidFill>
                <a:latin typeface="+mj-lt" pitchFamily="34" charset="0"/>
                <a:ea typeface="+mj-lt" pitchFamily="34" charset="-122"/>
                <a:cs typeface="+mj-lt" pitchFamily="34" charset="-120"/>
              </a:rPr>
              <a:t>96</a:t>
            </a:r>
            <a:endParaRPr lang="en-US" sz="4000" dirty="0"/>
          </a:p>
        </p:txBody>
      </p:sp>
      <p:sp>
        <p:nvSpPr>
          <p:cNvPr id="13" name="Steps label"/>
          <p:cNvSpPr txBox="1"/>
          <p:nvPr/>
        </p:nvSpPr>
        <p:spPr>
          <a:xfrm>
            <a:off x="731520" y="2880360"/>
            <a:ext cx="2651760" cy="274320"/>
          </a:xfrm>
          <a:prstGeom prst="rect">
            <a:avLst/>
          </a:prstGeom>
          <a:noFill/>
          <a:ln/>
        </p:spPr>
        <p:txBody>
          <a:bodyPr wrap="square" lIns="0" tIns="0" rIns="0" bIns="0" rtlCol="0" anchor="t"/>
          <a:lstStyle/>
          <a:p>
            <a:pPr indent="0" marL="0">
              <a:buNone/>
            </a:pPr>
            <a:r>
              <a:rPr lang="en-US" sz="1400" dirty="0">
                <a:solidFill>
                  <a:schemeClr val="accent4"/>
                </a:solidFill>
              </a:rPr>
              <a:t>steps in the standard protocol</a:t>
            </a:r>
            <a:endParaRPr lang="en-US" sz="1400" dirty="0"/>
          </a:p>
        </p:txBody>
      </p:sp>
      <p:sp>
        <p:nvSpPr>
          <p:cNvPr id="14" name="Time stat"/>
          <p:cNvSpPr txBox="1"/>
          <p:nvPr/>
        </p:nvSpPr>
        <p:spPr>
          <a:xfrm>
            <a:off x="731520" y="3246120"/>
            <a:ext cx="2651760" cy="411480"/>
          </a:xfrm>
          <a:prstGeom prst="rect">
            <a:avLst/>
          </a:prstGeom>
          <a:noFill/>
          <a:ln/>
        </p:spPr>
        <p:txBody>
          <a:bodyPr wrap="square" lIns="0" tIns="0" rIns="0" bIns="0" rtlCol="0" anchor="b"/>
          <a:lstStyle/>
          <a:p>
            <a:pPr indent="0" marL="0">
              <a:buNone/>
            </a:pPr>
            <a:r>
              <a:rPr lang="en-US" sz="2400" b="1" dirty="0">
                <a:solidFill>
                  <a:schemeClr val="accent2"/>
                </a:solidFill>
                <a:latin typeface="+mj-lt" pitchFamily="34" charset="0"/>
                <a:ea typeface="+mj-lt" pitchFamily="34" charset="-122"/>
                <a:cs typeface="+mj-lt" pitchFamily="34" charset="-120"/>
              </a:rPr>
              <a:t>6 months – 2 years</a:t>
            </a:r>
            <a:endParaRPr lang="en-US" sz="2400" dirty="0"/>
          </a:p>
        </p:txBody>
      </p:sp>
      <p:sp>
        <p:nvSpPr>
          <p:cNvPr id="15" name="Time label"/>
          <p:cNvSpPr txBox="1"/>
          <p:nvPr/>
        </p:nvSpPr>
        <p:spPr>
          <a:xfrm>
            <a:off x="731520" y="3657600"/>
            <a:ext cx="2651760" cy="274320"/>
          </a:xfrm>
          <a:prstGeom prst="rect">
            <a:avLst/>
          </a:prstGeom>
          <a:noFill/>
          <a:ln/>
        </p:spPr>
        <p:txBody>
          <a:bodyPr wrap="square" lIns="0" tIns="0" rIns="0" bIns="0" rtlCol="0" anchor="t"/>
          <a:lstStyle/>
          <a:p>
            <a:pPr indent="0" marL="0">
              <a:buNone/>
            </a:pPr>
            <a:r>
              <a:rPr lang="en-US" sz="1400" dirty="0">
                <a:solidFill>
                  <a:schemeClr val="accent4"/>
                </a:solidFill>
              </a:rPr>
              <a:t>for one high-quality model</a:t>
            </a:r>
            <a:endParaRPr lang="en-US" sz="1400" dirty="0"/>
          </a:p>
        </p:txBody>
      </p:sp>
      <p:sp>
        <p:nvSpPr>
          <p:cNvPr id="16" name="Citation"/>
          <p:cNvSpPr txBox="1"/>
          <p:nvPr/>
        </p:nvSpPr>
        <p:spPr>
          <a:xfrm>
            <a:off x="731520" y="4069080"/>
            <a:ext cx="2651760" cy="256032"/>
          </a:xfrm>
          <a:prstGeom prst="rect">
            <a:avLst/>
          </a:prstGeom>
          <a:noFill/>
          <a:ln/>
        </p:spPr>
        <p:txBody>
          <a:bodyPr wrap="square" lIns="0" tIns="0" rIns="0" bIns="0" rtlCol="0" anchor="ctr"/>
          <a:lstStyle/>
          <a:p>
            <a:pPr indent="0" marL="0">
              <a:buNone/>
            </a:pPr>
            <a:r>
              <a:rPr lang="en-US" sz="1000" dirty="0">
                <a:solidFill>
                  <a:schemeClr val="accent4"/>
                </a:solidFill>
              </a:rPr>
              <a:t>Thiele &amp; Palsson, Nat. Protoc. 2010</a:t>
            </a:r>
            <a:endParaRPr lang="en-US" sz="1000" dirty="0"/>
          </a:p>
        </p:txBody>
      </p:sp>
      <p:sp>
        <p:nvSpPr>
          <p:cNvPr id="17" name="Annotation node"/>
          <p:cNvSpPr/>
          <p:nvPr/>
        </p:nvSpPr>
        <p:spPr>
          <a:xfrm>
            <a:off x="3886200" y="1289304"/>
            <a:ext cx="457200" cy="457200"/>
          </a:xfrm>
          <a:prstGeom prst="ellipse">
            <a:avLst/>
          </a:prstGeom>
          <a:solidFill>
            <a:schemeClr val="accent1"/>
          </a:solidFill>
          <a:ln/>
        </p:spPr>
      </p:sp>
      <p:pic>
        <p:nvPicPr>
          <p:cNvPr id="18" name="Annotation icon" descr="preencoded.png">    </p:cNvPr>
          <p:cNvPicPr>
            <a:picLocks noChangeAspect="1"/>
          </p:cNvPicPr>
          <p:nvPr/>
        </p:nvPicPr>
        <p:blipFill>
          <a:blip r:embed="rId3"/>
          <a:stretch>
            <a:fillRect/>
          </a:stretch>
        </p:blipFill>
        <p:spPr>
          <a:xfrm>
            <a:off x="4000500" y="1403604"/>
            <a:ext cx="228600" cy="228600"/>
          </a:xfrm>
          <a:prstGeom prst="rect">
            <a:avLst/>
          </a:prstGeom>
        </p:spPr>
      </p:pic>
      <p:sp>
        <p:nvSpPr>
          <p:cNvPr id="19" name="Annotation question"/>
          <p:cNvSpPr txBox="1"/>
          <p:nvPr/>
        </p:nvSpPr>
        <p:spPr>
          <a:xfrm>
            <a:off x="4526280" y="1188720"/>
            <a:ext cx="4160520" cy="658368"/>
          </a:xfrm>
          <a:prstGeom prst="rect">
            <a:avLst/>
          </a:prstGeom>
          <a:noFill/>
          <a:ln/>
        </p:spPr>
        <p:txBody>
          <a:bodyPr wrap="square" lIns="0" tIns="0" rIns="0" bIns="0" rtlCol="0" anchor="ctr"/>
          <a:lstStyle/>
          <a:p>
            <a:pPr indent="0" marL="0">
              <a:buNone/>
            </a:pPr>
            <a:r>
              <a:rPr lang="en-US" sz="1500" b="1" dirty="0">
                <a:solidFill>
                  <a:schemeClr val="tx2"/>
                </a:solidFill>
              </a:rPr>
              <a:t>Annotation</a:t>
            </a:r>
            <a:endParaRPr lang="en-US" sz="1500" dirty="0"/>
          </a:p>
          <a:p>
            <a:pPr indent="0" marL="0">
              <a:buNone/>
            </a:pPr>
            <a:r>
              <a:rPr lang="en-US" sz="1400" dirty="0">
                <a:solidFill>
                  <a:schemeClr val="tx1"/>
                </a:solidFill>
              </a:rPr>
              <a:t>Which genes encode enzymes, doing what?</a:t>
            </a:r>
            <a:endParaRPr lang="en-US" sz="1500" dirty="0"/>
          </a:p>
        </p:txBody>
      </p:sp>
      <p:sp>
        <p:nvSpPr>
          <p:cNvPr id="20" name="Stoichiometry node"/>
          <p:cNvSpPr/>
          <p:nvPr/>
        </p:nvSpPr>
        <p:spPr>
          <a:xfrm>
            <a:off x="3886200" y="1947672"/>
            <a:ext cx="457200" cy="457200"/>
          </a:xfrm>
          <a:prstGeom prst="ellipse">
            <a:avLst/>
          </a:prstGeom>
          <a:solidFill>
            <a:schemeClr val="accent1"/>
          </a:solidFill>
          <a:ln/>
        </p:spPr>
      </p:sp>
      <p:pic>
        <p:nvPicPr>
          <p:cNvPr id="21" name="Stoichiometry icon" descr="preencoded.png">    </p:cNvPr>
          <p:cNvPicPr>
            <a:picLocks noChangeAspect="1"/>
          </p:cNvPicPr>
          <p:nvPr/>
        </p:nvPicPr>
        <p:blipFill>
          <a:blip r:embed="rId4"/>
          <a:stretch>
            <a:fillRect/>
          </a:stretch>
        </p:blipFill>
        <p:spPr>
          <a:xfrm>
            <a:off x="4000500" y="2061972"/>
            <a:ext cx="228600" cy="228600"/>
          </a:xfrm>
          <a:prstGeom prst="rect">
            <a:avLst/>
          </a:prstGeom>
        </p:spPr>
      </p:pic>
      <p:sp>
        <p:nvSpPr>
          <p:cNvPr id="22" name="Stoichiometry question"/>
          <p:cNvSpPr txBox="1"/>
          <p:nvPr/>
        </p:nvSpPr>
        <p:spPr>
          <a:xfrm>
            <a:off x="4526280" y="1847088"/>
            <a:ext cx="4160520" cy="658368"/>
          </a:xfrm>
          <a:prstGeom prst="rect">
            <a:avLst/>
          </a:prstGeom>
          <a:noFill/>
          <a:ln/>
        </p:spPr>
        <p:txBody>
          <a:bodyPr wrap="square" lIns="0" tIns="0" rIns="0" bIns="0" rtlCol="0" anchor="ctr"/>
          <a:lstStyle/>
          <a:p>
            <a:pPr indent="0" marL="0">
              <a:buNone/>
            </a:pPr>
            <a:r>
              <a:rPr lang="en-US" sz="1500" b="1" dirty="0">
                <a:solidFill>
                  <a:schemeClr val="tx2"/>
                </a:solidFill>
              </a:rPr>
              <a:t>Stoichiometry</a:t>
            </a:r>
            <a:endParaRPr lang="en-US" sz="1500" dirty="0"/>
          </a:p>
          <a:p>
            <a:pPr indent="0" marL="0">
              <a:buNone/>
            </a:pPr>
            <a:r>
              <a:rPr lang="en-US" sz="1400" dirty="0">
                <a:solidFill>
                  <a:schemeClr val="tx1"/>
                </a:solidFill>
              </a:rPr>
              <a:t>Balanced, and running in the right direction?</a:t>
            </a:r>
            <a:endParaRPr lang="en-US" sz="1500" dirty="0"/>
          </a:p>
        </p:txBody>
      </p:sp>
      <p:sp>
        <p:nvSpPr>
          <p:cNvPr id="23" name="Compartments node"/>
          <p:cNvSpPr/>
          <p:nvPr/>
        </p:nvSpPr>
        <p:spPr>
          <a:xfrm>
            <a:off x="3886200" y="2606040"/>
            <a:ext cx="457200" cy="457200"/>
          </a:xfrm>
          <a:prstGeom prst="ellipse">
            <a:avLst/>
          </a:prstGeom>
          <a:solidFill>
            <a:schemeClr val="accent1"/>
          </a:solidFill>
          <a:ln/>
        </p:spPr>
      </p:sp>
      <p:pic>
        <p:nvPicPr>
          <p:cNvPr id="24" name="Compartments icon" descr="preencoded.png">    </p:cNvPr>
          <p:cNvPicPr>
            <a:picLocks noChangeAspect="1"/>
          </p:cNvPicPr>
          <p:nvPr/>
        </p:nvPicPr>
        <p:blipFill>
          <a:blip r:embed="rId5"/>
          <a:stretch>
            <a:fillRect/>
          </a:stretch>
        </p:blipFill>
        <p:spPr>
          <a:xfrm>
            <a:off x="4000500" y="2720340"/>
            <a:ext cx="228600" cy="228600"/>
          </a:xfrm>
          <a:prstGeom prst="rect">
            <a:avLst/>
          </a:prstGeom>
        </p:spPr>
      </p:pic>
      <p:sp>
        <p:nvSpPr>
          <p:cNvPr id="25" name="Compartments question"/>
          <p:cNvSpPr txBox="1"/>
          <p:nvPr/>
        </p:nvSpPr>
        <p:spPr>
          <a:xfrm>
            <a:off x="4526280" y="2505456"/>
            <a:ext cx="4160520" cy="658368"/>
          </a:xfrm>
          <a:prstGeom prst="rect">
            <a:avLst/>
          </a:prstGeom>
          <a:noFill/>
          <a:ln/>
        </p:spPr>
        <p:txBody>
          <a:bodyPr wrap="square" lIns="0" tIns="0" rIns="0" bIns="0" rtlCol="0" anchor="ctr"/>
          <a:lstStyle/>
          <a:p>
            <a:pPr indent="0" marL="0">
              <a:buNone/>
            </a:pPr>
            <a:r>
              <a:rPr lang="en-US" sz="1500" b="1" dirty="0">
                <a:solidFill>
                  <a:schemeClr val="tx2"/>
                </a:solidFill>
              </a:rPr>
              <a:t>Compartments</a:t>
            </a:r>
            <a:endParaRPr lang="en-US" sz="1500" dirty="0"/>
          </a:p>
          <a:p>
            <a:pPr indent="0" marL="0">
              <a:buNone/>
            </a:pPr>
            <a:r>
              <a:rPr lang="en-US" sz="1400" dirty="0">
                <a:solidFill>
                  <a:schemeClr val="tx1"/>
                </a:solidFill>
              </a:rPr>
              <a:t>Where does it happen? What is transported?</a:t>
            </a:r>
            <a:endParaRPr lang="en-US" sz="1500" dirty="0"/>
          </a:p>
        </p:txBody>
      </p:sp>
      <p:sp>
        <p:nvSpPr>
          <p:cNvPr id="26" name="Biomass node"/>
          <p:cNvSpPr/>
          <p:nvPr/>
        </p:nvSpPr>
        <p:spPr>
          <a:xfrm>
            <a:off x="3886200" y="3264408"/>
            <a:ext cx="457200" cy="457200"/>
          </a:xfrm>
          <a:prstGeom prst="ellipse">
            <a:avLst/>
          </a:prstGeom>
          <a:solidFill>
            <a:schemeClr val="accent1"/>
          </a:solidFill>
          <a:ln/>
        </p:spPr>
      </p:sp>
      <p:pic>
        <p:nvPicPr>
          <p:cNvPr id="27" name="Biomass icon" descr="preencoded.png">    </p:cNvPr>
          <p:cNvPicPr>
            <a:picLocks noChangeAspect="1"/>
          </p:cNvPicPr>
          <p:nvPr/>
        </p:nvPicPr>
        <p:blipFill>
          <a:blip r:embed="rId6"/>
          <a:stretch>
            <a:fillRect/>
          </a:stretch>
        </p:blipFill>
        <p:spPr>
          <a:xfrm>
            <a:off x="4000500" y="3378708"/>
            <a:ext cx="228600" cy="228600"/>
          </a:xfrm>
          <a:prstGeom prst="rect">
            <a:avLst/>
          </a:prstGeom>
        </p:spPr>
      </p:pic>
      <p:sp>
        <p:nvSpPr>
          <p:cNvPr id="28" name="Biomass question"/>
          <p:cNvSpPr txBox="1"/>
          <p:nvPr/>
        </p:nvSpPr>
        <p:spPr>
          <a:xfrm>
            <a:off x="4526280" y="3163824"/>
            <a:ext cx="4160520" cy="658368"/>
          </a:xfrm>
          <a:prstGeom prst="rect">
            <a:avLst/>
          </a:prstGeom>
          <a:noFill/>
          <a:ln/>
        </p:spPr>
        <p:txBody>
          <a:bodyPr wrap="square" lIns="0" tIns="0" rIns="0" bIns="0" rtlCol="0" anchor="ctr"/>
          <a:lstStyle/>
          <a:p>
            <a:pPr indent="0" marL="0">
              <a:buNone/>
            </a:pPr>
            <a:r>
              <a:rPr lang="en-US" sz="1500" b="1" dirty="0">
                <a:solidFill>
                  <a:schemeClr val="tx2"/>
                </a:solidFill>
              </a:rPr>
              <a:t>Biomass</a:t>
            </a:r>
            <a:endParaRPr lang="en-US" sz="1500" dirty="0"/>
          </a:p>
          <a:p>
            <a:pPr indent="0" marL="0">
              <a:buNone/>
            </a:pPr>
            <a:r>
              <a:rPr lang="en-US" sz="1400" dirty="0">
                <a:solidFill>
                  <a:schemeClr val="tx1"/>
                </a:solidFill>
              </a:rPr>
              <a:t>What is the cell made of, and how much?</a:t>
            </a:r>
            <a:endParaRPr lang="en-US" sz="1500" dirty="0"/>
          </a:p>
        </p:txBody>
      </p:sp>
      <p:sp>
        <p:nvSpPr>
          <p:cNvPr id="29" name="Gaps node"/>
          <p:cNvSpPr/>
          <p:nvPr/>
        </p:nvSpPr>
        <p:spPr>
          <a:xfrm>
            <a:off x="3886200" y="3922776"/>
            <a:ext cx="457200" cy="457200"/>
          </a:xfrm>
          <a:prstGeom prst="ellipse">
            <a:avLst/>
          </a:prstGeom>
          <a:solidFill>
            <a:schemeClr val="accent1"/>
          </a:solidFill>
          <a:ln/>
        </p:spPr>
      </p:sp>
      <p:pic>
        <p:nvPicPr>
          <p:cNvPr id="30" name="Gaps icon" descr="preencoded.png">    </p:cNvPr>
          <p:cNvPicPr>
            <a:picLocks noChangeAspect="1"/>
          </p:cNvPicPr>
          <p:nvPr/>
        </p:nvPicPr>
        <p:blipFill>
          <a:blip r:embed="rId7"/>
          <a:stretch>
            <a:fillRect/>
          </a:stretch>
        </p:blipFill>
        <p:spPr>
          <a:xfrm>
            <a:off x="4000500" y="4037076"/>
            <a:ext cx="228600" cy="228600"/>
          </a:xfrm>
          <a:prstGeom prst="rect">
            <a:avLst/>
          </a:prstGeom>
        </p:spPr>
      </p:pic>
      <p:sp>
        <p:nvSpPr>
          <p:cNvPr id="31" name="Gaps question"/>
          <p:cNvSpPr txBox="1"/>
          <p:nvPr/>
        </p:nvSpPr>
        <p:spPr>
          <a:xfrm>
            <a:off x="4526280" y="3822192"/>
            <a:ext cx="4160520" cy="658368"/>
          </a:xfrm>
          <a:prstGeom prst="rect">
            <a:avLst/>
          </a:prstGeom>
          <a:noFill/>
          <a:ln/>
        </p:spPr>
        <p:txBody>
          <a:bodyPr wrap="square" lIns="0" tIns="0" rIns="0" bIns="0" rtlCol="0" anchor="ctr"/>
          <a:lstStyle/>
          <a:p>
            <a:pPr indent="0" marL="0">
              <a:buNone/>
            </a:pPr>
            <a:r>
              <a:rPr lang="en-US" sz="1500" b="1" dirty="0">
                <a:solidFill>
                  <a:schemeClr val="tx2"/>
                </a:solidFill>
              </a:rPr>
              <a:t>Gaps</a:t>
            </a:r>
            <a:endParaRPr lang="en-US" sz="1500" dirty="0"/>
          </a:p>
          <a:p>
            <a:pPr indent="0" marL="0">
              <a:buNone/>
            </a:pPr>
            <a:r>
              <a:rPr lang="en-US" sz="1400" dirty="0">
                <a:solidFill>
                  <a:schemeClr val="tx1"/>
                </a:solidFill>
              </a:rPr>
              <a:t>Can the network actually grow on a medium?</a:t>
            </a:r>
            <a:endParaRPr lang="en-US" sz="15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Today: by hand, then automated</a:t>
            </a:r>
            <a:endParaRPr lang="en-US" sz="3600" dirty="0"/>
          </a:p>
        </p:txBody>
      </p:sp>
      <p:sp>
        <p:nvSpPr>
          <p:cNvPr id="3" name="Timeline spine"/>
          <p:cNvSpPr/>
          <p:nvPr/>
        </p:nvSpPr>
        <p:spPr>
          <a:xfrm>
            <a:off x="1508760" y="1463040"/>
            <a:ext cx="0" cy="2194560"/>
          </a:xfrm>
          <a:prstGeom prst="line">
            <a:avLst/>
          </a:prstGeom>
          <a:noFill/>
          <a:ln w="25400">
            <a:solidFill>
              <a:schemeClr val="accent4"/>
            </a:solidFill>
            <a:prstDash val="solid"/>
          </a:ln>
        </p:spPr>
      </p:sp>
      <p:sp>
        <p:nvSpPr>
          <p:cNvPr id="4" name="09:45 time"/>
          <p:cNvSpPr txBox="1"/>
          <p:nvPr/>
        </p:nvSpPr>
        <p:spPr>
          <a:xfrm>
            <a:off x="457200" y="1188720"/>
            <a:ext cx="731520" cy="548640"/>
          </a:xfrm>
          <a:prstGeom prst="rect">
            <a:avLst/>
          </a:prstGeom>
          <a:noFill/>
          <a:ln/>
        </p:spPr>
        <p:txBody>
          <a:bodyPr wrap="square" lIns="0" tIns="0" rIns="0" bIns="0" rtlCol="0" anchor="ctr"/>
          <a:lstStyle/>
          <a:p>
            <a:pPr algn="r" indent="0" marL="0">
              <a:buNone/>
            </a:pPr>
            <a:r>
              <a:rPr lang="en-US" sz="1500" b="1" dirty="0">
                <a:solidFill>
                  <a:schemeClr val="accent1"/>
                </a:solidFill>
              </a:rPr>
              <a:t>09:45</a:t>
            </a:r>
            <a:endParaRPr lang="en-US" sz="1500" dirty="0"/>
          </a:p>
        </p:txBody>
      </p:sp>
      <p:sp>
        <p:nvSpPr>
          <p:cNvPr id="5" name="09:45 session node"/>
          <p:cNvSpPr/>
          <p:nvPr/>
        </p:nvSpPr>
        <p:spPr>
          <a:xfrm>
            <a:off x="1307592" y="1261872"/>
            <a:ext cx="402336" cy="402336"/>
          </a:xfrm>
          <a:prstGeom prst="ellipse">
            <a:avLst/>
          </a:prstGeom>
          <a:solidFill>
            <a:schemeClr val="accent1"/>
          </a:solidFill>
          <a:ln/>
        </p:spPr>
      </p:sp>
      <p:pic>
        <p:nvPicPr>
          <p:cNvPr id="6" name="09:45 session icon" descr="preencoded.png">    </p:cNvPr>
          <p:cNvPicPr>
            <a:picLocks noChangeAspect="1"/>
          </p:cNvPicPr>
          <p:nvPr/>
        </p:nvPicPr>
        <p:blipFill>
          <a:blip r:embed="rId1"/>
          <a:stretch>
            <a:fillRect/>
          </a:stretch>
        </p:blipFill>
        <p:spPr>
          <a:xfrm>
            <a:off x="1408176" y="1362456"/>
            <a:ext cx="201168" cy="201168"/>
          </a:xfrm>
          <a:prstGeom prst="rect">
            <a:avLst/>
          </a:prstGeom>
        </p:spPr>
      </p:pic>
      <p:sp>
        <p:nvSpPr>
          <p:cNvPr id="7" name="09:45 title"/>
          <p:cNvSpPr txBox="1"/>
          <p:nvPr/>
        </p:nvSpPr>
        <p:spPr>
          <a:xfrm>
            <a:off x="1920240" y="1188720"/>
            <a:ext cx="4846320" cy="548640"/>
          </a:xfrm>
          <a:prstGeom prst="rect">
            <a:avLst/>
          </a:prstGeom>
          <a:noFill/>
          <a:ln/>
        </p:spPr>
        <p:txBody>
          <a:bodyPr wrap="square" lIns="0" tIns="0" rIns="0" bIns="0" rtlCol="0" anchor="ctr"/>
          <a:lstStyle/>
          <a:p>
            <a:pPr indent="0" marL="0">
              <a:buNone/>
            </a:pPr>
            <a:r>
              <a:rPr lang="en-US" sz="1600" dirty="0">
                <a:solidFill>
                  <a:schemeClr val="tx1"/>
                </a:solidFill>
              </a:rPr>
              <a:t>Build a toy model from scratch</a:t>
            </a:r>
            <a:endParaRPr lang="en-US" sz="1600" dirty="0"/>
          </a:p>
        </p:txBody>
      </p:sp>
      <p:sp>
        <p:nvSpPr>
          <p:cNvPr id="8" name="09:45 tag"/>
          <p:cNvSpPr/>
          <p:nvPr/>
        </p:nvSpPr>
        <p:spPr>
          <a:xfrm>
            <a:off x="6949440" y="1298448"/>
            <a:ext cx="1737360" cy="329184"/>
          </a:xfrm>
          <a:prstGeom prst="roundRect">
            <a:avLst>
              <a:gd name="adj" fmla="val 50000"/>
            </a:avLst>
          </a:prstGeom>
          <a:solidFill>
            <a:schemeClr val="accent1"/>
          </a:solidFill>
          <a:ln/>
        </p:spPr>
      </p:sp>
      <p:sp>
        <p:nvSpPr>
          <p:cNvPr id="9" name="09:45 tag text"/>
          <p:cNvSpPr txBox="1"/>
          <p:nvPr/>
        </p:nvSpPr>
        <p:spPr>
          <a:xfrm>
            <a:off x="6949440" y="1298448"/>
            <a:ext cx="1737360" cy="329184"/>
          </a:xfrm>
          <a:prstGeom prst="rect">
            <a:avLst/>
          </a:prstGeom>
          <a:noFill/>
          <a:ln/>
        </p:spPr>
        <p:txBody>
          <a:bodyPr wrap="square" lIns="0" tIns="0" rIns="0" bIns="0" rtlCol="0" anchor="ctr"/>
          <a:lstStyle/>
          <a:p>
            <a:pPr algn="ctr" indent="0" marL="0">
              <a:buNone/>
            </a:pPr>
            <a:r>
              <a:rPr lang="en-US" sz="1300" b="1" dirty="0">
                <a:solidFill>
                  <a:schemeClr val="bg1"/>
                </a:solidFill>
              </a:rPr>
              <a:t>Hands-on</a:t>
            </a:r>
            <a:endParaRPr lang="en-US" sz="1300" dirty="0"/>
          </a:p>
        </p:txBody>
      </p:sp>
      <p:sp>
        <p:nvSpPr>
          <p:cNvPr id="10" name="13:00 time"/>
          <p:cNvSpPr txBox="1"/>
          <p:nvPr/>
        </p:nvSpPr>
        <p:spPr>
          <a:xfrm>
            <a:off x="457200" y="1737360"/>
            <a:ext cx="731520" cy="548640"/>
          </a:xfrm>
          <a:prstGeom prst="rect">
            <a:avLst/>
          </a:prstGeom>
          <a:noFill/>
          <a:ln/>
        </p:spPr>
        <p:txBody>
          <a:bodyPr wrap="square" lIns="0" tIns="0" rIns="0" bIns="0" rtlCol="0" anchor="ctr"/>
          <a:lstStyle/>
          <a:p>
            <a:pPr algn="r" indent="0" marL="0">
              <a:buNone/>
            </a:pPr>
            <a:r>
              <a:rPr lang="en-US" sz="1500" b="1" dirty="0">
                <a:solidFill>
                  <a:schemeClr val="accent1"/>
                </a:solidFill>
              </a:rPr>
              <a:t>13:00</a:t>
            </a:r>
            <a:endParaRPr lang="en-US" sz="1500" dirty="0"/>
          </a:p>
        </p:txBody>
      </p:sp>
      <p:sp>
        <p:nvSpPr>
          <p:cNvPr id="11" name="13:00 session node"/>
          <p:cNvSpPr/>
          <p:nvPr/>
        </p:nvSpPr>
        <p:spPr>
          <a:xfrm>
            <a:off x="1307592" y="1810512"/>
            <a:ext cx="402336" cy="402336"/>
          </a:xfrm>
          <a:prstGeom prst="ellipse">
            <a:avLst/>
          </a:prstGeom>
          <a:solidFill>
            <a:schemeClr val="accent6"/>
          </a:solidFill>
          <a:ln/>
        </p:spPr>
      </p:sp>
      <p:pic>
        <p:nvPicPr>
          <p:cNvPr id="12" name="13:00 session icon" descr="preencoded.png">    </p:cNvPr>
          <p:cNvPicPr>
            <a:picLocks noChangeAspect="1"/>
          </p:cNvPicPr>
          <p:nvPr/>
        </p:nvPicPr>
        <p:blipFill>
          <a:blip r:embed="rId2"/>
          <a:stretch>
            <a:fillRect/>
          </a:stretch>
        </p:blipFill>
        <p:spPr>
          <a:xfrm>
            <a:off x="1408176" y="1911096"/>
            <a:ext cx="201168" cy="201168"/>
          </a:xfrm>
          <a:prstGeom prst="rect">
            <a:avLst/>
          </a:prstGeom>
        </p:spPr>
      </p:pic>
      <p:sp>
        <p:nvSpPr>
          <p:cNvPr id="13" name="13:00 title"/>
          <p:cNvSpPr txBox="1"/>
          <p:nvPr/>
        </p:nvSpPr>
        <p:spPr>
          <a:xfrm>
            <a:off x="1920240" y="1737360"/>
            <a:ext cx="4846320" cy="548640"/>
          </a:xfrm>
          <a:prstGeom prst="rect">
            <a:avLst/>
          </a:prstGeom>
          <a:noFill/>
          <a:ln/>
        </p:spPr>
        <p:txBody>
          <a:bodyPr wrap="square" lIns="0" tIns="0" rIns="0" bIns="0" rtlCol="0" anchor="ctr"/>
          <a:lstStyle/>
          <a:p>
            <a:pPr indent="0" marL="0">
              <a:buNone/>
            </a:pPr>
            <a:r>
              <a:rPr lang="en-US" sz="1600" dirty="0">
                <a:solidFill>
                  <a:schemeClr val="tx1"/>
                </a:solidFill>
              </a:rPr>
              <a:t>How reconstruction pipelines work</a:t>
            </a:r>
            <a:endParaRPr lang="en-US" sz="1600" dirty="0"/>
          </a:p>
        </p:txBody>
      </p:sp>
      <p:sp>
        <p:nvSpPr>
          <p:cNvPr id="14" name="13:00 tag"/>
          <p:cNvSpPr/>
          <p:nvPr/>
        </p:nvSpPr>
        <p:spPr>
          <a:xfrm>
            <a:off x="6949440" y="1847088"/>
            <a:ext cx="1737360" cy="329184"/>
          </a:xfrm>
          <a:prstGeom prst="roundRect">
            <a:avLst>
              <a:gd name="adj" fmla="val 50000"/>
            </a:avLst>
          </a:prstGeom>
          <a:solidFill>
            <a:schemeClr val="bg2"/>
          </a:solidFill>
          <a:ln/>
        </p:spPr>
      </p:sp>
      <p:sp>
        <p:nvSpPr>
          <p:cNvPr id="15" name="13:00 tag text"/>
          <p:cNvSpPr txBox="1"/>
          <p:nvPr/>
        </p:nvSpPr>
        <p:spPr>
          <a:xfrm>
            <a:off x="6949440" y="1847088"/>
            <a:ext cx="1737360" cy="329184"/>
          </a:xfrm>
          <a:prstGeom prst="rect">
            <a:avLst/>
          </a:prstGeom>
          <a:noFill/>
          <a:ln/>
        </p:spPr>
        <p:txBody>
          <a:bodyPr wrap="square" lIns="0" tIns="0" rIns="0" bIns="0" rtlCol="0" anchor="ctr"/>
          <a:lstStyle/>
          <a:p>
            <a:pPr algn="ctr" indent="0" marL="0">
              <a:buNone/>
            </a:pPr>
            <a:r>
              <a:rPr lang="en-US" sz="1300" b="1" dirty="0">
                <a:solidFill>
                  <a:schemeClr val="tx2"/>
                </a:solidFill>
              </a:rPr>
              <a:t>Talk</a:t>
            </a:r>
            <a:endParaRPr lang="en-US" sz="1300" dirty="0"/>
          </a:p>
        </p:txBody>
      </p:sp>
      <p:sp>
        <p:nvSpPr>
          <p:cNvPr id="16" name="14:00 time"/>
          <p:cNvSpPr txBox="1"/>
          <p:nvPr/>
        </p:nvSpPr>
        <p:spPr>
          <a:xfrm>
            <a:off x="457200" y="2286000"/>
            <a:ext cx="731520" cy="548640"/>
          </a:xfrm>
          <a:prstGeom prst="rect">
            <a:avLst/>
          </a:prstGeom>
          <a:noFill/>
          <a:ln/>
        </p:spPr>
        <p:txBody>
          <a:bodyPr wrap="square" lIns="0" tIns="0" rIns="0" bIns="0" rtlCol="0" anchor="ctr"/>
          <a:lstStyle/>
          <a:p>
            <a:pPr algn="r" indent="0" marL="0">
              <a:buNone/>
            </a:pPr>
            <a:r>
              <a:rPr lang="en-US" sz="1500" b="1" dirty="0">
                <a:solidFill>
                  <a:schemeClr val="accent1"/>
                </a:solidFill>
              </a:rPr>
              <a:t>14:00</a:t>
            </a:r>
            <a:endParaRPr lang="en-US" sz="1500" dirty="0"/>
          </a:p>
        </p:txBody>
      </p:sp>
      <p:sp>
        <p:nvSpPr>
          <p:cNvPr id="17" name="14:00 session node"/>
          <p:cNvSpPr/>
          <p:nvPr/>
        </p:nvSpPr>
        <p:spPr>
          <a:xfrm>
            <a:off x="1307592" y="2359152"/>
            <a:ext cx="402336" cy="402336"/>
          </a:xfrm>
          <a:prstGeom prst="ellipse">
            <a:avLst/>
          </a:prstGeom>
          <a:solidFill>
            <a:schemeClr val="accent1"/>
          </a:solidFill>
          <a:ln/>
        </p:spPr>
      </p:sp>
      <p:pic>
        <p:nvPicPr>
          <p:cNvPr id="18" name="14:00 session icon" descr="preencoded.png">    </p:cNvPr>
          <p:cNvPicPr>
            <a:picLocks noChangeAspect="1"/>
          </p:cNvPicPr>
          <p:nvPr/>
        </p:nvPicPr>
        <p:blipFill>
          <a:blip r:embed="rId3"/>
          <a:stretch>
            <a:fillRect/>
          </a:stretch>
        </p:blipFill>
        <p:spPr>
          <a:xfrm>
            <a:off x="1408176" y="2459736"/>
            <a:ext cx="201168" cy="201168"/>
          </a:xfrm>
          <a:prstGeom prst="rect">
            <a:avLst/>
          </a:prstGeom>
        </p:spPr>
      </p:pic>
      <p:sp>
        <p:nvSpPr>
          <p:cNvPr id="19" name="14:00 title"/>
          <p:cNvSpPr txBox="1"/>
          <p:nvPr/>
        </p:nvSpPr>
        <p:spPr>
          <a:xfrm>
            <a:off x="1920240" y="2286000"/>
            <a:ext cx="4846320" cy="548640"/>
          </a:xfrm>
          <a:prstGeom prst="rect">
            <a:avLst/>
          </a:prstGeom>
          <a:noFill/>
          <a:ln/>
        </p:spPr>
        <p:txBody>
          <a:bodyPr wrap="square" lIns="0" tIns="0" rIns="0" bIns="0" rtlCol="0" anchor="ctr"/>
          <a:lstStyle/>
          <a:p>
            <a:pPr indent="0" marL="0">
              <a:buNone/>
            </a:pPr>
            <a:r>
              <a:rPr lang="en-US" sz="1600" dirty="0">
                <a:solidFill>
                  <a:schemeClr val="tx1"/>
                </a:solidFill>
              </a:rPr>
              <a:t>Three bacteria, three models: ModelSEED in KBase</a:t>
            </a:r>
            <a:endParaRPr lang="en-US" sz="1600" dirty="0"/>
          </a:p>
        </p:txBody>
      </p:sp>
      <p:sp>
        <p:nvSpPr>
          <p:cNvPr id="20" name="14:00 tag"/>
          <p:cNvSpPr/>
          <p:nvPr/>
        </p:nvSpPr>
        <p:spPr>
          <a:xfrm>
            <a:off x="6949440" y="2395728"/>
            <a:ext cx="1737360" cy="329184"/>
          </a:xfrm>
          <a:prstGeom prst="roundRect">
            <a:avLst>
              <a:gd name="adj" fmla="val 50000"/>
            </a:avLst>
          </a:prstGeom>
          <a:solidFill>
            <a:schemeClr val="accent1"/>
          </a:solidFill>
          <a:ln/>
        </p:spPr>
      </p:sp>
      <p:sp>
        <p:nvSpPr>
          <p:cNvPr id="21" name="14:00 tag text"/>
          <p:cNvSpPr txBox="1"/>
          <p:nvPr/>
        </p:nvSpPr>
        <p:spPr>
          <a:xfrm>
            <a:off x="6949440" y="2395728"/>
            <a:ext cx="1737360" cy="329184"/>
          </a:xfrm>
          <a:prstGeom prst="rect">
            <a:avLst/>
          </a:prstGeom>
          <a:noFill/>
          <a:ln/>
        </p:spPr>
        <p:txBody>
          <a:bodyPr wrap="square" lIns="0" tIns="0" rIns="0" bIns="0" rtlCol="0" anchor="ctr"/>
          <a:lstStyle/>
          <a:p>
            <a:pPr algn="ctr" indent="0" marL="0">
              <a:buNone/>
            </a:pPr>
            <a:r>
              <a:rPr lang="en-US" sz="1300" b="1" dirty="0">
                <a:solidFill>
                  <a:schemeClr val="bg1"/>
                </a:solidFill>
              </a:rPr>
              <a:t>Hands-on</a:t>
            </a:r>
            <a:endParaRPr lang="en-US" sz="1300" dirty="0"/>
          </a:p>
        </p:txBody>
      </p:sp>
      <p:sp>
        <p:nvSpPr>
          <p:cNvPr id="22" name="15:30 time"/>
          <p:cNvSpPr txBox="1"/>
          <p:nvPr/>
        </p:nvSpPr>
        <p:spPr>
          <a:xfrm>
            <a:off x="457200" y="2834640"/>
            <a:ext cx="731520" cy="548640"/>
          </a:xfrm>
          <a:prstGeom prst="rect">
            <a:avLst/>
          </a:prstGeom>
          <a:noFill/>
          <a:ln/>
        </p:spPr>
        <p:txBody>
          <a:bodyPr wrap="square" lIns="0" tIns="0" rIns="0" bIns="0" rtlCol="0" anchor="ctr"/>
          <a:lstStyle/>
          <a:p>
            <a:pPr algn="r" indent="0" marL="0">
              <a:buNone/>
            </a:pPr>
            <a:r>
              <a:rPr lang="en-US" sz="1500" b="1" dirty="0">
                <a:solidFill>
                  <a:schemeClr val="accent1"/>
                </a:solidFill>
              </a:rPr>
              <a:t>15:30</a:t>
            </a:r>
            <a:endParaRPr lang="en-US" sz="1500" dirty="0"/>
          </a:p>
        </p:txBody>
      </p:sp>
      <p:sp>
        <p:nvSpPr>
          <p:cNvPr id="23" name="15:30 session node"/>
          <p:cNvSpPr/>
          <p:nvPr/>
        </p:nvSpPr>
        <p:spPr>
          <a:xfrm>
            <a:off x="1307592" y="2907792"/>
            <a:ext cx="402336" cy="402336"/>
          </a:xfrm>
          <a:prstGeom prst="ellipse">
            <a:avLst/>
          </a:prstGeom>
          <a:solidFill>
            <a:schemeClr val="accent6"/>
          </a:solidFill>
          <a:ln/>
        </p:spPr>
      </p:sp>
      <p:pic>
        <p:nvPicPr>
          <p:cNvPr id="24" name="15:30 session icon" descr="preencoded.png">    </p:cNvPr>
          <p:cNvPicPr>
            <a:picLocks noChangeAspect="1"/>
          </p:cNvPicPr>
          <p:nvPr/>
        </p:nvPicPr>
        <p:blipFill>
          <a:blip r:embed="rId4"/>
          <a:stretch>
            <a:fillRect/>
          </a:stretch>
        </p:blipFill>
        <p:spPr>
          <a:xfrm>
            <a:off x="1408176" y="3008376"/>
            <a:ext cx="201168" cy="201168"/>
          </a:xfrm>
          <a:prstGeom prst="rect">
            <a:avLst/>
          </a:prstGeom>
        </p:spPr>
      </p:pic>
      <p:sp>
        <p:nvSpPr>
          <p:cNvPr id="25" name="15:30 title"/>
          <p:cNvSpPr txBox="1"/>
          <p:nvPr/>
        </p:nvSpPr>
        <p:spPr>
          <a:xfrm>
            <a:off x="1920240" y="2834640"/>
            <a:ext cx="4846320" cy="548640"/>
          </a:xfrm>
          <a:prstGeom prst="rect">
            <a:avLst/>
          </a:prstGeom>
          <a:noFill/>
          <a:ln/>
        </p:spPr>
        <p:txBody>
          <a:bodyPr wrap="square" lIns="0" tIns="0" rIns="0" bIns="0" rtlCol="0" anchor="ctr"/>
          <a:lstStyle/>
          <a:p>
            <a:pPr indent="0" marL="0">
              <a:buNone/>
            </a:pPr>
            <a:r>
              <a:rPr lang="en-US" sz="1600" dirty="0">
                <a:solidFill>
                  <a:schemeClr val="tx1"/>
                </a:solidFill>
              </a:rPr>
              <a:t>How far can we trust it? (MEMOTE)</a:t>
            </a:r>
            <a:endParaRPr lang="en-US" sz="1600" dirty="0"/>
          </a:p>
        </p:txBody>
      </p:sp>
      <p:sp>
        <p:nvSpPr>
          <p:cNvPr id="26" name="15:30 tag"/>
          <p:cNvSpPr/>
          <p:nvPr/>
        </p:nvSpPr>
        <p:spPr>
          <a:xfrm>
            <a:off x="6949440" y="2944368"/>
            <a:ext cx="1737360" cy="329184"/>
          </a:xfrm>
          <a:prstGeom prst="roundRect">
            <a:avLst>
              <a:gd name="adj" fmla="val 50000"/>
            </a:avLst>
          </a:prstGeom>
          <a:solidFill>
            <a:schemeClr val="bg2"/>
          </a:solidFill>
          <a:ln/>
        </p:spPr>
      </p:sp>
      <p:sp>
        <p:nvSpPr>
          <p:cNvPr id="27" name="15:30 tag text"/>
          <p:cNvSpPr txBox="1"/>
          <p:nvPr/>
        </p:nvSpPr>
        <p:spPr>
          <a:xfrm>
            <a:off x="6949440" y="2944368"/>
            <a:ext cx="1737360" cy="329184"/>
          </a:xfrm>
          <a:prstGeom prst="rect">
            <a:avLst/>
          </a:prstGeom>
          <a:noFill/>
          <a:ln/>
        </p:spPr>
        <p:txBody>
          <a:bodyPr wrap="square" lIns="0" tIns="0" rIns="0" bIns="0" rtlCol="0" anchor="ctr"/>
          <a:lstStyle/>
          <a:p>
            <a:pPr algn="ctr" indent="0" marL="0">
              <a:buNone/>
            </a:pPr>
            <a:r>
              <a:rPr lang="en-US" sz="1300" b="1" dirty="0">
                <a:solidFill>
                  <a:schemeClr val="tx2"/>
                </a:solidFill>
              </a:rPr>
              <a:t>Discussion</a:t>
            </a:r>
            <a:endParaRPr lang="en-US" sz="1300" dirty="0"/>
          </a:p>
        </p:txBody>
      </p:sp>
      <p:sp>
        <p:nvSpPr>
          <p:cNvPr id="28" name="16:00 time"/>
          <p:cNvSpPr txBox="1"/>
          <p:nvPr/>
        </p:nvSpPr>
        <p:spPr>
          <a:xfrm>
            <a:off x="457200" y="3383280"/>
            <a:ext cx="731520" cy="548640"/>
          </a:xfrm>
          <a:prstGeom prst="rect">
            <a:avLst/>
          </a:prstGeom>
          <a:noFill/>
          <a:ln/>
        </p:spPr>
        <p:txBody>
          <a:bodyPr wrap="square" lIns="0" tIns="0" rIns="0" bIns="0" rtlCol="0" anchor="ctr"/>
          <a:lstStyle/>
          <a:p>
            <a:pPr algn="r" indent="0" marL="0">
              <a:buNone/>
            </a:pPr>
            <a:r>
              <a:rPr lang="en-US" sz="1500" b="1" dirty="0">
                <a:solidFill>
                  <a:schemeClr val="accent1"/>
                </a:solidFill>
              </a:rPr>
              <a:t>16:00</a:t>
            </a:r>
            <a:endParaRPr lang="en-US" sz="1500" dirty="0"/>
          </a:p>
        </p:txBody>
      </p:sp>
      <p:sp>
        <p:nvSpPr>
          <p:cNvPr id="29" name="16:00 session node"/>
          <p:cNvSpPr/>
          <p:nvPr/>
        </p:nvSpPr>
        <p:spPr>
          <a:xfrm>
            <a:off x="1307592" y="3456432"/>
            <a:ext cx="402336" cy="402336"/>
          </a:xfrm>
          <a:prstGeom prst="ellipse">
            <a:avLst/>
          </a:prstGeom>
          <a:solidFill>
            <a:schemeClr val="accent6"/>
          </a:solidFill>
          <a:ln/>
        </p:spPr>
      </p:sp>
      <p:pic>
        <p:nvPicPr>
          <p:cNvPr id="30" name="16:00 session icon" descr="preencoded.png">    </p:cNvPr>
          <p:cNvPicPr>
            <a:picLocks noChangeAspect="1"/>
          </p:cNvPicPr>
          <p:nvPr/>
        </p:nvPicPr>
        <p:blipFill>
          <a:blip r:embed="rId5"/>
          <a:stretch>
            <a:fillRect/>
          </a:stretch>
        </p:blipFill>
        <p:spPr>
          <a:xfrm>
            <a:off x="1408176" y="3557016"/>
            <a:ext cx="201168" cy="201168"/>
          </a:xfrm>
          <a:prstGeom prst="rect">
            <a:avLst/>
          </a:prstGeom>
        </p:spPr>
      </p:pic>
      <p:sp>
        <p:nvSpPr>
          <p:cNvPr id="31" name="16:00 title"/>
          <p:cNvSpPr txBox="1"/>
          <p:nvPr/>
        </p:nvSpPr>
        <p:spPr>
          <a:xfrm>
            <a:off x="1920240" y="3383280"/>
            <a:ext cx="4846320" cy="548640"/>
          </a:xfrm>
          <a:prstGeom prst="rect">
            <a:avLst/>
          </a:prstGeom>
          <a:noFill/>
          <a:ln/>
        </p:spPr>
        <p:txBody>
          <a:bodyPr wrap="square" lIns="0" tIns="0" rIns="0" bIns="0" rtlCol="0" anchor="ctr"/>
          <a:lstStyle/>
          <a:p>
            <a:pPr indent="0" marL="0">
              <a:buNone/>
            </a:pPr>
            <a:r>
              <a:rPr lang="en-US" sz="1600" dirty="0">
                <a:solidFill>
                  <a:schemeClr val="tx1"/>
                </a:solidFill>
              </a:rPr>
              <a:t>Drop-in clinic: help with your own laptop</a:t>
            </a:r>
            <a:endParaRPr lang="en-US" sz="1600" dirty="0"/>
          </a:p>
        </p:txBody>
      </p:sp>
      <p:sp>
        <p:nvSpPr>
          <p:cNvPr id="32" name="16:00 tag"/>
          <p:cNvSpPr/>
          <p:nvPr/>
        </p:nvSpPr>
        <p:spPr>
          <a:xfrm>
            <a:off x="6949440" y="3493008"/>
            <a:ext cx="1737360" cy="329184"/>
          </a:xfrm>
          <a:prstGeom prst="roundRect">
            <a:avLst>
              <a:gd name="adj" fmla="val 50000"/>
            </a:avLst>
          </a:prstGeom>
          <a:solidFill>
            <a:schemeClr val="bg2"/>
          </a:solidFill>
          <a:ln/>
        </p:spPr>
      </p:sp>
      <p:sp>
        <p:nvSpPr>
          <p:cNvPr id="33" name="16:00 tag text"/>
          <p:cNvSpPr txBox="1"/>
          <p:nvPr/>
        </p:nvSpPr>
        <p:spPr>
          <a:xfrm>
            <a:off x="6949440" y="3493008"/>
            <a:ext cx="1737360" cy="329184"/>
          </a:xfrm>
          <a:prstGeom prst="rect">
            <a:avLst/>
          </a:prstGeom>
          <a:noFill/>
          <a:ln/>
        </p:spPr>
        <p:txBody>
          <a:bodyPr wrap="square" lIns="0" tIns="0" rIns="0" bIns="0" rtlCol="0" anchor="ctr"/>
          <a:lstStyle/>
          <a:p>
            <a:pPr algn="ctr" indent="0" marL="0">
              <a:buNone/>
            </a:pPr>
            <a:r>
              <a:rPr lang="en-US" sz="1300" b="1" dirty="0">
                <a:solidFill>
                  <a:schemeClr val="tx2"/>
                </a:solidFill>
              </a:rPr>
              <a:t>Clinic</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5394960" cy="365760"/>
          </a:xfrm>
          <a:prstGeom prst="rect">
            <a:avLst/>
          </a:prstGeom>
          <a:noFill/>
          <a:ln/>
        </p:spPr>
        <p:txBody>
          <a:bodyPr wrap="square" lIns="0" tIns="0" rIns="0" bIns="0" rtlCol="0" anchor="ctr"/>
          <a:lstStyle/>
          <a:p>
            <a:pPr indent="0" marL="0">
              <a:buNone/>
            </a:pPr>
            <a:r>
              <a:rPr lang="en-US" sz="1400" b="1" dirty="0">
                <a:solidFill>
                  <a:schemeClr val="accent2"/>
                </a:solidFill>
              </a:rPr>
              <a:t>Keep this question in mind today</a:t>
            </a:r>
            <a:endParaRPr lang="en-US" sz="1400" dirty="0"/>
          </a:p>
        </p:txBody>
      </p:sp>
      <p:sp>
        <p:nvSpPr>
          <p:cNvPr id="3" name="Text 0"/>
          <p:cNvSpPr/>
          <p:nvPr>
            <p:ph idx="101" type="title" hasCustomPrompt="1"/>
          </p:nvPr>
        </p:nvSpPr>
        <p:spPr>
          <a:xfrm>
            <a:off x="548640" y="1600200"/>
            <a:ext cx="5486400" cy="2011680"/>
          </a:xfrm>
          <a:prstGeom prst="rect">
            <a:avLst/>
          </a:prstGeom>
          <a:noFill/>
          <a:ln/>
        </p:spPr>
        <p:txBody>
          <a:bodyPr wrap="square" lIns="0" tIns="0" rIns="0" bIns="0" rtlCol="0" anchor="t"/>
          <a:lstStyle/>
          <a:p>
            <a:pPr algn="l" indent="0" marL="0">
              <a:buNone/>
            </a:pPr>
            <a:r>
              <a:rPr lang="en-US" sz="3200" b="1" dirty="0">
                <a:solidFill>
                  <a:schemeClr val="bg1"/>
                </a:solidFill>
              </a:rPr>
              <a:t>How much should we trust an automated reconstruction, and how do we check?</a:t>
            </a:r>
            <a:endParaRPr lang="en-US" sz="3200" dirty="0"/>
          </a:p>
        </p:txBody>
      </p:sp>
      <p:sp>
        <p:nvSpPr>
          <p:cNvPr id="4" name="Text 0"/>
          <p:cNvSpPr/>
          <p:nvPr>
            <p:ph idx="102" type="body" hasCustomPrompt="1"/>
          </p:nvPr>
        </p:nvSpPr>
        <p:spPr>
          <a:xfrm>
            <a:off x="548640" y="3840480"/>
            <a:ext cx="5394960" cy="502920"/>
          </a:xfrm>
          <a:prstGeom prst="rect">
            <a:avLst/>
          </a:prstGeom>
          <a:noFill/>
          <a:ln/>
        </p:spPr>
        <p:txBody>
          <a:bodyPr wrap="square" lIns="0" tIns="0" rIns="0" bIns="0" rtlCol="0" anchor="t"/>
          <a:lstStyle/>
          <a:p>
            <a:pPr indent="0" marL="0">
              <a:buNone/>
            </a:pPr>
            <a:r>
              <a:rPr lang="en-US" sz="1600" dirty="0">
                <a:solidFill>
                  <a:schemeClr val="accent4"/>
                </a:solidFill>
              </a:rPr>
              <a:t>First step: build a model by hand, so nothing is hidden.</a:t>
            </a:r>
            <a:endParaRPr lang="en-US" sz="1600" dirty="0"/>
          </a:p>
        </p:txBody>
      </p:sp>
      <p:sp>
        <p:nvSpPr>
          <p:cNvPr id="5" name="Closing edge AC"/>
          <p:cNvSpPr/>
          <p:nvPr/>
        </p:nvSpPr>
        <p:spPr>
          <a:xfrm>
            <a:off x="6455061" y="1456625"/>
            <a:ext cx="333297" cy="435850"/>
          </a:xfrm>
          <a:prstGeom prst="line">
            <a:avLst/>
          </a:prstGeom>
          <a:noFill/>
          <a:ln w="15875">
            <a:solidFill>
              <a:schemeClr val="accent4"/>
            </a:solidFill>
            <a:prstDash val="solid"/>
            <a:tailEnd type="triangle"/>
          </a:ln>
        </p:spPr>
      </p:sp>
      <p:sp>
        <p:nvSpPr>
          <p:cNvPr id="6" name="Closing edge BD"/>
          <p:cNvSpPr/>
          <p:nvPr/>
        </p:nvSpPr>
        <p:spPr>
          <a:xfrm>
            <a:off x="7598612" y="1235407"/>
            <a:ext cx="530456" cy="500987"/>
          </a:xfrm>
          <a:prstGeom prst="line">
            <a:avLst/>
          </a:prstGeom>
          <a:noFill/>
          <a:ln w="15875">
            <a:solidFill>
              <a:schemeClr val="accent4"/>
            </a:solidFill>
            <a:prstDash val="solid"/>
            <a:tailEnd type="triangle"/>
          </a:ln>
        </p:spPr>
      </p:sp>
      <p:sp>
        <p:nvSpPr>
          <p:cNvPr id="7" name="Closing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Closing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Closing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Closing edge FH"/>
          <p:cNvSpPr/>
          <p:nvPr/>
        </p:nvSpPr>
        <p:spPr>
          <a:xfrm>
            <a:off x="6561467" y="3284954"/>
            <a:ext cx="455905" cy="516692"/>
          </a:xfrm>
          <a:prstGeom prst="line">
            <a:avLst/>
          </a:prstGeom>
          <a:noFill/>
          <a:ln w="15875">
            <a:solidFill>
              <a:schemeClr val="accent4"/>
            </a:solidFill>
            <a:prstDash val="solid"/>
            <a:tailEnd type="triangle"/>
          </a:ln>
        </p:spPr>
      </p:sp>
      <p:sp>
        <p:nvSpPr>
          <p:cNvPr id="11" name="Closing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Closing edge DG"/>
          <p:cNvSpPr/>
          <p:nvPr/>
        </p:nvSpPr>
        <p:spPr>
          <a:xfrm>
            <a:off x="8307102" y="2054617"/>
            <a:ext cx="202811" cy="1149261"/>
          </a:xfrm>
          <a:prstGeom prst="line">
            <a:avLst/>
          </a:prstGeom>
          <a:noFill/>
          <a:ln w="15875">
            <a:solidFill>
              <a:schemeClr val="accent4"/>
            </a:solidFill>
            <a:prstDash val="solid"/>
            <a:tailEnd type="triangle"/>
          </a:ln>
        </p:spPr>
      </p:sp>
      <p:sp>
        <p:nvSpPr>
          <p:cNvPr id="13" name="Closing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Closing flux CE"/>
          <p:cNvSpPr/>
          <p:nvPr/>
        </p:nvSpPr>
        <p:spPr>
          <a:xfrm>
            <a:off x="7114064" y="2287111"/>
            <a:ext cx="447993" cy="500698"/>
          </a:xfrm>
          <a:prstGeom prst="line">
            <a:avLst/>
          </a:prstGeom>
          <a:noFill/>
          <a:ln w="31750">
            <a:solidFill>
              <a:schemeClr val="accent2"/>
            </a:solidFill>
            <a:prstDash val="solid"/>
            <a:tailEnd type="triangle"/>
          </a:ln>
        </p:spPr>
      </p:sp>
      <p:sp>
        <p:nvSpPr>
          <p:cNvPr id="15" name="Closing flux EG"/>
          <p:cNvSpPr/>
          <p:nvPr/>
        </p:nvSpPr>
        <p:spPr>
          <a:xfrm>
            <a:off x="7926512" y="3082818"/>
            <a:ext cx="423295" cy="235164"/>
          </a:xfrm>
          <a:prstGeom prst="line">
            <a:avLst/>
          </a:prstGeom>
          <a:noFill/>
          <a:ln w="31750">
            <a:solidFill>
              <a:schemeClr val="accent2"/>
            </a:solidFill>
            <a:prstDash val="solid"/>
            <a:tailEnd type="triangle"/>
          </a:ln>
        </p:spPr>
      </p:sp>
      <p:sp>
        <p:nvSpPr>
          <p:cNvPr id="16" name="Closing node A"/>
          <p:cNvSpPr/>
          <p:nvPr/>
        </p:nvSpPr>
        <p:spPr>
          <a:xfrm>
            <a:off x="6236208" y="1207008"/>
            <a:ext cx="237744" cy="237744"/>
          </a:xfrm>
          <a:prstGeom prst="ellipse">
            <a:avLst/>
          </a:prstGeom>
          <a:solidFill>
            <a:schemeClr val="accent1"/>
          </a:solidFill>
          <a:ln/>
        </p:spPr>
      </p:sp>
      <p:sp>
        <p:nvSpPr>
          <p:cNvPr id="17" name="Closing node B"/>
          <p:cNvSpPr/>
          <p:nvPr/>
        </p:nvSpPr>
        <p:spPr>
          <a:xfrm>
            <a:off x="7296912" y="941832"/>
            <a:ext cx="310896" cy="310896"/>
          </a:xfrm>
          <a:prstGeom prst="ellipse">
            <a:avLst/>
          </a:prstGeom>
          <a:solidFill>
            <a:schemeClr val="accent2"/>
          </a:solidFill>
          <a:ln/>
        </p:spPr>
      </p:sp>
      <p:sp>
        <p:nvSpPr>
          <p:cNvPr id="18" name="Closing node C"/>
          <p:cNvSpPr/>
          <p:nvPr/>
        </p:nvSpPr>
        <p:spPr>
          <a:xfrm>
            <a:off x="6748272" y="1901952"/>
            <a:ext cx="402336" cy="402336"/>
          </a:xfrm>
          <a:prstGeom prst="ellipse">
            <a:avLst/>
          </a:prstGeom>
          <a:solidFill>
            <a:schemeClr val="accent2"/>
          </a:solidFill>
          <a:ln/>
        </p:spPr>
      </p:sp>
      <p:sp>
        <p:nvSpPr>
          <p:cNvPr id="19" name="Closing node D"/>
          <p:cNvSpPr/>
          <p:nvPr/>
        </p:nvSpPr>
        <p:spPr>
          <a:xfrm>
            <a:off x="8138160" y="1737360"/>
            <a:ext cx="274320" cy="274320"/>
          </a:xfrm>
          <a:prstGeom prst="ellipse">
            <a:avLst/>
          </a:prstGeom>
          <a:solidFill>
            <a:schemeClr val="accent1"/>
          </a:solidFill>
          <a:ln/>
        </p:spPr>
      </p:sp>
      <p:sp>
        <p:nvSpPr>
          <p:cNvPr id="20" name="Closing node E"/>
          <p:cNvSpPr/>
          <p:nvPr/>
        </p:nvSpPr>
        <p:spPr>
          <a:xfrm>
            <a:off x="7543800" y="2788920"/>
            <a:ext cx="365760" cy="365760"/>
          </a:xfrm>
          <a:prstGeom prst="ellipse">
            <a:avLst/>
          </a:prstGeom>
          <a:solidFill>
            <a:schemeClr val="accent2"/>
          </a:solidFill>
          <a:ln/>
        </p:spPr>
      </p:sp>
      <p:sp>
        <p:nvSpPr>
          <p:cNvPr id="21" name="Closing node F"/>
          <p:cNvSpPr/>
          <p:nvPr/>
        </p:nvSpPr>
        <p:spPr>
          <a:xfrm>
            <a:off x="6318504" y="3026664"/>
            <a:ext cx="256032" cy="256032"/>
          </a:xfrm>
          <a:prstGeom prst="ellipse">
            <a:avLst/>
          </a:prstGeom>
          <a:solidFill>
            <a:schemeClr val="accent1"/>
          </a:solidFill>
          <a:ln/>
        </p:spPr>
      </p:sp>
      <p:sp>
        <p:nvSpPr>
          <p:cNvPr id="22" name="Closing node G"/>
          <p:cNvSpPr/>
          <p:nvPr/>
        </p:nvSpPr>
        <p:spPr>
          <a:xfrm>
            <a:off x="8385048" y="3264408"/>
            <a:ext cx="329184" cy="329184"/>
          </a:xfrm>
          <a:prstGeom prst="ellipse">
            <a:avLst/>
          </a:prstGeom>
          <a:solidFill>
            <a:schemeClr val="accent2"/>
          </a:solidFill>
          <a:ln/>
        </p:spPr>
      </p:sp>
      <p:sp>
        <p:nvSpPr>
          <p:cNvPr id="23" name="Closing node H"/>
          <p:cNvSpPr/>
          <p:nvPr/>
        </p:nvSpPr>
        <p:spPr>
          <a:xfrm>
            <a:off x="7022592" y="3822192"/>
            <a:ext cx="219456" cy="219456"/>
          </a:xfrm>
          <a:prstGeom prst="ellipse">
            <a:avLst/>
          </a:prstGeom>
          <a:solidFill>
            <a:schemeClr val="accent1"/>
          </a:solidFill>
          <a:ln/>
        </p:spPr>
      </p:sp>
    </p:spTree>
  </p:cSld>
  <p:clrMapOvr>
    <a:masterClrMapping/>
  </p:clrMapOvr>
</p:sld>
</file>

<file path=ppt/theme/theme1.xml><?xml version="1.0" encoding="utf-8"?>
<a:theme xmlns:a="http://schemas.openxmlformats.org/drawingml/2006/main" name="CODE-M">
  <a:themeElements>
    <a:clrScheme name="CODE-M">
      <a:dk1>
        <a:srgbClr val="1F2A2E"/>
      </a:dk1>
      <a:lt1>
        <a:srgbClr val="FFFFFF"/>
      </a:lt1>
      <a:dk2>
        <a:srgbClr val="0E3B43"/>
      </a:dk2>
      <a:lt2>
        <a:srgbClr val="EAF4F1"/>
      </a:lt2>
      <a:accent1>
        <a:srgbClr val="1B998B"/>
      </a:accent1>
      <a:accent2>
        <a:srgbClr val="E8913A"/>
      </a:accent2>
      <a:accent3>
        <a:srgbClr val="5C7A82"/>
      </a:accent3>
      <a:accent4>
        <a:srgbClr val="C5E3DC"/>
      </a:accent4>
      <a:accent5>
        <a:srgbClr val="B85C1E"/>
      </a:accent5>
      <a:accent6>
        <a:srgbClr val="2E6F7A"/>
      </a:accent6>
      <a:hlink>
        <a:srgbClr val="1B998B"/>
      </a:hlink>
      <a:folHlink>
        <a:srgbClr val="5C7A82"/>
      </a:folHlink>
    </a:clrScheme>
    <a:fontScheme name="COD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CODE-M Day 2 — Recap of Day 1 and the reconstruction problem</dc:title>
  <dc:subject>CODE-M Workshop, Day 2</dc:subject>
  <dc:creator>Francesco Del Carratore</dc:creator>
  <cp:lastModifiedBy>Francesco Del Carratore</cp:lastModifiedBy>
  <cp:revision>1</cp:revision>
  <dcterms:created xsi:type="dcterms:W3CDTF">2026-10-08T19:24:41Z</dcterms:created>
  <dcterms:modified xsi:type="dcterms:W3CDTF">2026-10-08T19:24:41Z</dcterms:modified>
</cp:coreProperties>
</file>