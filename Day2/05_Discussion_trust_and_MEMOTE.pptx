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A5AD86-B237-8F79-B8F0-DB579B7CF136}">
          <p14:sldIdLst>
            <p14:sldId id="256"/>
            <p14:sldId id="257"/>
          </p14:sldIdLst>
        </p14:section>
        <p14:section name="Quality" id="{C85DE37B-6C7E-7C94-190A-34CB2E48A1D2}">
          <p14:sldIdLst>
            <p14:sldId id="258"/>
            <p14:sldId id="259"/>
            <p14:sldId id="260"/>
          </p14:sldIdLst>
        </p14:section>
        <p14:section name="Discuss" id="{14417D48-DA5B-F7C0-014C-2AB0E012FAD1}">
          <p14:sldIdLst>
            <p14:sldId id="261"/>
            <p14:sldId id="262"/>
            <p14:sldId id="263"/>
          </p14:sldIdLst>
        </p14:section>
        <p14:section name="Wrap-up" id="{3773817C-C84C-02BC-5454-27B16CB42272}">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l Carratore, Francesco" userId="9567652c-ed74-4f0e-afed-9f112eed68ef" providerId="ADAL" clId="{424AE5C4-B42D-5C8F-A1C8-5924AA46D396}"/>
    <pc:docChg chg="custSel modSld">
      <pc:chgData name="Del Carratore, Francesco" userId="9567652c-ed74-4f0e-afed-9f112eed68ef" providerId="ADAL" clId="{424AE5C4-B42D-5C8F-A1C8-5924AA46D396}" dt="2026-10-09T15:24:24.056" v="3" actId="478"/>
      <pc:docMkLst>
        <pc:docMk/>
      </pc:docMkLst>
      <pc:sldChg chg="addSp delSp modSp mod">
        <pc:chgData name="Del Carratore, Francesco" userId="9567652c-ed74-4f0e-afed-9f112eed68ef" providerId="ADAL" clId="{424AE5C4-B42D-5C8F-A1C8-5924AA46D396}" dt="2026-10-09T15:24:16.980" v="1" actId="478"/>
        <pc:sldMkLst>
          <pc:docMk/>
          <pc:sldMk cId="0" sldId="261"/>
        </pc:sldMkLst>
        <pc:spChg chg="del">
          <ac:chgData name="Del Carratore, Francesco" userId="9567652c-ed74-4f0e-afed-9f112eed68ef" providerId="ADAL" clId="{424AE5C4-B42D-5C8F-A1C8-5924AA46D396}" dt="2026-10-09T15:24:14.286" v="0" actId="478"/>
          <ac:spMkLst>
            <pc:docMk/>
            <pc:sldMk cId="0" sldId="261"/>
            <ac:spMk id="2" creationId="{00000000-0000-0000-0000-000000000000}"/>
          </ac:spMkLst>
        </pc:spChg>
        <pc:spChg chg="add del mod">
          <ac:chgData name="Del Carratore, Francesco" userId="9567652c-ed74-4f0e-afed-9f112eed68ef" providerId="ADAL" clId="{424AE5C4-B42D-5C8F-A1C8-5924AA46D396}" dt="2026-10-09T15:24:16.980" v="1" actId="478"/>
          <ac:spMkLst>
            <pc:docMk/>
            <pc:sldMk cId="0" sldId="261"/>
            <ac:spMk id="25" creationId="{8B840D83-D0D8-3D80-36DF-E8827B960E27}"/>
          </ac:spMkLst>
        </pc:spChg>
      </pc:sldChg>
      <pc:sldChg chg="addSp delSp modSp mod">
        <pc:chgData name="Del Carratore, Francesco" userId="9567652c-ed74-4f0e-afed-9f112eed68ef" providerId="ADAL" clId="{424AE5C4-B42D-5C8F-A1C8-5924AA46D396}" dt="2026-10-09T15:24:24.056" v="3" actId="478"/>
        <pc:sldMkLst>
          <pc:docMk/>
          <pc:sldMk cId="0" sldId="263"/>
        </pc:sldMkLst>
        <pc:spChg chg="del">
          <ac:chgData name="Del Carratore, Francesco" userId="9567652c-ed74-4f0e-afed-9f112eed68ef" providerId="ADAL" clId="{424AE5C4-B42D-5C8F-A1C8-5924AA46D396}" dt="2026-10-09T15:24:21.766" v="2" actId="478"/>
          <ac:spMkLst>
            <pc:docMk/>
            <pc:sldMk cId="0" sldId="263"/>
            <ac:spMk id="2" creationId="{00000000-0000-0000-0000-000000000000}"/>
          </ac:spMkLst>
        </pc:spChg>
        <pc:spChg chg="add del mod">
          <ac:chgData name="Del Carratore, Francesco" userId="9567652c-ed74-4f0e-afed-9f112eed68ef" providerId="ADAL" clId="{424AE5C4-B42D-5C8F-A1C8-5924AA46D396}" dt="2026-10-09T15:24:24.056" v="3" actId="478"/>
          <ac:spMkLst>
            <pc:docMk/>
            <pc:sldMk cId="0" sldId="263"/>
            <ac:spMk id="25" creationId="{9175F098-3312-CBC9-7357-C6D37051044C}"/>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E3B43"/>
                </a:solidFill>
                <a:latin typeface="+mn-lt"/>
              </a:defRPr>
            </a:pPr>
            <a:r>
              <a:rPr lang="en-GB" sz="1300" b="0" i="0" u="none" strike="noStrike">
                <a:solidFill>
                  <a:srgbClr val="0E3B43"/>
                </a:solidFill>
                <a:latin typeface="+mn-lt"/>
              </a:rPr>
              <a:t>MEMOTE score (%)</a:t>
            </a:r>
          </a:p>
        </c:rich>
      </c:tx>
      <c:overlay val="0"/>
    </c:title>
    <c:autoTitleDeleted val="0"/>
    <c:plotArea>
      <c:layout/>
      <c:barChart>
        <c:barDir val="bar"/>
        <c:grouping val="clustered"/>
        <c:varyColors val="0"/>
        <c:ser>
          <c:idx val="0"/>
          <c:order val="0"/>
          <c:tx>
            <c:strRef>
              <c:f>Sheet1!$B$1</c:f>
              <c:strCache>
                <c:ptCount val="1"/>
                <c:pt idx="0">
                  <c:v>MEMOTE score (%)</c:v>
                </c:pt>
              </c:strCache>
            </c:strRef>
          </c:tx>
          <c:spPr>
            <a:solidFill>
              <a:srgbClr val="2E6F7A"/>
            </a:solidFill>
            <a:effectLst/>
          </c:spPr>
          <c:invertIfNegative val="0"/>
          <c:dPt>
            <c:idx val="0"/>
            <c:invertIfNegative val="0"/>
            <c:bubble3D val="0"/>
            <c:extLst>
              <c:ext xmlns:c16="http://schemas.microsoft.com/office/drawing/2014/chart" uri="{C3380CC4-5D6E-409C-BE32-E72D297353CC}">
                <c16:uniqueId val="{00000001-55D6-E944-8682-5D6012144B2A}"/>
              </c:ext>
            </c:extLst>
          </c:dPt>
          <c:dPt>
            <c:idx val="1"/>
            <c:invertIfNegative val="0"/>
            <c:bubble3D val="0"/>
            <c:extLst>
              <c:ext xmlns:c16="http://schemas.microsoft.com/office/drawing/2014/chart" uri="{C3380CC4-5D6E-409C-BE32-E72D297353CC}">
                <c16:uniqueId val="{00000003-55D6-E944-8682-5D6012144B2A}"/>
              </c:ext>
            </c:extLst>
          </c:dPt>
          <c:dPt>
            <c:idx val="2"/>
            <c:invertIfNegative val="0"/>
            <c:bubble3D val="0"/>
            <c:extLst>
              <c:ext xmlns:c16="http://schemas.microsoft.com/office/drawing/2014/chart" uri="{C3380CC4-5D6E-409C-BE32-E72D297353CC}">
                <c16:uniqueId val="{00000005-55D6-E944-8682-5D6012144B2A}"/>
              </c:ext>
            </c:extLst>
          </c:dPt>
          <c:dPt>
            <c:idx val="3"/>
            <c:invertIfNegative val="0"/>
            <c:bubble3D val="0"/>
            <c:spPr>
              <a:solidFill>
                <a:srgbClr val="E8913A"/>
              </a:solidFill>
              <a:effectLst/>
            </c:spPr>
            <c:extLst>
              <c:ext xmlns:c16="http://schemas.microsoft.com/office/drawing/2014/chart" uri="{C3380CC4-5D6E-409C-BE32-E72D297353CC}">
                <c16:uniqueId val="{00000007-55D6-E944-8682-5D6012144B2A}"/>
              </c:ext>
            </c:extLst>
          </c:dPt>
          <c:dPt>
            <c:idx val="4"/>
            <c:invertIfNegative val="0"/>
            <c:bubble3D val="0"/>
            <c:spPr>
              <a:solidFill>
                <a:srgbClr val="E8913A"/>
              </a:solidFill>
              <a:effectLst/>
            </c:spPr>
            <c:extLst>
              <c:ext xmlns:c16="http://schemas.microsoft.com/office/drawing/2014/chart" uri="{C3380CC4-5D6E-409C-BE32-E72D297353CC}">
                <c16:uniqueId val="{00000009-55D6-E944-8682-5D6012144B2A}"/>
              </c:ext>
            </c:extLst>
          </c:dPt>
          <c:dPt>
            <c:idx val="5"/>
            <c:invertIfNegative val="0"/>
            <c:bubble3D val="0"/>
            <c:spPr>
              <a:solidFill>
                <a:srgbClr val="E8913A"/>
              </a:solidFill>
              <a:effectLst/>
            </c:spPr>
            <c:extLst>
              <c:ext xmlns:c16="http://schemas.microsoft.com/office/drawing/2014/chart" uri="{C3380CC4-5D6E-409C-BE32-E72D297353CC}">
                <c16:uniqueId val="{0000000B-55D6-E944-8682-5D6012144B2A}"/>
              </c:ext>
            </c:extLst>
          </c:dPt>
          <c:dLbls>
            <c:numFmt formatCode="0.0" sourceLinked="0"/>
            <c:spPr>
              <a:noFill/>
              <a:ln>
                <a:noFill/>
              </a:ln>
              <a:effectLst/>
            </c:spPr>
            <c:txPr>
              <a:bodyPr/>
              <a:lstStyle/>
              <a:p>
                <a:pPr>
                  <a:defRPr sz="1200" b="0" i="0" u="none" strike="noStrike">
                    <a:solidFill>
                      <a:srgbClr val="1F2A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iML1515</c:v>
                </c:pt>
                <c:pt idx="1">
                  <c:v>iYO844</c:v>
                </c:pt>
                <c:pt idx="2">
                  <c:v>iNF517</c:v>
                </c:pt>
                <c:pt idx="3">
                  <c:v>KBase E. coli</c:v>
                </c:pt>
                <c:pt idx="4">
                  <c:v>KBase B. subtilis</c:v>
                </c:pt>
                <c:pt idx="5">
                  <c:v>KBase L. lactis</c:v>
                </c:pt>
              </c:strCache>
            </c:strRef>
          </c:cat>
          <c:val>
            <c:numRef>
              <c:f>Sheet1!$B$2:$B$7</c:f>
              <c:numCache>
                <c:formatCode>General</c:formatCode>
                <c:ptCount val="6"/>
                <c:pt idx="0">
                  <c:v>90.6</c:v>
                </c:pt>
                <c:pt idx="1">
                  <c:v>85.6</c:v>
                </c:pt>
                <c:pt idx="2">
                  <c:v>84.5</c:v>
                </c:pt>
                <c:pt idx="3">
                  <c:v>32</c:v>
                </c:pt>
                <c:pt idx="4">
                  <c:v>32.200000000000003</c:v>
                </c:pt>
                <c:pt idx="5">
                  <c:v>49.4</c:v>
                </c:pt>
              </c:numCache>
            </c:numRef>
          </c:val>
          <c:extLst>
            <c:ext xmlns:c16="http://schemas.microsoft.com/office/drawing/2014/chart" uri="{C3380CC4-5D6E-409C-BE32-E72D297353CC}">
              <c16:uniqueId val="{0000000C-55D6-E944-8682-5D6012144B2A}"/>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A2E"/>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t"/>
        <c:majorGridlines>
          <c:spPr>
            <a:ln w="9525" cap="flat">
              <a:solidFill>
                <a:srgbClr val="EAF4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7A82"/>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9759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to pull the day together. You've built a model by hand, seen how pipelines automate it, and built three models in KBase. The question now is the one we started with this morning: how far can we trust what comes out? We'll pool your scorecards, look at what quality metrics like MEMOTE do and don't tell you, and finish with a short checklist you can apply to any draft. (~30 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five minutes: how close did their numbers get, and which draft is closest to its curated model, and why (genome size, how well studied, how much RAST could annotate)? Put their numbers next to ours; small differences are normal. Points to draw out. All three drafts grow where their curated models grow, and the Lactococcus draft correctly fails on minimal glucose, but only because it was gap-filled on AuxoMedia; gap-filled on minimal glucose it would grow. Gene overlap: 87% of the E. coli draft's genes are in iML1515, covering 78% of iML1515's genes; for B. subtilis 65% and 82%; for Lactococcus 64% and 87%. The B. subtilis and Lactococcus drafts are bigger than their curated models: the template adds a reaction for every annotated role, while the curators kept only reactions with good evidence. Gap-filling added 3 reactions to E. coli, 37 to B. subtilis and 63 to Lactococcus, none with a gene; the Lactococcus draft also needs heme, putrescine and spermidine from AuxoMedia. And the B. subtilis draft grows without tryptophan, although strain 168 needs it (trpC2); so does the curated iYO844, which doesn't encode trpC2 either. (~5 min)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way to think about trust is a ladder. Rung one: the model is readable, a valid SBML file whose metabolites and reactions are linked to databases. Rung two: it is consistent, every reaction balanced and no ATP from nothing. Rung three: it is connected, with few blocked reactions and dead ends. These are properties of the model as a file, and MEMOTE checks them. Rungs four and five are about biology: does it predict which media support growth and which genes are essential, and does it get yields and fluxes right? No software can tell you that without data. Every model you built today grows, because gap-filling made sure of it; that only gets you to rung two or three. (~2 min)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MEMOTE is the community's standard test suite (Lieven et al., Nature Biotechnology 2020). One command writes an HTML report. It's worth knowing exactly what goes into the headline percentage, because I checked the scoring code. Only five sections count. Consistency is weighted three times: stoichiometric consistency, mass and charge balance, disconnected metabolites and reactions that can carry unbounded flux. Annotation of metabolites, reactions and genes counts once each, and SBO terms, which label the role of each reaction and metabolite, count twice. Everything else is in the report but not in the score: whether biomass can be made, energy-generating cycles, blocked reactions, gene rules, and any comparison with experimental growth or essentiality data you give it. So more than half the score is about annotation and labels. (~2 min)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MEMOTE 0.17 on the curated BiGG models and on our three KBase drafts. The curated models score 85 to 91 percent; the drafts 32 to 49. Where do the points go? Annotation, first: the KBase export carries ModelSEED identifiers only, no links to other databases and no gene annotation, so the drafts score 0 on genes and little on metabolites, reactions and SBO terms. That is about the file, not the biology. Consistency is more interesting. The Lactococcus draft scores 97 percent, like the curated models, but E. coli and B. subtilis drop to about 52: they fail the stoichiometric-consistency test, which counts three times. The cause is real: about 70 reactions in each draft (73 in E. coli, 67 in B. subtilis) don't balance protons, for example KBase's nitrate reductases; together they let the network create or destroy protons. Remove them and the test passes. Lactococcus has such reactions too, but they don't close a loop. The unscored parts tell you more again: 31 to 36 percent of draft reactions are blocked, against 10 to 23 percent in the curated models. And a cautionary tale about the checker itself: MEMOTE flags energy-generating cycles in every draft. They are false alarms. Its test resets every one-way reaction to run forwards, and the KBase drafts store 61 to 86 reactions as running backwards; written forwards, the same test finds no cycles, and a direct test finds no ATP from nothing. (~3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four minutes, then take answers. Points to draw out: much of the gap is annotation, which is about how the file is labelled. Part of it is real but minor for most uses: proton bookkeeping in about 70 reactions. The unscored network checks show the drafts are genuinely less connected, with many more blocked reactions. And biological errors such as the B. subtilis draft growing without tryptophan, or a transporter assigned the wrong substrate, are invisible to every MEMOTE test unless you supply growth data. A 50 percent model that you have tested against your own phenotype data can deserve more trust than a 90 percent model that nobody has tested for your question. (~5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to 'can I trust this model?' is 'for what?'. If you want to know which carbon sources support growth, the transporters and catabolic pathways must be right, and you check against growth tests or Biolog plates. For essential genes, the gene rules and the biomass composition matter most, and you check against knockout collections or Tn-seq. For yields, the biomass, the ATP maintenance and the absence of free-energy cycles are what matter, checked against measured yields. And tomorrow, for communities, exchange reactions and a shared namespace matter, because two models that call glucose by different names will never share it. Ask the group: which of today's three drafts would you use for which question? (~3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situation: most organisms you'll care about have no curated model. Give pairs three minutes to agree on three checks, in order of priority, then take two or three answers before showing the next slide. Good answers include: does it grow on the media it should and not on others; does it make ATP from nothing; what did gap-filling add; what does MEMOTE say about balance and annotation; and does it agree with any phenotype data available. (~4 min with answers)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checklist you can run on any draft in half an hour. Growth: does it grow where it should and not where it shouldn't, Lactococcus on minimal glucose being the classic trap. Free energy: close every input and maximise ATP use; the answer must be zero. Gap-filling: read the list of added reactions and ask whether each is real biology or a patch. MEMOTE: run it and read the report, especially the unscored parts: biomass, energy cycles, blocked reactions. And compare with any data you trust. For more, the community standards paper by Carey and colleagues (Molecular Systems Biology 2020) is a good next read. Tomorrow we use curated models to answer real questions, finishing with communities in COMETS. (~2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take home: a draft that grows is a hypothesis, not a result. Pipelines like ModelSEED give you a draft in minutes, which is remarkable; how far you can trust it depends on the checks you run, the curation you do and the data you compare it with. Thanks, and see you at the drop-in clinic or tomorrow at 9:30. (~30 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51560"/>
            <a:ext cx="5303520" cy="365760"/>
          </a:xfrm>
          <a:prstGeom prst="rect">
            <a:avLst/>
          </a:prstGeom>
          <a:noFill/>
          <a:ln/>
        </p:spPr>
        <p:txBody>
          <a:bodyPr wrap="square" rtlCol="0"/>
          <a:lstStyle>
            <a:lvl1pPr marL="0" indent="0">
              <a:buNone/>
              <a:defRPr lang="en-US" sz="1400" b="1"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548640" y="1508760"/>
            <a:ext cx="5486400" cy="14630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0"/>
          <p:cNvSpPr>
            <a:spLocks noGrp="1"/>
          </p:cNvSpPr>
          <p:nvPr>
            <p:ph type="body" idx="102" hasCustomPrompt="1"/>
          </p:nvPr>
        </p:nvSpPr>
        <p:spPr>
          <a:xfrm>
            <a:off x="548640" y="3063240"/>
            <a:ext cx="5303520" cy="731520"/>
          </a:xfrm>
          <a:prstGeom prst="rect">
            <a:avLst/>
          </a:prstGeom>
          <a:noFill/>
          <a:ln/>
        </p:spPr>
        <p:txBody>
          <a:bodyPr wrap="square" rtlCol="0"/>
          <a:lstStyle>
            <a:lvl1pPr marL="0" indent="0">
              <a:buNone/>
              <a:defRPr lang="en-US" sz="1700" dirty="0">
                <a:solidFill>
                  <a:schemeClr val="accent4"/>
                </a:solidFill>
              </a:defRPr>
            </a:lvl1pPr>
          </a:lstStyle>
          <a:p>
            <a:pPr marL="0" indent="0">
              <a:buNone/>
            </a:pPr>
            <a:endParaRPr lang="en-US" sz="1700" dirty="0"/>
          </a:p>
        </p:txBody>
      </p:sp>
      <p:sp>
        <p:nvSpPr>
          <p:cNvPr id="5" name="Text 0"/>
          <p:cNvSpPr>
            <a:spLocks noGrp="1"/>
          </p:cNvSpPr>
          <p:nvPr>
            <p:ph type="body" idx="103" hasCustomPrompt="1"/>
          </p:nvPr>
        </p:nvSpPr>
        <p:spPr>
          <a:xfrm>
            <a:off x="548640" y="4114800"/>
            <a:ext cx="5120640" cy="365760"/>
          </a:xfrm>
          <a:prstGeom prst="rect">
            <a:avLst/>
          </a:prstGeom>
          <a:noFill/>
          <a:ln/>
        </p:spPr>
        <p:txBody>
          <a:bodyPr wrap="square" rtlCol="0"/>
          <a:lstStyle>
            <a:lvl1pPr marL="0" indent="0">
              <a:buNone/>
              <a:defRPr lang="en-US" sz="1400" dirty="0">
                <a:solidFill>
                  <a:schemeClr val="bg1"/>
                </a:solidFill>
              </a:defRPr>
            </a:lvl1pPr>
          </a:lstStyle>
          <a:p>
            <a:pPr marL="0" indent="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2286000" cy="1188720"/>
          </a:xfrm>
          <a:prstGeom prst="rect">
            <a:avLst/>
          </a:prstGeom>
          <a:noFill/>
          <a:ln/>
        </p:spPr>
        <p:txBody>
          <a:bodyPr wrap="square" rtlCol="0"/>
          <a:lstStyle>
            <a:lvl1pPr marL="0" indent="0">
              <a:buNone/>
              <a:defRPr lang="en-US" sz="8000" b="1" dirty="0">
                <a:solidFill>
                  <a:schemeClr val="accent2"/>
                </a:solidFill>
                <a:latin typeface="+mj-lt" pitchFamily="34" charset="0"/>
                <a:ea typeface="+mj-lt" pitchFamily="34" charset="-122"/>
                <a:cs typeface="+mj-lt" pitchFamily="34" charset="-120"/>
              </a:defRPr>
            </a:lvl1pPr>
          </a:lstStyle>
          <a:p>
            <a:pPr marL="0" indent="0">
              <a:buNone/>
            </a:pPr>
            <a:endParaRPr lang="en-US" sz="8000" dirty="0"/>
          </a:p>
        </p:txBody>
      </p:sp>
      <p:sp>
        <p:nvSpPr>
          <p:cNvPr id="3" name="Text 0"/>
          <p:cNvSpPr>
            <a:spLocks noGrp="1"/>
          </p:cNvSpPr>
          <p:nvPr>
            <p:ph type="title" idx="101" hasCustomPrompt="1"/>
          </p:nvPr>
        </p:nvSpPr>
        <p:spPr>
          <a:xfrm>
            <a:off x="548640" y="2240280"/>
            <a:ext cx="5486400" cy="77724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548640" y="3063240"/>
            <a:ext cx="5394960" cy="548640"/>
          </a:xfrm>
          <a:prstGeom prst="rect">
            <a:avLst/>
          </a:prstGeom>
          <a:noFill/>
          <a:ln/>
        </p:spPr>
        <p:txBody>
          <a:bodyPr wrap="square" rtlCol="0"/>
          <a:lstStyle>
            <a:lvl1pPr marL="0" indent="0">
              <a:buNone/>
              <a:defRPr lang="en-US" sz="2000" i="1" dirty="0">
                <a:solidFill>
                  <a:schemeClr val="accent4"/>
                </a:solidFill>
              </a:defRPr>
            </a:lvl1pPr>
          </a:lstStyle>
          <a:p>
            <a:pPr marL="0" indent="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457200" y="4736592"/>
            <a:ext cx="5943600" cy="274320"/>
          </a:xfrm>
          <a:prstGeom prst="rect">
            <a:avLst/>
          </a:prstGeom>
          <a:noFill/>
          <a:ln/>
        </p:spPr>
        <p:txBody>
          <a:bodyPr wrap="square" lIns="0" tIns="0" rIns="0" bIns="0" rtlCol="0" anchor="t"/>
          <a:lstStyle/>
          <a:p>
            <a:pPr marL="0" indent="0">
              <a:buNone/>
            </a:pPr>
            <a:r>
              <a:rPr lang="en-US" sz="1000" dirty="0">
                <a:solidFill>
                  <a:schemeClr val="accent3"/>
                </a:solidFill>
              </a:rPr>
              <a:t>CODE-M Workshop · Day 2 · Discussion: trust and quality</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5394960" cy="365760"/>
          </a:xfrm>
          <a:prstGeom prst="rect">
            <a:avLst/>
          </a:prstGeom>
          <a:noFill/>
          <a:ln/>
        </p:spPr>
        <p:txBody>
          <a:bodyPr wrap="square" rtlCol="0"/>
          <a:lstStyle>
            <a:lvl1pPr marL="0" indent="0">
              <a:buNone/>
              <a:defRPr lang="en-US" sz="1400" b="1"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548640" y="1554480"/>
            <a:ext cx="5486400" cy="201168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548640" y="3657600"/>
            <a:ext cx="5394960" cy="731520"/>
          </a:xfrm>
          <a:prstGeom prst="rect">
            <a:avLst/>
          </a:prstGeom>
          <a:noFill/>
          <a:ln/>
        </p:spPr>
        <p:txBody>
          <a:bodyPr wrap="square" rtlCol="0"/>
          <a:lstStyle>
            <a:lvl1pPr marL="0" indent="0">
              <a:buNone/>
              <a:defRPr lang="en-US" sz="1600" dirty="0">
                <a:solidFill>
                  <a:schemeClr val="accent4"/>
                </a:solidFill>
              </a:defRPr>
            </a:lvl1pPr>
          </a:lstStyle>
          <a:p>
            <a:pPr marL="0" indent="0">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ROMP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822960"/>
            <a:ext cx="5486400" cy="365760"/>
          </a:xfrm>
          <a:prstGeom prst="rect">
            <a:avLst/>
          </a:prstGeom>
          <a:noFill/>
          <a:ln/>
        </p:spPr>
        <p:txBody>
          <a:bodyPr wrap="square" rtlCol="0"/>
          <a:lstStyle>
            <a:lvl1pPr marL="0" indent="0">
              <a:buNone/>
              <a:defRPr lang="en-US" sz="1400" b="1" dirty="0">
                <a:solidFill>
                  <a:schemeClr val="accent2"/>
                </a:solidFill>
              </a:defRPr>
            </a:lvl1pPr>
          </a:lstStyle>
          <a:p>
            <a:pPr marL="0" indent="0">
              <a:buNone/>
            </a:pPr>
            <a:endParaRPr lang="en-US" sz="1400" dirty="0"/>
          </a:p>
        </p:txBody>
      </p:sp>
      <p:sp>
        <p:nvSpPr>
          <p:cNvPr id="3" name="Text 0"/>
          <p:cNvSpPr>
            <a:spLocks noGrp="1"/>
          </p:cNvSpPr>
          <p:nvPr>
            <p:ph type="title" idx="101" hasCustomPrompt="1"/>
          </p:nvPr>
        </p:nvSpPr>
        <p:spPr>
          <a:xfrm>
            <a:off x="548640" y="1280160"/>
            <a:ext cx="5669280" cy="17373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4" name="Text 0"/>
          <p:cNvSpPr>
            <a:spLocks noGrp="1"/>
          </p:cNvSpPr>
          <p:nvPr>
            <p:ph type="body" idx="102" hasCustomPrompt="1"/>
          </p:nvPr>
        </p:nvSpPr>
        <p:spPr>
          <a:xfrm>
            <a:off x="548640" y="3154680"/>
            <a:ext cx="5486400" cy="1371600"/>
          </a:xfrm>
          <a:prstGeom prst="rect">
            <a:avLst/>
          </a:prstGeom>
          <a:noFill/>
          <a:ln/>
        </p:spPr>
        <p:txBody>
          <a:bodyPr wrap="square" rtlCol="0"/>
          <a:lstStyle>
            <a:lvl1pPr marL="0" indent="0">
              <a:buNone/>
              <a:defRPr lang="en-US" sz="1600" dirty="0">
                <a:solidFill>
                  <a:schemeClr val="accent4"/>
                </a:solidFill>
              </a:defRPr>
            </a:lvl1pPr>
          </a:lstStyle>
          <a:p>
            <a:pPr marL="0" indent="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51560"/>
            <a:ext cx="5303520" cy="365760"/>
          </a:xfrm>
          <a:prstGeom prst="rect">
            <a:avLst/>
          </a:prstGeom>
          <a:noFill/>
          <a:ln/>
        </p:spPr>
        <p:txBody>
          <a:bodyPr wrap="square" lIns="0" tIns="0" rIns="0" bIns="0" rtlCol="0" anchor="ctr"/>
          <a:lstStyle/>
          <a:p>
            <a:pPr marL="0" indent="0">
              <a:buNone/>
            </a:pPr>
            <a:r>
              <a:rPr lang="en-US" sz="1400" b="1" dirty="0">
                <a:solidFill>
                  <a:schemeClr val="accent2"/>
                </a:solidFill>
              </a:rPr>
              <a:t>CODE-M Workshop · Day 2 · 15:30</a:t>
            </a:r>
            <a:endParaRPr lang="en-US" sz="1400" dirty="0"/>
          </a:p>
        </p:txBody>
      </p:sp>
      <p:sp>
        <p:nvSpPr>
          <p:cNvPr id="3" name="Text 0"/>
          <p:cNvSpPr>
            <a:spLocks noGrp="1"/>
          </p:cNvSpPr>
          <p:nvPr>
            <p:ph type="title" idx="101" hasCustomPrompt="1"/>
          </p:nvPr>
        </p:nvSpPr>
        <p:spPr>
          <a:xfrm>
            <a:off x="548640" y="1508760"/>
            <a:ext cx="5486400" cy="1463040"/>
          </a:xfrm>
          <a:prstGeom prst="rect">
            <a:avLst/>
          </a:prstGeom>
          <a:noFill/>
          <a:ln/>
        </p:spPr>
        <p:txBody>
          <a:bodyPr wrap="square" lIns="0" tIns="0" rIns="0" bIns="0" rtlCol="0" anchor="t"/>
          <a:lstStyle/>
          <a:p>
            <a:pPr marL="0" indent="0" algn="l">
              <a:buNone/>
            </a:pPr>
            <a:r>
              <a:rPr lang="en-US" sz="3400" b="1" dirty="0">
                <a:solidFill>
                  <a:schemeClr val="bg1"/>
                </a:solidFill>
              </a:rPr>
              <a:t>How far can we trust an automated draft?</a:t>
            </a:r>
            <a:endParaRPr lang="en-US" sz="3400" dirty="0"/>
          </a:p>
        </p:txBody>
      </p:sp>
      <p:sp>
        <p:nvSpPr>
          <p:cNvPr id="4" name="Text 0"/>
          <p:cNvSpPr>
            <a:spLocks noGrp="1"/>
          </p:cNvSpPr>
          <p:nvPr>
            <p:ph type="body" idx="102" hasCustomPrompt="1"/>
          </p:nvPr>
        </p:nvSpPr>
        <p:spPr>
          <a:xfrm>
            <a:off x="548640" y="3063240"/>
            <a:ext cx="5303520" cy="731520"/>
          </a:xfrm>
          <a:prstGeom prst="rect">
            <a:avLst/>
          </a:prstGeom>
          <a:noFill/>
          <a:ln/>
        </p:spPr>
        <p:txBody>
          <a:bodyPr wrap="square" lIns="0" tIns="0" rIns="0" bIns="0" rtlCol="0" anchor="t"/>
          <a:lstStyle/>
          <a:p>
            <a:pPr marL="0" indent="0">
              <a:buNone/>
            </a:pPr>
            <a:r>
              <a:rPr lang="en-US" sz="1700" dirty="0">
                <a:solidFill>
                  <a:schemeClr val="accent4"/>
                </a:solidFill>
              </a:rPr>
              <a:t>Pool the scorecards, read a MEMOTE report, and decide what 'good enough' means for your question</a:t>
            </a:r>
            <a:endParaRPr lang="en-US" sz="1700" dirty="0"/>
          </a:p>
        </p:txBody>
      </p:sp>
      <p:sp>
        <p:nvSpPr>
          <p:cNvPr id="5" name="Text 0"/>
          <p:cNvSpPr>
            <a:spLocks noGrp="1"/>
          </p:cNvSpPr>
          <p:nvPr>
            <p:ph type="body" idx="103" hasCustomPrompt="1"/>
          </p:nvPr>
        </p:nvSpPr>
        <p:spPr>
          <a:xfrm>
            <a:off x="548640" y="4114800"/>
            <a:ext cx="5120640" cy="365760"/>
          </a:xfrm>
          <a:prstGeom prst="rect">
            <a:avLst/>
          </a:prstGeom>
          <a:noFill/>
          <a:ln/>
        </p:spPr>
        <p:txBody>
          <a:bodyPr wrap="square" lIns="0" tIns="0" rIns="0" bIns="0" rtlCol="0" anchor="ctr"/>
          <a:lstStyle/>
          <a:p>
            <a:pPr marL="0" indent="0">
              <a:buNone/>
            </a:pPr>
            <a:r>
              <a:rPr lang="en-US" sz="1400" dirty="0">
                <a:solidFill>
                  <a:schemeClr val="bg1"/>
                </a:solidFill>
              </a:rPr>
              <a:t>Francesco Del Carratore</a:t>
            </a:r>
            <a:endParaRPr lang="en-US" sz="1400" dirty="0"/>
          </a:p>
        </p:txBody>
      </p:sp>
      <p:sp>
        <p:nvSpPr>
          <p:cNvPr id="6" name="Title edge AC"/>
          <p:cNvSpPr/>
          <p:nvPr/>
        </p:nvSpPr>
        <p:spPr>
          <a:xfrm>
            <a:off x="6455061" y="1456625"/>
            <a:ext cx="333297" cy="435850"/>
          </a:xfrm>
          <a:prstGeom prst="line">
            <a:avLst/>
          </a:prstGeom>
          <a:noFill/>
          <a:ln w="15875">
            <a:solidFill>
              <a:schemeClr val="accent4"/>
            </a:solidFill>
            <a:prstDash val="solid"/>
            <a:tailEnd type="triangle"/>
          </a:ln>
        </p:spPr>
        <p:txBody>
          <a:bodyPr/>
          <a:lstStyle/>
          <a:p>
            <a:endParaRPr lang="en-GB"/>
          </a:p>
        </p:txBody>
      </p:sp>
      <p:sp>
        <p:nvSpPr>
          <p:cNvPr id="7" name="Title edge BD"/>
          <p:cNvSpPr/>
          <p:nvPr/>
        </p:nvSpPr>
        <p:spPr>
          <a:xfrm>
            <a:off x="7598612" y="1235407"/>
            <a:ext cx="530456" cy="500987"/>
          </a:xfrm>
          <a:prstGeom prst="line">
            <a:avLst/>
          </a:prstGeom>
          <a:noFill/>
          <a:ln w="15875">
            <a:solidFill>
              <a:schemeClr val="accent4"/>
            </a:solidFill>
            <a:prstDash val="solid"/>
            <a:tailEnd type="triangle"/>
          </a:ln>
        </p:spPr>
        <p:txBody>
          <a:bodyPr/>
          <a:lstStyle/>
          <a:p>
            <a:endParaRPr lang="en-GB"/>
          </a:p>
        </p:txBody>
      </p:sp>
      <p:sp>
        <p:nvSpPr>
          <p:cNvPr id="8" name="Title edge CD"/>
          <p:cNvSpPr/>
          <p:nvPr/>
        </p:nvSpPr>
        <p:spPr>
          <a:xfrm flipV="1">
            <a:off x="7192738" y="1908700"/>
            <a:ext cx="884339" cy="152472"/>
          </a:xfrm>
          <a:prstGeom prst="line">
            <a:avLst/>
          </a:prstGeom>
          <a:noFill/>
          <a:ln w="15875">
            <a:solidFill>
              <a:schemeClr val="accent4"/>
            </a:solidFill>
            <a:prstDash val="solid"/>
            <a:tailEnd type="triangle"/>
          </a:ln>
        </p:spPr>
        <p:txBody>
          <a:bodyPr/>
          <a:lstStyle/>
          <a:p>
            <a:endParaRPr lang="en-GB"/>
          </a:p>
        </p:txBody>
      </p:sp>
      <p:sp>
        <p:nvSpPr>
          <p:cNvPr id="9" name="Title edge DE"/>
          <p:cNvSpPr/>
          <p:nvPr/>
        </p:nvSpPr>
        <p:spPr>
          <a:xfrm flipH="1">
            <a:off x="7837092" y="2038093"/>
            <a:ext cx="356442" cy="712884"/>
          </a:xfrm>
          <a:prstGeom prst="line">
            <a:avLst/>
          </a:prstGeom>
          <a:noFill/>
          <a:ln w="15875">
            <a:solidFill>
              <a:schemeClr val="accent4"/>
            </a:solidFill>
            <a:prstDash val="solid"/>
            <a:tailEnd type="triangle"/>
          </a:ln>
        </p:spPr>
        <p:txBody>
          <a:bodyPr/>
          <a:lstStyle/>
          <a:p>
            <a:endParaRPr lang="en-GB"/>
          </a:p>
        </p:txBody>
      </p:sp>
      <p:sp>
        <p:nvSpPr>
          <p:cNvPr id="10" name="Title edge CF"/>
          <p:cNvSpPr/>
          <p:nvPr/>
        </p:nvSpPr>
        <p:spPr>
          <a:xfrm flipH="1">
            <a:off x="6529370" y="2325846"/>
            <a:ext cx="313549" cy="655602"/>
          </a:xfrm>
          <a:prstGeom prst="line">
            <a:avLst/>
          </a:prstGeom>
          <a:noFill/>
          <a:ln w="15875">
            <a:solidFill>
              <a:schemeClr val="accent4"/>
            </a:solidFill>
            <a:prstDash val="solid"/>
            <a:tailEnd type="triangle"/>
          </a:ln>
        </p:spPr>
        <p:txBody>
          <a:bodyPr/>
          <a:lstStyle/>
          <a:p>
            <a:endParaRPr lang="en-GB"/>
          </a:p>
        </p:txBody>
      </p:sp>
      <p:sp>
        <p:nvSpPr>
          <p:cNvPr id="11" name="Title edge FH"/>
          <p:cNvSpPr/>
          <p:nvPr/>
        </p:nvSpPr>
        <p:spPr>
          <a:xfrm>
            <a:off x="6561467" y="3284954"/>
            <a:ext cx="455905" cy="516692"/>
          </a:xfrm>
          <a:prstGeom prst="line">
            <a:avLst/>
          </a:prstGeom>
          <a:noFill/>
          <a:ln w="15875">
            <a:solidFill>
              <a:schemeClr val="accent4"/>
            </a:solidFill>
            <a:prstDash val="solid"/>
            <a:tailEnd type="triangle"/>
          </a:ln>
        </p:spPr>
        <p:txBody>
          <a:bodyPr/>
          <a:lstStyle/>
          <a:p>
            <a:endParaRPr lang="en-GB"/>
          </a:p>
        </p:txBody>
      </p:sp>
      <p:sp>
        <p:nvSpPr>
          <p:cNvPr id="12" name="Title edge EH"/>
          <p:cNvSpPr/>
          <p:nvPr/>
        </p:nvSpPr>
        <p:spPr>
          <a:xfrm flipH="1">
            <a:off x="7223767" y="3166171"/>
            <a:ext cx="382589" cy="618028"/>
          </a:xfrm>
          <a:prstGeom prst="line">
            <a:avLst/>
          </a:prstGeom>
          <a:noFill/>
          <a:ln w="15875">
            <a:solidFill>
              <a:schemeClr val="accent4"/>
            </a:solidFill>
            <a:prstDash val="solid"/>
            <a:tailEnd type="triangle"/>
          </a:ln>
        </p:spPr>
        <p:txBody>
          <a:bodyPr/>
          <a:lstStyle/>
          <a:p>
            <a:endParaRPr lang="en-GB"/>
          </a:p>
        </p:txBody>
      </p:sp>
      <p:sp>
        <p:nvSpPr>
          <p:cNvPr id="13" name="Title edge DG"/>
          <p:cNvSpPr/>
          <p:nvPr/>
        </p:nvSpPr>
        <p:spPr>
          <a:xfrm>
            <a:off x="8307102" y="2054617"/>
            <a:ext cx="202811" cy="1149261"/>
          </a:xfrm>
          <a:prstGeom prst="line">
            <a:avLst/>
          </a:prstGeom>
          <a:noFill/>
          <a:ln w="15875">
            <a:solidFill>
              <a:schemeClr val="accent4"/>
            </a:solidFill>
            <a:prstDash val="solid"/>
            <a:tailEnd type="triangle"/>
          </a:ln>
        </p:spPr>
        <p:txBody>
          <a:bodyPr/>
          <a:lstStyle/>
          <a:p>
            <a:endParaRPr lang="en-GB"/>
          </a:p>
        </p:txBody>
      </p:sp>
      <p:sp>
        <p:nvSpPr>
          <p:cNvPr id="14" name="Title flux BC"/>
          <p:cNvSpPr/>
          <p:nvPr/>
        </p:nvSpPr>
        <p:spPr>
          <a:xfrm flipH="1">
            <a:off x="7068030" y="1277210"/>
            <a:ext cx="294365" cy="588729"/>
          </a:xfrm>
          <a:prstGeom prst="line">
            <a:avLst/>
          </a:prstGeom>
          <a:noFill/>
          <a:ln w="31750">
            <a:solidFill>
              <a:schemeClr val="accent2"/>
            </a:solidFill>
            <a:prstDash val="solid"/>
            <a:tailEnd type="triangle"/>
          </a:ln>
        </p:spPr>
        <p:txBody>
          <a:bodyPr/>
          <a:lstStyle/>
          <a:p>
            <a:endParaRPr lang="en-GB"/>
          </a:p>
        </p:txBody>
      </p:sp>
      <p:sp>
        <p:nvSpPr>
          <p:cNvPr id="15" name="Title flux CE"/>
          <p:cNvSpPr/>
          <p:nvPr/>
        </p:nvSpPr>
        <p:spPr>
          <a:xfrm>
            <a:off x="7114064" y="2287111"/>
            <a:ext cx="447993" cy="500698"/>
          </a:xfrm>
          <a:prstGeom prst="line">
            <a:avLst/>
          </a:prstGeom>
          <a:noFill/>
          <a:ln w="31750">
            <a:solidFill>
              <a:schemeClr val="accent2"/>
            </a:solidFill>
            <a:prstDash val="solid"/>
            <a:tailEnd type="triangle"/>
          </a:ln>
        </p:spPr>
        <p:txBody>
          <a:bodyPr/>
          <a:lstStyle/>
          <a:p>
            <a:endParaRPr lang="en-GB"/>
          </a:p>
        </p:txBody>
      </p:sp>
      <p:sp>
        <p:nvSpPr>
          <p:cNvPr id="16" name="Title flux EG"/>
          <p:cNvSpPr/>
          <p:nvPr/>
        </p:nvSpPr>
        <p:spPr>
          <a:xfrm>
            <a:off x="7926512" y="3082818"/>
            <a:ext cx="423295" cy="235164"/>
          </a:xfrm>
          <a:prstGeom prst="line">
            <a:avLst/>
          </a:prstGeom>
          <a:noFill/>
          <a:ln w="31750">
            <a:solidFill>
              <a:schemeClr val="accent2"/>
            </a:solidFill>
            <a:prstDash val="solid"/>
            <a:tailEnd type="triangle"/>
          </a:ln>
        </p:spPr>
        <p:txBody>
          <a:bodyPr/>
          <a:lstStyle/>
          <a:p>
            <a:endParaRPr lang="en-GB"/>
          </a:p>
        </p:txBody>
      </p:sp>
      <p:sp>
        <p:nvSpPr>
          <p:cNvPr id="17" name="Title node A"/>
          <p:cNvSpPr/>
          <p:nvPr/>
        </p:nvSpPr>
        <p:spPr>
          <a:xfrm>
            <a:off x="6236208" y="1207008"/>
            <a:ext cx="237744" cy="237744"/>
          </a:xfrm>
          <a:prstGeom prst="ellipse">
            <a:avLst/>
          </a:prstGeom>
          <a:solidFill>
            <a:schemeClr val="accent1"/>
          </a:solidFill>
          <a:ln/>
        </p:spPr>
        <p:txBody>
          <a:bodyPr/>
          <a:lstStyle/>
          <a:p>
            <a:endParaRPr lang="en-GB"/>
          </a:p>
        </p:txBody>
      </p:sp>
      <p:sp>
        <p:nvSpPr>
          <p:cNvPr id="18" name="Title node B"/>
          <p:cNvSpPr/>
          <p:nvPr/>
        </p:nvSpPr>
        <p:spPr>
          <a:xfrm>
            <a:off x="7296912" y="941832"/>
            <a:ext cx="310896" cy="310896"/>
          </a:xfrm>
          <a:prstGeom prst="ellipse">
            <a:avLst/>
          </a:prstGeom>
          <a:solidFill>
            <a:schemeClr val="accent2"/>
          </a:solidFill>
          <a:ln/>
        </p:spPr>
        <p:txBody>
          <a:bodyPr/>
          <a:lstStyle/>
          <a:p>
            <a:endParaRPr lang="en-GB"/>
          </a:p>
        </p:txBody>
      </p:sp>
      <p:sp>
        <p:nvSpPr>
          <p:cNvPr id="19" name="Title node C"/>
          <p:cNvSpPr/>
          <p:nvPr/>
        </p:nvSpPr>
        <p:spPr>
          <a:xfrm>
            <a:off x="6748272" y="1901952"/>
            <a:ext cx="402336" cy="402336"/>
          </a:xfrm>
          <a:prstGeom prst="ellipse">
            <a:avLst/>
          </a:prstGeom>
          <a:solidFill>
            <a:schemeClr val="accent2"/>
          </a:solidFill>
          <a:ln/>
        </p:spPr>
        <p:txBody>
          <a:bodyPr/>
          <a:lstStyle/>
          <a:p>
            <a:endParaRPr lang="en-GB"/>
          </a:p>
        </p:txBody>
      </p:sp>
      <p:sp>
        <p:nvSpPr>
          <p:cNvPr id="20" name="Title node D"/>
          <p:cNvSpPr/>
          <p:nvPr/>
        </p:nvSpPr>
        <p:spPr>
          <a:xfrm>
            <a:off x="8138160" y="1737360"/>
            <a:ext cx="274320" cy="274320"/>
          </a:xfrm>
          <a:prstGeom prst="ellipse">
            <a:avLst/>
          </a:prstGeom>
          <a:solidFill>
            <a:schemeClr val="accent1"/>
          </a:solidFill>
          <a:ln/>
        </p:spPr>
        <p:txBody>
          <a:bodyPr/>
          <a:lstStyle/>
          <a:p>
            <a:endParaRPr lang="en-GB"/>
          </a:p>
        </p:txBody>
      </p:sp>
      <p:sp>
        <p:nvSpPr>
          <p:cNvPr id="21" name="Title node E"/>
          <p:cNvSpPr/>
          <p:nvPr/>
        </p:nvSpPr>
        <p:spPr>
          <a:xfrm>
            <a:off x="7543800" y="2788920"/>
            <a:ext cx="365760" cy="365760"/>
          </a:xfrm>
          <a:prstGeom prst="ellipse">
            <a:avLst/>
          </a:prstGeom>
          <a:solidFill>
            <a:schemeClr val="accent2"/>
          </a:solidFill>
          <a:ln/>
        </p:spPr>
        <p:txBody>
          <a:bodyPr/>
          <a:lstStyle/>
          <a:p>
            <a:endParaRPr lang="en-GB"/>
          </a:p>
        </p:txBody>
      </p:sp>
      <p:sp>
        <p:nvSpPr>
          <p:cNvPr id="22" name="Title node F"/>
          <p:cNvSpPr/>
          <p:nvPr/>
        </p:nvSpPr>
        <p:spPr>
          <a:xfrm>
            <a:off x="6318504" y="3026664"/>
            <a:ext cx="256032" cy="256032"/>
          </a:xfrm>
          <a:prstGeom prst="ellipse">
            <a:avLst/>
          </a:prstGeom>
          <a:solidFill>
            <a:schemeClr val="accent1"/>
          </a:solidFill>
          <a:ln/>
        </p:spPr>
        <p:txBody>
          <a:bodyPr/>
          <a:lstStyle/>
          <a:p>
            <a:endParaRPr lang="en-GB"/>
          </a:p>
        </p:txBody>
      </p:sp>
      <p:sp>
        <p:nvSpPr>
          <p:cNvPr id="23" name="Title node G"/>
          <p:cNvSpPr/>
          <p:nvPr/>
        </p:nvSpPr>
        <p:spPr>
          <a:xfrm>
            <a:off x="8385048" y="3264408"/>
            <a:ext cx="329184" cy="329184"/>
          </a:xfrm>
          <a:prstGeom prst="ellipse">
            <a:avLst/>
          </a:prstGeom>
          <a:solidFill>
            <a:schemeClr val="accent2"/>
          </a:solidFill>
          <a:ln/>
        </p:spPr>
        <p:txBody>
          <a:bodyPr/>
          <a:lstStyle/>
          <a:p>
            <a:endParaRPr lang="en-GB"/>
          </a:p>
        </p:txBody>
      </p:sp>
      <p:sp>
        <p:nvSpPr>
          <p:cNvPr id="24" name="Title node H"/>
          <p:cNvSpPr/>
          <p:nvPr/>
        </p:nvSpPr>
        <p:spPr>
          <a:xfrm>
            <a:off x="7022592" y="3822192"/>
            <a:ext cx="219456" cy="219456"/>
          </a:xfrm>
          <a:prstGeom prst="ellipse">
            <a:avLst/>
          </a:prstGeom>
          <a:solidFill>
            <a:schemeClr val="accent1"/>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Pool your scorecards</a:t>
            </a:r>
            <a:endParaRPr lang="en-US" sz="3400" dirty="0"/>
          </a:p>
        </p:txBody>
      </p:sp>
      <p:graphicFrame>
        <p:nvGraphicFramePr>
          <p:cNvPr id="3" name="Scorecard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243328"/>
        </p:xfrm>
        <a:graphic>
          <a:graphicData uri="http://schemas.openxmlformats.org/drawingml/2006/table">
            <a:tbl>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411480">
                <a:tc>
                  <a:txBody>
                    <a:bodyPr/>
                    <a:lstStyle/>
                    <a:p>
                      <a:pPr marL="0" indent="0" algn="ctr">
                        <a:buNone/>
                      </a:pP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All reactions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Genes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Gap-filled</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Grows on minimal glucose</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Genes shared with BiGG</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buNone/>
                      </a:pPr>
                      <a:r>
                        <a:rPr lang="en-US" sz="1300" b="1" i="1" dirty="0">
                          <a:solidFill>
                            <a:srgbClr val="000000"/>
                          </a:solidFill>
                        </a:rPr>
                        <a:t>E. coli  </a:t>
                      </a:r>
                      <a:r>
                        <a:rPr lang="en-US" sz="1100" dirty="0">
                          <a:solidFill>
                            <a:schemeClr val="accent3"/>
                          </a:solidFill>
                        </a:rPr>
                        <a:t>KBase draft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1,867</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1,346</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3</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yes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1,175</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4320">
                <a:tc>
                  <a:txBody>
                    <a:bodyPr/>
                    <a:lstStyle/>
                    <a:p>
                      <a:pPr marL="0" indent="0">
                        <a:buNone/>
                      </a:pPr>
                      <a:r>
                        <a:rPr lang="en-US" sz="1300" b="1" dirty="0">
                          <a:solidFill>
                            <a:schemeClr val="accent3"/>
                          </a:solidFill>
                        </a:rPr>
                        <a:t>iML1515  </a:t>
                      </a:r>
                      <a:r>
                        <a:rPr lang="en-US" sz="1100" dirty="0">
                          <a:solidFill>
                            <a:schemeClr val="accent3"/>
                          </a:solidFill>
                        </a:rPr>
                        <a:t>curated</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2,712</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1,516</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yes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9184">
                <a:tc>
                  <a:txBody>
                    <a:bodyPr/>
                    <a:lstStyle/>
                    <a:p>
                      <a:pPr marL="0" indent="0">
                        <a:buNone/>
                      </a:pPr>
                      <a:r>
                        <a:rPr lang="en-US" sz="1300" b="1" i="1" dirty="0">
                          <a:solidFill>
                            <a:srgbClr val="000000"/>
                          </a:solidFill>
                        </a:rPr>
                        <a:t>B. subtilis  </a:t>
                      </a:r>
                      <a:r>
                        <a:rPr lang="en-US" sz="1100" dirty="0">
                          <a:solidFill>
                            <a:schemeClr val="accent3"/>
                          </a:solidFill>
                        </a:rPr>
                        <a:t>KBase draft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b="1" dirty="0">
                          <a:solidFill>
                            <a:srgbClr val="000000"/>
                          </a:solidFill>
                        </a:rPr>
                        <a:t>1,525</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b="1" dirty="0">
                          <a:solidFill>
                            <a:srgbClr val="000000"/>
                          </a:solidFill>
                        </a:rPr>
                        <a:t>1,062</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b="1" dirty="0">
                          <a:solidFill>
                            <a:srgbClr val="000000"/>
                          </a:solidFill>
                        </a:rPr>
                        <a:t>37</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b="1" dirty="0">
                          <a:solidFill>
                            <a:srgbClr val="000000"/>
                          </a:solidFill>
                        </a:rPr>
                        <a:t>yes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b="1" dirty="0">
                          <a:solidFill>
                            <a:srgbClr val="000000"/>
                          </a:solidFill>
                        </a:rPr>
                        <a:t>695</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74320">
                <a:tc>
                  <a:txBody>
                    <a:bodyPr/>
                    <a:lstStyle/>
                    <a:p>
                      <a:pPr marL="0" indent="0">
                        <a:buNone/>
                      </a:pPr>
                      <a:r>
                        <a:rPr lang="en-US" sz="1300" b="1" dirty="0">
                          <a:solidFill>
                            <a:schemeClr val="accent3"/>
                          </a:solidFill>
                        </a:rPr>
                        <a:t>iYO844  </a:t>
                      </a:r>
                      <a:r>
                        <a:rPr lang="en-US" sz="1100" dirty="0">
                          <a:solidFill>
                            <a:schemeClr val="accent3"/>
                          </a:solidFill>
                        </a:rPr>
                        <a:t>curated</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3"/>
                          </a:solidFill>
                        </a:rPr>
                        <a:t>1,250</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3"/>
                          </a:solidFill>
                        </a:rPr>
                        <a:t>844</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3"/>
                          </a:solidFill>
                        </a:rPr>
                        <a: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accent3"/>
                          </a:solidFill>
                        </a:rPr>
                        <a:t>yes</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buNone/>
                      </a:pPr>
                      <a:r>
                        <a:rPr lang="en-US" sz="1300" b="1" i="1" dirty="0">
                          <a:solidFill>
                            <a:srgbClr val="000000"/>
                          </a:solidFill>
                        </a:rPr>
                        <a:t>L. lactis  </a:t>
                      </a:r>
                      <a:r>
                        <a:rPr lang="en-US" sz="1100" dirty="0">
                          <a:solidFill>
                            <a:schemeClr val="accent3"/>
                          </a:solidFill>
                        </a:rPr>
                        <a:t>KBase draft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1,083</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699</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63</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no</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b="1" dirty="0">
                          <a:solidFill>
                            <a:srgbClr val="000000"/>
                          </a:solidFill>
                        </a:rPr>
                        <a:t>448</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74320">
                <a:tc>
                  <a:txBody>
                    <a:bodyPr/>
                    <a:lstStyle/>
                    <a:p>
                      <a:pPr marL="0" indent="0">
                        <a:buNone/>
                      </a:pPr>
                      <a:r>
                        <a:rPr lang="en-US" sz="1300" b="1" dirty="0">
                          <a:solidFill>
                            <a:schemeClr val="accent3"/>
                          </a:solidFill>
                        </a:rPr>
                        <a:t>iNF517  </a:t>
                      </a:r>
                      <a:r>
                        <a:rPr lang="en-US" sz="1100" dirty="0">
                          <a:solidFill>
                            <a:schemeClr val="accent3"/>
                          </a:solidFill>
                        </a:rPr>
                        <a:t>curated</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754</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516</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accent3"/>
                          </a:solidFill>
                        </a:rPr>
                        <a:t>no</a:t>
                      </a: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endParaRPr lang="en-US" sz="13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Scorecard note"/>
          <p:cNvSpPr txBox="1"/>
          <p:nvPr/>
        </p:nvSpPr>
        <p:spPr>
          <a:xfrm>
            <a:off x="457200" y="3520440"/>
            <a:ext cx="4572000" cy="960120"/>
          </a:xfrm>
          <a:prstGeom prst="rect">
            <a:avLst/>
          </a:prstGeom>
          <a:noFill/>
          <a:ln/>
        </p:spPr>
        <p:txBody>
          <a:bodyPr wrap="square" lIns="0" tIns="0" rIns="0" bIns="0" rtlCol="0" anchor="t"/>
          <a:lstStyle/>
          <a:p>
            <a:pPr marL="0" indent="0">
              <a:buNone/>
            </a:pPr>
            <a:r>
              <a:rPr lang="en-US" sz="1100" dirty="0">
                <a:solidFill>
                  <a:schemeClr val="accent3"/>
                </a:solidFill>
              </a:rPr>
              <a:t>Instructors' run in KBase (MS2 app, 9 October 2026), compared with the notebook Day2_B_Compare_with_BiGG. Reactions include exchanges, as BiGG counts them. Genes shared: draft genes also in the curated model.</a:t>
            </a:r>
            <a:endParaRPr lang="en-US" sz="1100" dirty="0"/>
          </a:p>
        </p:txBody>
      </p:sp>
      <p:sp>
        <p:nvSpPr>
          <p:cNvPr id="5" name="Pool card"/>
          <p:cNvSpPr/>
          <p:nvPr/>
        </p:nvSpPr>
        <p:spPr>
          <a:xfrm>
            <a:off x="5212080" y="3520440"/>
            <a:ext cx="3474720" cy="960120"/>
          </a:xfrm>
          <a:prstGeom prst="roundRect">
            <a:avLst>
              <a:gd name="adj" fmla="val 7619"/>
            </a:avLst>
          </a:prstGeom>
          <a:solidFill>
            <a:schemeClr val="tx2"/>
          </a:solidFill>
          <a:ln/>
        </p:spPr>
        <p:txBody>
          <a:bodyPr/>
          <a:lstStyle/>
          <a:p>
            <a:endParaRPr lang="en-GB"/>
          </a:p>
        </p:txBody>
      </p:sp>
      <p:sp>
        <p:nvSpPr>
          <p:cNvPr id="6" name="Pool node"/>
          <p:cNvSpPr/>
          <p:nvPr/>
        </p:nvSpPr>
        <p:spPr>
          <a:xfrm>
            <a:off x="5376672" y="3767328"/>
            <a:ext cx="457200" cy="457200"/>
          </a:xfrm>
          <a:prstGeom prst="ellipse">
            <a:avLst/>
          </a:prstGeom>
          <a:solidFill>
            <a:schemeClr val="accent2"/>
          </a:solidFill>
          <a:ln/>
        </p:spPr>
        <p:txBody>
          <a:bodyPr/>
          <a:lstStyle/>
          <a:p>
            <a:endParaRPr lang="en-GB"/>
          </a:p>
        </p:txBody>
      </p:sp>
      <p:pic>
        <p:nvPicPr>
          <p:cNvPr id="7" name="Pool icon" descr="preencoded.png"/>
          <p:cNvPicPr>
            <a:picLocks noChangeAspect="1"/>
          </p:cNvPicPr>
          <p:nvPr/>
        </p:nvPicPr>
        <p:blipFill>
          <a:blip r:embed="rId3"/>
          <a:stretch>
            <a:fillRect/>
          </a:stretch>
        </p:blipFill>
        <p:spPr>
          <a:xfrm>
            <a:off x="5490972" y="3881628"/>
            <a:ext cx="228600" cy="228600"/>
          </a:xfrm>
          <a:prstGeom prst="rect">
            <a:avLst/>
          </a:prstGeom>
        </p:spPr>
      </p:pic>
      <p:sp>
        <p:nvSpPr>
          <p:cNvPr id="8" name="Pool questions"/>
          <p:cNvSpPr txBox="1"/>
          <p:nvPr/>
        </p:nvSpPr>
        <p:spPr>
          <a:xfrm>
            <a:off x="5989320" y="3520440"/>
            <a:ext cx="2606040" cy="960120"/>
          </a:xfrm>
          <a:prstGeom prst="rect">
            <a:avLst/>
          </a:prstGeom>
          <a:noFill/>
          <a:ln/>
        </p:spPr>
        <p:txBody>
          <a:bodyPr wrap="square" lIns="0" tIns="0" rIns="0" bIns="0" rtlCol="0" anchor="ctr"/>
          <a:lstStyle/>
          <a:p>
            <a:pPr marL="0" indent="0">
              <a:buNone/>
            </a:pPr>
            <a:r>
              <a:rPr lang="en-US" sz="1300" b="1" dirty="0">
                <a:solidFill>
                  <a:schemeClr val="accent2"/>
                </a:solidFill>
              </a:rPr>
              <a:t>5 minutes. </a:t>
            </a:r>
            <a:r>
              <a:rPr lang="en-US" sz="1300" dirty="0">
                <a:solidFill>
                  <a:schemeClr val="bg1"/>
                </a:solidFill>
              </a:rPr>
              <a:t>How close did your KBase numbers get? Which draft is closest to its curated model, and why?</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Growing is not the same as right</a:t>
            </a:r>
            <a:endParaRPr lang="en-US" sz="3400" dirty="0"/>
          </a:p>
        </p:txBody>
      </p:sp>
      <p:sp>
        <p:nvSpPr>
          <p:cNvPr id="3" name="Rung 1"/>
          <p:cNvSpPr/>
          <p:nvPr/>
        </p:nvSpPr>
        <p:spPr>
          <a:xfrm>
            <a:off x="457200" y="3931920"/>
            <a:ext cx="5120640" cy="566928"/>
          </a:xfrm>
          <a:prstGeom prst="roundRect">
            <a:avLst>
              <a:gd name="adj" fmla="val 12903"/>
            </a:avLst>
          </a:prstGeom>
          <a:solidFill>
            <a:schemeClr val="accent1"/>
          </a:solidFill>
          <a:ln/>
        </p:spPr>
        <p:txBody>
          <a:bodyPr/>
          <a:lstStyle/>
          <a:p>
            <a:endParaRPr lang="en-GB"/>
          </a:p>
        </p:txBody>
      </p:sp>
      <p:sp>
        <p:nvSpPr>
          <p:cNvPr id="4" name="Rung 1 number"/>
          <p:cNvSpPr txBox="1"/>
          <p:nvPr/>
        </p:nvSpPr>
        <p:spPr>
          <a:xfrm>
            <a:off x="566928" y="3931920"/>
            <a:ext cx="320040" cy="566928"/>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5" name="Rung 1 text"/>
          <p:cNvSpPr txBox="1"/>
          <p:nvPr/>
        </p:nvSpPr>
        <p:spPr>
          <a:xfrm>
            <a:off x="914400" y="3931920"/>
            <a:ext cx="2331720" cy="566928"/>
          </a:xfrm>
          <a:prstGeom prst="rect">
            <a:avLst/>
          </a:prstGeom>
          <a:noFill/>
          <a:ln/>
        </p:spPr>
        <p:txBody>
          <a:bodyPr wrap="square" lIns="0" tIns="0" rIns="0" bIns="0" rtlCol="0" anchor="ctr"/>
          <a:lstStyle/>
          <a:p>
            <a:pPr marL="0" indent="0">
              <a:buNone/>
            </a:pPr>
            <a:r>
              <a:rPr lang="en-US" sz="1400" b="1" dirty="0">
                <a:solidFill>
                  <a:schemeClr val="bg1"/>
                </a:solidFill>
              </a:rPr>
              <a:t>Readable</a:t>
            </a:r>
            <a:endParaRPr lang="en-US" sz="1400" dirty="0"/>
          </a:p>
          <a:p>
            <a:pPr marL="0" indent="0">
              <a:buNone/>
            </a:pPr>
            <a:r>
              <a:rPr lang="en-US" sz="1100" dirty="0">
                <a:solidFill>
                  <a:schemeClr val="bg1"/>
                </a:solidFill>
              </a:rPr>
              <a:t>valid SBML; identifiers linked to databases</a:t>
            </a:r>
            <a:endParaRPr lang="en-US" sz="1400" dirty="0"/>
          </a:p>
        </p:txBody>
      </p:sp>
      <p:sp>
        <p:nvSpPr>
          <p:cNvPr id="6" name="Rung 1 check"/>
          <p:cNvSpPr txBox="1"/>
          <p:nvPr/>
        </p:nvSpPr>
        <p:spPr>
          <a:xfrm>
            <a:off x="3291840" y="3931920"/>
            <a:ext cx="2194560" cy="566928"/>
          </a:xfrm>
          <a:prstGeom prst="rect">
            <a:avLst/>
          </a:prstGeom>
          <a:noFill/>
          <a:ln/>
        </p:spPr>
        <p:txBody>
          <a:bodyPr wrap="square" lIns="0" tIns="0" rIns="0" bIns="0" rtlCol="0" anchor="ctr"/>
          <a:lstStyle/>
          <a:p>
            <a:pPr marL="0" indent="0">
              <a:buNone/>
            </a:pPr>
            <a:r>
              <a:rPr lang="en-US" sz="1100" i="1" dirty="0">
                <a:solidFill>
                  <a:schemeClr val="bg1"/>
                </a:solidFill>
              </a:rPr>
              <a:t>MEMOTE score: annotation, SBO terms</a:t>
            </a:r>
            <a:endParaRPr lang="en-US" sz="1100" dirty="0"/>
          </a:p>
        </p:txBody>
      </p:sp>
      <p:sp>
        <p:nvSpPr>
          <p:cNvPr id="7" name="Rung 2"/>
          <p:cNvSpPr/>
          <p:nvPr/>
        </p:nvSpPr>
        <p:spPr>
          <a:xfrm>
            <a:off x="777240" y="3255264"/>
            <a:ext cx="5120640" cy="566928"/>
          </a:xfrm>
          <a:prstGeom prst="roundRect">
            <a:avLst>
              <a:gd name="adj" fmla="val 12903"/>
            </a:avLst>
          </a:prstGeom>
          <a:solidFill>
            <a:schemeClr val="accent1"/>
          </a:solidFill>
          <a:ln/>
        </p:spPr>
        <p:txBody>
          <a:bodyPr/>
          <a:lstStyle/>
          <a:p>
            <a:endParaRPr lang="en-GB"/>
          </a:p>
        </p:txBody>
      </p:sp>
      <p:sp>
        <p:nvSpPr>
          <p:cNvPr id="8" name="Rung 2 number"/>
          <p:cNvSpPr txBox="1"/>
          <p:nvPr/>
        </p:nvSpPr>
        <p:spPr>
          <a:xfrm>
            <a:off x="886968" y="3255264"/>
            <a:ext cx="320040" cy="566928"/>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9" name="Rung 2 text"/>
          <p:cNvSpPr txBox="1"/>
          <p:nvPr/>
        </p:nvSpPr>
        <p:spPr>
          <a:xfrm>
            <a:off x="1234440" y="3255264"/>
            <a:ext cx="2331720" cy="566928"/>
          </a:xfrm>
          <a:prstGeom prst="rect">
            <a:avLst/>
          </a:prstGeom>
          <a:noFill/>
          <a:ln/>
        </p:spPr>
        <p:txBody>
          <a:bodyPr wrap="square" lIns="0" tIns="0" rIns="0" bIns="0" rtlCol="0" anchor="ctr"/>
          <a:lstStyle/>
          <a:p>
            <a:pPr marL="0" indent="0">
              <a:buNone/>
            </a:pPr>
            <a:r>
              <a:rPr lang="en-US" sz="1400" b="1" dirty="0">
                <a:solidFill>
                  <a:schemeClr val="bg1"/>
                </a:solidFill>
              </a:rPr>
              <a:t>Consistent</a:t>
            </a:r>
            <a:endParaRPr lang="en-US" sz="1400" dirty="0"/>
          </a:p>
          <a:p>
            <a:pPr marL="0" indent="0">
              <a:buNone/>
            </a:pPr>
            <a:r>
              <a:rPr lang="en-US" sz="1100" dirty="0">
                <a:solidFill>
                  <a:schemeClr val="bg1"/>
                </a:solidFill>
              </a:rPr>
              <a:t>balanced reactions; no ATP from nothing</a:t>
            </a:r>
            <a:endParaRPr lang="en-US" sz="1400" dirty="0"/>
          </a:p>
        </p:txBody>
      </p:sp>
      <p:sp>
        <p:nvSpPr>
          <p:cNvPr id="10" name="Rung 2 check"/>
          <p:cNvSpPr txBox="1"/>
          <p:nvPr/>
        </p:nvSpPr>
        <p:spPr>
          <a:xfrm>
            <a:off x="3611880" y="3255264"/>
            <a:ext cx="2194560" cy="566928"/>
          </a:xfrm>
          <a:prstGeom prst="rect">
            <a:avLst/>
          </a:prstGeom>
          <a:noFill/>
          <a:ln/>
        </p:spPr>
        <p:txBody>
          <a:bodyPr wrap="square" lIns="0" tIns="0" rIns="0" bIns="0" rtlCol="0" anchor="ctr"/>
          <a:lstStyle/>
          <a:p>
            <a:pPr marL="0" indent="0">
              <a:buNone/>
            </a:pPr>
            <a:r>
              <a:rPr lang="en-US" sz="1100" i="1" dirty="0">
                <a:solidFill>
                  <a:schemeClr val="bg1"/>
                </a:solidFill>
              </a:rPr>
              <a:t>MEMOTE score: consistency (energy cycles reported)</a:t>
            </a:r>
            <a:endParaRPr lang="en-US" sz="1100" dirty="0"/>
          </a:p>
        </p:txBody>
      </p:sp>
      <p:sp>
        <p:nvSpPr>
          <p:cNvPr id="11" name="Rung 3"/>
          <p:cNvSpPr/>
          <p:nvPr/>
        </p:nvSpPr>
        <p:spPr>
          <a:xfrm>
            <a:off x="1097280" y="2578608"/>
            <a:ext cx="5120640" cy="566928"/>
          </a:xfrm>
          <a:prstGeom prst="roundRect">
            <a:avLst>
              <a:gd name="adj" fmla="val 12903"/>
            </a:avLst>
          </a:prstGeom>
          <a:solidFill>
            <a:schemeClr val="accent6"/>
          </a:solidFill>
          <a:ln/>
        </p:spPr>
        <p:txBody>
          <a:bodyPr/>
          <a:lstStyle/>
          <a:p>
            <a:endParaRPr lang="en-GB"/>
          </a:p>
        </p:txBody>
      </p:sp>
      <p:sp>
        <p:nvSpPr>
          <p:cNvPr id="12" name="Rung 3 number"/>
          <p:cNvSpPr txBox="1"/>
          <p:nvPr/>
        </p:nvSpPr>
        <p:spPr>
          <a:xfrm>
            <a:off x="1207008" y="2578608"/>
            <a:ext cx="320040" cy="566928"/>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3" name="Rung 3 text"/>
          <p:cNvSpPr txBox="1"/>
          <p:nvPr/>
        </p:nvSpPr>
        <p:spPr>
          <a:xfrm>
            <a:off x="1554480" y="2578608"/>
            <a:ext cx="2331720" cy="566928"/>
          </a:xfrm>
          <a:prstGeom prst="rect">
            <a:avLst/>
          </a:prstGeom>
          <a:noFill/>
          <a:ln/>
        </p:spPr>
        <p:txBody>
          <a:bodyPr wrap="square" lIns="0" tIns="0" rIns="0" bIns="0" rtlCol="0" anchor="ctr"/>
          <a:lstStyle/>
          <a:p>
            <a:pPr marL="0" indent="0">
              <a:buNone/>
            </a:pPr>
            <a:r>
              <a:rPr lang="en-US" sz="1400" b="1" dirty="0">
                <a:solidFill>
                  <a:schemeClr val="bg1"/>
                </a:solidFill>
              </a:rPr>
              <a:t>Connected</a:t>
            </a:r>
            <a:endParaRPr lang="en-US" sz="1400" dirty="0"/>
          </a:p>
          <a:p>
            <a:pPr marL="0" indent="0">
              <a:buNone/>
            </a:pPr>
            <a:r>
              <a:rPr lang="en-US" sz="1100" dirty="0">
                <a:solidFill>
                  <a:schemeClr val="bg1"/>
                </a:solidFill>
              </a:rPr>
              <a:t>few blocked reactions and dead ends</a:t>
            </a:r>
            <a:endParaRPr lang="en-US" sz="1400" dirty="0"/>
          </a:p>
        </p:txBody>
      </p:sp>
      <p:sp>
        <p:nvSpPr>
          <p:cNvPr id="14" name="Rung 3 check"/>
          <p:cNvSpPr txBox="1"/>
          <p:nvPr/>
        </p:nvSpPr>
        <p:spPr>
          <a:xfrm>
            <a:off x="3931920" y="2578608"/>
            <a:ext cx="2194560" cy="566928"/>
          </a:xfrm>
          <a:prstGeom prst="rect">
            <a:avLst/>
          </a:prstGeom>
          <a:noFill/>
          <a:ln/>
        </p:spPr>
        <p:txBody>
          <a:bodyPr wrap="square" lIns="0" tIns="0" rIns="0" bIns="0" rtlCol="0" anchor="ctr"/>
          <a:lstStyle/>
          <a:p>
            <a:pPr marL="0" indent="0">
              <a:buNone/>
            </a:pPr>
            <a:r>
              <a:rPr lang="en-US" sz="1100" i="1" dirty="0">
                <a:solidFill>
                  <a:schemeClr val="bg1"/>
                </a:solidFill>
              </a:rPr>
              <a:t>MEMOTE reports it, but doesn't score it</a:t>
            </a:r>
            <a:endParaRPr lang="en-US" sz="1100" dirty="0"/>
          </a:p>
        </p:txBody>
      </p:sp>
      <p:sp>
        <p:nvSpPr>
          <p:cNvPr id="15" name="Rung 4"/>
          <p:cNvSpPr/>
          <p:nvPr/>
        </p:nvSpPr>
        <p:spPr>
          <a:xfrm>
            <a:off x="1417320" y="1901952"/>
            <a:ext cx="5120640" cy="566928"/>
          </a:xfrm>
          <a:prstGeom prst="roundRect">
            <a:avLst>
              <a:gd name="adj" fmla="val 12903"/>
            </a:avLst>
          </a:prstGeom>
          <a:solidFill>
            <a:schemeClr val="accent2"/>
          </a:solidFill>
          <a:ln/>
        </p:spPr>
        <p:txBody>
          <a:bodyPr/>
          <a:lstStyle/>
          <a:p>
            <a:endParaRPr lang="en-GB"/>
          </a:p>
        </p:txBody>
      </p:sp>
      <p:sp>
        <p:nvSpPr>
          <p:cNvPr id="16" name="Rung 4 number"/>
          <p:cNvSpPr txBox="1"/>
          <p:nvPr/>
        </p:nvSpPr>
        <p:spPr>
          <a:xfrm>
            <a:off x="1527048" y="1901952"/>
            <a:ext cx="320040" cy="566928"/>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17" name="Rung 4 text"/>
          <p:cNvSpPr txBox="1"/>
          <p:nvPr/>
        </p:nvSpPr>
        <p:spPr>
          <a:xfrm>
            <a:off x="1874520" y="1901952"/>
            <a:ext cx="2331720" cy="566928"/>
          </a:xfrm>
          <a:prstGeom prst="rect">
            <a:avLst/>
          </a:prstGeom>
          <a:noFill/>
          <a:ln/>
        </p:spPr>
        <p:txBody>
          <a:bodyPr wrap="square" lIns="0" tIns="0" rIns="0" bIns="0" rtlCol="0" anchor="ctr"/>
          <a:lstStyle/>
          <a:p>
            <a:pPr marL="0" indent="0">
              <a:buNone/>
            </a:pPr>
            <a:r>
              <a:rPr lang="en-US" sz="1400" b="1" dirty="0">
                <a:solidFill>
                  <a:schemeClr val="bg1"/>
                </a:solidFill>
              </a:rPr>
              <a:t>Predictive</a:t>
            </a:r>
            <a:endParaRPr lang="en-US" sz="1400" dirty="0"/>
          </a:p>
          <a:p>
            <a:pPr marL="0" indent="0">
              <a:buNone/>
            </a:pPr>
            <a:r>
              <a:rPr lang="en-US" sz="1100" dirty="0">
                <a:solidFill>
                  <a:schemeClr val="bg1"/>
                </a:solidFill>
              </a:rPr>
              <a:t>right growth phenotypes and essential genes</a:t>
            </a:r>
            <a:endParaRPr lang="en-US" sz="1400" dirty="0"/>
          </a:p>
        </p:txBody>
      </p:sp>
      <p:sp>
        <p:nvSpPr>
          <p:cNvPr id="18" name="Rung 4 check"/>
          <p:cNvSpPr txBox="1"/>
          <p:nvPr/>
        </p:nvSpPr>
        <p:spPr>
          <a:xfrm>
            <a:off x="4251960" y="1901952"/>
            <a:ext cx="2194560" cy="566928"/>
          </a:xfrm>
          <a:prstGeom prst="rect">
            <a:avLst/>
          </a:prstGeom>
          <a:noFill/>
          <a:ln/>
        </p:spPr>
        <p:txBody>
          <a:bodyPr wrap="square" lIns="0" tIns="0" rIns="0" bIns="0" rtlCol="0" anchor="ctr"/>
          <a:lstStyle/>
          <a:p>
            <a:pPr marL="0" indent="0">
              <a:buNone/>
            </a:pPr>
            <a:r>
              <a:rPr lang="en-US" sz="1100" i="1" dirty="0">
                <a:solidFill>
                  <a:schemeClr val="bg1"/>
                </a:solidFill>
              </a:rPr>
              <a:t>your data: growth tests, knockout collections</a:t>
            </a:r>
            <a:endParaRPr lang="en-US" sz="1100" dirty="0"/>
          </a:p>
        </p:txBody>
      </p:sp>
      <p:sp>
        <p:nvSpPr>
          <p:cNvPr id="19" name="Rung 5"/>
          <p:cNvSpPr/>
          <p:nvPr/>
        </p:nvSpPr>
        <p:spPr>
          <a:xfrm>
            <a:off x="1737360" y="1225296"/>
            <a:ext cx="5120640" cy="566928"/>
          </a:xfrm>
          <a:prstGeom prst="roundRect">
            <a:avLst>
              <a:gd name="adj" fmla="val 12903"/>
            </a:avLst>
          </a:prstGeom>
          <a:solidFill>
            <a:schemeClr val="accent2"/>
          </a:solidFill>
          <a:ln/>
        </p:spPr>
        <p:txBody>
          <a:bodyPr/>
          <a:lstStyle/>
          <a:p>
            <a:endParaRPr lang="en-GB"/>
          </a:p>
        </p:txBody>
      </p:sp>
      <p:sp>
        <p:nvSpPr>
          <p:cNvPr id="20" name="Rung 5 number"/>
          <p:cNvSpPr txBox="1"/>
          <p:nvPr/>
        </p:nvSpPr>
        <p:spPr>
          <a:xfrm>
            <a:off x="1847088" y="1225296"/>
            <a:ext cx="320040" cy="566928"/>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1" name="Rung 5 text"/>
          <p:cNvSpPr txBox="1"/>
          <p:nvPr/>
        </p:nvSpPr>
        <p:spPr>
          <a:xfrm>
            <a:off x="2194560" y="1225296"/>
            <a:ext cx="2331720" cy="566928"/>
          </a:xfrm>
          <a:prstGeom prst="rect">
            <a:avLst/>
          </a:prstGeom>
          <a:noFill/>
          <a:ln/>
        </p:spPr>
        <p:txBody>
          <a:bodyPr wrap="square" lIns="0" tIns="0" rIns="0" bIns="0" rtlCol="0" anchor="ctr"/>
          <a:lstStyle/>
          <a:p>
            <a:pPr marL="0" indent="0">
              <a:buNone/>
            </a:pPr>
            <a:r>
              <a:rPr lang="en-US" sz="1400" b="1" dirty="0">
                <a:solidFill>
                  <a:schemeClr val="bg1"/>
                </a:solidFill>
              </a:rPr>
              <a:t>Quantitative</a:t>
            </a:r>
            <a:endParaRPr lang="en-US" sz="1400" dirty="0"/>
          </a:p>
          <a:p>
            <a:pPr marL="0" indent="0">
              <a:buNone/>
            </a:pPr>
            <a:r>
              <a:rPr lang="en-US" sz="1100" dirty="0">
                <a:solidFill>
                  <a:schemeClr val="bg1"/>
                </a:solidFill>
              </a:rPr>
              <a:t>right yields and fluxes</a:t>
            </a:r>
            <a:endParaRPr lang="en-US" sz="1400" dirty="0"/>
          </a:p>
        </p:txBody>
      </p:sp>
      <p:sp>
        <p:nvSpPr>
          <p:cNvPr id="22" name="Rung 5 check"/>
          <p:cNvSpPr txBox="1"/>
          <p:nvPr/>
        </p:nvSpPr>
        <p:spPr>
          <a:xfrm>
            <a:off x="4572000" y="1225296"/>
            <a:ext cx="2194560" cy="566928"/>
          </a:xfrm>
          <a:prstGeom prst="rect">
            <a:avLst/>
          </a:prstGeom>
          <a:noFill/>
          <a:ln/>
        </p:spPr>
        <p:txBody>
          <a:bodyPr wrap="square" lIns="0" tIns="0" rIns="0" bIns="0" rtlCol="0" anchor="ctr"/>
          <a:lstStyle/>
          <a:p>
            <a:pPr marL="0" indent="0">
              <a:buNone/>
            </a:pPr>
            <a:r>
              <a:rPr lang="en-US" sz="1100" i="1" dirty="0">
                <a:solidFill>
                  <a:schemeClr val="bg1"/>
                </a:solidFill>
              </a:rPr>
              <a:t>your data: chemostats, 13C labelling</a:t>
            </a:r>
            <a:endParaRPr lang="en-US" sz="1100" dirty="0"/>
          </a:p>
        </p:txBody>
      </p:sp>
      <p:sp>
        <p:nvSpPr>
          <p:cNvPr id="23" name="Ladder legend card"/>
          <p:cNvSpPr/>
          <p:nvPr/>
        </p:nvSpPr>
        <p:spPr>
          <a:xfrm>
            <a:off x="7178040" y="1188720"/>
            <a:ext cx="1508760" cy="3310128"/>
          </a:xfrm>
          <a:prstGeom prst="roundRect">
            <a:avLst>
              <a:gd name="adj" fmla="val 4848"/>
            </a:avLst>
          </a:prstGeom>
          <a:solidFill>
            <a:schemeClr val="bg2"/>
          </a:solidFill>
          <a:ln/>
        </p:spPr>
        <p:txBody>
          <a:bodyPr/>
          <a:lstStyle/>
          <a:p>
            <a:endParaRPr lang="en-GB"/>
          </a:p>
        </p:txBody>
      </p:sp>
      <p:sp>
        <p:nvSpPr>
          <p:cNvPr id="24" name="Legend teal"/>
          <p:cNvSpPr/>
          <p:nvPr/>
        </p:nvSpPr>
        <p:spPr>
          <a:xfrm>
            <a:off x="7287768" y="1371600"/>
            <a:ext cx="1289304" cy="292608"/>
          </a:xfrm>
          <a:prstGeom prst="roundRect">
            <a:avLst>
              <a:gd name="adj" fmla="val 50000"/>
            </a:avLst>
          </a:prstGeom>
          <a:solidFill>
            <a:schemeClr val="accent1"/>
          </a:solidFill>
          <a:ln/>
        </p:spPr>
        <p:txBody>
          <a:bodyPr/>
          <a:lstStyle/>
          <a:p>
            <a:endParaRPr lang="en-GB"/>
          </a:p>
        </p:txBody>
      </p:sp>
      <p:sp>
        <p:nvSpPr>
          <p:cNvPr id="25" name="Legend teal text"/>
          <p:cNvSpPr txBox="1"/>
          <p:nvPr/>
        </p:nvSpPr>
        <p:spPr>
          <a:xfrm>
            <a:off x="7287768" y="1371600"/>
            <a:ext cx="1289304" cy="292608"/>
          </a:xfrm>
          <a:prstGeom prst="rect">
            <a:avLst/>
          </a:prstGeom>
          <a:noFill/>
          <a:ln/>
        </p:spPr>
        <p:txBody>
          <a:bodyPr wrap="square" lIns="0" tIns="0" rIns="0" bIns="0" rtlCol="0" anchor="ctr"/>
          <a:lstStyle/>
          <a:p>
            <a:pPr marL="0" indent="0" algn="ctr">
              <a:buNone/>
            </a:pPr>
            <a:r>
              <a:rPr lang="en-US" sz="1100" b="1" dirty="0">
                <a:solidFill>
                  <a:schemeClr val="bg1"/>
                </a:solidFill>
              </a:rPr>
              <a:t>tidy model</a:t>
            </a:r>
            <a:endParaRPr lang="en-US" sz="1100" dirty="0"/>
          </a:p>
        </p:txBody>
      </p:sp>
      <p:sp>
        <p:nvSpPr>
          <p:cNvPr id="26" name="Legend teal text"/>
          <p:cNvSpPr txBox="1"/>
          <p:nvPr/>
        </p:nvSpPr>
        <p:spPr>
          <a:xfrm>
            <a:off x="7287768" y="1700784"/>
            <a:ext cx="1289304" cy="457200"/>
          </a:xfrm>
          <a:prstGeom prst="rect">
            <a:avLst/>
          </a:prstGeom>
          <a:noFill/>
          <a:ln/>
        </p:spPr>
        <p:txBody>
          <a:bodyPr wrap="square" lIns="0" tIns="0" rIns="0" bIns="0" rtlCol="0" anchor="t"/>
          <a:lstStyle/>
          <a:p>
            <a:pPr marL="0" indent="0" algn="ctr">
              <a:buNone/>
            </a:pPr>
            <a:r>
              <a:rPr lang="en-US" sz="1200" dirty="0">
                <a:solidFill>
                  <a:schemeClr val="tx1"/>
                </a:solidFill>
              </a:rPr>
              <a:t>MEMOTE can tell you</a:t>
            </a:r>
            <a:endParaRPr lang="en-US" sz="1200" dirty="0"/>
          </a:p>
        </p:txBody>
      </p:sp>
      <p:sp>
        <p:nvSpPr>
          <p:cNvPr id="27" name="Legend orange"/>
          <p:cNvSpPr/>
          <p:nvPr/>
        </p:nvSpPr>
        <p:spPr>
          <a:xfrm>
            <a:off x="7287768" y="2788920"/>
            <a:ext cx="1289304" cy="292608"/>
          </a:xfrm>
          <a:prstGeom prst="roundRect">
            <a:avLst>
              <a:gd name="adj" fmla="val 50000"/>
            </a:avLst>
          </a:prstGeom>
          <a:solidFill>
            <a:schemeClr val="accent2"/>
          </a:solidFill>
          <a:ln/>
        </p:spPr>
        <p:txBody>
          <a:bodyPr/>
          <a:lstStyle/>
          <a:p>
            <a:endParaRPr lang="en-GB"/>
          </a:p>
        </p:txBody>
      </p:sp>
      <p:sp>
        <p:nvSpPr>
          <p:cNvPr id="28" name="Legend orange text"/>
          <p:cNvSpPr txBox="1"/>
          <p:nvPr/>
        </p:nvSpPr>
        <p:spPr>
          <a:xfrm>
            <a:off x="7287768" y="2788920"/>
            <a:ext cx="1289304" cy="292608"/>
          </a:xfrm>
          <a:prstGeom prst="rect">
            <a:avLst/>
          </a:prstGeom>
          <a:noFill/>
          <a:ln/>
        </p:spPr>
        <p:txBody>
          <a:bodyPr wrap="square" lIns="0" tIns="0" rIns="0" bIns="0" rtlCol="0" anchor="ctr"/>
          <a:lstStyle/>
          <a:p>
            <a:pPr marL="0" indent="0" algn="ctr">
              <a:buNone/>
            </a:pPr>
            <a:r>
              <a:rPr lang="en-US" sz="1100" b="1" dirty="0">
                <a:solidFill>
                  <a:schemeClr val="bg1"/>
                </a:solidFill>
              </a:rPr>
              <a:t>right biology</a:t>
            </a:r>
            <a:endParaRPr lang="en-US" sz="1100" dirty="0"/>
          </a:p>
        </p:txBody>
      </p:sp>
      <p:sp>
        <p:nvSpPr>
          <p:cNvPr id="29" name="Legend orange text"/>
          <p:cNvSpPr txBox="1"/>
          <p:nvPr/>
        </p:nvSpPr>
        <p:spPr>
          <a:xfrm>
            <a:off x="7287768" y="3118104"/>
            <a:ext cx="1289304" cy="457200"/>
          </a:xfrm>
          <a:prstGeom prst="rect">
            <a:avLst/>
          </a:prstGeom>
          <a:noFill/>
          <a:ln/>
        </p:spPr>
        <p:txBody>
          <a:bodyPr wrap="square" lIns="0" tIns="0" rIns="0" bIns="0" rtlCol="0" anchor="t"/>
          <a:lstStyle/>
          <a:p>
            <a:pPr marL="0" indent="0" algn="ctr">
              <a:buNone/>
            </a:pPr>
            <a:r>
              <a:rPr lang="en-US" sz="1200" dirty="0">
                <a:solidFill>
                  <a:schemeClr val="tx1"/>
                </a:solidFill>
              </a:rPr>
              <a:t>only data can tell you</a:t>
            </a:r>
            <a:endParaRPr lang="en-US" sz="1200" dirty="0"/>
          </a:p>
        </p:txBody>
      </p:sp>
      <p:sp>
        <p:nvSpPr>
          <p:cNvPr id="30"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What MEMOTE scores (and doesn't)</a:t>
            </a:r>
            <a:endParaRPr lang="en-US" sz="3400" dirty="0"/>
          </a:p>
        </p:txBody>
      </p:sp>
      <p:sp>
        <p:nvSpPr>
          <p:cNvPr id="3" name="Scored card"/>
          <p:cNvSpPr/>
          <p:nvPr/>
        </p:nvSpPr>
        <p:spPr>
          <a:xfrm>
            <a:off x="457200" y="1143000"/>
            <a:ext cx="4023360" cy="2286000"/>
          </a:xfrm>
          <a:prstGeom prst="roundRect">
            <a:avLst>
              <a:gd name="adj" fmla="val 3200"/>
            </a:avLst>
          </a:prstGeom>
          <a:solidFill>
            <a:schemeClr val="bg2"/>
          </a:solidFill>
          <a:ln/>
        </p:spPr>
        <p:txBody>
          <a:bodyPr/>
          <a:lstStyle/>
          <a:p>
            <a:endParaRPr lang="en-GB"/>
          </a:p>
        </p:txBody>
      </p:sp>
      <p:sp>
        <p:nvSpPr>
          <p:cNvPr id="4" name="Scored heading"/>
          <p:cNvSpPr txBox="1"/>
          <p:nvPr/>
        </p:nvSpPr>
        <p:spPr>
          <a:xfrm>
            <a:off x="640080" y="1234440"/>
            <a:ext cx="3657600" cy="365760"/>
          </a:xfrm>
          <a:prstGeom prst="rect">
            <a:avLst/>
          </a:prstGeom>
          <a:noFill/>
          <a:ln/>
        </p:spPr>
        <p:txBody>
          <a:bodyPr wrap="square" lIns="0" tIns="0" rIns="0" bIns="0" rtlCol="0" anchor="ctr"/>
          <a:lstStyle/>
          <a:p>
            <a:pPr marL="0" indent="0">
              <a:buNone/>
            </a:pPr>
            <a:r>
              <a:rPr lang="en-US" sz="1600" b="1" dirty="0">
                <a:solidFill>
                  <a:schemeClr val="tx2"/>
                </a:solidFill>
              </a:rPr>
              <a:t>In the score</a:t>
            </a:r>
            <a:endParaRPr lang="en-US" sz="1600" dirty="0"/>
          </a:p>
        </p:txBody>
      </p:sp>
      <p:sp>
        <p:nvSpPr>
          <p:cNvPr id="5" name="Weight 1"/>
          <p:cNvSpPr/>
          <p:nvPr/>
        </p:nvSpPr>
        <p:spPr>
          <a:xfrm>
            <a:off x="640080" y="1746504"/>
            <a:ext cx="457200" cy="274320"/>
          </a:xfrm>
          <a:prstGeom prst="roundRect">
            <a:avLst>
              <a:gd name="adj" fmla="val 50000"/>
            </a:avLst>
          </a:prstGeom>
          <a:solidFill>
            <a:schemeClr val="accent1"/>
          </a:solidFill>
          <a:ln/>
        </p:spPr>
        <p:txBody>
          <a:bodyPr/>
          <a:lstStyle/>
          <a:p>
            <a:endParaRPr lang="en-GB"/>
          </a:p>
        </p:txBody>
      </p:sp>
      <p:sp>
        <p:nvSpPr>
          <p:cNvPr id="6" name="Weight 1 text"/>
          <p:cNvSpPr txBox="1"/>
          <p:nvPr/>
        </p:nvSpPr>
        <p:spPr>
          <a:xfrm>
            <a:off x="640080" y="1746504"/>
            <a:ext cx="457200" cy="274320"/>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7" name="Scored 1"/>
          <p:cNvSpPr txBox="1"/>
          <p:nvPr/>
        </p:nvSpPr>
        <p:spPr>
          <a:xfrm>
            <a:off x="1188720" y="1691640"/>
            <a:ext cx="3200400" cy="530352"/>
          </a:xfrm>
          <a:prstGeom prst="rect">
            <a:avLst/>
          </a:prstGeom>
          <a:noFill/>
          <a:ln/>
        </p:spPr>
        <p:txBody>
          <a:bodyPr wrap="square" lIns="0" tIns="0" rIns="0" bIns="0" rtlCol="0" anchor="t"/>
          <a:lstStyle/>
          <a:p>
            <a:pPr marL="0" indent="0">
              <a:buNone/>
            </a:pPr>
            <a:r>
              <a:rPr lang="en-US" sz="1200" b="1" dirty="0">
                <a:solidFill>
                  <a:schemeClr val="tx2"/>
                </a:solidFill>
              </a:rPr>
              <a:t>Consistency: </a:t>
            </a:r>
            <a:r>
              <a:rPr lang="en-US" sz="1200" dirty="0">
                <a:solidFill>
                  <a:schemeClr val="tx1"/>
                </a:solidFill>
              </a:rPr>
              <a:t>stoichiometry, mass and charge balance, disconnected metabolites, unbounded fluxes</a:t>
            </a:r>
            <a:endParaRPr lang="en-US" sz="1200" dirty="0"/>
          </a:p>
        </p:txBody>
      </p:sp>
      <p:sp>
        <p:nvSpPr>
          <p:cNvPr id="8" name="Weight 2"/>
          <p:cNvSpPr/>
          <p:nvPr/>
        </p:nvSpPr>
        <p:spPr>
          <a:xfrm>
            <a:off x="640080" y="2313432"/>
            <a:ext cx="457200" cy="274320"/>
          </a:xfrm>
          <a:prstGeom prst="roundRect">
            <a:avLst>
              <a:gd name="adj" fmla="val 50000"/>
            </a:avLst>
          </a:prstGeom>
          <a:solidFill>
            <a:schemeClr val="accent1"/>
          </a:solidFill>
          <a:ln/>
        </p:spPr>
        <p:txBody>
          <a:bodyPr/>
          <a:lstStyle/>
          <a:p>
            <a:endParaRPr lang="en-GB"/>
          </a:p>
        </p:txBody>
      </p:sp>
      <p:sp>
        <p:nvSpPr>
          <p:cNvPr id="9" name="Weight 2 text"/>
          <p:cNvSpPr txBox="1"/>
          <p:nvPr/>
        </p:nvSpPr>
        <p:spPr>
          <a:xfrm>
            <a:off x="640080" y="2313432"/>
            <a:ext cx="457200" cy="27432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10" name="Scored 2"/>
          <p:cNvSpPr txBox="1"/>
          <p:nvPr/>
        </p:nvSpPr>
        <p:spPr>
          <a:xfrm>
            <a:off x="1188720" y="2258568"/>
            <a:ext cx="3200400" cy="530352"/>
          </a:xfrm>
          <a:prstGeom prst="rect">
            <a:avLst/>
          </a:prstGeom>
          <a:noFill/>
          <a:ln/>
        </p:spPr>
        <p:txBody>
          <a:bodyPr wrap="square" lIns="0" tIns="0" rIns="0" bIns="0" rtlCol="0" anchor="t"/>
          <a:lstStyle/>
          <a:p>
            <a:pPr marL="0" indent="0">
              <a:buNone/>
            </a:pPr>
            <a:r>
              <a:rPr lang="en-US" sz="1200" b="1" dirty="0">
                <a:solidFill>
                  <a:schemeClr val="tx2"/>
                </a:solidFill>
              </a:rPr>
              <a:t>Annotation: </a:t>
            </a:r>
            <a:r>
              <a:rPr lang="en-US" sz="1200" dirty="0">
                <a:solidFill>
                  <a:schemeClr val="tx1"/>
                </a:solidFill>
              </a:rPr>
              <a:t>database IDs for metabolites, reactions and genes (each ×1)</a:t>
            </a:r>
            <a:endParaRPr lang="en-US" sz="1200" dirty="0"/>
          </a:p>
        </p:txBody>
      </p:sp>
      <p:sp>
        <p:nvSpPr>
          <p:cNvPr id="11" name="Weight 3"/>
          <p:cNvSpPr/>
          <p:nvPr/>
        </p:nvSpPr>
        <p:spPr>
          <a:xfrm>
            <a:off x="640080" y="2880360"/>
            <a:ext cx="457200" cy="274320"/>
          </a:xfrm>
          <a:prstGeom prst="roundRect">
            <a:avLst>
              <a:gd name="adj" fmla="val 50000"/>
            </a:avLst>
          </a:prstGeom>
          <a:solidFill>
            <a:schemeClr val="accent1"/>
          </a:solidFill>
          <a:ln/>
        </p:spPr>
        <p:txBody>
          <a:bodyPr/>
          <a:lstStyle/>
          <a:p>
            <a:endParaRPr lang="en-GB"/>
          </a:p>
        </p:txBody>
      </p:sp>
      <p:sp>
        <p:nvSpPr>
          <p:cNvPr id="12" name="Weight 3 text"/>
          <p:cNvSpPr txBox="1"/>
          <p:nvPr/>
        </p:nvSpPr>
        <p:spPr>
          <a:xfrm>
            <a:off x="640080" y="2880360"/>
            <a:ext cx="457200" cy="274320"/>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3" name="Scored 3"/>
          <p:cNvSpPr txBox="1"/>
          <p:nvPr/>
        </p:nvSpPr>
        <p:spPr>
          <a:xfrm>
            <a:off x="1188720" y="2825496"/>
            <a:ext cx="3200400" cy="530352"/>
          </a:xfrm>
          <a:prstGeom prst="rect">
            <a:avLst/>
          </a:prstGeom>
          <a:noFill/>
          <a:ln/>
        </p:spPr>
        <p:txBody>
          <a:bodyPr wrap="square" lIns="0" tIns="0" rIns="0" bIns="0" rtlCol="0" anchor="t"/>
          <a:lstStyle/>
          <a:p>
            <a:pPr marL="0" indent="0">
              <a:buNone/>
            </a:pPr>
            <a:r>
              <a:rPr lang="en-US" sz="1200" b="1" dirty="0">
                <a:solidFill>
                  <a:schemeClr val="tx2"/>
                </a:solidFill>
              </a:rPr>
              <a:t>SBO terms: </a:t>
            </a:r>
            <a:r>
              <a:rPr lang="en-US" sz="1200" dirty="0">
                <a:solidFill>
                  <a:schemeClr val="tx1"/>
                </a:solidFill>
              </a:rPr>
              <a:t>the role of each reaction and metabolite</a:t>
            </a:r>
            <a:endParaRPr lang="en-US" sz="1200" dirty="0"/>
          </a:p>
        </p:txBody>
      </p:sp>
      <p:sp>
        <p:nvSpPr>
          <p:cNvPr id="14" name="Unscored card"/>
          <p:cNvSpPr/>
          <p:nvPr/>
        </p:nvSpPr>
        <p:spPr>
          <a:xfrm>
            <a:off x="4663440" y="1143000"/>
            <a:ext cx="4023360" cy="2286000"/>
          </a:xfrm>
          <a:prstGeom prst="roundRect">
            <a:avLst>
              <a:gd name="adj" fmla="val 3200"/>
            </a:avLst>
          </a:prstGeom>
          <a:solidFill>
            <a:schemeClr val="tx2"/>
          </a:solidFill>
          <a:ln/>
        </p:spPr>
        <p:txBody>
          <a:bodyPr/>
          <a:lstStyle/>
          <a:p>
            <a:endParaRPr lang="en-GB"/>
          </a:p>
        </p:txBody>
      </p:sp>
      <p:sp>
        <p:nvSpPr>
          <p:cNvPr id="15" name="Unscored heading"/>
          <p:cNvSpPr txBox="1"/>
          <p:nvPr/>
        </p:nvSpPr>
        <p:spPr>
          <a:xfrm>
            <a:off x="4846320" y="1234440"/>
            <a:ext cx="3657600" cy="365760"/>
          </a:xfrm>
          <a:prstGeom prst="rect">
            <a:avLst/>
          </a:prstGeom>
          <a:noFill/>
          <a:ln/>
        </p:spPr>
        <p:txBody>
          <a:bodyPr wrap="square" lIns="0" tIns="0" rIns="0" bIns="0" rtlCol="0" anchor="ctr"/>
          <a:lstStyle/>
          <a:p>
            <a:pPr marL="0" indent="0">
              <a:buNone/>
            </a:pPr>
            <a:r>
              <a:rPr lang="en-US" sz="1600" b="1" dirty="0">
                <a:solidFill>
                  <a:schemeClr val="bg1"/>
                </a:solidFill>
              </a:rPr>
              <a:t>In the report, not the score</a:t>
            </a:r>
            <a:endParaRPr lang="en-US" sz="1600" dirty="0"/>
          </a:p>
        </p:txBody>
      </p:sp>
      <p:sp>
        <p:nvSpPr>
          <p:cNvPr id="16" name="Unscored list"/>
          <p:cNvSpPr txBox="1"/>
          <p:nvPr/>
        </p:nvSpPr>
        <p:spPr>
          <a:xfrm>
            <a:off x="4846320" y="1664208"/>
            <a:ext cx="3703320" cy="16916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accent4"/>
                </a:solidFill>
              </a:rPr>
              <a:t>Biomass: can it make every precursor?</a:t>
            </a:r>
            <a:endParaRPr lang="en-US" sz="1300" dirty="0"/>
          </a:p>
          <a:p>
            <a:pPr marL="177800" indent="-177800">
              <a:spcAft>
                <a:spcPts val="400"/>
              </a:spcAft>
              <a:buSzPct val="100000"/>
              <a:buChar char="•"/>
            </a:pPr>
            <a:r>
              <a:rPr lang="en-US" sz="1300" dirty="0">
                <a:solidFill>
                  <a:schemeClr val="accent4"/>
                </a:solidFill>
              </a:rPr>
              <a:t>Energy-generating cycles</a:t>
            </a:r>
            <a:endParaRPr lang="en-US" sz="1300" dirty="0"/>
          </a:p>
          <a:p>
            <a:pPr marL="177800" indent="-177800">
              <a:spcAft>
                <a:spcPts val="400"/>
              </a:spcAft>
              <a:buSzPct val="100000"/>
              <a:buChar char="•"/>
            </a:pPr>
            <a:r>
              <a:rPr lang="en-US" sz="1300" dirty="0">
                <a:solidFill>
                  <a:schemeClr val="accent4"/>
                </a:solidFill>
              </a:rPr>
              <a:t>Blocked reactions and dead ends</a:t>
            </a:r>
            <a:endParaRPr lang="en-US" sz="1300" dirty="0"/>
          </a:p>
          <a:p>
            <a:pPr marL="177800" indent="-177800">
              <a:spcAft>
                <a:spcPts val="400"/>
              </a:spcAft>
              <a:buSzPct val="100000"/>
              <a:buChar char="•"/>
            </a:pPr>
            <a:r>
              <a:rPr lang="en-US" sz="1300" dirty="0">
                <a:solidFill>
                  <a:schemeClr val="accent4"/>
                </a:solidFill>
              </a:rPr>
              <a:t>Gene–reaction rules</a:t>
            </a:r>
            <a:endParaRPr lang="en-US" sz="1300" dirty="0"/>
          </a:p>
          <a:p>
            <a:pPr marL="177800" indent="-177800">
              <a:spcAft>
                <a:spcPts val="400"/>
              </a:spcAft>
              <a:buSzPct val="100000"/>
              <a:buChar char="•"/>
            </a:pPr>
            <a:r>
              <a:rPr lang="en-US" sz="1300" dirty="0">
                <a:solidFill>
                  <a:schemeClr val="accent4"/>
                </a:solidFill>
              </a:rPr>
              <a:t>Growth and essentiality against your data, if you supply it</a:t>
            </a:r>
            <a:endParaRPr lang="en-US" sz="1300" dirty="0"/>
          </a:p>
        </p:txBody>
      </p:sp>
      <p:sp>
        <p:nvSpPr>
          <p:cNvPr id="17" name="Memote code card"/>
          <p:cNvSpPr/>
          <p:nvPr/>
        </p:nvSpPr>
        <p:spPr>
          <a:xfrm>
            <a:off x="457200" y="3566160"/>
            <a:ext cx="5120640" cy="914400"/>
          </a:xfrm>
          <a:prstGeom prst="roundRect">
            <a:avLst>
              <a:gd name="adj" fmla="val 8000"/>
            </a:avLst>
          </a:prstGeom>
          <a:solidFill>
            <a:schemeClr val="tx2"/>
          </a:solidFill>
          <a:ln/>
        </p:spPr>
        <p:txBody>
          <a:bodyPr/>
          <a:lstStyle/>
          <a:p>
            <a:endParaRPr lang="en-GB"/>
          </a:p>
        </p:txBody>
      </p:sp>
      <p:sp>
        <p:nvSpPr>
          <p:cNvPr id="18" name="Memote code label"/>
          <p:cNvSpPr txBox="1"/>
          <p:nvPr/>
        </p:nvSpPr>
        <p:spPr>
          <a:xfrm>
            <a:off x="685800" y="3730752"/>
            <a:ext cx="4663440" cy="274320"/>
          </a:xfrm>
          <a:prstGeom prst="rect">
            <a:avLst/>
          </a:prstGeom>
          <a:noFill/>
          <a:ln/>
        </p:spPr>
        <p:txBody>
          <a:bodyPr wrap="square" lIns="0" tIns="0" rIns="0" bIns="0" rtlCol="0" anchor="t"/>
          <a:lstStyle/>
          <a:p>
            <a:pPr marL="0" indent="0">
              <a:buNone/>
            </a:pPr>
            <a:r>
              <a:rPr lang="en-US" sz="1200" b="1" dirty="0">
                <a:solidFill>
                  <a:schemeClr val="accent2"/>
                </a:solidFill>
              </a:rPr>
              <a:t>Run it on any SBML model</a:t>
            </a:r>
            <a:endParaRPr lang="en-US" sz="1200" dirty="0"/>
          </a:p>
        </p:txBody>
      </p:sp>
      <p:sp>
        <p:nvSpPr>
          <p:cNvPr id="19" name="Memote code code"/>
          <p:cNvSpPr txBox="1"/>
          <p:nvPr/>
        </p:nvSpPr>
        <p:spPr>
          <a:xfrm>
            <a:off x="685800" y="4069080"/>
            <a:ext cx="4663440" cy="274320"/>
          </a:xfrm>
          <a:prstGeom prst="rect">
            <a:avLst/>
          </a:prstGeom>
          <a:noFill/>
          <a:ln/>
        </p:spPr>
        <p:txBody>
          <a:bodyPr wrap="square" lIns="0" tIns="0" rIns="0" bIns="0" rtlCol="0" anchor="t"/>
          <a:lstStyle/>
          <a:p>
            <a:pPr marL="0" indent="0">
              <a:buNone/>
            </a:pPr>
            <a:r>
              <a:rPr lang="en-US" sz="1100" dirty="0">
                <a:solidFill>
                  <a:schemeClr val="accent4"/>
                </a:solidFill>
                <a:latin typeface="Courier New" pitchFamily="34" charset="0"/>
                <a:ea typeface="Courier New" pitchFamily="34" charset="-122"/>
                <a:cs typeface="Courier New" pitchFamily="34" charset="-120"/>
              </a:rPr>
              <a:t>pip install memote</a:t>
            </a:r>
            <a:endParaRPr lang="en-US" sz="1100" dirty="0"/>
          </a:p>
          <a:p>
            <a:pPr marL="0" indent="0">
              <a:buNone/>
            </a:pPr>
            <a:r>
              <a:rPr lang="en-US" sz="1100" dirty="0">
                <a:solidFill>
                  <a:schemeClr val="accent4"/>
                </a:solidFill>
                <a:latin typeface="Courier New" pitchFamily="34" charset="0"/>
                <a:ea typeface="Courier New" pitchFamily="34" charset="-122"/>
                <a:cs typeface="Courier New" pitchFamily="34" charset="-120"/>
              </a:rPr>
              <a:t>memote report snapshot --filename report.html model.xml</a:t>
            </a:r>
            <a:endParaRPr lang="en-US" sz="1100" dirty="0"/>
          </a:p>
        </p:txBody>
      </p:sp>
      <p:sp>
        <p:nvSpPr>
          <p:cNvPr id="20" name="Memote ref"/>
          <p:cNvSpPr txBox="1"/>
          <p:nvPr/>
        </p:nvSpPr>
        <p:spPr>
          <a:xfrm>
            <a:off x="5760720" y="3931920"/>
            <a:ext cx="2926080" cy="274320"/>
          </a:xfrm>
          <a:prstGeom prst="rect">
            <a:avLst/>
          </a:prstGeom>
          <a:noFill/>
          <a:ln/>
        </p:spPr>
        <p:txBody>
          <a:bodyPr wrap="square" lIns="0" tIns="0" rIns="0" bIns="0" rtlCol="0" anchor="t"/>
          <a:lstStyle/>
          <a:p>
            <a:pPr marL="0" indent="0">
              <a:buNone/>
            </a:pPr>
            <a:r>
              <a:rPr lang="en-US" sz="1100" dirty="0">
                <a:solidFill>
                  <a:schemeClr val="accent3"/>
                </a:solidFill>
              </a:rPr>
              <a:t>Lieven et al., Nat. Biotechnol. 2020</a:t>
            </a:r>
            <a:endParaRPr lang="en-US" sz="11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MEMOTE: curated vs automated</a:t>
            </a:r>
            <a:endParaRPr lang="en-US" sz="3400" dirty="0"/>
          </a:p>
        </p:txBody>
      </p:sp>
      <p:graphicFrame>
        <p:nvGraphicFramePr>
          <p:cNvPr id="3" name="Memote score chart"/>
          <p:cNvGraphicFramePr/>
          <p:nvPr/>
        </p:nvGraphicFramePr>
        <p:xfrm>
          <a:off x="457200" y="1097280"/>
          <a:ext cx="3383280" cy="3383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Memote metric table"/>
          <p:cNvGraphicFramePr>
            <a:graphicFrameLocks noGrp="1"/>
          </p:cNvGraphicFramePr>
          <p:nvPr>
            <p:extLst>
              <p:ext uri="{D42A27DB-BD31-4B8C-83A1-F6EECF244321}">
                <p14:modId xmlns:p14="http://schemas.microsoft.com/office/powerpoint/2010/main" val="1579011935"/>
              </p:ext>
            </p:extLst>
          </p:nvPr>
        </p:nvGraphicFramePr>
        <p:xfrm>
          <a:off x="4023360" y="1097280"/>
          <a:ext cx="4663440" cy="2127504"/>
        </p:xfrm>
        <a:graphic>
          <a:graphicData uri="http://schemas.openxmlformats.org/drawingml/2006/table">
            <a:tbl>
              <a:tblPr/>
              <a:tblGrid>
                <a:gridCol w="14630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92608">
                <a:tc>
                  <a:txBody>
                    <a:bodyPr/>
                    <a:lstStyle/>
                    <a:p>
                      <a:pPr marL="0" indent="0" algn="ctr">
                        <a:buNone/>
                      </a:pPr>
                      <a:r>
                        <a:rPr lang="en-US" sz="1100" b="1" dirty="0">
                          <a:solidFill>
                            <a:schemeClr val="bg1"/>
                          </a:solidFill>
                        </a:rPr>
                        <a:t>Model</a:t>
                      </a:r>
                      <a:endParaRPr lang="en-US" sz="11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rPr>
                        <a:t>Consistency</a:t>
                      </a:r>
                      <a:endParaRPr lang="en-US" sz="11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rPr>
                        <a:t>Gene annot.</a:t>
                      </a:r>
                      <a:endParaRPr lang="en-US" sz="11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rPr>
                        <a:t>Blocked</a:t>
                      </a:r>
                      <a:endParaRPr lang="en-US" sz="11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lgn="ctr">
                        <a:buNone/>
                      </a:pPr>
                      <a:r>
                        <a:rPr lang="en-US" sz="1100" b="1" dirty="0">
                          <a:solidFill>
                            <a:schemeClr val="bg1"/>
                          </a:solidFill>
                        </a:rPr>
                        <a:t>Energy cycles</a:t>
                      </a:r>
                      <a:endParaRPr lang="en-US" sz="11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92608">
                <a:tc>
                  <a:txBody>
                    <a:bodyPr/>
                    <a:lstStyle/>
                    <a:p>
                      <a:pPr marL="0" indent="0">
                        <a:buNone/>
                      </a:pPr>
                      <a:r>
                        <a:rPr lang="en-US" sz="1200" b="1" dirty="0">
                          <a:solidFill>
                            <a:schemeClr val="accent6"/>
                          </a:solidFill>
                        </a:rPr>
                        <a:t>iML1515</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98.4%</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63.3%</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9.6%</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none</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chemeClr val="accent6"/>
                          </a:solidFill>
                        </a:rPr>
                        <a:t>iYO844</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98.2%</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36.7%</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23.3%</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none</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chemeClr val="accent6"/>
                          </a:solidFill>
                        </a:rPr>
                        <a:t>iNF517</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97.5%</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33.3%</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23.3%</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lgn="ctr">
                        <a:buNone/>
                      </a:pPr>
                      <a:r>
                        <a:rPr lang="en-US" sz="1200" dirty="0">
                          <a:solidFill>
                            <a:srgbClr val="000000"/>
                          </a:solidFill>
                        </a:rPr>
                        <a:t>none</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chemeClr val="accent5"/>
                          </a:solidFill>
                        </a:rPr>
                        <a:t>KBase E. coli</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52.2%</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0.0%</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30.7%</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flagged*</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chemeClr val="accent5"/>
                          </a:solidFill>
                        </a:rPr>
                        <a:t>KBase B. subtilis</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53.0%</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0.0%</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35.7%</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flagged*</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292608">
                <a:tc>
                  <a:txBody>
                    <a:bodyPr/>
                    <a:lstStyle/>
                    <a:p>
                      <a:pPr marL="0" indent="0">
                        <a:buNone/>
                      </a:pPr>
                      <a:r>
                        <a:rPr lang="en-US" sz="1200" b="1" dirty="0">
                          <a:solidFill>
                            <a:schemeClr val="accent5"/>
                          </a:solidFill>
                        </a:rPr>
                        <a:t>KBase L. lactis</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97.2%</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0.0%</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36.5%</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lgn="ctr">
                        <a:buNone/>
                      </a:pPr>
                      <a:r>
                        <a:rPr lang="en-US" sz="1200" dirty="0">
                          <a:solidFill>
                            <a:srgbClr val="000000"/>
                          </a:solidFill>
                        </a:rPr>
                        <a:t>flagged*</a:t>
                      </a:r>
                      <a:endParaRPr lang="en-US" sz="1200" dirty="0"/>
                    </a:p>
                  </a:txBody>
                  <a:tcPr marL="45720" marR="45720"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Memote message"/>
          <p:cNvSpPr txBox="1"/>
          <p:nvPr/>
        </p:nvSpPr>
        <p:spPr>
          <a:xfrm>
            <a:off x="4023360" y="3520440"/>
            <a:ext cx="4663440" cy="960120"/>
          </a:xfrm>
          <a:prstGeom prst="rect">
            <a:avLst/>
          </a:prstGeom>
          <a:noFill/>
          <a:ln/>
        </p:spPr>
        <p:txBody>
          <a:bodyPr wrap="square" lIns="0" tIns="0" rIns="0" bIns="0" rtlCol="0" anchor="t"/>
          <a:lstStyle/>
          <a:p>
            <a:pPr marL="0" indent="0">
              <a:buNone/>
            </a:pPr>
            <a:r>
              <a:rPr lang="en-US" sz="1200" dirty="0">
                <a:solidFill>
                  <a:schemeClr val="tx2"/>
                </a:solidFill>
              </a:rPr>
              <a:t>The drafts lose points on annotation (the KBase export has no database links), and two fail consistency: about 70 reactions don't balance protons. The energy cycles (*) are false alarms: MEMOTE flips reactions stored running backwards. Read the report, then check.</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1280160"/>
            <a:ext cx="5669280" cy="1737360"/>
          </a:xfrm>
          <a:prstGeom prst="rect">
            <a:avLst/>
          </a:prstGeom>
          <a:noFill/>
          <a:ln/>
        </p:spPr>
        <p:txBody>
          <a:bodyPr wrap="square" lIns="0" tIns="0" rIns="0" bIns="0" rtlCol="0" anchor="t"/>
          <a:lstStyle/>
          <a:p>
            <a:pPr marL="0" indent="0" algn="l">
              <a:buNone/>
            </a:pPr>
            <a:r>
              <a:rPr lang="en-US" sz="3000" b="1" dirty="0">
                <a:solidFill>
                  <a:schemeClr val="bg1"/>
                </a:solidFill>
              </a:rPr>
              <a:t>Our KBase drafts score 32–49%, the curated models 85–91%. Are the drafts that much worse?</a:t>
            </a:r>
            <a:endParaRPr lang="en-US" sz="3000" dirty="0"/>
          </a:p>
        </p:txBody>
      </p:sp>
      <p:sp>
        <p:nvSpPr>
          <p:cNvPr id="4" name="Text 0"/>
          <p:cNvSpPr>
            <a:spLocks noGrp="1"/>
          </p:cNvSpPr>
          <p:nvPr>
            <p:ph type="body" idx="102" hasCustomPrompt="1"/>
          </p:nvPr>
        </p:nvSpPr>
        <p:spPr>
          <a:xfrm>
            <a:off x="548640" y="3154680"/>
            <a:ext cx="5486400" cy="1371600"/>
          </a:xfrm>
          <a:prstGeom prst="rect">
            <a:avLst/>
          </a:prstGeom>
          <a:noFill/>
          <a:ln/>
        </p:spPr>
        <p:txBody>
          <a:bodyPr wrap="square" lIns="0" tIns="0" rIns="0" bIns="0" rtlCol="0" anchor="t"/>
          <a:lstStyle/>
          <a:p>
            <a:pPr marL="0" indent="0">
              <a:buNone/>
            </a:pPr>
            <a:r>
              <a:rPr lang="en-US" sz="1600" dirty="0">
                <a:solidFill>
                  <a:schemeClr val="accent4"/>
                </a:solidFill>
              </a:rPr>
              <a:t>What does the score reward? Which of today's problems would no score catch? When would you trust a 50% model over a 90% one?</a:t>
            </a:r>
            <a:endParaRPr lang="en-US" sz="1600" dirty="0"/>
          </a:p>
        </p:txBody>
      </p:sp>
      <p:sp>
        <p:nvSpPr>
          <p:cNvPr id="5" name="Prompt Discuss in pairs · 4 minutes edge AC"/>
          <p:cNvSpPr/>
          <p:nvPr/>
        </p:nvSpPr>
        <p:spPr>
          <a:xfrm>
            <a:off x="6455061" y="1456625"/>
            <a:ext cx="333297" cy="435850"/>
          </a:xfrm>
          <a:prstGeom prst="line">
            <a:avLst/>
          </a:prstGeom>
          <a:noFill/>
          <a:ln w="15875">
            <a:solidFill>
              <a:schemeClr val="accent4"/>
            </a:solidFill>
            <a:prstDash val="solid"/>
            <a:tailEnd type="triangle"/>
          </a:ln>
        </p:spPr>
        <p:txBody>
          <a:bodyPr/>
          <a:lstStyle/>
          <a:p>
            <a:endParaRPr lang="en-GB"/>
          </a:p>
        </p:txBody>
      </p:sp>
      <p:sp>
        <p:nvSpPr>
          <p:cNvPr id="6" name="Prompt Discuss in pairs · 4 minutes edge BD"/>
          <p:cNvSpPr/>
          <p:nvPr/>
        </p:nvSpPr>
        <p:spPr>
          <a:xfrm>
            <a:off x="7598612" y="1235407"/>
            <a:ext cx="530456" cy="500987"/>
          </a:xfrm>
          <a:prstGeom prst="line">
            <a:avLst/>
          </a:prstGeom>
          <a:noFill/>
          <a:ln w="15875">
            <a:solidFill>
              <a:schemeClr val="accent4"/>
            </a:solidFill>
            <a:prstDash val="solid"/>
            <a:tailEnd type="triangle"/>
          </a:ln>
        </p:spPr>
        <p:txBody>
          <a:bodyPr/>
          <a:lstStyle/>
          <a:p>
            <a:endParaRPr lang="en-GB"/>
          </a:p>
        </p:txBody>
      </p:sp>
      <p:sp>
        <p:nvSpPr>
          <p:cNvPr id="7" name="Prompt Discuss in pairs · 4 minutes edge CD"/>
          <p:cNvSpPr/>
          <p:nvPr/>
        </p:nvSpPr>
        <p:spPr>
          <a:xfrm flipV="1">
            <a:off x="7192738" y="1908700"/>
            <a:ext cx="884339" cy="152472"/>
          </a:xfrm>
          <a:prstGeom prst="line">
            <a:avLst/>
          </a:prstGeom>
          <a:noFill/>
          <a:ln w="15875">
            <a:solidFill>
              <a:schemeClr val="accent4"/>
            </a:solidFill>
            <a:prstDash val="solid"/>
            <a:tailEnd type="triangle"/>
          </a:ln>
        </p:spPr>
        <p:txBody>
          <a:bodyPr/>
          <a:lstStyle/>
          <a:p>
            <a:endParaRPr lang="en-GB"/>
          </a:p>
        </p:txBody>
      </p:sp>
      <p:sp>
        <p:nvSpPr>
          <p:cNvPr id="8" name="Prompt Discuss in pairs · 4 minutes edge DE"/>
          <p:cNvSpPr/>
          <p:nvPr/>
        </p:nvSpPr>
        <p:spPr>
          <a:xfrm flipH="1">
            <a:off x="7837092" y="2038093"/>
            <a:ext cx="356442" cy="712884"/>
          </a:xfrm>
          <a:prstGeom prst="line">
            <a:avLst/>
          </a:prstGeom>
          <a:noFill/>
          <a:ln w="15875">
            <a:solidFill>
              <a:schemeClr val="accent4"/>
            </a:solidFill>
            <a:prstDash val="solid"/>
            <a:tailEnd type="triangle"/>
          </a:ln>
        </p:spPr>
        <p:txBody>
          <a:bodyPr/>
          <a:lstStyle/>
          <a:p>
            <a:endParaRPr lang="en-GB"/>
          </a:p>
        </p:txBody>
      </p:sp>
      <p:sp>
        <p:nvSpPr>
          <p:cNvPr id="9" name="Prompt Discuss in pairs · 4 minutes edge CF"/>
          <p:cNvSpPr/>
          <p:nvPr/>
        </p:nvSpPr>
        <p:spPr>
          <a:xfrm flipH="1">
            <a:off x="6529370" y="2325846"/>
            <a:ext cx="313549" cy="655602"/>
          </a:xfrm>
          <a:prstGeom prst="line">
            <a:avLst/>
          </a:prstGeom>
          <a:noFill/>
          <a:ln w="15875">
            <a:solidFill>
              <a:schemeClr val="accent4"/>
            </a:solidFill>
            <a:prstDash val="solid"/>
            <a:tailEnd type="triangle"/>
          </a:ln>
        </p:spPr>
        <p:txBody>
          <a:bodyPr/>
          <a:lstStyle/>
          <a:p>
            <a:endParaRPr lang="en-GB"/>
          </a:p>
        </p:txBody>
      </p:sp>
      <p:sp>
        <p:nvSpPr>
          <p:cNvPr id="10" name="Prompt Discuss in pairs · 4 minutes edge FH"/>
          <p:cNvSpPr/>
          <p:nvPr/>
        </p:nvSpPr>
        <p:spPr>
          <a:xfrm>
            <a:off x="6561467" y="3284954"/>
            <a:ext cx="455905" cy="516692"/>
          </a:xfrm>
          <a:prstGeom prst="line">
            <a:avLst/>
          </a:prstGeom>
          <a:noFill/>
          <a:ln w="15875">
            <a:solidFill>
              <a:schemeClr val="accent4"/>
            </a:solidFill>
            <a:prstDash val="solid"/>
            <a:tailEnd type="triangle"/>
          </a:ln>
        </p:spPr>
        <p:txBody>
          <a:bodyPr/>
          <a:lstStyle/>
          <a:p>
            <a:endParaRPr lang="en-GB"/>
          </a:p>
        </p:txBody>
      </p:sp>
      <p:sp>
        <p:nvSpPr>
          <p:cNvPr id="11" name="Prompt Discuss in pairs · 4 minutes edge EH"/>
          <p:cNvSpPr/>
          <p:nvPr/>
        </p:nvSpPr>
        <p:spPr>
          <a:xfrm flipH="1">
            <a:off x="7223767" y="3166171"/>
            <a:ext cx="382589" cy="618028"/>
          </a:xfrm>
          <a:prstGeom prst="line">
            <a:avLst/>
          </a:prstGeom>
          <a:noFill/>
          <a:ln w="15875">
            <a:solidFill>
              <a:schemeClr val="accent4"/>
            </a:solidFill>
            <a:prstDash val="solid"/>
            <a:tailEnd type="triangle"/>
          </a:ln>
        </p:spPr>
        <p:txBody>
          <a:bodyPr/>
          <a:lstStyle/>
          <a:p>
            <a:endParaRPr lang="en-GB"/>
          </a:p>
        </p:txBody>
      </p:sp>
      <p:sp>
        <p:nvSpPr>
          <p:cNvPr id="12" name="Prompt Discuss in pairs · 4 minutes edge DG"/>
          <p:cNvSpPr/>
          <p:nvPr/>
        </p:nvSpPr>
        <p:spPr>
          <a:xfrm>
            <a:off x="8307102" y="2054617"/>
            <a:ext cx="202811" cy="1149261"/>
          </a:xfrm>
          <a:prstGeom prst="line">
            <a:avLst/>
          </a:prstGeom>
          <a:noFill/>
          <a:ln w="15875">
            <a:solidFill>
              <a:schemeClr val="accent4"/>
            </a:solidFill>
            <a:prstDash val="solid"/>
            <a:tailEnd type="triangle"/>
          </a:ln>
        </p:spPr>
        <p:txBody>
          <a:bodyPr/>
          <a:lstStyle/>
          <a:p>
            <a:endParaRPr lang="en-GB"/>
          </a:p>
        </p:txBody>
      </p:sp>
      <p:sp>
        <p:nvSpPr>
          <p:cNvPr id="13" name="Prompt Discuss in pairs · 4 minutes flux BC"/>
          <p:cNvSpPr/>
          <p:nvPr/>
        </p:nvSpPr>
        <p:spPr>
          <a:xfrm flipH="1">
            <a:off x="7068030" y="1277210"/>
            <a:ext cx="294365" cy="588729"/>
          </a:xfrm>
          <a:prstGeom prst="line">
            <a:avLst/>
          </a:prstGeom>
          <a:noFill/>
          <a:ln w="31750">
            <a:solidFill>
              <a:schemeClr val="accent2"/>
            </a:solidFill>
            <a:prstDash val="solid"/>
            <a:tailEnd type="triangle"/>
          </a:ln>
        </p:spPr>
        <p:txBody>
          <a:bodyPr/>
          <a:lstStyle/>
          <a:p>
            <a:endParaRPr lang="en-GB"/>
          </a:p>
        </p:txBody>
      </p:sp>
      <p:sp>
        <p:nvSpPr>
          <p:cNvPr id="14" name="Prompt Discuss in pairs · 4 minutes flux CE"/>
          <p:cNvSpPr/>
          <p:nvPr/>
        </p:nvSpPr>
        <p:spPr>
          <a:xfrm>
            <a:off x="7114064" y="2287111"/>
            <a:ext cx="447993" cy="500698"/>
          </a:xfrm>
          <a:prstGeom prst="line">
            <a:avLst/>
          </a:prstGeom>
          <a:noFill/>
          <a:ln w="31750">
            <a:solidFill>
              <a:schemeClr val="accent2"/>
            </a:solidFill>
            <a:prstDash val="solid"/>
            <a:tailEnd type="triangle"/>
          </a:ln>
        </p:spPr>
        <p:txBody>
          <a:bodyPr/>
          <a:lstStyle/>
          <a:p>
            <a:endParaRPr lang="en-GB"/>
          </a:p>
        </p:txBody>
      </p:sp>
      <p:sp>
        <p:nvSpPr>
          <p:cNvPr id="15" name="Prompt Discuss in pairs · 4 minutes flux EG"/>
          <p:cNvSpPr/>
          <p:nvPr/>
        </p:nvSpPr>
        <p:spPr>
          <a:xfrm>
            <a:off x="7926512" y="3082818"/>
            <a:ext cx="423295" cy="235164"/>
          </a:xfrm>
          <a:prstGeom prst="line">
            <a:avLst/>
          </a:prstGeom>
          <a:noFill/>
          <a:ln w="31750">
            <a:solidFill>
              <a:schemeClr val="accent2"/>
            </a:solidFill>
            <a:prstDash val="solid"/>
            <a:tailEnd type="triangle"/>
          </a:ln>
        </p:spPr>
        <p:txBody>
          <a:bodyPr/>
          <a:lstStyle/>
          <a:p>
            <a:endParaRPr lang="en-GB"/>
          </a:p>
        </p:txBody>
      </p:sp>
      <p:sp>
        <p:nvSpPr>
          <p:cNvPr id="16" name="Prompt Discuss in pairs · 4 minutes node A"/>
          <p:cNvSpPr/>
          <p:nvPr/>
        </p:nvSpPr>
        <p:spPr>
          <a:xfrm>
            <a:off x="6236208" y="1207008"/>
            <a:ext cx="237744" cy="237744"/>
          </a:xfrm>
          <a:prstGeom prst="ellipse">
            <a:avLst/>
          </a:prstGeom>
          <a:solidFill>
            <a:schemeClr val="accent1"/>
          </a:solidFill>
          <a:ln/>
        </p:spPr>
        <p:txBody>
          <a:bodyPr/>
          <a:lstStyle/>
          <a:p>
            <a:endParaRPr lang="en-GB"/>
          </a:p>
        </p:txBody>
      </p:sp>
      <p:sp>
        <p:nvSpPr>
          <p:cNvPr id="17" name="Prompt Discuss in pairs · 4 minutes node B"/>
          <p:cNvSpPr/>
          <p:nvPr/>
        </p:nvSpPr>
        <p:spPr>
          <a:xfrm>
            <a:off x="7296912" y="941832"/>
            <a:ext cx="310896" cy="310896"/>
          </a:xfrm>
          <a:prstGeom prst="ellipse">
            <a:avLst/>
          </a:prstGeom>
          <a:solidFill>
            <a:schemeClr val="accent2"/>
          </a:solidFill>
          <a:ln/>
        </p:spPr>
        <p:txBody>
          <a:bodyPr/>
          <a:lstStyle/>
          <a:p>
            <a:endParaRPr lang="en-GB"/>
          </a:p>
        </p:txBody>
      </p:sp>
      <p:sp>
        <p:nvSpPr>
          <p:cNvPr id="18" name="Prompt Discuss in pairs · 4 minutes node C"/>
          <p:cNvSpPr/>
          <p:nvPr/>
        </p:nvSpPr>
        <p:spPr>
          <a:xfrm>
            <a:off x="6748272" y="1901952"/>
            <a:ext cx="402336" cy="402336"/>
          </a:xfrm>
          <a:prstGeom prst="ellipse">
            <a:avLst/>
          </a:prstGeom>
          <a:solidFill>
            <a:schemeClr val="accent2"/>
          </a:solidFill>
          <a:ln/>
        </p:spPr>
        <p:txBody>
          <a:bodyPr/>
          <a:lstStyle/>
          <a:p>
            <a:endParaRPr lang="en-GB"/>
          </a:p>
        </p:txBody>
      </p:sp>
      <p:sp>
        <p:nvSpPr>
          <p:cNvPr id="19" name="Prompt Discuss in pairs · 4 minutes node D"/>
          <p:cNvSpPr/>
          <p:nvPr/>
        </p:nvSpPr>
        <p:spPr>
          <a:xfrm>
            <a:off x="8138160" y="1737360"/>
            <a:ext cx="274320" cy="274320"/>
          </a:xfrm>
          <a:prstGeom prst="ellipse">
            <a:avLst/>
          </a:prstGeom>
          <a:solidFill>
            <a:schemeClr val="accent1"/>
          </a:solidFill>
          <a:ln/>
        </p:spPr>
        <p:txBody>
          <a:bodyPr/>
          <a:lstStyle/>
          <a:p>
            <a:endParaRPr lang="en-GB"/>
          </a:p>
        </p:txBody>
      </p:sp>
      <p:sp>
        <p:nvSpPr>
          <p:cNvPr id="20" name="Prompt Discuss in pairs · 4 minutes node E"/>
          <p:cNvSpPr/>
          <p:nvPr/>
        </p:nvSpPr>
        <p:spPr>
          <a:xfrm>
            <a:off x="7543800" y="2788920"/>
            <a:ext cx="365760" cy="365760"/>
          </a:xfrm>
          <a:prstGeom prst="ellipse">
            <a:avLst/>
          </a:prstGeom>
          <a:solidFill>
            <a:schemeClr val="accent2"/>
          </a:solidFill>
          <a:ln/>
        </p:spPr>
        <p:txBody>
          <a:bodyPr/>
          <a:lstStyle/>
          <a:p>
            <a:endParaRPr lang="en-GB"/>
          </a:p>
        </p:txBody>
      </p:sp>
      <p:sp>
        <p:nvSpPr>
          <p:cNvPr id="21" name="Prompt Discuss in pairs · 4 minutes node F"/>
          <p:cNvSpPr/>
          <p:nvPr/>
        </p:nvSpPr>
        <p:spPr>
          <a:xfrm>
            <a:off x="6318504" y="3026664"/>
            <a:ext cx="256032" cy="256032"/>
          </a:xfrm>
          <a:prstGeom prst="ellipse">
            <a:avLst/>
          </a:prstGeom>
          <a:solidFill>
            <a:schemeClr val="accent1"/>
          </a:solidFill>
          <a:ln/>
        </p:spPr>
        <p:txBody>
          <a:bodyPr/>
          <a:lstStyle/>
          <a:p>
            <a:endParaRPr lang="en-GB"/>
          </a:p>
        </p:txBody>
      </p:sp>
      <p:sp>
        <p:nvSpPr>
          <p:cNvPr id="22" name="Prompt Discuss in pairs · 4 minutes node G"/>
          <p:cNvSpPr/>
          <p:nvPr/>
        </p:nvSpPr>
        <p:spPr>
          <a:xfrm>
            <a:off x="8385048" y="3264408"/>
            <a:ext cx="329184" cy="329184"/>
          </a:xfrm>
          <a:prstGeom prst="ellipse">
            <a:avLst/>
          </a:prstGeom>
          <a:solidFill>
            <a:schemeClr val="accent2"/>
          </a:solidFill>
          <a:ln/>
        </p:spPr>
        <p:txBody>
          <a:bodyPr/>
          <a:lstStyle/>
          <a:p>
            <a:endParaRPr lang="en-GB"/>
          </a:p>
        </p:txBody>
      </p:sp>
      <p:sp>
        <p:nvSpPr>
          <p:cNvPr id="23" name="Prompt Discuss in pairs · 4 minutes node H"/>
          <p:cNvSpPr/>
          <p:nvPr/>
        </p:nvSpPr>
        <p:spPr>
          <a:xfrm>
            <a:off x="7022592" y="3822192"/>
            <a:ext cx="219456" cy="219456"/>
          </a:xfrm>
          <a:prstGeom prst="ellipse">
            <a:avLst/>
          </a:prstGeom>
          <a:solidFill>
            <a:schemeClr val="accent1"/>
          </a:solidFill>
          <a:ln/>
        </p:spPr>
        <p:txBody>
          <a:bodyPr/>
          <a:lstStyle/>
          <a:p>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Good enough for what?</a:t>
            </a:r>
            <a:endParaRPr lang="en-US" sz="3400" dirty="0"/>
          </a:p>
        </p:txBody>
      </p:sp>
      <p:graphicFrame>
        <p:nvGraphicFramePr>
          <p:cNvPr id="8" name="Fit for purpose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02920">
                <a:tc>
                  <a:txBody>
                    <a:bodyPr/>
                    <a:lstStyle/>
                    <a:p>
                      <a:pPr marL="0" indent="0">
                        <a:buNone/>
                      </a:pPr>
                      <a:r>
                        <a:rPr lang="en-US" sz="1300" b="1" dirty="0">
                          <a:solidFill>
                            <a:schemeClr val="bg1"/>
                          </a:solidFill>
                        </a:rPr>
                        <a:t>If your question is…</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…these must be right</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…check them against</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chemeClr val="tx2"/>
                          </a:solidFill>
                        </a:rPr>
                        <a:t>Which carbon sources support growth?</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buNone/>
                      </a:pPr>
                      <a:r>
                        <a:rPr lang="en-US" sz="1300" dirty="0">
                          <a:solidFill>
                            <a:srgbClr val="000000"/>
                          </a:solidFill>
                        </a:rPr>
                        <a:t>transporters and catabolic pathways</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buNone/>
                      </a:pPr>
                      <a:r>
                        <a:rPr lang="en-US" sz="1300" dirty="0">
                          <a:solidFill>
                            <a:srgbClr val="000000"/>
                          </a:solidFill>
                        </a:rPr>
                        <a:t>growth tests, Biolog phenotype arrays</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chemeClr val="tx2"/>
                          </a:solidFill>
                        </a:rPr>
                        <a:t>Which genes are essential?</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buNone/>
                      </a:pPr>
                      <a:r>
                        <a:rPr lang="en-US" sz="1300" dirty="0">
                          <a:solidFill>
                            <a:srgbClr val="000000"/>
                          </a:solidFill>
                        </a:rPr>
                        <a:t>gene–reaction rules, biomass composition</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buNone/>
                      </a:pPr>
                      <a:r>
                        <a:rPr lang="en-US" sz="1300" dirty="0">
                          <a:solidFill>
                            <a:srgbClr val="000000"/>
                          </a:solidFill>
                        </a:rPr>
                        <a:t>knockout collections, Tn-seq</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chemeClr val="tx2"/>
                          </a:solidFill>
                        </a:rPr>
                        <a:t>How much product per glucose?</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buNone/>
                      </a:pPr>
                      <a:r>
                        <a:rPr lang="en-US" sz="1300" dirty="0">
                          <a:solidFill>
                            <a:srgbClr val="000000"/>
                          </a:solidFill>
                        </a:rPr>
                        <a:t>biomass, ATP maintenance, no free-energy cycles</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marL="0" indent="0">
                        <a:buNone/>
                      </a:pPr>
                      <a:r>
                        <a:rPr lang="en-US" sz="1300" dirty="0">
                          <a:solidFill>
                            <a:srgbClr val="000000"/>
                          </a:solidFill>
                        </a:rPr>
                        <a:t>measured yields, chemostat data</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chemeClr val="tx2"/>
                          </a:solidFill>
                        </a:rPr>
                        <a:t>Who feeds whom in a community? (tomorrow)</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buNone/>
                      </a:pPr>
                      <a:r>
                        <a:rPr lang="en-US" sz="1300" dirty="0">
                          <a:solidFill>
                            <a:srgbClr val="000000"/>
                          </a:solidFill>
                        </a:rPr>
                        <a:t>exchange reactions, one shared namespace</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marL="0" indent="0">
                        <a:buNone/>
                      </a:pPr>
                      <a:r>
                        <a:rPr lang="en-US" sz="1300" dirty="0">
                          <a:solidFill>
                            <a:srgbClr val="000000"/>
                          </a:solidFill>
                        </a:rPr>
                        <a:t>co-culture growth, metabolomics</a:t>
                      </a:r>
                      <a:endParaRPr lang="en-US" sz="1300" dirty="0"/>
                    </a:p>
                  </a:txBody>
                  <a:tcPr marT="36576" marB="36576"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 name="Fit message card"/>
          <p:cNvSpPr/>
          <p:nvPr/>
        </p:nvSpPr>
        <p:spPr>
          <a:xfrm>
            <a:off x="457200" y="3840480"/>
            <a:ext cx="8229600" cy="640080"/>
          </a:xfrm>
          <a:prstGeom prst="roundRect">
            <a:avLst>
              <a:gd name="adj" fmla="val 11429"/>
            </a:avLst>
          </a:prstGeom>
          <a:solidFill>
            <a:schemeClr val="tx2"/>
          </a:solidFill>
          <a:ln/>
        </p:spPr>
        <p:txBody>
          <a:bodyPr/>
          <a:lstStyle/>
          <a:p>
            <a:endParaRPr lang="en-GB"/>
          </a:p>
        </p:txBody>
      </p:sp>
      <p:sp>
        <p:nvSpPr>
          <p:cNvPr id="5" name="Fit message"/>
          <p:cNvSpPr txBox="1"/>
          <p:nvPr/>
        </p:nvSpPr>
        <p:spPr>
          <a:xfrm>
            <a:off x="640080" y="3840480"/>
            <a:ext cx="7863840" cy="640080"/>
          </a:xfrm>
          <a:prstGeom prst="rect">
            <a:avLst/>
          </a:prstGeom>
          <a:noFill/>
          <a:ln/>
        </p:spPr>
        <p:txBody>
          <a:bodyPr wrap="square" lIns="0" tIns="0" rIns="0" bIns="0" rtlCol="0" anchor="ctr"/>
          <a:lstStyle/>
          <a:p>
            <a:pPr marL="0" indent="0" algn="ctr">
              <a:buNone/>
            </a:pPr>
            <a:r>
              <a:rPr lang="en-US" sz="1700" b="1" dirty="0">
                <a:solidFill>
                  <a:schemeClr val="bg1"/>
                </a:solidFill>
                <a:latin typeface="+mj-lt" pitchFamily="34" charset="0"/>
                <a:ea typeface="+mj-lt" pitchFamily="34" charset="-122"/>
                <a:cs typeface="+mj-lt" pitchFamily="34" charset="-120"/>
              </a:rPr>
              <a:t>A model is not good or bad. It is good enough, or not, for one question.</a:t>
            </a:r>
            <a:endParaRPr lang="en-US" sz="17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1280160"/>
            <a:ext cx="5669280" cy="1737360"/>
          </a:xfrm>
          <a:prstGeom prst="rect">
            <a:avLst/>
          </a:prstGeom>
          <a:noFill/>
          <a:ln/>
        </p:spPr>
        <p:txBody>
          <a:bodyPr wrap="square" lIns="0" tIns="0" rIns="0" bIns="0" rtlCol="0" anchor="t"/>
          <a:lstStyle/>
          <a:p>
            <a:pPr marL="0" indent="0" algn="l">
              <a:buNone/>
            </a:pPr>
            <a:r>
              <a:rPr lang="en-US" sz="3000" b="1" dirty="0">
                <a:solidFill>
                  <a:schemeClr val="bg1"/>
                </a:solidFill>
              </a:rPr>
              <a:t>A new genome, no curated model, 30 minutes. What do you check first?</a:t>
            </a:r>
            <a:endParaRPr lang="en-US" sz="3000" dirty="0"/>
          </a:p>
        </p:txBody>
      </p:sp>
      <p:sp>
        <p:nvSpPr>
          <p:cNvPr id="4" name="Text 0"/>
          <p:cNvSpPr>
            <a:spLocks noGrp="1"/>
          </p:cNvSpPr>
          <p:nvPr>
            <p:ph type="body" idx="102" hasCustomPrompt="1"/>
          </p:nvPr>
        </p:nvSpPr>
        <p:spPr>
          <a:xfrm>
            <a:off x="548640" y="3154680"/>
            <a:ext cx="5486400" cy="1371600"/>
          </a:xfrm>
          <a:prstGeom prst="rect">
            <a:avLst/>
          </a:prstGeom>
          <a:noFill/>
          <a:ln/>
        </p:spPr>
        <p:txBody>
          <a:bodyPr wrap="square" lIns="0" tIns="0" rIns="0" bIns="0" rtlCol="0" anchor="t"/>
          <a:lstStyle/>
          <a:p>
            <a:pPr marL="0" indent="0">
              <a:buNone/>
            </a:pPr>
            <a:r>
              <a:rPr lang="en-US" sz="1600" dirty="0">
                <a:solidFill>
                  <a:schemeClr val="accent4"/>
                </a:solidFill>
              </a:rPr>
              <a:t>Agree on three checks, in order. Then compare with the next slide.</a:t>
            </a:r>
            <a:endParaRPr lang="en-US" sz="1600" dirty="0"/>
          </a:p>
        </p:txBody>
      </p:sp>
      <p:sp>
        <p:nvSpPr>
          <p:cNvPr id="5" name="Prompt Discuss in pairs · 3 minutes edge AC"/>
          <p:cNvSpPr/>
          <p:nvPr/>
        </p:nvSpPr>
        <p:spPr>
          <a:xfrm>
            <a:off x="6455061" y="1456625"/>
            <a:ext cx="333297" cy="435850"/>
          </a:xfrm>
          <a:prstGeom prst="line">
            <a:avLst/>
          </a:prstGeom>
          <a:noFill/>
          <a:ln w="15875">
            <a:solidFill>
              <a:schemeClr val="accent4"/>
            </a:solidFill>
            <a:prstDash val="solid"/>
            <a:tailEnd type="triangle"/>
          </a:ln>
        </p:spPr>
        <p:txBody>
          <a:bodyPr/>
          <a:lstStyle/>
          <a:p>
            <a:endParaRPr lang="en-GB"/>
          </a:p>
        </p:txBody>
      </p:sp>
      <p:sp>
        <p:nvSpPr>
          <p:cNvPr id="6" name="Prompt Discuss in pairs · 3 minutes edge BD"/>
          <p:cNvSpPr/>
          <p:nvPr/>
        </p:nvSpPr>
        <p:spPr>
          <a:xfrm>
            <a:off x="7598612" y="1235407"/>
            <a:ext cx="530456" cy="500987"/>
          </a:xfrm>
          <a:prstGeom prst="line">
            <a:avLst/>
          </a:prstGeom>
          <a:noFill/>
          <a:ln w="15875">
            <a:solidFill>
              <a:schemeClr val="accent4"/>
            </a:solidFill>
            <a:prstDash val="solid"/>
            <a:tailEnd type="triangle"/>
          </a:ln>
        </p:spPr>
        <p:txBody>
          <a:bodyPr/>
          <a:lstStyle/>
          <a:p>
            <a:endParaRPr lang="en-GB"/>
          </a:p>
        </p:txBody>
      </p:sp>
      <p:sp>
        <p:nvSpPr>
          <p:cNvPr id="7" name="Prompt Discuss in pairs · 3 minutes edge CD"/>
          <p:cNvSpPr/>
          <p:nvPr/>
        </p:nvSpPr>
        <p:spPr>
          <a:xfrm flipV="1">
            <a:off x="7192738" y="1908700"/>
            <a:ext cx="884339" cy="152472"/>
          </a:xfrm>
          <a:prstGeom prst="line">
            <a:avLst/>
          </a:prstGeom>
          <a:noFill/>
          <a:ln w="15875">
            <a:solidFill>
              <a:schemeClr val="accent4"/>
            </a:solidFill>
            <a:prstDash val="solid"/>
            <a:tailEnd type="triangle"/>
          </a:ln>
        </p:spPr>
        <p:txBody>
          <a:bodyPr/>
          <a:lstStyle/>
          <a:p>
            <a:endParaRPr lang="en-GB"/>
          </a:p>
        </p:txBody>
      </p:sp>
      <p:sp>
        <p:nvSpPr>
          <p:cNvPr id="8" name="Prompt Discuss in pairs · 3 minutes edge DE"/>
          <p:cNvSpPr/>
          <p:nvPr/>
        </p:nvSpPr>
        <p:spPr>
          <a:xfrm flipH="1">
            <a:off x="7837092" y="2038093"/>
            <a:ext cx="356442" cy="712884"/>
          </a:xfrm>
          <a:prstGeom prst="line">
            <a:avLst/>
          </a:prstGeom>
          <a:noFill/>
          <a:ln w="15875">
            <a:solidFill>
              <a:schemeClr val="accent4"/>
            </a:solidFill>
            <a:prstDash val="solid"/>
            <a:tailEnd type="triangle"/>
          </a:ln>
        </p:spPr>
        <p:txBody>
          <a:bodyPr/>
          <a:lstStyle/>
          <a:p>
            <a:endParaRPr lang="en-GB"/>
          </a:p>
        </p:txBody>
      </p:sp>
      <p:sp>
        <p:nvSpPr>
          <p:cNvPr id="9" name="Prompt Discuss in pairs · 3 minutes edge CF"/>
          <p:cNvSpPr/>
          <p:nvPr/>
        </p:nvSpPr>
        <p:spPr>
          <a:xfrm flipH="1">
            <a:off x="6529370" y="2325846"/>
            <a:ext cx="313549" cy="655602"/>
          </a:xfrm>
          <a:prstGeom prst="line">
            <a:avLst/>
          </a:prstGeom>
          <a:noFill/>
          <a:ln w="15875">
            <a:solidFill>
              <a:schemeClr val="accent4"/>
            </a:solidFill>
            <a:prstDash val="solid"/>
            <a:tailEnd type="triangle"/>
          </a:ln>
        </p:spPr>
        <p:txBody>
          <a:bodyPr/>
          <a:lstStyle/>
          <a:p>
            <a:endParaRPr lang="en-GB"/>
          </a:p>
        </p:txBody>
      </p:sp>
      <p:sp>
        <p:nvSpPr>
          <p:cNvPr id="10" name="Prompt Discuss in pairs · 3 minutes edge FH"/>
          <p:cNvSpPr/>
          <p:nvPr/>
        </p:nvSpPr>
        <p:spPr>
          <a:xfrm>
            <a:off x="6561467" y="3284954"/>
            <a:ext cx="455905" cy="516692"/>
          </a:xfrm>
          <a:prstGeom prst="line">
            <a:avLst/>
          </a:prstGeom>
          <a:noFill/>
          <a:ln w="15875">
            <a:solidFill>
              <a:schemeClr val="accent4"/>
            </a:solidFill>
            <a:prstDash val="solid"/>
            <a:tailEnd type="triangle"/>
          </a:ln>
        </p:spPr>
        <p:txBody>
          <a:bodyPr/>
          <a:lstStyle/>
          <a:p>
            <a:endParaRPr lang="en-GB"/>
          </a:p>
        </p:txBody>
      </p:sp>
      <p:sp>
        <p:nvSpPr>
          <p:cNvPr id="11" name="Prompt Discuss in pairs · 3 minutes edge EH"/>
          <p:cNvSpPr/>
          <p:nvPr/>
        </p:nvSpPr>
        <p:spPr>
          <a:xfrm flipH="1">
            <a:off x="7223767" y="3166171"/>
            <a:ext cx="382589" cy="618028"/>
          </a:xfrm>
          <a:prstGeom prst="line">
            <a:avLst/>
          </a:prstGeom>
          <a:noFill/>
          <a:ln w="15875">
            <a:solidFill>
              <a:schemeClr val="accent4"/>
            </a:solidFill>
            <a:prstDash val="solid"/>
            <a:tailEnd type="triangle"/>
          </a:ln>
        </p:spPr>
        <p:txBody>
          <a:bodyPr/>
          <a:lstStyle/>
          <a:p>
            <a:endParaRPr lang="en-GB"/>
          </a:p>
        </p:txBody>
      </p:sp>
      <p:sp>
        <p:nvSpPr>
          <p:cNvPr id="12" name="Prompt Discuss in pairs · 3 minutes edge DG"/>
          <p:cNvSpPr/>
          <p:nvPr/>
        </p:nvSpPr>
        <p:spPr>
          <a:xfrm>
            <a:off x="8307102" y="2054617"/>
            <a:ext cx="202811" cy="1149261"/>
          </a:xfrm>
          <a:prstGeom prst="line">
            <a:avLst/>
          </a:prstGeom>
          <a:noFill/>
          <a:ln w="15875">
            <a:solidFill>
              <a:schemeClr val="accent4"/>
            </a:solidFill>
            <a:prstDash val="solid"/>
            <a:tailEnd type="triangle"/>
          </a:ln>
        </p:spPr>
        <p:txBody>
          <a:bodyPr/>
          <a:lstStyle/>
          <a:p>
            <a:endParaRPr lang="en-GB"/>
          </a:p>
        </p:txBody>
      </p:sp>
      <p:sp>
        <p:nvSpPr>
          <p:cNvPr id="13" name="Prompt Discuss in pairs · 3 minutes flux BC"/>
          <p:cNvSpPr/>
          <p:nvPr/>
        </p:nvSpPr>
        <p:spPr>
          <a:xfrm flipH="1">
            <a:off x="7068030" y="1277210"/>
            <a:ext cx="294365" cy="588729"/>
          </a:xfrm>
          <a:prstGeom prst="line">
            <a:avLst/>
          </a:prstGeom>
          <a:noFill/>
          <a:ln w="31750">
            <a:solidFill>
              <a:schemeClr val="accent2"/>
            </a:solidFill>
            <a:prstDash val="solid"/>
            <a:tailEnd type="triangle"/>
          </a:ln>
        </p:spPr>
        <p:txBody>
          <a:bodyPr/>
          <a:lstStyle/>
          <a:p>
            <a:endParaRPr lang="en-GB"/>
          </a:p>
        </p:txBody>
      </p:sp>
      <p:sp>
        <p:nvSpPr>
          <p:cNvPr id="14" name="Prompt Discuss in pairs · 3 minutes flux CE"/>
          <p:cNvSpPr/>
          <p:nvPr/>
        </p:nvSpPr>
        <p:spPr>
          <a:xfrm>
            <a:off x="7114064" y="2287111"/>
            <a:ext cx="447993" cy="500698"/>
          </a:xfrm>
          <a:prstGeom prst="line">
            <a:avLst/>
          </a:prstGeom>
          <a:noFill/>
          <a:ln w="31750">
            <a:solidFill>
              <a:schemeClr val="accent2"/>
            </a:solidFill>
            <a:prstDash val="solid"/>
            <a:tailEnd type="triangle"/>
          </a:ln>
        </p:spPr>
        <p:txBody>
          <a:bodyPr/>
          <a:lstStyle/>
          <a:p>
            <a:endParaRPr lang="en-GB"/>
          </a:p>
        </p:txBody>
      </p:sp>
      <p:sp>
        <p:nvSpPr>
          <p:cNvPr id="15" name="Prompt Discuss in pairs · 3 minutes flux EG"/>
          <p:cNvSpPr/>
          <p:nvPr/>
        </p:nvSpPr>
        <p:spPr>
          <a:xfrm>
            <a:off x="7926512" y="3082818"/>
            <a:ext cx="423295" cy="235164"/>
          </a:xfrm>
          <a:prstGeom prst="line">
            <a:avLst/>
          </a:prstGeom>
          <a:noFill/>
          <a:ln w="31750">
            <a:solidFill>
              <a:schemeClr val="accent2"/>
            </a:solidFill>
            <a:prstDash val="solid"/>
            <a:tailEnd type="triangle"/>
          </a:ln>
        </p:spPr>
        <p:txBody>
          <a:bodyPr/>
          <a:lstStyle/>
          <a:p>
            <a:endParaRPr lang="en-GB"/>
          </a:p>
        </p:txBody>
      </p:sp>
      <p:sp>
        <p:nvSpPr>
          <p:cNvPr id="16" name="Prompt Discuss in pairs · 3 minutes node A"/>
          <p:cNvSpPr/>
          <p:nvPr/>
        </p:nvSpPr>
        <p:spPr>
          <a:xfrm>
            <a:off x="6236208" y="1207008"/>
            <a:ext cx="237744" cy="237744"/>
          </a:xfrm>
          <a:prstGeom prst="ellipse">
            <a:avLst/>
          </a:prstGeom>
          <a:solidFill>
            <a:schemeClr val="accent1"/>
          </a:solidFill>
          <a:ln/>
        </p:spPr>
        <p:txBody>
          <a:bodyPr/>
          <a:lstStyle/>
          <a:p>
            <a:endParaRPr lang="en-GB"/>
          </a:p>
        </p:txBody>
      </p:sp>
      <p:sp>
        <p:nvSpPr>
          <p:cNvPr id="17" name="Prompt Discuss in pairs · 3 minutes node B"/>
          <p:cNvSpPr/>
          <p:nvPr/>
        </p:nvSpPr>
        <p:spPr>
          <a:xfrm>
            <a:off x="7296912" y="941832"/>
            <a:ext cx="310896" cy="310896"/>
          </a:xfrm>
          <a:prstGeom prst="ellipse">
            <a:avLst/>
          </a:prstGeom>
          <a:solidFill>
            <a:schemeClr val="accent2"/>
          </a:solidFill>
          <a:ln/>
        </p:spPr>
        <p:txBody>
          <a:bodyPr/>
          <a:lstStyle/>
          <a:p>
            <a:endParaRPr lang="en-GB"/>
          </a:p>
        </p:txBody>
      </p:sp>
      <p:sp>
        <p:nvSpPr>
          <p:cNvPr id="18" name="Prompt Discuss in pairs · 3 minutes node C"/>
          <p:cNvSpPr/>
          <p:nvPr/>
        </p:nvSpPr>
        <p:spPr>
          <a:xfrm>
            <a:off x="6748272" y="1901952"/>
            <a:ext cx="402336" cy="402336"/>
          </a:xfrm>
          <a:prstGeom prst="ellipse">
            <a:avLst/>
          </a:prstGeom>
          <a:solidFill>
            <a:schemeClr val="accent2"/>
          </a:solidFill>
          <a:ln/>
        </p:spPr>
        <p:txBody>
          <a:bodyPr/>
          <a:lstStyle/>
          <a:p>
            <a:endParaRPr lang="en-GB"/>
          </a:p>
        </p:txBody>
      </p:sp>
      <p:sp>
        <p:nvSpPr>
          <p:cNvPr id="19" name="Prompt Discuss in pairs · 3 minutes node D"/>
          <p:cNvSpPr/>
          <p:nvPr/>
        </p:nvSpPr>
        <p:spPr>
          <a:xfrm>
            <a:off x="8138160" y="1737360"/>
            <a:ext cx="274320" cy="274320"/>
          </a:xfrm>
          <a:prstGeom prst="ellipse">
            <a:avLst/>
          </a:prstGeom>
          <a:solidFill>
            <a:schemeClr val="accent1"/>
          </a:solidFill>
          <a:ln/>
        </p:spPr>
        <p:txBody>
          <a:bodyPr/>
          <a:lstStyle/>
          <a:p>
            <a:endParaRPr lang="en-GB"/>
          </a:p>
        </p:txBody>
      </p:sp>
      <p:sp>
        <p:nvSpPr>
          <p:cNvPr id="20" name="Prompt Discuss in pairs · 3 minutes node E"/>
          <p:cNvSpPr/>
          <p:nvPr/>
        </p:nvSpPr>
        <p:spPr>
          <a:xfrm>
            <a:off x="7543800" y="2788920"/>
            <a:ext cx="365760" cy="365760"/>
          </a:xfrm>
          <a:prstGeom prst="ellipse">
            <a:avLst/>
          </a:prstGeom>
          <a:solidFill>
            <a:schemeClr val="accent2"/>
          </a:solidFill>
          <a:ln/>
        </p:spPr>
        <p:txBody>
          <a:bodyPr/>
          <a:lstStyle/>
          <a:p>
            <a:endParaRPr lang="en-GB"/>
          </a:p>
        </p:txBody>
      </p:sp>
      <p:sp>
        <p:nvSpPr>
          <p:cNvPr id="21" name="Prompt Discuss in pairs · 3 minutes node F"/>
          <p:cNvSpPr/>
          <p:nvPr/>
        </p:nvSpPr>
        <p:spPr>
          <a:xfrm>
            <a:off x="6318504" y="3026664"/>
            <a:ext cx="256032" cy="256032"/>
          </a:xfrm>
          <a:prstGeom prst="ellipse">
            <a:avLst/>
          </a:prstGeom>
          <a:solidFill>
            <a:schemeClr val="accent1"/>
          </a:solidFill>
          <a:ln/>
        </p:spPr>
        <p:txBody>
          <a:bodyPr/>
          <a:lstStyle/>
          <a:p>
            <a:endParaRPr lang="en-GB"/>
          </a:p>
        </p:txBody>
      </p:sp>
      <p:sp>
        <p:nvSpPr>
          <p:cNvPr id="22" name="Prompt Discuss in pairs · 3 minutes node G"/>
          <p:cNvSpPr/>
          <p:nvPr/>
        </p:nvSpPr>
        <p:spPr>
          <a:xfrm>
            <a:off x="8385048" y="3264408"/>
            <a:ext cx="329184" cy="329184"/>
          </a:xfrm>
          <a:prstGeom prst="ellipse">
            <a:avLst/>
          </a:prstGeom>
          <a:solidFill>
            <a:schemeClr val="accent2"/>
          </a:solidFill>
          <a:ln/>
        </p:spPr>
        <p:txBody>
          <a:bodyPr/>
          <a:lstStyle/>
          <a:p>
            <a:endParaRPr lang="en-GB"/>
          </a:p>
        </p:txBody>
      </p:sp>
      <p:sp>
        <p:nvSpPr>
          <p:cNvPr id="23" name="Prompt Discuss in pairs · 3 minutes node H"/>
          <p:cNvSpPr/>
          <p:nvPr/>
        </p:nvSpPr>
        <p:spPr>
          <a:xfrm>
            <a:off x="7022592" y="3822192"/>
            <a:ext cx="219456" cy="219456"/>
          </a:xfrm>
          <a:prstGeom prst="ellipse">
            <a:avLst/>
          </a:prstGeom>
          <a:solidFill>
            <a:schemeClr val="accent1"/>
          </a:solidFill>
          <a:ln/>
        </p:spPr>
        <p:txBody>
          <a:bodyPr/>
          <a:lstStyle/>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8229600" cy="685800"/>
          </a:xfrm>
          <a:prstGeom prst="rect">
            <a:avLst/>
          </a:prstGeom>
          <a:noFill/>
          <a:ln/>
        </p:spPr>
        <p:txBody>
          <a:bodyPr wrap="square" lIns="0" tIns="0" rIns="0" bIns="0" rtlCol="0" anchor="ctr"/>
          <a:lstStyle/>
          <a:p>
            <a:pPr marL="0" indent="0" algn="l">
              <a:buNone/>
            </a:pPr>
            <a:r>
              <a:rPr lang="en-US" sz="3400" b="1" dirty="0">
                <a:solidFill>
                  <a:schemeClr val="tx2"/>
                </a:solidFill>
              </a:rPr>
              <a:t>A 30-minute check for any draft</a:t>
            </a:r>
            <a:endParaRPr lang="en-US" sz="3400" dirty="0"/>
          </a:p>
        </p:txBody>
      </p:sp>
      <p:sp>
        <p:nvSpPr>
          <p:cNvPr id="3" name="Check link 1"/>
          <p:cNvSpPr/>
          <p:nvPr/>
        </p:nvSpPr>
        <p:spPr>
          <a:xfrm>
            <a:off x="649224" y="1591056"/>
            <a:ext cx="0" cy="237744"/>
          </a:xfrm>
          <a:prstGeom prst="line">
            <a:avLst/>
          </a:prstGeom>
          <a:noFill/>
          <a:ln w="19050">
            <a:solidFill>
              <a:schemeClr val="accent4"/>
            </a:solidFill>
            <a:prstDash val="solid"/>
          </a:ln>
        </p:spPr>
        <p:txBody>
          <a:bodyPr/>
          <a:lstStyle/>
          <a:p>
            <a:endParaRPr lang="en-GB"/>
          </a:p>
        </p:txBody>
      </p:sp>
      <p:sp>
        <p:nvSpPr>
          <p:cNvPr id="4" name="Check step 1 node"/>
          <p:cNvSpPr/>
          <p:nvPr/>
        </p:nvSpPr>
        <p:spPr>
          <a:xfrm>
            <a:off x="457200" y="1188720"/>
            <a:ext cx="384048" cy="384048"/>
          </a:xfrm>
          <a:prstGeom prst="ellipse">
            <a:avLst/>
          </a:prstGeom>
          <a:solidFill>
            <a:schemeClr val="accent1"/>
          </a:solidFill>
          <a:ln/>
        </p:spPr>
        <p:txBody>
          <a:bodyPr/>
          <a:lstStyle/>
          <a:p>
            <a:endParaRPr lang="en-GB"/>
          </a:p>
        </p:txBody>
      </p:sp>
      <p:sp>
        <p:nvSpPr>
          <p:cNvPr id="5" name="Check step 1 number"/>
          <p:cNvSpPr txBox="1"/>
          <p:nvPr/>
        </p:nvSpPr>
        <p:spPr>
          <a:xfrm>
            <a:off x="457200" y="118872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Check step 1 text"/>
          <p:cNvSpPr txBox="1"/>
          <p:nvPr/>
        </p:nvSpPr>
        <p:spPr>
          <a:xfrm>
            <a:off x="1024128" y="1170432"/>
            <a:ext cx="4279392" cy="612648"/>
          </a:xfrm>
          <a:prstGeom prst="rect">
            <a:avLst/>
          </a:prstGeom>
          <a:noFill/>
          <a:ln/>
        </p:spPr>
        <p:txBody>
          <a:bodyPr wrap="square" lIns="0" tIns="0" rIns="0" bIns="0" rtlCol="0" anchor="t"/>
          <a:lstStyle/>
          <a:p>
            <a:pPr marL="0" indent="0">
              <a:buNone/>
            </a:pPr>
            <a:r>
              <a:rPr lang="en-US" sz="1400" dirty="0">
                <a:solidFill>
                  <a:schemeClr val="tx1"/>
                </a:solidFill>
              </a:rPr>
              <a:t>Grows on the media it should, and not on those it shouldn't?</a:t>
            </a:r>
            <a:endParaRPr lang="en-US" sz="1400" dirty="0"/>
          </a:p>
        </p:txBody>
      </p:sp>
      <p:sp>
        <p:nvSpPr>
          <p:cNvPr id="7" name="Check link 2"/>
          <p:cNvSpPr/>
          <p:nvPr/>
        </p:nvSpPr>
        <p:spPr>
          <a:xfrm>
            <a:off x="649224" y="2249424"/>
            <a:ext cx="0" cy="237744"/>
          </a:xfrm>
          <a:prstGeom prst="line">
            <a:avLst/>
          </a:prstGeom>
          <a:noFill/>
          <a:ln w="19050">
            <a:solidFill>
              <a:schemeClr val="accent4"/>
            </a:solidFill>
            <a:prstDash val="solid"/>
          </a:ln>
        </p:spPr>
        <p:txBody>
          <a:bodyPr/>
          <a:lstStyle/>
          <a:p>
            <a:endParaRPr lang="en-GB"/>
          </a:p>
        </p:txBody>
      </p:sp>
      <p:sp>
        <p:nvSpPr>
          <p:cNvPr id="8" name="Check step 2 node"/>
          <p:cNvSpPr/>
          <p:nvPr/>
        </p:nvSpPr>
        <p:spPr>
          <a:xfrm>
            <a:off x="457200" y="1847088"/>
            <a:ext cx="384048" cy="384048"/>
          </a:xfrm>
          <a:prstGeom prst="ellipse">
            <a:avLst/>
          </a:prstGeom>
          <a:solidFill>
            <a:schemeClr val="accent1"/>
          </a:solidFill>
          <a:ln/>
        </p:spPr>
        <p:txBody>
          <a:bodyPr/>
          <a:lstStyle/>
          <a:p>
            <a:endParaRPr lang="en-GB"/>
          </a:p>
        </p:txBody>
      </p:sp>
      <p:sp>
        <p:nvSpPr>
          <p:cNvPr id="9" name="Check step 2 number"/>
          <p:cNvSpPr txBox="1"/>
          <p:nvPr/>
        </p:nvSpPr>
        <p:spPr>
          <a:xfrm>
            <a:off x="457200" y="184708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Check step 2 text"/>
          <p:cNvSpPr txBox="1"/>
          <p:nvPr/>
        </p:nvSpPr>
        <p:spPr>
          <a:xfrm>
            <a:off x="1024128" y="1828800"/>
            <a:ext cx="4279392" cy="612648"/>
          </a:xfrm>
          <a:prstGeom prst="rect">
            <a:avLst/>
          </a:prstGeom>
          <a:noFill/>
          <a:ln/>
        </p:spPr>
        <p:txBody>
          <a:bodyPr wrap="square" lIns="0" tIns="0" rIns="0" bIns="0" rtlCol="0" anchor="t"/>
          <a:lstStyle/>
          <a:p>
            <a:pPr marL="0" indent="0">
              <a:buNone/>
            </a:pPr>
            <a:r>
              <a:rPr lang="en-US" sz="1400" dirty="0">
                <a:solidFill>
                  <a:schemeClr val="tx1"/>
                </a:solidFill>
              </a:rPr>
              <a:t>Close every input: any ATP from nothing? It must be zero</a:t>
            </a:r>
            <a:endParaRPr lang="en-US" sz="1400" dirty="0"/>
          </a:p>
        </p:txBody>
      </p:sp>
      <p:sp>
        <p:nvSpPr>
          <p:cNvPr id="11" name="Check link 3"/>
          <p:cNvSpPr/>
          <p:nvPr/>
        </p:nvSpPr>
        <p:spPr>
          <a:xfrm>
            <a:off x="649224" y="2907792"/>
            <a:ext cx="0" cy="237744"/>
          </a:xfrm>
          <a:prstGeom prst="line">
            <a:avLst/>
          </a:prstGeom>
          <a:noFill/>
          <a:ln w="19050">
            <a:solidFill>
              <a:schemeClr val="accent4"/>
            </a:solidFill>
            <a:prstDash val="solid"/>
          </a:ln>
        </p:spPr>
        <p:txBody>
          <a:bodyPr/>
          <a:lstStyle/>
          <a:p>
            <a:endParaRPr lang="en-GB"/>
          </a:p>
        </p:txBody>
      </p:sp>
      <p:sp>
        <p:nvSpPr>
          <p:cNvPr id="12" name="Check step 3 node"/>
          <p:cNvSpPr/>
          <p:nvPr/>
        </p:nvSpPr>
        <p:spPr>
          <a:xfrm>
            <a:off x="457200" y="2505456"/>
            <a:ext cx="384048" cy="384048"/>
          </a:xfrm>
          <a:prstGeom prst="ellipse">
            <a:avLst/>
          </a:prstGeom>
          <a:solidFill>
            <a:schemeClr val="accent1"/>
          </a:solidFill>
          <a:ln/>
        </p:spPr>
        <p:txBody>
          <a:bodyPr/>
          <a:lstStyle/>
          <a:p>
            <a:endParaRPr lang="en-GB"/>
          </a:p>
        </p:txBody>
      </p:sp>
      <p:sp>
        <p:nvSpPr>
          <p:cNvPr id="13" name="Check step 3 number"/>
          <p:cNvSpPr txBox="1"/>
          <p:nvPr/>
        </p:nvSpPr>
        <p:spPr>
          <a:xfrm>
            <a:off x="457200" y="250545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Check step 3 text"/>
          <p:cNvSpPr txBox="1"/>
          <p:nvPr/>
        </p:nvSpPr>
        <p:spPr>
          <a:xfrm>
            <a:off x="1024128" y="2487168"/>
            <a:ext cx="4279392" cy="612648"/>
          </a:xfrm>
          <a:prstGeom prst="rect">
            <a:avLst/>
          </a:prstGeom>
          <a:noFill/>
          <a:ln/>
        </p:spPr>
        <p:txBody>
          <a:bodyPr wrap="square" lIns="0" tIns="0" rIns="0" bIns="0" rtlCol="0" anchor="t"/>
          <a:lstStyle/>
          <a:p>
            <a:pPr marL="0" indent="0">
              <a:buNone/>
            </a:pPr>
            <a:r>
              <a:rPr lang="en-US" sz="1400" dirty="0">
                <a:solidFill>
                  <a:schemeClr val="tx1"/>
                </a:solidFill>
              </a:rPr>
              <a:t>Read the gap-filled reactions: real biology, or a patch?</a:t>
            </a:r>
            <a:endParaRPr lang="en-US" sz="1400" dirty="0"/>
          </a:p>
        </p:txBody>
      </p:sp>
      <p:sp>
        <p:nvSpPr>
          <p:cNvPr id="15" name="Check link 4"/>
          <p:cNvSpPr/>
          <p:nvPr/>
        </p:nvSpPr>
        <p:spPr>
          <a:xfrm>
            <a:off x="649224" y="3566160"/>
            <a:ext cx="0" cy="237744"/>
          </a:xfrm>
          <a:prstGeom prst="line">
            <a:avLst/>
          </a:prstGeom>
          <a:noFill/>
          <a:ln w="19050">
            <a:solidFill>
              <a:schemeClr val="accent4"/>
            </a:solidFill>
            <a:prstDash val="solid"/>
          </a:ln>
        </p:spPr>
        <p:txBody>
          <a:bodyPr/>
          <a:lstStyle/>
          <a:p>
            <a:endParaRPr lang="en-GB"/>
          </a:p>
        </p:txBody>
      </p:sp>
      <p:sp>
        <p:nvSpPr>
          <p:cNvPr id="16" name="Check step 4 node"/>
          <p:cNvSpPr/>
          <p:nvPr/>
        </p:nvSpPr>
        <p:spPr>
          <a:xfrm>
            <a:off x="457200" y="3163824"/>
            <a:ext cx="384048" cy="384048"/>
          </a:xfrm>
          <a:prstGeom prst="ellipse">
            <a:avLst/>
          </a:prstGeom>
          <a:solidFill>
            <a:schemeClr val="accent1"/>
          </a:solidFill>
          <a:ln/>
        </p:spPr>
        <p:txBody>
          <a:bodyPr/>
          <a:lstStyle/>
          <a:p>
            <a:endParaRPr lang="en-GB"/>
          </a:p>
        </p:txBody>
      </p:sp>
      <p:sp>
        <p:nvSpPr>
          <p:cNvPr id="17" name="Check step 4 number"/>
          <p:cNvSpPr txBox="1"/>
          <p:nvPr/>
        </p:nvSpPr>
        <p:spPr>
          <a:xfrm>
            <a:off x="457200" y="316382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8" name="Check step 4 text"/>
          <p:cNvSpPr txBox="1"/>
          <p:nvPr/>
        </p:nvSpPr>
        <p:spPr>
          <a:xfrm>
            <a:off x="1024128" y="3145536"/>
            <a:ext cx="4279392" cy="612648"/>
          </a:xfrm>
          <a:prstGeom prst="rect">
            <a:avLst/>
          </a:prstGeom>
          <a:noFill/>
          <a:ln/>
        </p:spPr>
        <p:txBody>
          <a:bodyPr wrap="square" lIns="0" tIns="0" rIns="0" bIns="0" rtlCol="0" anchor="t"/>
          <a:lstStyle/>
          <a:p>
            <a:pPr marL="0" indent="0">
              <a:buNone/>
            </a:pPr>
            <a:r>
              <a:rPr lang="en-US" sz="1400" dirty="0">
                <a:solidFill>
                  <a:schemeClr val="tx1"/>
                </a:solidFill>
              </a:rPr>
              <a:t>Run MEMOTE and read the report, not just the score</a:t>
            </a:r>
            <a:endParaRPr lang="en-US" sz="1400" dirty="0"/>
          </a:p>
        </p:txBody>
      </p:sp>
      <p:sp>
        <p:nvSpPr>
          <p:cNvPr id="19" name="Check step 5 node"/>
          <p:cNvSpPr/>
          <p:nvPr/>
        </p:nvSpPr>
        <p:spPr>
          <a:xfrm>
            <a:off x="457200" y="3822192"/>
            <a:ext cx="384048" cy="384048"/>
          </a:xfrm>
          <a:prstGeom prst="ellipse">
            <a:avLst/>
          </a:prstGeom>
          <a:solidFill>
            <a:schemeClr val="accent1"/>
          </a:solidFill>
          <a:ln/>
        </p:spPr>
        <p:txBody>
          <a:bodyPr/>
          <a:lstStyle/>
          <a:p>
            <a:endParaRPr lang="en-GB"/>
          </a:p>
        </p:txBody>
      </p:sp>
      <p:sp>
        <p:nvSpPr>
          <p:cNvPr id="20" name="Check step 5 number"/>
          <p:cNvSpPr txBox="1"/>
          <p:nvPr/>
        </p:nvSpPr>
        <p:spPr>
          <a:xfrm>
            <a:off x="457200" y="38221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1" name="Check step 5 text"/>
          <p:cNvSpPr txBox="1"/>
          <p:nvPr/>
        </p:nvSpPr>
        <p:spPr>
          <a:xfrm>
            <a:off x="1024128" y="3803904"/>
            <a:ext cx="4279392" cy="612648"/>
          </a:xfrm>
          <a:prstGeom prst="rect">
            <a:avLst/>
          </a:prstGeom>
          <a:noFill/>
          <a:ln/>
        </p:spPr>
        <p:txBody>
          <a:bodyPr wrap="square" lIns="0" tIns="0" rIns="0" bIns="0" rtlCol="0" anchor="t"/>
          <a:lstStyle/>
          <a:p>
            <a:pPr marL="0" indent="0">
              <a:buNone/>
            </a:pPr>
            <a:r>
              <a:rPr lang="en-US" sz="1400" dirty="0">
                <a:solidFill>
                  <a:schemeClr val="tx1"/>
                </a:solidFill>
              </a:rPr>
              <a:t>Compare with any data you trust: growth, essential genes, yields</a:t>
            </a:r>
            <a:endParaRPr lang="en-US" sz="1400" dirty="0"/>
          </a:p>
        </p:txBody>
      </p:sp>
      <p:sp>
        <p:nvSpPr>
          <p:cNvPr id="22" name="Tomorrow card"/>
          <p:cNvSpPr/>
          <p:nvPr/>
        </p:nvSpPr>
        <p:spPr>
          <a:xfrm>
            <a:off x="5577840" y="1188720"/>
            <a:ext cx="3108960" cy="3291840"/>
          </a:xfrm>
          <a:prstGeom prst="roundRect">
            <a:avLst>
              <a:gd name="adj" fmla="val 2353"/>
            </a:avLst>
          </a:prstGeom>
          <a:solidFill>
            <a:schemeClr val="bg2"/>
          </a:solidFill>
          <a:ln/>
        </p:spPr>
        <p:txBody>
          <a:bodyPr/>
          <a:lstStyle/>
          <a:p>
            <a:endParaRPr lang="en-GB"/>
          </a:p>
        </p:txBody>
      </p:sp>
      <p:sp>
        <p:nvSpPr>
          <p:cNvPr id="23" name="Tomorrow node"/>
          <p:cNvSpPr/>
          <p:nvPr/>
        </p:nvSpPr>
        <p:spPr>
          <a:xfrm>
            <a:off x="5760720" y="1325880"/>
            <a:ext cx="457200" cy="457200"/>
          </a:xfrm>
          <a:prstGeom prst="ellipse">
            <a:avLst/>
          </a:prstGeom>
          <a:solidFill>
            <a:schemeClr val="accent1"/>
          </a:solidFill>
          <a:ln/>
        </p:spPr>
        <p:txBody>
          <a:bodyPr/>
          <a:lstStyle/>
          <a:p>
            <a:endParaRPr lang="en-GB"/>
          </a:p>
        </p:txBody>
      </p:sp>
      <p:pic>
        <p:nvPicPr>
          <p:cNvPr id="24" name="Tomorrow icon" descr="preencoded.png"/>
          <p:cNvPicPr>
            <a:picLocks noChangeAspect="1"/>
          </p:cNvPicPr>
          <p:nvPr/>
        </p:nvPicPr>
        <p:blipFill>
          <a:blip r:embed="rId3"/>
          <a:stretch>
            <a:fillRect/>
          </a:stretch>
        </p:blipFill>
        <p:spPr>
          <a:xfrm>
            <a:off x="5875020" y="1440180"/>
            <a:ext cx="228600" cy="228600"/>
          </a:xfrm>
          <a:prstGeom prst="rect">
            <a:avLst/>
          </a:prstGeom>
        </p:spPr>
      </p:pic>
      <p:sp>
        <p:nvSpPr>
          <p:cNvPr id="25" name="Tomorrow heading"/>
          <p:cNvSpPr txBox="1"/>
          <p:nvPr/>
        </p:nvSpPr>
        <p:spPr>
          <a:xfrm>
            <a:off x="6355080" y="1325880"/>
            <a:ext cx="2194560" cy="457200"/>
          </a:xfrm>
          <a:prstGeom prst="rect">
            <a:avLst/>
          </a:prstGeom>
          <a:noFill/>
          <a:ln/>
        </p:spPr>
        <p:txBody>
          <a:bodyPr wrap="square" lIns="0" tIns="0" rIns="0" bIns="0" rtlCol="0" anchor="ctr"/>
          <a:lstStyle/>
          <a:p>
            <a:pPr marL="0" indent="0">
              <a:buNone/>
            </a:pPr>
            <a:r>
              <a:rPr lang="en-US" sz="1600" b="1" dirty="0">
                <a:solidFill>
                  <a:schemeClr val="tx2"/>
                </a:solidFill>
              </a:rPr>
              <a:t>Tomorrow</a:t>
            </a:r>
            <a:endParaRPr lang="en-US" sz="1600" dirty="0"/>
          </a:p>
        </p:txBody>
      </p:sp>
      <p:sp>
        <p:nvSpPr>
          <p:cNvPr id="26" name="Tomorrow list"/>
          <p:cNvSpPr txBox="1"/>
          <p:nvPr/>
        </p:nvSpPr>
        <p:spPr>
          <a:xfrm>
            <a:off x="5760720" y="1920240"/>
            <a:ext cx="2788920" cy="18288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Curated models at work: pFBA, FVA, robustness</a:t>
            </a:r>
            <a:endParaRPr lang="en-US" sz="1300" dirty="0"/>
          </a:p>
          <a:p>
            <a:pPr marL="177800" indent="-177800">
              <a:spcAft>
                <a:spcPts val="400"/>
              </a:spcAft>
              <a:buSzPct val="100000"/>
              <a:buChar char="•"/>
            </a:pPr>
            <a:r>
              <a:rPr lang="en-US" sz="1300" dirty="0">
                <a:solidFill>
                  <a:schemeClr val="tx1"/>
                </a:solidFill>
              </a:rPr>
              <a:t>Essential genes and strain design</a:t>
            </a:r>
            <a:endParaRPr lang="en-US" sz="1300" dirty="0"/>
          </a:p>
          <a:p>
            <a:pPr marL="177800" indent="-177800">
              <a:spcAft>
                <a:spcPts val="400"/>
              </a:spcAft>
              <a:buSzPct val="100000"/>
              <a:buChar char="•"/>
            </a:pPr>
            <a:r>
              <a:rPr lang="en-US" sz="1300" dirty="0">
                <a:solidFill>
                  <a:schemeClr val="tx1"/>
                </a:solidFill>
              </a:rPr>
              <a:t>Omics integration</a:t>
            </a:r>
            <a:endParaRPr lang="en-US" sz="1300" dirty="0"/>
          </a:p>
          <a:p>
            <a:pPr marL="177800" indent="-177800">
              <a:spcAft>
                <a:spcPts val="400"/>
              </a:spcAft>
              <a:buSzPct val="100000"/>
              <a:buChar char="•"/>
            </a:pPr>
            <a:r>
              <a:rPr lang="en-US" sz="1300" dirty="0">
                <a:solidFill>
                  <a:schemeClr val="tx1"/>
                </a:solidFill>
              </a:rPr>
              <a:t>Communities with COMETS</a:t>
            </a:r>
            <a:endParaRPr lang="en-US" sz="1300" dirty="0"/>
          </a:p>
        </p:txBody>
      </p:sp>
      <p:sp>
        <p:nvSpPr>
          <p:cNvPr id="27" name="Standards ref"/>
          <p:cNvSpPr txBox="1"/>
          <p:nvPr/>
        </p:nvSpPr>
        <p:spPr>
          <a:xfrm>
            <a:off x="5760720" y="3794760"/>
            <a:ext cx="2788920" cy="594360"/>
          </a:xfrm>
          <a:prstGeom prst="rect">
            <a:avLst/>
          </a:prstGeom>
          <a:noFill/>
          <a:ln/>
        </p:spPr>
        <p:txBody>
          <a:bodyPr wrap="square" lIns="0" tIns="0" rIns="0" bIns="0" rtlCol="0" anchor="t"/>
          <a:lstStyle/>
          <a:p>
            <a:pPr marL="0" indent="0">
              <a:buNone/>
            </a:pPr>
            <a:r>
              <a:rPr lang="en-US" sz="1000" dirty="0">
                <a:solidFill>
                  <a:schemeClr val="accent3"/>
                </a:solidFill>
              </a:rPr>
              <a:t>Carey et al., Mol. Syst. Biol. 2020: community standards for model quality</a:t>
            </a:r>
            <a:endParaRPr lang="en-US" sz="1000" dirty="0"/>
          </a:p>
        </p:txBody>
      </p:sp>
      <p:sp>
        <p:nvSpPr>
          <p:cNvPr id="28"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097280"/>
            <a:ext cx="5394960" cy="365760"/>
          </a:xfrm>
          <a:prstGeom prst="rect">
            <a:avLst/>
          </a:prstGeom>
          <a:noFill/>
          <a:ln/>
        </p:spPr>
        <p:txBody>
          <a:bodyPr wrap="square" lIns="0" tIns="0" rIns="0" bIns="0" rtlCol="0" anchor="ctr"/>
          <a:lstStyle/>
          <a:p>
            <a:pPr marL="0" indent="0">
              <a:buNone/>
            </a:pPr>
            <a:r>
              <a:rPr lang="en-US" sz="1400" b="1" dirty="0">
                <a:solidFill>
                  <a:schemeClr val="accent2"/>
                </a:solidFill>
              </a:rPr>
              <a:t>Take home</a:t>
            </a:r>
            <a:endParaRPr lang="en-US" sz="1400" dirty="0"/>
          </a:p>
        </p:txBody>
      </p:sp>
      <p:sp>
        <p:nvSpPr>
          <p:cNvPr id="3" name="Text 0"/>
          <p:cNvSpPr>
            <a:spLocks noGrp="1"/>
          </p:cNvSpPr>
          <p:nvPr>
            <p:ph type="title" idx="101" hasCustomPrompt="1"/>
          </p:nvPr>
        </p:nvSpPr>
        <p:spPr>
          <a:xfrm>
            <a:off x="548640" y="1554480"/>
            <a:ext cx="5486400" cy="2011680"/>
          </a:xfrm>
          <a:prstGeom prst="rect">
            <a:avLst/>
          </a:prstGeom>
          <a:noFill/>
          <a:ln/>
        </p:spPr>
        <p:txBody>
          <a:bodyPr wrap="square" lIns="0" tIns="0" rIns="0" bIns="0" rtlCol="0" anchor="t"/>
          <a:lstStyle/>
          <a:p>
            <a:pPr marL="0" indent="0" algn="l">
              <a:buNone/>
            </a:pPr>
            <a:r>
              <a:rPr lang="en-US" sz="3200" b="1" dirty="0">
                <a:solidFill>
                  <a:schemeClr val="bg1"/>
                </a:solidFill>
              </a:rPr>
              <a:t>A draft that grows is a hypothesis, not a result.</a:t>
            </a:r>
            <a:endParaRPr lang="en-US" sz="3200" dirty="0"/>
          </a:p>
        </p:txBody>
      </p:sp>
      <p:sp>
        <p:nvSpPr>
          <p:cNvPr id="4" name="Text 0"/>
          <p:cNvSpPr>
            <a:spLocks noGrp="1"/>
          </p:cNvSpPr>
          <p:nvPr>
            <p:ph type="body" idx="102" hasCustomPrompt="1"/>
          </p:nvPr>
        </p:nvSpPr>
        <p:spPr>
          <a:xfrm>
            <a:off x="548640" y="3657600"/>
            <a:ext cx="5394960" cy="731520"/>
          </a:xfrm>
          <a:prstGeom prst="rect">
            <a:avLst/>
          </a:prstGeom>
          <a:noFill/>
          <a:ln/>
        </p:spPr>
        <p:txBody>
          <a:bodyPr wrap="square" lIns="0" tIns="0" rIns="0" bIns="0" rtlCol="0" anchor="t"/>
          <a:lstStyle/>
          <a:p>
            <a:pPr marL="0" indent="0">
              <a:buNone/>
            </a:pPr>
            <a:r>
              <a:rPr lang="en-US" sz="1600" dirty="0">
                <a:solidFill>
                  <a:schemeClr val="accent4"/>
                </a:solidFill>
              </a:rPr>
              <a:t>Automation gets you a draft in minutes. Trust comes from checks, curation and data.</a:t>
            </a:r>
            <a:endParaRPr lang="en-US" sz="1600" dirty="0"/>
          </a:p>
        </p:txBody>
      </p:sp>
      <p:sp>
        <p:nvSpPr>
          <p:cNvPr id="5" name="Closing edge AC"/>
          <p:cNvSpPr/>
          <p:nvPr/>
        </p:nvSpPr>
        <p:spPr>
          <a:xfrm>
            <a:off x="6455061" y="1456625"/>
            <a:ext cx="333297" cy="435850"/>
          </a:xfrm>
          <a:prstGeom prst="line">
            <a:avLst/>
          </a:prstGeom>
          <a:noFill/>
          <a:ln w="15875">
            <a:solidFill>
              <a:schemeClr val="accent4"/>
            </a:solidFill>
            <a:prstDash val="solid"/>
            <a:tailEnd type="triangle"/>
          </a:ln>
        </p:spPr>
        <p:txBody>
          <a:bodyPr/>
          <a:lstStyle/>
          <a:p>
            <a:endParaRPr lang="en-GB"/>
          </a:p>
        </p:txBody>
      </p:sp>
      <p:sp>
        <p:nvSpPr>
          <p:cNvPr id="6" name="Closing edge BD"/>
          <p:cNvSpPr/>
          <p:nvPr/>
        </p:nvSpPr>
        <p:spPr>
          <a:xfrm>
            <a:off x="7598612" y="1235407"/>
            <a:ext cx="530456" cy="500987"/>
          </a:xfrm>
          <a:prstGeom prst="line">
            <a:avLst/>
          </a:prstGeom>
          <a:noFill/>
          <a:ln w="15875">
            <a:solidFill>
              <a:schemeClr val="accent4"/>
            </a:solidFill>
            <a:prstDash val="solid"/>
            <a:tailEnd type="triangle"/>
          </a:ln>
        </p:spPr>
        <p:txBody>
          <a:bodyPr/>
          <a:lstStyle/>
          <a:p>
            <a:endParaRPr lang="en-GB"/>
          </a:p>
        </p:txBody>
      </p:sp>
      <p:sp>
        <p:nvSpPr>
          <p:cNvPr id="7" name="Closing edge CD"/>
          <p:cNvSpPr/>
          <p:nvPr/>
        </p:nvSpPr>
        <p:spPr>
          <a:xfrm flipV="1">
            <a:off x="7192738" y="1908700"/>
            <a:ext cx="884339" cy="152472"/>
          </a:xfrm>
          <a:prstGeom prst="line">
            <a:avLst/>
          </a:prstGeom>
          <a:noFill/>
          <a:ln w="15875">
            <a:solidFill>
              <a:schemeClr val="accent4"/>
            </a:solidFill>
            <a:prstDash val="solid"/>
            <a:tailEnd type="triangle"/>
          </a:ln>
        </p:spPr>
        <p:txBody>
          <a:bodyPr/>
          <a:lstStyle/>
          <a:p>
            <a:endParaRPr lang="en-GB"/>
          </a:p>
        </p:txBody>
      </p:sp>
      <p:sp>
        <p:nvSpPr>
          <p:cNvPr id="8" name="Closing edge DE"/>
          <p:cNvSpPr/>
          <p:nvPr/>
        </p:nvSpPr>
        <p:spPr>
          <a:xfrm flipH="1">
            <a:off x="7837092" y="2038093"/>
            <a:ext cx="356442" cy="712884"/>
          </a:xfrm>
          <a:prstGeom prst="line">
            <a:avLst/>
          </a:prstGeom>
          <a:noFill/>
          <a:ln w="15875">
            <a:solidFill>
              <a:schemeClr val="accent4"/>
            </a:solidFill>
            <a:prstDash val="solid"/>
            <a:tailEnd type="triangle"/>
          </a:ln>
        </p:spPr>
        <p:txBody>
          <a:bodyPr/>
          <a:lstStyle/>
          <a:p>
            <a:endParaRPr lang="en-GB"/>
          </a:p>
        </p:txBody>
      </p:sp>
      <p:sp>
        <p:nvSpPr>
          <p:cNvPr id="9" name="Closing edge CF"/>
          <p:cNvSpPr/>
          <p:nvPr/>
        </p:nvSpPr>
        <p:spPr>
          <a:xfrm flipH="1">
            <a:off x="6529370" y="2325846"/>
            <a:ext cx="313549" cy="655602"/>
          </a:xfrm>
          <a:prstGeom prst="line">
            <a:avLst/>
          </a:prstGeom>
          <a:noFill/>
          <a:ln w="15875">
            <a:solidFill>
              <a:schemeClr val="accent4"/>
            </a:solidFill>
            <a:prstDash val="solid"/>
            <a:tailEnd type="triangle"/>
          </a:ln>
        </p:spPr>
        <p:txBody>
          <a:bodyPr/>
          <a:lstStyle/>
          <a:p>
            <a:endParaRPr lang="en-GB"/>
          </a:p>
        </p:txBody>
      </p:sp>
      <p:sp>
        <p:nvSpPr>
          <p:cNvPr id="10" name="Closing edge FH"/>
          <p:cNvSpPr/>
          <p:nvPr/>
        </p:nvSpPr>
        <p:spPr>
          <a:xfrm>
            <a:off x="6561467" y="3284954"/>
            <a:ext cx="455905" cy="516692"/>
          </a:xfrm>
          <a:prstGeom prst="line">
            <a:avLst/>
          </a:prstGeom>
          <a:noFill/>
          <a:ln w="15875">
            <a:solidFill>
              <a:schemeClr val="accent4"/>
            </a:solidFill>
            <a:prstDash val="solid"/>
            <a:tailEnd type="triangle"/>
          </a:ln>
        </p:spPr>
        <p:txBody>
          <a:bodyPr/>
          <a:lstStyle/>
          <a:p>
            <a:endParaRPr lang="en-GB"/>
          </a:p>
        </p:txBody>
      </p:sp>
      <p:sp>
        <p:nvSpPr>
          <p:cNvPr id="11" name="Closing edge EH"/>
          <p:cNvSpPr/>
          <p:nvPr/>
        </p:nvSpPr>
        <p:spPr>
          <a:xfrm flipH="1">
            <a:off x="7223767" y="3166171"/>
            <a:ext cx="382589" cy="618028"/>
          </a:xfrm>
          <a:prstGeom prst="line">
            <a:avLst/>
          </a:prstGeom>
          <a:noFill/>
          <a:ln w="15875">
            <a:solidFill>
              <a:schemeClr val="accent4"/>
            </a:solidFill>
            <a:prstDash val="solid"/>
            <a:tailEnd type="triangle"/>
          </a:ln>
        </p:spPr>
        <p:txBody>
          <a:bodyPr/>
          <a:lstStyle/>
          <a:p>
            <a:endParaRPr lang="en-GB"/>
          </a:p>
        </p:txBody>
      </p:sp>
      <p:sp>
        <p:nvSpPr>
          <p:cNvPr id="12" name="Closing edge DG"/>
          <p:cNvSpPr/>
          <p:nvPr/>
        </p:nvSpPr>
        <p:spPr>
          <a:xfrm>
            <a:off x="8307102" y="2054617"/>
            <a:ext cx="202811" cy="1149261"/>
          </a:xfrm>
          <a:prstGeom prst="line">
            <a:avLst/>
          </a:prstGeom>
          <a:noFill/>
          <a:ln w="15875">
            <a:solidFill>
              <a:schemeClr val="accent4"/>
            </a:solidFill>
            <a:prstDash val="solid"/>
            <a:tailEnd type="triangle"/>
          </a:ln>
        </p:spPr>
        <p:txBody>
          <a:bodyPr/>
          <a:lstStyle/>
          <a:p>
            <a:endParaRPr lang="en-GB"/>
          </a:p>
        </p:txBody>
      </p:sp>
      <p:sp>
        <p:nvSpPr>
          <p:cNvPr id="13" name="Closing flux BC"/>
          <p:cNvSpPr/>
          <p:nvPr/>
        </p:nvSpPr>
        <p:spPr>
          <a:xfrm flipH="1">
            <a:off x="7068030" y="1277210"/>
            <a:ext cx="294365" cy="588729"/>
          </a:xfrm>
          <a:prstGeom prst="line">
            <a:avLst/>
          </a:prstGeom>
          <a:noFill/>
          <a:ln w="31750">
            <a:solidFill>
              <a:schemeClr val="accent2"/>
            </a:solidFill>
            <a:prstDash val="solid"/>
            <a:tailEnd type="triangle"/>
          </a:ln>
        </p:spPr>
        <p:txBody>
          <a:bodyPr/>
          <a:lstStyle/>
          <a:p>
            <a:endParaRPr lang="en-GB"/>
          </a:p>
        </p:txBody>
      </p:sp>
      <p:sp>
        <p:nvSpPr>
          <p:cNvPr id="14" name="Closing flux CE"/>
          <p:cNvSpPr/>
          <p:nvPr/>
        </p:nvSpPr>
        <p:spPr>
          <a:xfrm>
            <a:off x="7114064" y="2287111"/>
            <a:ext cx="447993" cy="500698"/>
          </a:xfrm>
          <a:prstGeom prst="line">
            <a:avLst/>
          </a:prstGeom>
          <a:noFill/>
          <a:ln w="31750">
            <a:solidFill>
              <a:schemeClr val="accent2"/>
            </a:solidFill>
            <a:prstDash val="solid"/>
            <a:tailEnd type="triangle"/>
          </a:ln>
        </p:spPr>
        <p:txBody>
          <a:bodyPr/>
          <a:lstStyle/>
          <a:p>
            <a:endParaRPr lang="en-GB"/>
          </a:p>
        </p:txBody>
      </p:sp>
      <p:sp>
        <p:nvSpPr>
          <p:cNvPr id="15" name="Closing flux EG"/>
          <p:cNvSpPr/>
          <p:nvPr/>
        </p:nvSpPr>
        <p:spPr>
          <a:xfrm>
            <a:off x="7926512" y="3082818"/>
            <a:ext cx="423295" cy="235164"/>
          </a:xfrm>
          <a:prstGeom prst="line">
            <a:avLst/>
          </a:prstGeom>
          <a:noFill/>
          <a:ln w="31750">
            <a:solidFill>
              <a:schemeClr val="accent2"/>
            </a:solidFill>
            <a:prstDash val="solid"/>
            <a:tailEnd type="triangle"/>
          </a:ln>
        </p:spPr>
        <p:txBody>
          <a:bodyPr/>
          <a:lstStyle/>
          <a:p>
            <a:endParaRPr lang="en-GB"/>
          </a:p>
        </p:txBody>
      </p:sp>
      <p:sp>
        <p:nvSpPr>
          <p:cNvPr id="16" name="Closing node A"/>
          <p:cNvSpPr/>
          <p:nvPr/>
        </p:nvSpPr>
        <p:spPr>
          <a:xfrm>
            <a:off x="6236208" y="1207008"/>
            <a:ext cx="237744" cy="237744"/>
          </a:xfrm>
          <a:prstGeom prst="ellipse">
            <a:avLst/>
          </a:prstGeom>
          <a:solidFill>
            <a:schemeClr val="accent1"/>
          </a:solidFill>
          <a:ln/>
        </p:spPr>
        <p:txBody>
          <a:bodyPr/>
          <a:lstStyle/>
          <a:p>
            <a:endParaRPr lang="en-GB"/>
          </a:p>
        </p:txBody>
      </p:sp>
      <p:sp>
        <p:nvSpPr>
          <p:cNvPr id="17" name="Closing node B"/>
          <p:cNvSpPr/>
          <p:nvPr/>
        </p:nvSpPr>
        <p:spPr>
          <a:xfrm>
            <a:off x="7296912" y="941832"/>
            <a:ext cx="310896" cy="310896"/>
          </a:xfrm>
          <a:prstGeom prst="ellipse">
            <a:avLst/>
          </a:prstGeom>
          <a:solidFill>
            <a:schemeClr val="accent2"/>
          </a:solidFill>
          <a:ln/>
        </p:spPr>
        <p:txBody>
          <a:bodyPr/>
          <a:lstStyle/>
          <a:p>
            <a:endParaRPr lang="en-GB"/>
          </a:p>
        </p:txBody>
      </p:sp>
      <p:sp>
        <p:nvSpPr>
          <p:cNvPr id="18" name="Closing node C"/>
          <p:cNvSpPr/>
          <p:nvPr/>
        </p:nvSpPr>
        <p:spPr>
          <a:xfrm>
            <a:off x="6748272" y="1901952"/>
            <a:ext cx="402336" cy="402336"/>
          </a:xfrm>
          <a:prstGeom prst="ellipse">
            <a:avLst/>
          </a:prstGeom>
          <a:solidFill>
            <a:schemeClr val="accent2"/>
          </a:solidFill>
          <a:ln/>
        </p:spPr>
        <p:txBody>
          <a:bodyPr/>
          <a:lstStyle/>
          <a:p>
            <a:endParaRPr lang="en-GB"/>
          </a:p>
        </p:txBody>
      </p:sp>
      <p:sp>
        <p:nvSpPr>
          <p:cNvPr id="19" name="Closing node D"/>
          <p:cNvSpPr/>
          <p:nvPr/>
        </p:nvSpPr>
        <p:spPr>
          <a:xfrm>
            <a:off x="8138160" y="1737360"/>
            <a:ext cx="274320" cy="274320"/>
          </a:xfrm>
          <a:prstGeom prst="ellipse">
            <a:avLst/>
          </a:prstGeom>
          <a:solidFill>
            <a:schemeClr val="accent1"/>
          </a:solidFill>
          <a:ln/>
        </p:spPr>
        <p:txBody>
          <a:bodyPr/>
          <a:lstStyle/>
          <a:p>
            <a:endParaRPr lang="en-GB"/>
          </a:p>
        </p:txBody>
      </p:sp>
      <p:sp>
        <p:nvSpPr>
          <p:cNvPr id="20" name="Closing node E"/>
          <p:cNvSpPr/>
          <p:nvPr/>
        </p:nvSpPr>
        <p:spPr>
          <a:xfrm>
            <a:off x="7543800" y="2788920"/>
            <a:ext cx="365760" cy="365760"/>
          </a:xfrm>
          <a:prstGeom prst="ellipse">
            <a:avLst/>
          </a:prstGeom>
          <a:solidFill>
            <a:schemeClr val="accent2"/>
          </a:solidFill>
          <a:ln/>
        </p:spPr>
        <p:txBody>
          <a:bodyPr/>
          <a:lstStyle/>
          <a:p>
            <a:endParaRPr lang="en-GB"/>
          </a:p>
        </p:txBody>
      </p:sp>
      <p:sp>
        <p:nvSpPr>
          <p:cNvPr id="21" name="Closing node F"/>
          <p:cNvSpPr/>
          <p:nvPr/>
        </p:nvSpPr>
        <p:spPr>
          <a:xfrm>
            <a:off x="6318504" y="3026664"/>
            <a:ext cx="256032" cy="256032"/>
          </a:xfrm>
          <a:prstGeom prst="ellipse">
            <a:avLst/>
          </a:prstGeom>
          <a:solidFill>
            <a:schemeClr val="accent1"/>
          </a:solidFill>
          <a:ln/>
        </p:spPr>
        <p:txBody>
          <a:bodyPr/>
          <a:lstStyle/>
          <a:p>
            <a:endParaRPr lang="en-GB"/>
          </a:p>
        </p:txBody>
      </p:sp>
      <p:sp>
        <p:nvSpPr>
          <p:cNvPr id="22" name="Closing node G"/>
          <p:cNvSpPr/>
          <p:nvPr/>
        </p:nvSpPr>
        <p:spPr>
          <a:xfrm>
            <a:off x="8385048" y="3264408"/>
            <a:ext cx="329184" cy="329184"/>
          </a:xfrm>
          <a:prstGeom prst="ellipse">
            <a:avLst/>
          </a:prstGeom>
          <a:solidFill>
            <a:schemeClr val="accent2"/>
          </a:solidFill>
          <a:ln/>
        </p:spPr>
        <p:txBody>
          <a:bodyPr/>
          <a:lstStyle/>
          <a:p>
            <a:endParaRPr lang="en-GB"/>
          </a:p>
        </p:txBody>
      </p:sp>
      <p:sp>
        <p:nvSpPr>
          <p:cNvPr id="23" name="Closing node H"/>
          <p:cNvSpPr/>
          <p:nvPr/>
        </p:nvSpPr>
        <p:spPr>
          <a:xfrm>
            <a:off x="7022592" y="3822192"/>
            <a:ext cx="219456" cy="219456"/>
          </a:xfrm>
          <a:prstGeom prst="ellipse">
            <a:avLst/>
          </a:prstGeom>
          <a:solidFill>
            <a:schemeClr val="accent1"/>
          </a:solidFill>
          <a:ln/>
        </p:spPr>
        <p:txBody>
          <a:bodyPr/>
          <a:lstStyle/>
          <a:p>
            <a:endParaRPr lang="en-GB"/>
          </a:p>
        </p:txBody>
      </p:sp>
    </p:spTree>
  </p:cSld>
  <p:clrMapOvr>
    <a:masterClrMapping/>
  </p:clrMapOvr>
</p:sld>
</file>

<file path=ppt/theme/theme1.xml><?xml version="1.0" encoding="utf-8"?>
<a:theme xmlns:a="http://schemas.openxmlformats.org/drawingml/2006/main" name="CODE-M">
  <a:themeElements>
    <a:clrScheme name="CODE-M">
      <a:dk1>
        <a:srgbClr val="1F2A2E"/>
      </a:dk1>
      <a:lt1>
        <a:srgbClr val="FFFFFF"/>
      </a:lt1>
      <a:dk2>
        <a:srgbClr val="0E3B43"/>
      </a:dk2>
      <a:lt2>
        <a:srgbClr val="EAF4F1"/>
      </a:lt2>
      <a:accent1>
        <a:srgbClr val="1B998B"/>
      </a:accent1>
      <a:accent2>
        <a:srgbClr val="E8913A"/>
      </a:accent2>
      <a:accent3>
        <a:srgbClr val="5C7A82"/>
      </a:accent3>
      <a:accent4>
        <a:srgbClr val="C5E3DC"/>
      </a:accent4>
      <a:accent5>
        <a:srgbClr val="B85C1E"/>
      </a:accent5>
      <a:accent6>
        <a:srgbClr val="2E6F7A"/>
      </a:accent6>
      <a:hlink>
        <a:srgbClr val="1B998B"/>
      </a:hlink>
      <a:folHlink>
        <a:srgbClr val="5C7A82"/>
      </a:folHlink>
    </a:clrScheme>
    <a:fontScheme name="COD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2366</Words>
  <Application>Microsoft Macintosh PowerPoint</Application>
  <PresentationFormat>On-screen Show (16:9)</PresentationFormat>
  <Paragraphs>193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Courier New</vt:lpstr>
      <vt:lpstr>CODE-M</vt:lpstr>
      <vt:lpstr>How far can we trust an automated draft?</vt:lpstr>
      <vt:lpstr>Pool your scorecards</vt:lpstr>
      <vt:lpstr>Growing is not the same as right</vt:lpstr>
      <vt:lpstr>What MEMOTE scores (and doesn't)</vt:lpstr>
      <vt:lpstr>MEMOTE: curated vs automated</vt:lpstr>
      <vt:lpstr>Our KBase drafts score 32–49%, the curated models 85–91%. Are the drafts that much worse?</vt:lpstr>
      <vt:lpstr>Good enough for what?</vt:lpstr>
      <vt:lpstr>A new genome, no curated model, 30 minutes. What do you check first?</vt:lpstr>
      <vt:lpstr>A 30-minute check for any draft</vt:lpstr>
      <vt:lpstr>A draft that grows is a hypothesis, not a result.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CODE-M Day 2 — Trusting automated reconstructions</dc:title>
  <dc:subject>CODE-M Workshop, Day 2, 15:30</dc:subject>
  <dc:creator>Francesco Del Carratore</dc:creator>
  <cp:lastModifiedBy>Del Carratore, Francesco</cp:lastModifiedBy>
  <cp:revision>1</cp:revision>
  <dcterms:created xsi:type="dcterms:W3CDTF">2026-10-09T12:27:59Z</dcterms:created>
  <dcterms:modified xsi:type="dcterms:W3CDTF">2026-10-09T15:24:24Z</dcterms:modified>
</cp:coreProperties>
</file>