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fc1413a-bfa0-bc04-d4f2-538d8f8db189}">
          <p14:sldIdLst>
            <p14:sldId id="256"/>
            <p14:sldId id="257"/>
            <p14:sldId id="258"/>
          </p14:sldIdLst>
        </p14:section>
        <p14:section name="Steps" id="{196b22db-1f87-0099-ca4a-40c51c7fe417}">
          <p14:sldIdLst>
            <p14:sldId id="259"/>
            <p14:sldId id="260"/>
            <p14:sldId id="261"/>
            <p14:sldId id="262"/>
            <p14:sldId id="263"/>
          </p14:sldIdLst>
        </p14:section>
        <p14:section name="Wrap-up" id="{f1158be6-f2ea-cc07-ad30-92e2756023c8}">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morning you built a toy model by hand, and in the last hour you saw how pipelines automate the same steps. Now you'll run one. ModelSEED is a bottom-up pipeline that runs entirely in the browser, inside KBase, so there's nothing to install. You'll build models for three well-studied bacteria and, because each already has a curated model in BiGG, you can check how close the automatic draft gets.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three organisms span a useful range. E. coli K-12 MG1655, Gram-negative, the best-studied bacterium there is. Bacillus subtilis 168, Gram-positive, the model soil bacterium. And Lactococcus lactis MG1363, a small-genome dairy lactic acid bacterium that needs amino acids and vitamins to grow (NCBI now files it under Lactococcus cremoris). Each has a curated model in BiGG: iML1515 (Monk et al., Nat Biotechnol 2017), iYO844 (Oh et al., J Biol Chem 2007) and iNF517 (Flahaut et al., Appl Microbiol Biotechnol 2013). These are our answer keys. The strip at the bottom is the plan for the next 90 minutes; the annotation and build steps run on KBase's servers, so start them early and read ahead while they run.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ModelSEED works bottom-up, like you did this morning. RAST annotates every gene with a functional role from a controlled vocabulary. A template, Gram-negative, Gram-positive or archaeal, maps those roles to reactions and builds the gene rules. The biomass reaction comes from the template too. The current version, ModelSEED2 (the MS2 apps), first builds a core model and checks its ATP yield, so energy metabolism doesn't run away when the network is expanded. Finally, gap-filling adds the fewest reactions needed to grow on the medium you choose. Two consequences: genes RAST misses become reactions the model misses, and everything uses ModelSEED identifiers, which matters when we compare with BiGG at the end. References: Henry et al., Nat Biotechnol 2010; Seaver et al., Nucleic Acids Res 2021; Faria et al., bioRxiv 2023 (ModelSEED2); Arkin et al., Nat Biotechnol 2018 (KBase).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works in their own Narrative, KBase's notebook: data on the left, apps and results in the middle. Sign in at narrative.kbase.us; accounts are free and you can use Google, ORCID or Globus. Create a new Narrative and give it your name. Then use Add Data, Public tab, to bring in the three RefSeq genomes. Search by strain name and check the accession: there are many E. coli and Bacillus genomes and you want exactly these. Lactococcus lactis MG1363 has been reclassified as Lactococcus cremoris, so search for MG1363 if the name doesn't match. On the same tab, add two media: Carbon-D-Glucose, a minimal glucose medium, and AuxoMedia, glucose plus all amino acids and vitamins. (Instructor: run through this once before the session, to check names and queue times.)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genomes from RefSeq are already annotated, so why annotate again? Because ModelSEED doesn't read free-text gene names. Its templates are keyed on RAST functional roles, a controlled vocabulary, and the KBase FAQ says this directly: the RAST roles are used as a controlled vocabulary to derive metabolic reactions. So pfkA is assigned the role 6-phosphofructokinase, EC 2.7.1.11, and the template turns that role into the PFK reaction. Use the multiple-genomes version of the RASTtk app so all three run in one go. It goes into a queue on KBase's servers and takes several minutes, so read the next step while it runs.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reconstruction itself. Search the Apps panel for MS2 and open MS2 - Build Prokaryotic Metabolic Models (there's also a version 'with OMEGGA', which can use expression data; either works here). Run it once per organism, because they need different gap-filling media. Pick the RAST-annotated genome; leave the template on Automatic selection, which picks Gram-negative or Gram-positive from the genome; keep gap-filling and the ATP check ticked. For gap-filling media, use Carbon-D-Glucose for E. coli and B. subtilis. For Lactococcus, leave the field empty and the app uses AuxoMedia, glucose plus all amino acids and vitamins. Lactococcus can't make several amino acids, so if you gap-filled it on minimal glucose, the algorithm would add whole biosynthetic pathways it doesn't have. When each run finishes, the output table gives reactions, compounds, genes and how many reactions gap-filling added: copy them to your scorecard.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that grows on the gap-filling medium proves very little: gap-filling forced it to. So test each model on both media with Run Flux Balance Analysis; the objective value in the output is the predicted growth rate. Before you run, predict. E. coli and B. subtilis grow on glucose minimal medium; Lactococcus needs amino acids. But the lab strain B. subtilis 168 carries the trpC2 mutation and needs tryptophan: does a model built from its genome sequence know that? If time allows, the Compare Models app shows all three models side by side, including how many reactions they share.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compare each draft with its curated model. Export the three models from the Data panel; KBase gives you its own JSON format, or SBML. Copy them into the 04_Models folder, where the BiGG models iML1515, iYO844 and iNF517 already are, and run the notebook Day2_B_Compare_with_BiGG: its load_model() function reads the KBase files, and it fills in the scorecard for you. Sizes are easy to compare. Everything else needs translating, because the two use different identifiers. Glucose is cpd00027 in ModelSEED and glc__D in BiGG; the biomass reaction is bio1 versus a long BiGG name; and to test growth on the same medium you have to set the right exchange reactions in each model. Genes are the most comparable: E. coli b-numbers and the Lactococcus RefSeq tags (LLMG_RS…) are written identically in both models, but B. subtilis RefSeq uses BSU_00010 while iYO844 uses BSU00010, so the notebook removes underscores before matching. For reactions, MetaNetX or the ModelSEED aliases map between namespaces.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you should have by 15:30. The BiGG columns are filled in for size; the ModelSEED columns are yours. One trap: KBase's output table counts reactions without the exchange reactions, while BiGG's totals include them, so count len(model.reactions) in cobrapy after exporting, to compare like with like. Gap-filled reactions are in the MS2 output table. For growth on glucose minimal medium, use your FBA runs for the ModelSEED models, and test the BiGG models in cobrapy with the equivalent medium. Genes shared with BiGG comes from the Step 5 code. We'll put everyone's numbers together at 15:30. (Instructor reference, from the instructors' KBase run on 9 October: E. coli 1,867 reactions, 1,346 genes, 3 gap-filled, grows on minimal glucose, 1,175 genes shared with iML1515; B. subtilis 1,525, 1,062, 37, grows, 695 shared; L. lactis 1,083, 699, 63, no growth on minimal glucose but grows on AuxoMedia, 448 shared. Attendees' numbers should be close.)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these questions in mind while you work. Which of the three drafts comes closest to its curated model, and why: genome size, how well studied the organism is, how well RAST annotates it? What did gap-filling add, and is any of it real biology or just whatever made the model grow? And the real test: most bacteria you'll work with have no curated model to check against. How far would you trust a draft then? Go: start with Step 1.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51560"/>
            <a:ext cx="5303520" cy="36576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508760"/>
            <a:ext cx="5486400" cy="14630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4" name="Text 0"/>
          <p:cNvSpPr/>
          <p:nvPr>
            <p:ph idx="102" type="body" hasCustomPrompt="1"/>
          </p:nvPr>
        </p:nvSpPr>
        <p:spPr>
          <a:xfrm>
            <a:off x="548640" y="3063240"/>
            <a:ext cx="5303520" cy="731520"/>
          </a:xfrm>
          <a:prstGeom prst="rect">
            <a:avLst/>
          </a:prstGeom>
          <a:noFill/>
          <a:ln/>
        </p:spPr>
        <p:txBody>
          <a:bodyPr wrap="square" rtlCol="0"/>
          <a:lstStyle>
            <a:lvl1pPr indent="0" marL="0">
              <a:buNone/>
              <a:defRPr lang="en-US" sz="1700" dirty="0">
                <a:solidFill>
                  <a:schemeClr val="accent4"/>
                </a:solidFill>
              </a:defRPr>
            </a:lvl1pPr>
          </a:lstStyle>
          <a:p>
            <a:pPr indent="0" marL="0">
              <a:buNone/>
            </a:pPr>
            <a:endParaRPr lang="en-US" sz="1700" dirty="0"/>
          </a:p>
        </p:txBody>
      </p:sp>
      <p:sp>
        <p:nvSpPr>
          <p:cNvPr id="5" name="Text 0"/>
          <p:cNvSpPr/>
          <p:nvPr>
            <p:ph idx="103" type="body" hasCustomPrompt="1"/>
          </p:nvPr>
        </p:nvSpPr>
        <p:spPr>
          <a:xfrm>
            <a:off x="548640" y="4114800"/>
            <a:ext cx="5120640" cy="365760"/>
          </a:xfrm>
          <a:prstGeom prst="rect">
            <a:avLst/>
          </a:prstGeom>
          <a:noFill/>
          <a:ln/>
        </p:spPr>
        <p:txBody>
          <a:bodyPr wrap="square" rtlCol="0"/>
          <a:lstStyle>
            <a:lvl1pPr indent="0" marL="0">
              <a:buNone/>
              <a:defRPr lang="en-US" sz="1400" dirty="0">
                <a:solidFill>
                  <a:schemeClr val="bg1"/>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2286000" cy="1188720"/>
          </a:xfrm>
          <a:prstGeom prst="rect">
            <a:avLst/>
          </a:prstGeom>
          <a:noFill/>
          <a:ln/>
        </p:spPr>
        <p:txBody>
          <a:bodyPr wrap="square" rtlCol="0"/>
          <a:lstStyle>
            <a:lvl1pPr indent="0" marL="0">
              <a:buNone/>
              <a:defRPr lang="en-US" sz="8000" b="1" dirty="0">
                <a:solidFill>
                  <a:schemeClr val="accent2"/>
                </a:solidFill>
                <a:latin typeface="+mj-lt" pitchFamily="34" charset="0"/>
                <a:ea typeface="+mj-lt" pitchFamily="34" charset="-122"/>
                <a:cs typeface="+mj-lt" pitchFamily="34" charset="-120"/>
              </a:defRPr>
            </a:lvl1pPr>
          </a:lstStyle>
          <a:p>
            <a:pPr indent="0" marL="0">
              <a:buNone/>
            </a:pPr>
            <a:endParaRPr lang="en-US" sz="8000" dirty="0"/>
          </a:p>
        </p:txBody>
      </p:sp>
      <p:sp>
        <p:nvSpPr>
          <p:cNvPr id="3" name="Text 0"/>
          <p:cNvSpPr/>
          <p:nvPr>
            <p:ph idx="101" type="title" hasCustomPrompt="1"/>
          </p:nvPr>
        </p:nvSpPr>
        <p:spPr>
          <a:xfrm>
            <a:off x="548640" y="2240280"/>
            <a:ext cx="5486400" cy="7772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548640" y="3063240"/>
            <a:ext cx="5394960" cy="548640"/>
          </a:xfrm>
          <a:prstGeom prst="rect">
            <a:avLst/>
          </a:prstGeom>
          <a:noFill/>
          <a:ln/>
        </p:spPr>
        <p:txBody>
          <a:bodyPr wrap="square" rtlCol="0"/>
          <a:lstStyle>
            <a:lvl1pPr indent="0" marL="0">
              <a:buNone/>
              <a:defRPr lang="en-US" sz="2000" i="1" dirty="0">
                <a:solidFill>
                  <a:schemeClr val="accent4"/>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457200" y="4736592"/>
            <a:ext cx="5943600" cy="274320"/>
          </a:xfrm>
          <a:prstGeom prst="rect">
            <a:avLst/>
          </a:prstGeom>
          <a:noFill/>
          <a:ln/>
        </p:spPr>
        <p:txBody>
          <a:bodyPr wrap="square" lIns="0" tIns="0" rIns="0" bIns="0" rtlCol="0" anchor="t"/>
          <a:lstStyle/>
          <a:p>
            <a:pPr indent="0" marL="0">
              <a:buNone/>
            </a:pPr>
            <a:r>
              <a:rPr lang="en-US" sz="1000" dirty="0">
                <a:solidFill>
                  <a:schemeClr val="accent3"/>
                </a:solidFill>
              </a:rPr>
              <a:t>CODE-M Workshop · Day 2 · ModelSEED hands-on</a:t>
            </a:r>
            <a:endParaRPr lang="en-US" sz="10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394960" cy="365760"/>
          </a:xfrm>
          <a:prstGeom prst="rect">
            <a:avLst/>
          </a:prstGeom>
          <a:noFill/>
          <a:ln/>
        </p:spPr>
        <p:txBody>
          <a:bodyPr wrap="square" rtlCol="0"/>
          <a:lstStyle>
            <a:lvl1pPr indent="0" marL="0">
              <a:buNone/>
              <a:defRPr lang="en-US" sz="1400" b="1"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548640" y="1554480"/>
            <a:ext cx="5486400" cy="201168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p:nvPr>
            <p:ph idx="102" type="body" hasCustomPrompt="1"/>
          </p:nvPr>
        </p:nvSpPr>
        <p:spPr>
          <a:xfrm>
            <a:off x="548640" y="3657600"/>
            <a:ext cx="5394960" cy="73152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051560"/>
            <a:ext cx="5303520" cy="365760"/>
          </a:xfrm>
          <a:prstGeom prst="rect">
            <a:avLst/>
          </a:prstGeom>
          <a:noFill/>
          <a:ln/>
        </p:spPr>
        <p:txBody>
          <a:bodyPr wrap="square" lIns="0" tIns="0" rIns="0" bIns="0" rtlCol="0" anchor="ctr"/>
          <a:lstStyle/>
          <a:p>
            <a:pPr indent="0" marL="0">
              <a:buNone/>
            </a:pPr>
            <a:r>
              <a:rPr lang="en-US" sz="1400" b="1" dirty="0">
                <a:solidFill>
                  <a:schemeClr val="accent2"/>
                </a:solidFill>
              </a:rPr>
              <a:t>CODE-M Workshop · Day 2 · 14:00</a:t>
            </a:r>
            <a:endParaRPr lang="en-US" sz="1400" dirty="0"/>
          </a:p>
        </p:txBody>
      </p:sp>
      <p:sp>
        <p:nvSpPr>
          <p:cNvPr id="3" name="Text 0"/>
          <p:cNvSpPr/>
          <p:nvPr>
            <p:ph idx="101" type="title" hasCustomPrompt="1"/>
          </p:nvPr>
        </p:nvSpPr>
        <p:spPr>
          <a:xfrm>
            <a:off x="548640" y="1508760"/>
            <a:ext cx="5486400" cy="1463040"/>
          </a:xfrm>
          <a:prstGeom prst="rect">
            <a:avLst/>
          </a:prstGeom>
          <a:noFill/>
          <a:ln/>
        </p:spPr>
        <p:txBody>
          <a:bodyPr wrap="square" lIns="0" tIns="0" rIns="0" bIns="0" rtlCol="0" anchor="t"/>
          <a:lstStyle/>
          <a:p>
            <a:pPr algn="l" indent="0" marL="0">
              <a:buNone/>
            </a:pPr>
            <a:r>
              <a:rPr lang="en-US" sz="3400" b="1" dirty="0">
                <a:solidFill>
                  <a:schemeClr val="bg1"/>
                </a:solidFill>
              </a:rPr>
              <a:t>Three bacteria, three models</a:t>
            </a:r>
            <a:endParaRPr lang="en-US" sz="3400" dirty="0"/>
          </a:p>
        </p:txBody>
      </p:sp>
      <p:sp>
        <p:nvSpPr>
          <p:cNvPr id="4" name="Text 0"/>
          <p:cNvSpPr/>
          <p:nvPr>
            <p:ph idx="102" type="body" hasCustomPrompt="1"/>
          </p:nvPr>
        </p:nvSpPr>
        <p:spPr>
          <a:xfrm>
            <a:off x="548640" y="3063240"/>
            <a:ext cx="5303520" cy="731520"/>
          </a:xfrm>
          <a:prstGeom prst="rect">
            <a:avLst/>
          </a:prstGeom>
          <a:noFill/>
          <a:ln/>
        </p:spPr>
        <p:txBody>
          <a:bodyPr wrap="square" lIns="0" tIns="0" rIns="0" bIns="0" rtlCol="0" anchor="t"/>
          <a:lstStyle/>
          <a:p>
            <a:pPr indent="0" marL="0">
              <a:buNone/>
            </a:pPr>
            <a:r>
              <a:rPr lang="en-US" sz="1700" dirty="0">
                <a:solidFill>
                  <a:schemeClr val="accent4"/>
                </a:solidFill>
              </a:rPr>
              <a:t>Build draft models with ModelSEED in KBase, then check them against curated BiGG models</a:t>
            </a:r>
            <a:endParaRPr lang="en-US" sz="1700" dirty="0"/>
          </a:p>
        </p:txBody>
      </p:sp>
      <p:sp>
        <p:nvSpPr>
          <p:cNvPr id="5" name="Text 0"/>
          <p:cNvSpPr/>
          <p:nvPr>
            <p:ph idx="103" type="body" hasCustomPrompt="1"/>
          </p:nvPr>
        </p:nvSpPr>
        <p:spPr>
          <a:xfrm>
            <a:off x="548640" y="4114800"/>
            <a:ext cx="5120640" cy="365760"/>
          </a:xfrm>
          <a:prstGeom prst="rect">
            <a:avLst/>
          </a:prstGeom>
          <a:noFill/>
          <a:ln/>
        </p:spPr>
        <p:txBody>
          <a:bodyPr wrap="square" lIns="0" tIns="0" rIns="0" bIns="0" rtlCol="0" anchor="ctr"/>
          <a:lstStyle/>
          <a:p>
            <a:pPr indent="0" marL="0">
              <a:buNone/>
            </a:pPr>
            <a:r>
              <a:rPr lang="en-US" sz="1400" dirty="0">
                <a:solidFill>
                  <a:schemeClr val="bg1"/>
                </a:solidFill>
              </a:rPr>
              <a:t>Francesco Del Carratore</a:t>
            </a:r>
            <a:endParaRPr lang="en-US" sz="1400" dirty="0"/>
          </a:p>
        </p:txBody>
      </p:sp>
      <p:sp>
        <p:nvSpPr>
          <p:cNvPr id="6" name="Title edge AC"/>
          <p:cNvSpPr/>
          <p:nvPr/>
        </p:nvSpPr>
        <p:spPr>
          <a:xfrm>
            <a:off x="6455061" y="1456625"/>
            <a:ext cx="333297" cy="435850"/>
          </a:xfrm>
          <a:prstGeom prst="line">
            <a:avLst/>
          </a:prstGeom>
          <a:noFill/>
          <a:ln w="15875">
            <a:solidFill>
              <a:schemeClr val="accent4"/>
            </a:solidFill>
            <a:prstDash val="solid"/>
            <a:tailEnd type="triangle"/>
          </a:ln>
        </p:spPr>
      </p:sp>
      <p:sp>
        <p:nvSpPr>
          <p:cNvPr id="7" name="Title edge BD"/>
          <p:cNvSpPr/>
          <p:nvPr/>
        </p:nvSpPr>
        <p:spPr>
          <a:xfrm>
            <a:off x="7598612" y="1235407"/>
            <a:ext cx="530456" cy="500987"/>
          </a:xfrm>
          <a:prstGeom prst="line">
            <a:avLst/>
          </a:prstGeom>
          <a:noFill/>
          <a:ln w="15875">
            <a:solidFill>
              <a:schemeClr val="accent4"/>
            </a:solidFill>
            <a:prstDash val="solid"/>
            <a:tailEnd type="triangle"/>
          </a:ln>
        </p:spPr>
      </p:sp>
      <p:sp>
        <p:nvSpPr>
          <p:cNvPr id="8" name="Title edge CD"/>
          <p:cNvSpPr/>
          <p:nvPr/>
        </p:nvSpPr>
        <p:spPr>
          <a:xfrm flipV="1">
            <a:off x="7192738" y="1908700"/>
            <a:ext cx="884339" cy="152472"/>
          </a:xfrm>
          <a:prstGeom prst="line">
            <a:avLst/>
          </a:prstGeom>
          <a:noFill/>
          <a:ln w="15875">
            <a:solidFill>
              <a:schemeClr val="accent4"/>
            </a:solidFill>
            <a:prstDash val="solid"/>
            <a:tailEnd type="triangle"/>
          </a:ln>
        </p:spPr>
      </p:sp>
      <p:sp>
        <p:nvSpPr>
          <p:cNvPr id="9" name="Title edge DE"/>
          <p:cNvSpPr/>
          <p:nvPr/>
        </p:nvSpPr>
        <p:spPr>
          <a:xfrm flipH="1">
            <a:off x="7837092" y="2038093"/>
            <a:ext cx="356442" cy="712884"/>
          </a:xfrm>
          <a:prstGeom prst="line">
            <a:avLst/>
          </a:prstGeom>
          <a:noFill/>
          <a:ln w="15875">
            <a:solidFill>
              <a:schemeClr val="accent4"/>
            </a:solidFill>
            <a:prstDash val="solid"/>
            <a:tailEnd type="triangle"/>
          </a:ln>
        </p:spPr>
      </p:sp>
      <p:sp>
        <p:nvSpPr>
          <p:cNvPr id="10" name="Title edge CF"/>
          <p:cNvSpPr/>
          <p:nvPr/>
        </p:nvSpPr>
        <p:spPr>
          <a:xfrm flipH="1">
            <a:off x="6529370" y="2325846"/>
            <a:ext cx="313549" cy="655602"/>
          </a:xfrm>
          <a:prstGeom prst="line">
            <a:avLst/>
          </a:prstGeom>
          <a:noFill/>
          <a:ln w="15875">
            <a:solidFill>
              <a:schemeClr val="accent4"/>
            </a:solidFill>
            <a:prstDash val="solid"/>
            <a:tailEnd type="triangle"/>
          </a:ln>
        </p:spPr>
      </p:sp>
      <p:sp>
        <p:nvSpPr>
          <p:cNvPr id="11" name="Title edge FH"/>
          <p:cNvSpPr/>
          <p:nvPr/>
        </p:nvSpPr>
        <p:spPr>
          <a:xfrm>
            <a:off x="6561467" y="3284954"/>
            <a:ext cx="455905" cy="516692"/>
          </a:xfrm>
          <a:prstGeom prst="line">
            <a:avLst/>
          </a:prstGeom>
          <a:noFill/>
          <a:ln w="15875">
            <a:solidFill>
              <a:schemeClr val="accent4"/>
            </a:solidFill>
            <a:prstDash val="solid"/>
            <a:tailEnd type="triangle"/>
          </a:ln>
        </p:spPr>
      </p:sp>
      <p:sp>
        <p:nvSpPr>
          <p:cNvPr id="12" name="Title edge EH"/>
          <p:cNvSpPr/>
          <p:nvPr/>
        </p:nvSpPr>
        <p:spPr>
          <a:xfrm flipH="1">
            <a:off x="7223767" y="3166171"/>
            <a:ext cx="382589" cy="618028"/>
          </a:xfrm>
          <a:prstGeom prst="line">
            <a:avLst/>
          </a:prstGeom>
          <a:noFill/>
          <a:ln w="15875">
            <a:solidFill>
              <a:schemeClr val="accent4"/>
            </a:solidFill>
            <a:prstDash val="solid"/>
            <a:tailEnd type="triangle"/>
          </a:ln>
        </p:spPr>
      </p:sp>
      <p:sp>
        <p:nvSpPr>
          <p:cNvPr id="13" name="Title edge DG"/>
          <p:cNvSpPr/>
          <p:nvPr/>
        </p:nvSpPr>
        <p:spPr>
          <a:xfrm>
            <a:off x="8307102" y="2054617"/>
            <a:ext cx="202811" cy="1149261"/>
          </a:xfrm>
          <a:prstGeom prst="line">
            <a:avLst/>
          </a:prstGeom>
          <a:noFill/>
          <a:ln w="15875">
            <a:solidFill>
              <a:schemeClr val="accent4"/>
            </a:solidFill>
            <a:prstDash val="solid"/>
            <a:tailEnd type="triangle"/>
          </a:ln>
        </p:spPr>
      </p:sp>
      <p:sp>
        <p:nvSpPr>
          <p:cNvPr id="14" name="Title flux BC"/>
          <p:cNvSpPr/>
          <p:nvPr/>
        </p:nvSpPr>
        <p:spPr>
          <a:xfrm flipH="1">
            <a:off x="7068030" y="1277210"/>
            <a:ext cx="294365" cy="588729"/>
          </a:xfrm>
          <a:prstGeom prst="line">
            <a:avLst/>
          </a:prstGeom>
          <a:noFill/>
          <a:ln w="31750">
            <a:solidFill>
              <a:schemeClr val="accent2"/>
            </a:solidFill>
            <a:prstDash val="solid"/>
            <a:tailEnd type="triangle"/>
          </a:ln>
        </p:spPr>
      </p:sp>
      <p:sp>
        <p:nvSpPr>
          <p:cNvPr id="15" name="Title flux CE"/>
          <p:cNvSpPr/>
          <p:nvPr/>
        </p:nvSpPr>
        <p:spPr>
          <a:xfrm>
            <a:off x="7114064" y="2287111"/>
            <a:ext cx="447993" cy="500698"/>
          </a:xfrm>
          <a:prstGeom prst="line">
            <a:avLst/>
          </a:prstGeom>
          <a:noFill/>
          <a:ln w="31750">
            <a:solidFill>
              <a:schemeClr val="accent2"/>
            </a:solidFill>
            <a:prstDash val="solid"/>
            <a:tailEnd type="triangle"/>
          </a:ln>
        </p:spPr>
      </p:sp>
      <p:sp>
        <p:nvSpPr>
          <p:cNvPr id="16" name="Title flux EG"/>
          <p:cNvSpPr/>
          <p:nvPr/>
        </p:nvSpPr>
        <p:spPr>
          <a:xfrm>
            <a:off x="7926512" y="3082818"/>
            <a:ext cx="423295" cy="235164"/>
          </a:xfrm>
          <a:prstGeom prst="line">
            <a:avLst/>
          </a:prstGeom>
          <a:noFill/>
          <a:ln w="31750">
            <a:solidFill>
              <a:schemeClr val="accent2"/>
            </a:solidFill>
            <a:prstDash val="solid"/>
            <a:tailEnd type="triangle"/>
          </a:ln>
        </p:spPr>
      </p:sp>
      <p:sp>
        <p:nvSpPr>
          <p:cNvPr id="17" name="Title node A"/>
          <p:cNvSpPr/>
          <p:nvPr/>
        </p:nvSpPr>
        <p:spPr>
          <a:xfrm>
            <a:off x="6236208" y="1207008"/>
            <a:ext cx="237744" cy="237744"/>
          </a:xfrm>
          <a:prstGeom prst="ellipse">
            <a:avLst/>
          </a:prstGeom>
          <a:solidFill>
            <a:schemeClr val="accent1"/>
          </a:solidFill>
          <a:ln/>
        </p:spPr>
      </p:sp>
      <p:sp>
        <p:nvSpPr>
          <p:cNvPr id="18" name="Title node B"/>
          <p:cNvSpPr/>
          <p:nvPr/>
        </p:nvSpPr>
        <p:spPr>
          <a:xfrm>
            <a:off x="7296912" y="941832"/>
            <a:ext cx="310896" cy="310896"/>
          </a:xfrm>
          <a:prstGeom prst="ellipse">
            <a:avLst/>
          </a:prstGeom>
          <a:solidFill>
            <a:schemeClr val="accent2"/>
          </a:solidFill>
          <a:ln/>
        </p:spPr>
      </p:sp>
      <p:sp>
        <p:nvSpPr>
          <p:cNvPr id="19" name="Title node C"/>
          <p:cNvSpPr/>
          <p:nvPr/>
        </p:nvSpPr>
        <p:spPr>
          <a:xfrm>
            <a:off x="6748272" y="1901952"/>
            <a:ext cx="402336" cy="402336"/>
          </a:xfrm>
          <a:prstGeom prst="ellipse">
            <a:avLst/>
          </a:prstGeom>
          <a:solidFill>
            <a:schemeClr val="accent2"/>
          </a:solidFill>
          <a:ln/>
        </p:spPr>
      </p:sp>
      <p:sp>
        <p:nvSpPr>
          <p:cNvPr id="20" name="Title node D"/>
          <p:cNvSpPr/>
          <p:nvPr/>
        </p:nvSpPr>
        <p:spPr>
          <a:xfrm>
            <a:off x="8138160" y="1737360"/>
            <a:ext cx="274320" cy="274320"/>
          </a:xfrm>
          <a:prstGeom prst="ellipse">
            <a:avLst/>
          </a:prstGeom>
          <a:solidFill>
            <a:schemeClr val="accent1"/>
          </a:solidFill>
          <a:ln/>
        </p:spPr>
      </p:sp>
      <p:sp>
        <p:nvSpPr>
          <p:cNvPr id="21" name="Title node E"/>
          <p:cNvSpPr/>
          <p:nvPr/>
        </p:nvSpPr>
        <p:spPr>
          <a:xfrm>
            <a:off x="7543800" y="2788920"/>
            <a:ext cx="365760" cy="365760"/>
          </a:xfrm>
          <a:prstGeom prst="ellipse">
            <a:avLst/>
          </a:prstGeom>
          <a:solidFill>
            <a:schemeClr val="accent2"/>
          </a:solidFill>
          <a:ln/>
        </p:spPr>
      </p:sp>
      <p:sp>
        <p:nvSpPr>
          <p:cNvPr id="22" name="Title node F"/>
          <p:cNvSpPr/>
          <p:nvPr/>
        </p:nvSpPr>
        <p:spPr>
          <a:xfrm>
            <a:off x="6318504" y="3026664"/>
            <a:ext cx="256032" cy="256032"/>
          </a:xfrm>
          <a:prstGeom prst="ellipse">
            <a:avLst/>
          </a:prstGeom>
          <a:solidFill>
            <a:schemeClr val="accent1"/>
          </a:solidFill>
          <a:ln/>
        </p:spPr>
      </p:sp>
      <p:sp>
        <p:nvSpPr>
          <p:cNvPr id="23" name="Title node G"/>
          <p:cNvSpPr/>
          <p:nvPr/>
        </p:nvSpPr>
        <p:spPr>
          <a:xfrm>
            <a:off x="8385048" y="3264408"/>
            <a:ext cx="329184" cy="329184"/>
          </a:xfrm>
          <a:prstGeom prst="ellipse">
            <a:avLst/>
          </a:prstGeom>
          <a:solidFill>
            <a:schemeClr val="accent2"/>
          </a:solidFill>
          <a:ln/>
        </p:spPr>
      </p:sp>
      <p:sp>
        <p:nvSpPr>
          <p:cNvPr id="24" name="Title node H"/>
          <p:cNvSpPr/>
          <p:nvPr/>
        </p:nvSpPr>
        <p:spPr>
          <a:xfrm>
            <a:off x="7022592" y="3822192"/>
            <a:ext cx="219456" cy="219456"/>
          </a:xfrm>
          <a:prstGeom prst="ellipse">
            <a:avLst/>
          </a:prstGeom>
          <a:solidFill>
            <a:schemeClr val="accent1"/>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Three bacteria, three answer keys</a:t>
            </a:r>
            <a:endParaRPr lang="en-US" sz="3400" dirty="0"/>
          </a:p>
        </p:txBody>
      </p:sp>
      <p:sp>
        <p:nvSpPr>
          <p:cNvPr id="3" name="Org 1 card"/>
          <p:cNvSpPr/>
          <p:nvPr/>
        </p:nvSpPr>
        <p:spPr>
          <a:xfrm>
            <a:off x="457200" y="1143000"/>
            <a:ext cx="2560320" cy="2743200"/>
          </a:xfrm>
          <a:prstGeom prst="roundRect">
            <a:avLst>
              <a:gd name="adj" fmla="val 2857"/>
            </a:avLst>
          </a:prstGeom>
          <a:solidFill>
            <a:schemeClr val="bg2"/>
          </a:solidFill>
          <a:ln/>
        </p:spPr>
      </p:sp>
      <p:sp>
        <p:nvSpPr>
          <p:cNvPr id="4" name="Org 1 node"/>
          <p:cNvSpPr/>
          <p:nvPr/>
        </p:nvSpPr>
        <p:spPr>
          <a:xfrm>
            <a:off x="640080" y="1325880"/>
            <a:ext cx="502920" cy="502920"/>
          </a:xfrm>
          <a:prstGeom prst="ellipse">
            <a:avLst/>
          </a:prstGeom>
          <a:solidFill>
            <a:schemeClr val="accent1"/>
          </a:solidFill>
          <a:ln/>
        </p:spPr>
      </p:sp>
      <p:pic>
        <p:nvPicPr>
          <p:cNvPr id="5" name="Org 1 icon" descr="preencoded.png">    </p:cNvPr>
          <p:cNvPicPr>
            <a:picLocks noChangeAspect="1"/>
          </p:cNvPicPr>
          <p:nvPr/>
        </p:nvPicPr>
        <p:blipFill>
          <a:blip r:embed="rId1"/>
          <a:stretch>
            <a:fillRect/>
          </a:stretch>
        </p:blipFill>
        <p:spPr>
          <a:xfrm>
            <a:off x="765810" y="1451610"/>
            <a:ext cx="251460" cy="251460"/>
          </a:xfrm>
          <a:prstGeom prst="rect">
            <a:avLst/>
          </a:prstGeom>
        </p:spPr>
      </p:pic>
      <p:sp>
        <p:nvSpPr>
          <p:cNvPr id="6" name="Org 1 name"/>
          <p:cNvSpPr txBox="1"/>
          <p:nvPr/>
        </p:nvSpPr>
        <p:spPr>
          <a:xfrm>
            <a:off x="1261872" y="1298448"/>
            <a:ext cx="1645920" cy="566928"/>
          </a:xfrm>
          <a:prstGeom prst="rect">
            <a:avLst/>
          </a:prstGeom>
          <a:noFill/>
          <a:ln/>
        </p:spPr>
        <p:txBody>
          <a:bodyPr wrap="square" lIns="0" tIns="0" rIns="0" bIns="0" rtlCol="0" anchor="ctr"/>
          <a:lstStyle/>
          <a:p>
            <a:pPr indent="0" marL="0">
              <a:buNone/>
            </a:pPr>
            <a:r>
              <a:rPr lang="en-US" sz="1500" b="1" i="1" dirty="0">
                <a:solidFill>
                  <a:schemeClr val="tx2"/>
                </a:solidFill>
              </a:rPr>
              <a:t>Escherichia coli</a:t>
            </a:r>
            <a:endParaRPr lang="en-US" sz="1500" dirty="0"/>
          </a:p>
          <a:p>
            <a:pPr indent="0" marL="0">
              <a:buNone/>
            </a:pPr>
            <a:r>
              <a:rPr lang="en-US" sz="1200" dirty="0">
                <a:solidFill>
                  <a:schemeClr val="accent3"/>
                </a:solidFill>
              </a:rPr>
              <a:t>K-12 MG1655</a:t>
            </a:r>
            <a:endParaRPr lang="en-US" sz="1500" dirty="0"/>
          </a:p>
        </p:txBody>
      </p:sp>
      <p:sp>
        <p:nvSpPr>
          <p:cNvPr id="7" name="Org 1 gram"/>
          <p:cNvSpPr/>
          <p:nvPr/>
        </p:nvSpPr>
        <p:spPr>
          <a:xfrm>
            <a:off x="640080" y="1984248"/>
            <a:ext cx="1234440" cy="246888"/>
          </a:xfrm>
          <a:prstGeom prst="roundRect">
            <a:avLst>
              <a:gd name="adj" fmla="val 50000"/>
            </a:avLst>
          </a:prstGeom>
          <a:solidFill>
            <a:schemeClr val="accent1"/>
          </a:solidFill>
          <a:ln/>
        </p:spPr>
      </p:sp>
      <p:sp>
        <p:nvSpPr>
          <p:cNvPr id="8" name="Org 1 gram text"/>
          <p:cNvSpPr txBox="1"/>
          <p:nvPr/>
        </p:nvSpPr>
        <p:spPr>
          <a:xfrm>
            <a:off x="640080" y="1984248"/>
            <a:ext cx="1234440" cy="246888"/>
          </a:xfrm>
          <a:prstGeom prst="rect">
            <a:avLst/>
          </a:prstGeom>
          <a:noFill/>
          <a:ln/>
        </p:spPr>
        <p:txBody>
          <a:bodyPr wrap="square" lIns="0" tIns="0" rIns="0" bIns="0" rtlCol="0" anchor="ctr"/>
          <a:lstStyle/>
          <a:p>
            <a:pPr algn="ctr" indent="0" marL="0">
              <a:buNone/>
            </a:pPr>
            <a:r>
              <a:rPr lang="en-US" sz="1100" b="1" dirty="0">
                <a:solidFill>
                  <a:schemeClr val="bg1"/>
                </a:solidFill>
              </a:rPr>
              <a:t>Gram-negative</a:t>
            </a:r>
            <a:endParaRPr lang="en-US" sz="1100" dirty="0"/>
          </a:p>
        </p:txBody>
      </p:sp>
      <p:sp>
        <p:nvSpPr>
          <p:cNvPr id="9" name="Org 1 facts"/>
          <p:cNvSpPr txBox="1"/>
          <p:nvPr/>
        </p:nvSpPr>
        <p:spPr>
          <a:xfrm>
            <a:off x="640080" y="2304288"/>
            <a:ext cx="2194560" cy="658368"/>
          </a:xfrm>
          <a:prstGeom prst="rect">
            <a:avLst/>
          </a:prstGeom>
          <a:noFill/>
          <a:ln/>
        </p:spPr>
        <p:txBody>
          <a:bodyPr wrap="square" lIns="0" tIns="0" rIns="0" bIns="0" rtlCol="0" anchor="t"/>
          <a:lstStyle/>
          <a:p>
            <a:pPr indent="0" marL="0">
              <a:buNone/>
            </a:pPr>
            <a:r>
              <a:rPr lang="en-US" sz="1200" dirty="0">
                <a:solidFill>
                  <a:schemeClr val="tx1"/>
                </a:solidFill>
              </a:rPr>
              <a:t>gut bacterium, facultative anaerobe</a:t>
            </a:r>
            <a:endParaRPr lang="en-US" sz="1200" dirty="0"/>
          </a:p>
          <a:p>
            <a:pPr indent="0" marL="0">
              <a:buNone/>
            </a:pPr>
            <a:r>
              <a:rPr lang="en-US" sz="1200" dirty="0">
                <a:solidFill>
                  <a:schemeClr val="tx1"/>
                </a:solidFill>
              </a:rPr>
              <a:t>4.64 Mb · 4,290 proteins</a:t>
            </a:r>
            <a:endParaRPr lang="en-US" sz="1200" dirty="0"/>
          </a:p>
          <a:p>
            <a:pPr indent="0" marL="0">
              <a:buNone/>
            </a:pPr>
            <a:r>
              <a:rPr lang="en-US" sz="1200" dirty="0">
                <a:solidFill>
                  <a:schemeClr val="accent3"/>
                </a:solidFill>
              </a:rPr>
              <a:t>RefSeq GCF_000005845.2</a:t>
            </a:r>
            <a:endParaRPr lang="en-US" sz="1200" dirty="0"/>
          </a:p>
        </p:txBody>
      </p:sp>
      <p:sp>
        <p:nvSpPr>
          <p:cNvPr id="10" name="Org 1 rule"/>
          <p:cNvSpPr/>
          <p:nvPr/>
        </p:nvSpPr>
        <p:spPr>
          <a:xfrm>
            <a:off x="640080" y="3017520"/>
            <a:ext cx="2194560" cy="0"/>
          </a:xfrm>
          <a:prstGeom prst="line">
            <a:avLst/>
          </a:prstGeom>
          <a:noFill/>
          <a:ln w="12700">
            <a:solidFill>
              <a:srgbClr val="C5E3DC"/>
            </a:solidFill>
            <a:prstDash val="solid"/>
          </a:ln>
        </p:spPr>
      </p:sp>
      <p:sp>
        <p:nvSpPr>
          <p:cNvPr id="11" name="Org 1 bigg label"/>
          <p:cNvSpPr txBox="1"/>
          <p:nvPr/>
        </p:nvSpPr>
        <p:spPr>
          <a:xfrm>
            <a:off x="640080" y="3081528"/>
            <a:ext cx="2194560" cy="201168"/>
          </a:xfrm>
          <a:prstGeom prst="rect">
            <a:avLst/>
          </a:prstGeom>
          <a:noFill/>
          <a:ln/>
        </p:spPr>
        <p:txBody>
          <a:bodyPr wrap="square" lIns="0" tIns="0" rIns="0" bIns="0" rtlCol="0" anchor="t"/>
          <a:lstStyle/>
          <a:p>
            <a:pPr indent="0" marL="0">
              <a:buNone/>
            </a:pPr>
            <a:r>
              <a:rPr lang="en-US" sz="1100" dirty="0">
                <a:solidFill>
                  <a:schemeClr val="accent3"/>
                </a:solidFill>
              </a:rPr>
              <a:t>Curated BiGG model</a:t>
            </a:r>
            <a:endParaRPr lang="en-US" sz="1100" dirty="0"/>
          </a:p>
        </p:txBody>
      </p:sp>
      <p:sp>
        <p:nvSpPr>
          <p:cNvPr id="12" name="Org 1 model"/>
          <p:cNvSpPr txBox="1"/>
          <p:nvPr/>
        </p:nvSpPr>
        <p:spPr>
          <a:xfrm>
            <a:off x="640080" y="3246120"/>
            <a:ext cx="2194560" cy="329184"/>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iML1515</a:t>
            </a:r>
            <a:endParaRPr lang="en-US" sz="2000" dirty="0"/>
          </a:p>
        </p:txBody>
      </p:sp>
      <p:sp>
        <p:nvSpPr>
          <p:cNvPr id="13" name="Org 1 counts"/>
          <p:cNvSpPr txBox="1"/>
          <p:nvPr/>
        </p:nvSpPr>
        <p:spPr>
          <a:xfrm>
            <a:off x="640080" y="3575304"/>
            <a:ext cx="2194560" cy="237744"/>
          </a:xfrm>
          <a:prstGeom prst="rect">
            <a:avLst/>
          </a:prstGeom>
          <a:noFill/>
          <a:ln/>
        </p:spPr>
        <p:txBody>
          <a:bodyPr wrap="square" lIns="0" tIns="0" rIns="0" bIns="0" rtlCol="0" anchor="t"/>
          <a:lstStyle/>
          <a:p>
            <a:pPr indent="0" marL="0">
              <a:buNone/>
            </a:pPr>
            <a:r>
              <a:rPr lang="en-US" sz="1200" dirty="0">
                <a:solidFill>
                  <a:schemeClr val="tx1"/>
                </a:solidFill>
              </a:rPr>
              <a:t>2,712 reactions · 1,516 genes</a:t>
            </a:r>
            <a:endParaRPr lang="en-US" sz="1200" dirty="0"/>
          </a:p>
        </p:txBody>
      </p:sp>
      <p:sp>
        <p:nvSpPr>
          <p:cNvPr id="14" name="Org 2 card"/>
          <p:cNvSpPr/>
          <p:nvPr/>
        </p:nvSpPr>
        <p:spPr>
          <a:xfrm>
            <a:off x="3291840" y="1143000"/>
            <a:ext cx="2560320" cy="2743200"/>
          </a:xfrm>
          <a:prstGeom prst="roundRect">
            <a:avLst>
              <a:gd name="adj" fmla="val 2857"/>
            </a:avLst>
          </a:prstGeom>
          <a:solidFill>
            <a:schemeClr val="bg2"/>
          </a:solidFill>
          <a:ln/>
        </p:spPr>
      </p:sp>
      <p:sp>
        <p:nvSpPr>
          <p:cNvPr id="15" name="Org 2 node"/>
          <p:cNvSpPr/>
          <p:nvPr/>
        </p:nvSpPr>
        <p:spPr>
          <a:xfrm>
            <a:off x="3474720" y="1325880"/>
            <a:ext cx="502920" cy="502920"/>
          </a:xfrm>
          <a:prstGeom prst="ellipse">
            <a:avLst/>
          </a:prstGeom>
          <a:solidFill>
            <a:schemeClr val="accent6"/>
          </a:solidFill>
          <a:ln/>
        </p:spPr>
      </p:sp>
      <p:pic>
        <p:nvPicPr>
          <p:cNvPr id="16" name="Org 2 icon" descr="preencoded.png">    </p:cNvPr>
          <p:cNvPicPr>
            <a:picLocks noChangeAspect="1"/>
          </p:cNvPicPr>
          <p:nvPr/>
        </p:nvPicPr>
        <p:blipFill>
          <a:blip r:embed="rId2"/>
          <a:stretch>
            <a:fillRect/>
          </a:stretch>
        </p:blipFill>
        <p:spPr>
          <a:xfrm>
            <a:off x="3600450" y="1451610"/>
            <a:ext cx="251460" cy="251460"/>
          </a:xfrm>
          <a:prstGeom prst="rect">
            <a:avLst/>
          </a:prstGeom>
        </p:spPr>
      </p:pic>
      <p:sp>
        <p:nvSpPr>
          <p:cNvPr id="17" name="Org 2 name"/>
          <p:cNvSpPr txBox="1"/>
          <p:nvPr/>
        </p:nvSpPr>
        <p:spPr>
          <a:xfrm>
            <a:off x="4096512" y="1298448"/>
            <a:ext cx="1645920" cy="566928"/>
          </a:xfrm>
          <a:prstGeom prst="rect">
            <a:avLst/>
          </a:prstGeom>
          <a:noFill/>
          <a:ln/>
        </p:spPr>
        <p:txBody>
          <a:bodyPr wrap="square" lIns="0" tIns="0" rIns="0" bIns="0" rtlCol="0" anchor="ctr"/>
          <a:lstStyle/>
          <a:p>
            <a:pPr indent="0" marL="0">
              <a:buNone/>
            </a:pPr>
            <a:r>
              <a:rPr lang="en-US" sz="1500" b="1" i="1" dirty="0">
                <a:solidFill>
                  <a:schemeClr val="tx2"/>
                </a:solidFill>
              </a:rPr>
              <a:t>Bacillus subtilis</a:t>
            </a:r>
            <a:endParaRPr lang="en-US" sz="1500" dirty="0"/>
          </a:p>
          <a:p>
            <a:pPr indent="0" marL="0">
              <a:buNone/>
            </a:pPr>
            <a:r>
              <a:rPr lang="en-US" sz="1200" dirty="0">
                <a:solidFill>
                  <a:schemeClr val="accent3"/>
                </a:solidFill>
              </a:rPr>
              <a:t>168</a:t>
            </a:r>
            <a:endParaRPr lang="en-US" sz="1500" dirty="0"/>
          </a:p>
        </p:txBody>
      </p:sp>
      <p:sp>
        <p:nvSpPr>
          <p:cNvPr id="18" name="Org 2 gram"/>
          <p:cNvSpPr/>
          <p:nvPr/>
        </p:nvSpPr>
        <p:spPr>
          <a:xfrm>
            <a:off x="3474720" y="1984248"/>
            <a:ext cx="1234440" cy="246888"/>
          </a:xfrm>
          <a:prstGeom prst="roundRect">
            <a:avLst>
              <a:gd name="adj" fmla="val 50000"/>
            </a:avLst>
          </a:prstGeom>
          <a:solidFill>
            <a:schemeClr val="accent6"/>
          </a:solidFill>
          <a:ln/>
        </p:spPr>
      </p:sp>
      <p:sp>
        <p:nvSpPr>
          <p:cNvPr id="19" name="Org 2 gram text"/>
          <p:cNvSpPr txBox="1"/>
          <p:nvPr/>
        </p:nvSpPr>
        <p:spPr>
          <a:xfrm>
            <a:off x="3474720" y="1984248"/>
            <a:ext cx="1234440" cy="246888"/>
          </a:xfrm>
          <a:prstGeom prst="rect">
            <a:avLst/>
          </a:prstGeom>
          <a:noFill/>
          <a:ln/>
        </p:spPr>
        <p:txBody>
          <a:bodyPr wrap="square" lIns="0" tIns="0" rIns="0" bIns="0" rtlCol="0" anchor="ctr"/>
          <a:lstStyle/>
          <a:p>
            <a:pPr algn="ctr" indent="0" marL="0">
              <a:buNone/>
            </a:pPr>
            <a:r>
              <a:rPr lang="en-US" sz="1100" b="1" dirty="0">
                <a:solidFill>
                  <a:schemeClr val="bg1"/>
                </a:solidFill>
              </a:rPr>
              <a:t>Gram-positive</a:t>
            </a:r>
            <a:endParaRPr lang="en-US" sz="1100" dirty="0"/>
          </a:p>
        </p:txBody>
      </p:sp>
      <p:sp>
        <p:nvSpPr>
          <p:cNvPr id="20" name="Org 2 facts"/>
          <p:cNvSpPr txBox="1"/>
          <p:nvPr/>
        </p:nvSpPr>
        <p:spPr>
          <a:xfrm>
            <a:off x="3474720" y="2304288"/>
            <a:ext cx="2194560" cy="658368"/>
          </a:xfrm>
          <a:prstGeom prst="rect">
            <a:avLst/>
          </a:prstGeom>
          <a:noFill/>
          <a:ln/>
        </p:spPr>
        <p:txBody>
          <a:bodyPr wrap="square" lIns="0" tIns="0" rIns="0" bIns="0" rtlCol="0" anchor="t"/>
          <a:lstStyle/>
          <a:p>
            <a:pPr indent="0" marL="0">
              <a:buNone/>
            </a:pPr>
            <a:r>
              <a:rPr lang="en-US" sz="1200" dirty="0">
                <a:solidFill>
                  <a:schemeClr val="tx1"/>
                </a:solidFill>
              </a:rPr>
              <a:t>soil bacterium, forms spores</a:t>
            </a:r>
            <a:endParaRPr lang="en-US" sz="1200" dirty="0"/>
          </a:p>
          <a:p>
            <a:pPr indent="0" marL="0">
              <a:buNone/>
            </a:pPr>
            <a:r>
              <a:rPr lang="en-US" sz="1200" dirty="0">
                <a:solidFill>
                  <a:schemeClr val="tx1"/>
                </a:solidFill>
              </a:rPr>
              <a:t>4.22 Mb · 4,237 proteins</a:t>
            </a:r>
            <a:endParaRPr lang="en-US" sz="1200" dirty="0"/>
          </a:p>
          <a:p>
            <a:pPr indent="0" marL="0">
              <a:buNone/>
            </a:pPr>
            <a:r>
              <a:rPr lang="en-US" sz="1200" dirty="0">
                <a:solidFill>
                  <a:schemeClr val="accent3"/>
                </a:solidFill>
              </a:rPr>
              <a:t>RefSeq GCF_000009045.1</a:t>
            </a:r>
            <a:endParaRPr lang="en-US" sz="1200" dirty="0"/>
          </a:p>
        </p:txBody>
      </p:sp>
      <p:sp>
        <p:nvSpPr>
          <p:cNvPr id="21" name="Org 2 rule"/>
          <p:cNvSpPr/>
          <p:nvPr/>
        </p:nvSpPr>
        <p:spPr>
          <a:xfrm>
            <a:off x="3474720" y="3017520"/>
            <a:ext cx="2194560" cy="0"/>
          </a:xfrm>
          <a:prstGeom prst="line">
            <a:avLst/>
          </a:prstGeom>
          <a:noFill/>
          <a:ln w="12700">
            <a:solidFill>
              <a:srgbClr val="C5E3DC"/>
            </a:solidFill>
            <a:prstDash val="solid"/>
          </a:ln>
        </p:spPr>
      </p:sp>
      <p:sp>
        <p:nvSpPr>
          <p:cNvPr id="22" name="Org 2 bigg label"/>
          <p:cNvSpPr txBox="1"/>
          <p:nvPr/>
        </p:nvSpPr>
        <p:spPr>
          <a:xfrm>
            <a:off x="3474720" y="3081528"/>
            <a:ext cx="2194560" cy="201168"/>
          </a:xfrm>
          <a:prstGeom prst="rect">
            <a:avLst/>
          </a:prstGeom>
          <a:noFill/>
          <a:ln/>
        </p:spPr>
        <p:txBody>
          <a:bodyPr wrap="square" lIns="0" tIns="0" rIns="0" bIns="0" rtlCol="0" anchor="t"/>
          <a:lstStyle/>
          <a:p>
            <a:pPr indent="0" marL="0">
              <a:buNone/>
            </a:pPr>
            <a:r>
              <a:rPr lang="en-US" sz="1100" dirty="0">
                <a:solidFill>
                  <a:schemeClr val="accent3"/>
                </a:solidFill>
              </a:rPr>
              <a:t>Curated BiGG model</a:t>
            </a:r>
            <a:endParaRPr lang="en-US" sz="1100" dirty="0"/>
          </a:p>
        </p:txBody>
      </p:sp>
      <p:sp>
        <p:nvSpPr>
          <p:cNvPr id="23" name="Org 2 model"/>
          <p:cNvSpPr txBox="1"/>
          <p:nvPr/>
        </p:nvSpPr>
        <p:spPr>
          <a:xfrm>
            <a:off x="3474720" y="3246120"/>
            <a:ext cx="2194560" cy="329184"/>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iYO844</a:t>
            </a:r>
            <a:endParaRPr lang="en-US" sz="2000" dirty="0"/>
          </a:p>
        </p:txBody>
      </p:sp>
      <p:sp>
        <p:nvSpPr>
          <p:cNvPr id="24" name="Org 2 counts"/>
          <p:cNvSpPr txBox="1"/>
          <p:nvPr/>
        </p:nvSpPr>
        <p:spPr>
          <a:xfrm>
            <a:off x="3474720" y="3575304"/>
            <a:ext cx="2194560" cy="237744"/>
          </a:xfrm>
          <a:prstGeom prst="rect">
            <a:avLst/>
          </a:prstGeom>
          <a:noFill/>
          <a:ln/>
        </p:spPr>
        <p:txBody>
          <a:bodyPr wrap="square" lIns="0" tIns="0" rIns="0" bIns="0" rtlCol="0" anchor="t"/>
          <a:lstStyle/>
          <a:p>
            <a:pPr indent="0" marL="0">
              <a:buNone/>
            </a:pPr>
            <a:r>
              <a:rPr lang="en-US" sz="1200" dirty="0">
                <a:solidFill>
                  <a:schemeClr val="tx1"/>
                </a:solidFill>
              </a:rPr>
              <a:t>1,250 reactions · 844 genes</a:t>
            </a:r>
            <a:endParaRPr lang="en-US" sz="1200" dirty="0"/>
          </a:p>
        </p:txBody>
      </p:sp>
      <p:sp>
        <p:nvSpPr>
          <p:cNvPr id="25" name="Org 3 card"/>
          <p:cNvSpPr/>
          <p:nvPr/>
        </p:nvSpPr>
        <p:spPr>
          <a:xfrm>
            <a:off x="6126480" y="1143000"/>
            <a:ext cx="2560320" cy="2743200"/>
          </a:xfrm>
          <a:prstGeom prst="roundRect">
            <a:avLst>
              <a:gd name="adj" fmla="val 2857"/>
            </a:avLst>
          </a:prstGeom>
          <a:solidFill>
            <a:schemeClr val="bg2"/>
          </a:solidFill>
          <a:ln/>
        </p:spPr>
      </p:sp>
      <p:sp>
        <p:nvSpPr>
          <p:cNvPr id="26" name="Org 3 node"/>
          <p:cNvSpPr/>
          <p:nvPr/>
        </p:nvSpPr>
        <p:spPr>
          <a:xfrm>
            <a:off x="6309360" y="1325880"/>
            <a:ext cx="502920" cy="502920"/>
          </a:xfrm>
          <a:prstGeom prst="ellipse">
            <a:avLst/>
          </a:prstGeom>
          <a:solidFill>
            <a:schemeClr val="accent2"/>
          </a:solidFill>
          <a:ln/>
        </p:spPr>
      </p:sp>
      <p:pic>
        <p:nvPicPr>
          <p:cNvPr id="27" name="Org 3 icon" descr="preencoded.png">    </p:cNvPr>
          <p:cNvPicPr>
            <a:picLocks noChangeAspect="1"/>
          </p:cNvPicPr>
          <p:nvPr/>
        </p:nvPicPr>
        <p:blipFill>
          <a:blip r:embed="rId3"/>
          <a:stretch>
            <a:fillRect/>
          </a:stretch>
        </p:blipFill>
        <p:spPr>
          <a:xfrm>
            <a:off x="6435090" y="1451610"/>
            <a:ext cx="251460" cy="251460"/>
          </a:xfrm>
          <a:prstGeom prst="rect">
            <a:avLst/>
          </a:prstGeom>
        </p:spPr>
      </p:pic>
      <p:sp>
        <p:nvSpPr>
          <p:cNvPr id="28" name="Org 3 name"/>
          <p:cNvSpPr txBox="1"/>
          <p:nvPr/>
        </p:nvSpPr>
        <p:spPr>
          <a:xfrm>
            <a:off x="6931152" y="1298448"/>
            <a:ext cx="1645920" cy="566928"/>
          </a:xfrm>
          <a:prstGeom prst="rect">
            <a:avLst/>
          </a:prstGeom>
          <a:noFill/>
          <a:ln/>
        </p:spPr>
        <p:txBody>
          <a:bodyPr wrap="square" lIns="0" tIns="0" rIns="0" bIns="0" rtlCol="0" anchor="ctr"/>
          <a:lstStyle/>
          <a:p>
            <a:pPr indent="0" marL="0">
              <a:buNone/>
            </a:pPr>
            <a:r>
              <a:rPr lang="en-US" sz="1500" b="1" i="1" dirty="0">
                <a:solidFill>
                  <a:schemeClr val="tx2"/>
                </a:solidFill>
              </a:rPr>
              <a:t>Lactococcus lactis</a:t>
            </a:r>
            <a:endParaRPr lang="en-US" sz="1500" dirty="0"/>
          </a:p>
          <a:p>
            <a:pPr indent="0" marL="0">
              <a:buNone/>
            </a:pPr>
            <a:r>
              <a:rPr lang="en-US" sz="1200" dirty="0">
                <a:solidFill>
                  <a:schemeClr val="accent3"/>
                </a:solidFill>
              </a:rPr>
              <a:t>subsp. cremoris MG1363</a:t>
            </a:r>
            <a:endParaRPr lang="en-US" sz="1500" dirty="0"/>
          </a:p>
        </p:txBody>
      </p:sp>
      <p:sp>
        <p:nvSpPr>
          <p:cNvPr id="29" name="Org 3 gram"/>
          <p:cNvSpPr/>
          <p:nvPr/>
        </p:nvSpPr>
        <p:spPr>
          <a:xfrm>
            <a:off x="6309360" y="1984248"/>
            <a:ext cx="1234440" cy="246888"/>
          </a:xfrm>
          <a:prstGeom prst="roundRect">
            <a:avLst>
              <a:gd name="adj" fmla="val 50000"/>
            </a:avLst>
          </a:prstGeom>
          <a:solidFill>
            <a:schemeClr val="accent2"/>
          </a:solidFill>
          <a:ln/>
        </p:spPr>
      </p:sp>
      <p:sp>
        <p:nvSpPr>
          <p:cNvPr id="30" name="Org 3 gram text"/>
          <p:cNvSpPr txBox="1"/>
          <p:nvPr/>
        </p:nvSpPr>
        <p:spPr>
          <a:xfrm>
            <a:off x="6309360" y="1984248"/>
            <a:ext cx="1234440" cy="246888"/>
          </a:xfrm>
          <a:prstGeom prst="rect">
            <a:avLst/>
          </a:prstGeom>
          <a:noFill/>
          <a:ln/>
        </p:spPr>
        <p:txBody>
          <a:bodyPr wrap="square" lIns="0" tIns="0" rIns="0" bIns="0" rtlCol="0" anchor="ctr"/>
          <a:lstStyle/>
          <a:p>
            <a:pPr algn="ctr" indent="0" marL="0">
              <a:buNone/>
            </a:pPr>
            <a:r>
              <a:rPr lang="en-US" sz="1100" b="1" dirty="0">
                <a:solidFill>
                  <a:schemeClr val="bg1"/>
                </a:solidFill>
              </a:rPr>
              <a:t>Gram-positive</a:t>
            </a:r>
            <a:endParaRPr lang="en-US" sz="1100" dirty="0"/>
          </a:p>
        </p:txBody>
      </p:sp>
      <p:sp>
        <p:nvSpPr>
          <p:cNvPr id="31" name="Org 3 facts"/>
          <p:cNvSpPr txBox="1"/>
          <p:nvPr/>
        </p:nvSpPr>
        <p:spPr>
          <a:xfrm>
            <a:off x="6309360" y="2304288"/>
            <a:ext cx="2194560" cy="658368"/>
          </a:xfrm>
          <a:prstGeom prst="rect">
            <a:avLst/>
          </a:prstGeom>
          <a:noFill/>
          <a:ln/>
        </p:spPr>
        <p:txBody>
          <a:bodyPr wrap="square" lIns="0" tIns="0" rIns="0" bIns="0" rtlCol="0" anchor="t"/>
          <a:lstStyle/>
          <a:p>
            <a:pPr indent="0" marL="0">
              <a:buNone/>
            </a:pPr>
            <a:r>
              <a:rPr lang="en-US" sz="1200" dirty="0">
                <a:solidFill>
                  <a:schemeClr val="tx1"/>
                </a:solidFill>
              </a:rPr>
              <a:t>dairy lactic acid bacterium</a:t>
            </a:r>
            <a:endParaRPr lang="en-US" sz="1200" dirty="0"/>
          </a:p>
          <a:p>
            <a:pPr indent="0" marL="0">
              <a:buNone/>
            </a:pPr>
            <a:r>
              <a:rPr lang="en-US" sz="1200" dirty="0">
                <a:solidFill>
                  <a:schemeClr val="tx1"/>
                </a:solidFill>
              </a:rPr>
              <a:t>2.53 Mb · 2,386 proteins</a:t>
            </a:r>
            <a:endParaRPr lang="en-US" sz="1200" dirty="0"/>
          </a:p>
          <a:p>
            <a:pPr indent="0" marL="0">
              <a:buNone/>
            </a:pPr>
            <a:r>
              <a:rPr lang="en-US" sz="1200" dirty="0">
                <a:solidFill>
                  <a:schemeClr val="accent3"/>
                </a:solidFill>
              </a:rPr>
              <a:t>RefSeq GCF_000009425.1</a:t>
            </a:r>
            <a:endParaRPr lang="en-US" sz="1200" dirty="0"/>
          </a:p>
        </p:txBody>
      </p:sp>
      <p:sp>
        <p:nvSpPr>
          <p:cNvPr id="32" name="Org 3 rule"/>
          <p:cNvSpPr/>
          <p:nvPr/>
        </p:nvSpPr>
        <p:spPr>
          <a:xfrm>
            <a:off x="6309360" y="3017520"/>
            <a:ext cx="2194560" cy="0"/>
          </a:xfrm>
          <a:prstGeom prst="line">
            <a:avLst/>
          </a:prstGeom>
          <a:noFill/>
          <a:ln w="12700">
            <a:solidFill>
              <a:srgbClr val="C5E3DC"/>
            </a:solidFill>
            <a:prstDash val="solid"/>
          </a:ln>
        </p:spPr>
      </p:sp>
      <p:sp>
        <p:nvSpPr>
          <p:cNvPr id="33" name="Org 3 bigg label"/>
          <p:cNvSpPr txBox="1"/>
          <p:nvPr/>
        </p:nvSpPr>
        <p:spPr>
          <a:xfrm>
            <a:off x="6309360" y="3081528"/>
            <a:ext cx="2194560" cy="201168"/>
          </a:xfrm>
          <a:prstGeom prst="rect">
            <a:avLst/>
          </a:prstGeom>
          <a:noFill/>
          <a:ln/>
        </p:spPr>
        <p:txBody>
          <a:bodyPr wrap="square" lIns="0" tIns="0" rIns="0" bIns="0" rtlCol="0" anchor="t"/>
          <a:lstStyle/>
          <a:p>
            <a:pPr indent="0" marL="0">
              <a:buNone/>
            </a:pPr>
            <a:r>
              <a:rPr lang="en-US" sz="1100" dirty="0">
                <a:solidFill>
                  <a:schemeClr val="accent3"/>
                </a:solidFill>
              </a:rPr>
              <a:t>Curated BiGG model</a:t>
            </a:r>
            <a:endParaRPr lang="en-US" sz="1100" dirty="0"/>
          </a:p>
        </p:txBody>
      </p:sp>
      <p:sp>
        <p:nvSpPr>
          <p:cNvPr id="34" name="Org 3 model"/>
          <p:cNvSpPr txBox="1"/>
          <p:nvPr/>
        </p:nvSpPr>
        <p:spPr>
          <a:xfrm>
            <a:off x="6309360" y="3246120"/>
            <a:ext cx="2194560" cy="329184"/>
          </a:xfrm>
          <a:prstGeom prst="rect">
            <a:avLst/>
          </a:prstGeom>
          <a:noFill/>
          <a:ln/>
        </p:spPr>
        <p:txBody>
          <a:bodyPr wrap="square" lIns="0" tIns="0" rIns="0" bIns="0" rtlCol="0" anchor="ctr"/>
          <a:lstStyle/>
          <a:p>
            <a:pPr indent="0" marL="0">
              <a:buNone/>
            </a:pPr>
            <a:r>
              <a:rPr lang="en-US" sz="2000" b="1" dirty="0">
                <a:solidFill>
                  <a:schemeClr val="tx2"/>
                </a:solidFill>
                <a:latin typeface="+mj-lt" pitchFamily="34" charset="0"/>
                <a:ea typeface="+mj-lt" pitchFamily="34" charset="-122"/>
                <a:cs typeface="+mj-lt" pitchFamily="34" charset="-120"/>
              </a:rPr>
              <a:t>iNF517</a:t>
            </a:r>
            <a:endParaRPr lang="en-US" sz="2000" dirty="0"/>
          </a:p>
        </p:txBody>
      </p:sp>
      <p:sp>
        <p:nvSpPr>
          <p:cNvPr id="35" name="Org 3 counts"/>
          <p:cNvSpPr txBox="1"/>
          <p:nvPr/>
        </p:nvSpPr>
        <p:spPr>
          <a:xfrm>
            <a:off x="6309360" y="3575304"/>
            <a:ext cx="2194560" cy="237744"/>
          </a:xfrm>
          <a:prstGeom prst="rect">
            <a:avLst/>
          </a:prstGeom>
          <a:noFill/>
          <a:ln/>
        </p:spPr>
        <p:txBody>
          <a:bodyPr wrap="square" lIns="0" tIns="0" rIns="0" bIns="0" rtlCol="0" anchor="t"/>
          <a:lstStyle/>
          <a:p>
            <a:pPr indent="0" marL="0">
              <a:buNone/>
            </a:pPr>
            <a:r>
              <a:rPr lang="en-US" sz="1200" dirty="0">
                <a:solidFill>
                  <a:schemeClr val="tx1"/>
                </a:solidFill>
              </a:rPr>
              <a:t>754 reactions · 516 genes</a:t>
            </a:r>
            <a:endParaRPr lang="en-US" sz="1200" dirty="0"/>
          </a:p>
        </p:txBody>
      </p:sp>
      <p:sp>
        <p:nvSpPr>
          <p:cNvPr id="36" name="Shape 31"/>
          <p:cNvSpPr/>
          <p:nvPr/>
        </p:nvSpPr>
        <p:spPr>
          <a:xfrm>
            <a:off x="457200" y="4096512"/>
            <a:ext cx="1463040" cy="365760"/>
          </a:xfrm>
          <a:prstGeom prst="roundRect">
            <a:avLst>
              <a:gd name="adj" fmla="val 50000"/>
            </a:avLst>
          </a:prstGeom>
          <a:solidFill>
            <a:schemeClr val="tx2"/>
          </a:solidFill>
          <a:ln/>
        </p:spPr>
      </p:sp>
      <p:sp>
        <p:nvSpPr>
          <p:cNvPr id="37" name="undefined text"/>
          <p:cNvSpPr txBox="1"/>
          <p:nvPr/>
        </p:nvSpPr>
        <p:spPr>
          <a:xfrm>
            <a:off x="457200" y="4096512"/>
            <a:ext cx="1463040" cy="365760"/>
          </a:xfrm>
          <a:prstGeom prst="rect">
            <a:avLst/>
          </a:prstGeom>
          <a:noFill/>
          <a:ln/>
        </p:spPr>
        <p:txBody>
          <a:bodyPr wrap="square" lIns="0" tIns="0" rIns="0" bIns="0" rtlCol="0" anchor="ctr"/>
          <a:lstStyle/>
          <a:p>
            <a:pPr algn="ctr" indent="0" marL="0">
              <a:buNone/>
            </a:pPr>
            <a:endParaRPr lang="en-US" sz="1100" dirty="0"/>
          </a:p>
        </p:txBody>
      </p:sp>
      <p:sp>
        <p:nvSpPr>
          <p:cNvPr id="38" name="Plan 1 label"/>
          <p:cNvSpPr txBox="1"/>
          <p:nvPr/>
        </p:nvSpPr>
        <p:spPr>
          <a:xfrm>
            <a:off x="457200" y="4096512"/>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1 · Set up  </a:t>
            </a:r>
            <a:pPr algn="ctr" indent="0" marL="0">
              <a:buNone/>
            </a:pPr>
            <a:r>
              <a:rPr lang="en-US" sz="1200" dirty="0">
                <a:solidFill>
                  <a:schemeClr val="bg1"/>
                </a:solidFill>
              </a:rPr>
              <a:t>10 min</a:t>
            </a:r>
            <a:endParaRPr lang="en-US" sz="1200" dirty="0"/>
          </a:p>
        </p:txBody>
      </p:sp>
      <p:sp>
        <p:nvSpPr>
          <p:cNvPr id="39" name="Plan arrow 1"/>
          <p:cNvSpPr/>
          <p:nvPr/>
        </p:nvSpPr>
        <p:spPr>
          <a:xfrm>
            <a:off x="1938528" y="4279392"/>
            <a:ext cx="192024" cy="0"/>
          </a:xfrm>
          <a:prstGeom prst="line">
            <a:avLst/>
          </a:prstGeom>
          <a:noFill/>
          <a:ln w="15875">
            <a:solidFill>
              <a:schemeClr val="accent3"/>
            </a:solidFill>
            <a:prstDash val="solid"/>
            <a:tailEnd type="triangle"/>
          </a:ln>
        </p:spPr>
      </p:sp>
      <p:sp>
        <p:nvSpPr>
          <p:cNvPr id="40" name="Shape 35"/>
          <p:cNvSpPr/>
          <p:nvPr/>
        </p:nvSpPr>
        <p:spPr>
          <a:xfrm>
            <a:off x="2148840" y="4096512"/>
            <a:ext cx="1463040" cy="365760"/>
          </a:xfrm>
          <a:prstGeom prst="roundRect">
            <a:avLst>
              <a:gd name="adj" fmla="val 50000"/>
            </a:avLst>
          </a:prstGeom>
          <a:solidFill>
            <a:schemeClr val="bg2"/>
          </a:solidFill>
          <a:ln/>
        </p:spPr>
      </p:sp>
      <p:sp>
        <p:nvSpPr>
          <p:cNvPr id="41" name="undefined text"/>
          <p:cNvSpPr txBox="1"/>
          <p:nvPr/>
        </p:nvSpPr>
        <p:spPr>
          <a:xfrm>
            <a:off x="2148840" y="4096512"/>
            <a:ext cx="1463040" cy="365760"/>
          </a:xfrm>
          <a:prstGeom prst="rect">
            <a:avLst/>
          </a:prstGeom>
          <a:noFill/>
          <a:ln/>
        </p:spPr>
        <p:txBody>
          <a:bodyPr wrap="square" lIns="0" tIns="0" rIns="0" bIns="0" rtlCol="0" anchor="ctr"/>
          <a:lstStyle/>
          <a:p>
            <a:pPr algn="ctr" indent="0" marL="0">
              <a:buNone/>
            </a:pPr>
            <a:endParaRPr lang="en-US" sz="1100" dirty="0"/>
          </a:p>
        </p:txBody>
      </p:sp>
      <p:sp>
        <p:nvSpPr>
          <p:cNvPr id="42" name="Plan 2 label"/>
          <p:cNvSpPr txBox="1"/>
          <p:nvPr/>
        </p:nvSpPr>
        <p:spPr>
          <a:xfrm>
            <a:off x="2148840" y="4096512"/>
            <a:ext cx="1463040" cy="365760"/>
          </a:xfrm>
          <a:prstGeom prst="rect">
            <a:avLst/>
          </a:prstGeom>
          <a:noFill/>
          <a:ln/>
        </p:spPr>
        <p:txBody>
          <a:bodyPr wrap="square" lIns="0" tIns="0" rIns="0" bIns="0" rtlCol="0" anchor="ctr"/>
          <a:lstStyle/>
          <a:p>
            <a:pPr algn="ctr" indent="0" marL="0">
              <a:buNone/>
            </a:pPr>
            <a:r>
              <a:rPr lang="en-US" sz="1200" b="1" dirty="0">
                <a:solidFill>
                  <a:schemeClr val="tx2"/>
                </a:solidFill>
              </a:rPr>
              <a:t>2 · Annotate  </a:t>
            </a:r>
            <a:pPr algn="ctr" indent="0" marL="0">
              <a:buNone/>
            </a:pPr>
            <a:r>
              <a:rPr lang="en-US" sz="1200" dirty="0">
                <a:solidFill>
                  <a:schemeClr val="tx2"/>
                </a:solidFill>
              </a:rPr>
              <a:t>15 min</a:t>
            </a:r>
            <a:endParaRPr lang="en-US" sz="1200" dirty="0"/>
          </a:p>
        </p:txBody>
      </p:sp>
      <p:sp>
        <p:nvSpPr>
          <p:cNvPr id="43" name="Plan arrow 2"/>
          <p:cNvSpPr/>
          <p:nvPr/>
        </p:nvSpPr>
        <p:spPr>
          <a:xfrm>
            <a:off x="3630168" y="4279392"/>
            <a:ext cx="192024" cy="0"/>
          </a:xfrm>
          <a:prstGeom prst="line">
            <a:avLst/>
          </a:prstGeom>
          <a:noFill/>
          <a:ln w="15875">
            <a:solidFill>
              <a:schemeClr val="accent3"/>
            </a:solidFill>
            <a:prstDash val="solid"/>
            <a:tailEnd type="triangle"/>
          </a:ln>
        </p:spPr>
      </p:sp>
      <p:sp>
        <p:nvSpPr>
          <p:cNvPr id="44" name="Shape 39"/>
          <p:cNvSpPr/>
          <p:nvPr/>
        </p:nvSpPr>
        <p:spPr>
          <a:xfrm>
            <a:off x="3840480" y="4096512"/>
            <a:ext cx="1463040" cy="365760"/>
          </a:xfrm>
          <a:prstGeom prst="roundRect">
            <a:avLst>
              <a:gd name="adj" fmla="val 50000"/>
            </a:avLst>
          </a:prstGeom>
          <a:solidFill>
            <a:schemeClr val="tx2"/>
          </a:solidFill>
          <a:ln/>
        </p:spPr>
      </p:sp>
      <p:sp>
        <p:nvSpPr>
          <p:cNvPr id="45" name="undefined text"/>
          <p:cNvSpPr txBox="1"/>
          <p:nvPr/>
        </p:nvSpPr>
        <p:spPr>
          <a:xfrm>
            <a:off x="3840480" y="4096512"/>
            <a:ext cx="1463040" cy="365760"/>
          </a:xfrm>
          <a:prstGeom prst="rect">
            <a:avLst/>
          </a:prstGeom>
          <a:noFill/>
          <a:ln/>
        </p:spPr>
        <p:txBody>
          <a:bodyPr wrap="square" lIns="0" tIns="0" rIns="0" bIns="0" rtlCol="0" anchor="ctr"/>
          <a:lstStyle/>
          <a:p>
            <a:pPr algn="ctr" indent="0" marL="0">
              <a:buNone/>
            </a:pPr>
            <a:endParaRPr lang="en-US" sz="1100" dirty="0"/>
          </a:p>
        </p:txBody>
      </p:sp>
      <p:sp>
        <p:nvSpPr>
          <p:cNvPr id="46" name="Plan 3 label"/>
          <p:cNvSpPr txBox="1"/>
          <p:nvPr/>
        </p:nvSpPr>
        <p:spPr>
          <a:xfrm>
            <a:off x="3840480" y="4096512"/>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3 · Build  </a:t>
            </a:r>
            <a:pPr algn="ctr" indent="0" marL="0">
              <a:buNone/>
            </a:pPr>
            <a:r>
              <a:rPr lang="en-US" sz="1200" dirty="0">
                <a:solidFill>
                  <a:schemeClr val="bg1"/>
                </a:solidFill>
              </a:rPr>
              <a:t>20 min</a:t>
            </a:r>
            <a:endParaRPr lang="en-US" sz="1200" dirty="0"/>
          </a:p>
        </p:txBody>
      </p:sp>
      <p:sp>
        <p:nvSpPr>
          <p:cNvPr id="47" name="Plan arrow 3"/>
          <p:cNvSpPr/>
          <p:nvPr/>
        </p:nvSpPr>
        <p:spPr>
          <a:xfrm>
            <a:off x="5321808" y="4279392"/>
            <a:ext cx="192024" cy="0"/>
          </a:xfrm>
          <a:prstGeom prst="line">
            <a:avLst/>
          </a:prstGeom>
          <a:noFill/>
          <a:ln w="15875">
            <a:solidFill>
              <a:schemeClr val="accent3"/>
            </a:solidFill>
            <a:prstDash val="solid"/>
            <a:tailEnd type="triangle"/>
          </a:ln>
        </p:spPr>
      </p:sp>
      <p:sp>
        <p:nvSpPr>
          <p:cNvPr id="48" name="Shape 43"/>
          <p:cNvSpPr/>
          <p:nvPr/>
        </p:nvSpPr>
        <p:spPr>
          <a:xfrm>
            <a:off x="5532120" y="4096512"/>
            <a:ext cx="1463040" cy="365760"/>
          </a:xfrm>
          <a:prstGeom prst="roundRect">
            <a:avLst>
              <a:gd name="adj" fmla="val 50000"/>
            </a:avLst>
          </a:prstGeom>
          <a:solidFill>
            <a:schemeClr val="bg2"/>
          </a:solidFill>
          <a:ln/>
        </p:spPr>
      </p:sp>
      <p:sp>
        <p:nvSpPr>
          <p:cNvPr id="49" name="undefined text"/>
          <p:cNvSpPr txBox="1"/>
          <p:nvPr/>
        </p:nvSpPr>
        <p:spPr>
          <a:xfrm>
            <a:off x="5532120" y="4096512"/>
            <a:ext cx="1463040" cy="365760"/>
          </a:xfrm>
          <a:prstGeom prst="rect">
            <a:avLst/>
          </a:prstGeom>
          <a:noFill/>
          <a:ln/>
        </p:spPr>
        <p:txBody>
          <a:bodyPr wrap="square" lIns="0" tIns="0" rIns="0" bIns="0" rtlCol="0" anchor="ctr"/>
          <a:lstStyle/>
          <a:p>
            <a:pPr algn="ctr" indent="0" marL="0">
              <a:buNone/>
            </a:pPr>
            <a:endParaRPr lang="en-US" sz="1100" dirty="0"/>
          </a:p>
        </p:txBody>
      </p:sp>
      <p:sp>
        <p:nvSpPr>
          <p:cNvPr id="50" name="Plan 4 label"/>
          <p:cNvSpPr txBox="1"/>
          <p:nvPr/>
        </p:nvSpPr>
        <p:spPr>
          <a:xfrm>
            <a:off x="5532120" y="4096512"/>
            <a:ext cx="1463040" cy="365760"/>
          </a:xfrm>
          <a:prstGeom prst="rect">
            <a:avLst/>
          </a:prstGeom>
          <a:noFill/>
          <a:ln/>
        </p:spPr>
        <p:txBody>
          <a:bodyPr wrap="square" lIns="0" tIns="0" rIns="0" bIns="0" rtlCol="0" anchor="ctr"/>
          <a:lstStyle/>
          <a:p>
            <a:pPr algn="ctr" indent="0" marL="0">
              <a:buNone/>
            </a:pPr>
            <a:r>
              <a:rPr lang="en-US" sz="1200" b="1" dirty="0">
                <a:solidFill>
                  <a:schemeClr val="tx2"/>
                </a:solidFill>
              </a:rPr>
              <a:t>4 · Simulate  </a:t>
            </a:r>
            <a:pPr algn="ctr" indent="0" marL="0">
              <a:buNone/>
            </a:pPr>
            <a:r>
              <a:rPr lang="en-US" sz="1200" dirty="0">
                <a:solidFill>
                  <a:schemeClr val="tx2"/>
                </a:solidFill>
              </a:rPr>
              <a:t>15 min</a:t>
            </a:r>
            <a:endParaRPr lang="en-US" sz="1200" dirty="0"/>
          </a:p>
        </p:txBody>
      </p:sp>
      <p:sp>
        <p:nvSpPr>
          <p:cNvPr id="51" name="Plan arrow 4"/>
          <p:cNvSpPr/>
          <p:nvPr/>
        </p:nvSpPr>
        <p:spPr>
          <a:xfrm>
            <a:off x="7013448" y="4279392"/>
            <a:ext cx="192024" cy="0"/>
          </a:xfrm>
          <a:prstGeom prst="line">
            <a:avLst/>
          </a:prstGeom>
          <a:noFill/>
          <a:ln w="15875">
            <a:solidFill>
              <a:schemeClr val="accent3"/>
            </a:solidFill>
            <a:prstDash val="solid"/>
            <a:tailEnd type="triangle"/>
          </a:ln>
        </p:spPr>
      </p:sp>
      <p:sp>
        <p:nvSpPr>
          <p:cNvPr id="52" name="Shape 47"/>
          <p:cNvSpPr/>
          <p:nvPr/>
        </p:nvSpPr>
        <p:spPr>
          <a:xfrm>
            <a:off x="7223760" y="4096512"/>
            <a:ext cx="1463040" cy="365760"/>
          </a:xfrm>
          <a:prstGeom prst="roundRect">
            <a:avLst>
              <a:gd name="adj" fmla="val 50000"/>
            </a:avLst>
          </a:prstGeom>
          <a:solidFill>
            <a:schemeClr val="tx2"/>
          </a:solidFill>
          <a:ln/>
        </p:spPr>
      </p:sp>
      <p:sp>
        <p:nvSpPr>
          <p:cNvPr id="53" name="undefined text"/>
          <p:cNvSpPr txBox="1"/>
          <p:nvPr/>
        </p:nvSpPr>
        <p:spPr>
          <a:xfrm>
            <a:off x="7223760" y="4096512"/>
            <a:ext cx="1463040" cy="365760"/>
          </a:xfrm>
          <a:prstGeom prst="rect">
            <a:avLst/>
          </a:prstGeom>
          <a:noFill/>
          <a:ln/>
        </p:spPr>
        <p:txBody>
          <a:bodyPr wrap="square" lIns="0" tIns="0" rIns="0" bIns="0" rtlCol="0" anchor="ctr"/>
          <a:lstStyle/>
          <a:p>
            <a:pPr algn="ctr" indent="0" marL="0">
              <a:buNone/>
            </a:pPr>
            <a:endParaRPr lang="en-US" sz="1100" dirty="0"/>
          </a:p>
        </p:txBody>
      </p:sp>
      <p:sp>
        <p:nvSpPr>
          <p:cNvPr id="54" name="Plan 5 label"/>
          <p:cNvSpPr txBox="1"/>
          <p:nvPr/>
        </p:nvSpPr>
        <p:spPr>
          <a:xfrm>
            <a:off x="7223760" y="4096512"/>
            <a:ext cx="1463040" cy="365760"/>
          </a:xfrm>
          <a:prstGeom prst="rect">
            <a:avLst/>
          </a:prstGeom>
          <a:noFill/>
          <a:ln/>
        </p:spPr>
        <p:txBody>
          <a:bodyPr wrap="square" lIns="0" tIns="0" rIns="0" bIns="0" rtlCol="0" anchor="ctr"/>
          <a:lstStyle/>
          <a:p>
            <a:pPr algn="ctr" indent="0" marL="0">
              <a:buNone/>
            </a:pPr>
            <a:r>
              <a:rPr lang="en-US" sz="1200" b="1" dirty="0">
                <a:solidFill>
                  <a:schemeClr val="bg1"/>
                </a:solidFill>
              </a:rPr>
              <a:t>5 · Compare  </a:t>
            </a:r>
            <a:pPr algn="ctr" indent="0" marL="0">
              <a:buNone/>
            </a:pPr>
            <a:r>
              <a:rPr lang="en-US" sz="1200" dirty="0">
                <a:solidFill>
                  <a:schemeClr val="bg1"/>
                </a:solidFill>
              </a:rPr>
              <a:t>30 min</a:t>
            </a:r>
            <a:endParaRPr lang="en-US" sz="12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How ModelSEED builds a model</a:t>
            </a:r>
            <a:endParaRPr lang="en-US" sz="3400" dirty="0"/>
          </a:p>
        </p:txBody>
      </p:sp>
      <p:sp>
        <p:nvSpPr>
          <p:cNvPr id="3" name="MS step 1 node"/>
          <p:cNvSpPr/>
          <p:nvPr/>
        </p:nvSpPr>
        <p:spPr>
          <a:xfrm>
            <a:off x="845820" y="1188720"/>
            <a:ext cx="685800" cy="685800"/>
          </a:xfrm>
          <a:prstGeom prst="ellipse">
            <a:avLst/>
          </a:prstGeom>
          <a:solidFill>
            <a:schemeClr val="accent1"/>
          </a:solidFill>
          <a:ln/>
        </p:spPr>
      </p:sp>
      <p:pic>
        <p:nvPicPr>
          <p:cNvPr id="4" name="MS step 1 icon" descr="preencoded.png">    </p:cNvPr>
          <p:cNvPicPr>
            <a:picLocks noChangeAspect="1"/>
          </p:cNvPicPr>
          <p:nvPr/>
        </p:nvPicPr>
        <p:blipFill>
          <a:blip r:embed="rId1"/>
          <a:stretch>
            <a:fillRect/>
          </a:stretch>
        </p:blipFill>
        <p:spPr>
          <a:xfrm>
            <a:off x="1017270" y="1360170"/>
            <a:ext cx="342900" cy="342900"/>
          </a:xfrm>
          <a:prstGeom prst="rect">
            <a:avLst/>
          </a:prstGeom>
        </p:spPr>
      </p:pic>
      <p:sp>
        <p:nvSpPr>
          <p:cNvPr id="5" name="MS arrow 1"/>
          <p:cNvSpPr/>
          <p:nvPr/>
        </p:nvSpPr>
        <p:spPr>
          <a:xfrm>
            <a:off x="1604772" y="1531620"/>
            <a:ext cx="859536" cy="0"/>
          </a:xfrm>
          <a:prstGeom prst="line">
            <a:avLst/>
          </a:prstGeom>
          <a:noFill/>
          <a:ln w="19050">
            <a:solidFill>
              <a:schemeClr val="accent3"/>
            </a:solidFill>
            <a:prstDash val="solid"/>
            <a:tailEnd type="triangle"/>
          </a:ln>
        </p:spPr>
      </p:sp>
      <p:sp>
        <p:nvSpPr>
          <p:cNvPr id="6" name="MS step 1 label"/>
          <p:cNvSpPr txBox="1"/>
          <p:nvPr/>
        </p:nvSpPr>
        <p:spPr>
          <a:xfrm>
            <a:off x="365760" y="1965960"/>
            <a:ext cx="1645920" cy="329184"/>
          </a:xfrm>
          <a:prstGeom prst="rect">
            <a:avLst/>
          </a:prstGeom>
          <a:noFill/>
          <a:ln/>
        </p:spPr>
        <p:txBody>
          <a:bodyPr wrap="square" lIns="0" tIns="0" rIns="0" bIns="0" rtlCol="0" anchor="ctr"/>
          <a:lstStyle/>
          <a:p>
            <a:pPr algn="ctr" indent="0" marL="0">
              <a:buNone/>
            </a:pPr>
            <a:r>
              <a:rPr lang="en-US" sz="1500" b="1" dirty="0">
                <a:solidFill>
                  <a:schemeClr val="tx2"/>
                </a:solidFill>
              </a:rPr>
              <a:t>Genome</a:t>
            </a:r>
            <a:endParaRPr lang="en-US" sz="1500" dirty="0"/>
          </a:p>
        </p:txBody>
      </p:sp>
      <p:sp>
        <p:nvSpPr>
          <p:cNvPr id="7" name="MS step 1 text"/>
          <p:cNvSpPr txBox="1"/>
          <p:nvPr/>
        </p:nvSpPr>
        <p:spPr>
          <a:xfrm>
            <a:off x="457200" y="2304288"/>
            <a:ext cx="1463040" cy="731520"/>
          </a:xfrm>
          <a:prstGeom prst="rect">
            <a:avLst/>
          </a:prstGeom>
          <a:noFill/>
          <a:ln/>
        </p:spPr>
        <p:txBody>
          <a:bodyPr wrap="square" lIns="0" tIns="0" rIns="0" bIns="0" rtlCol="0" anchor="t"/>
          <a:lstStyle/>
          <a:p>
            <a:pPr algn="ctr" indent="0" marL="0">
              <a:buNone/>
            </a:pPr>
            <a:r>
              <a:rPr lang="en-US" sz="1300" dirty="0">
                <a:solidFill>
                  <a:schemeClr val="tx1"/>
                </a:solidFill>
              </a:rPr>
              <a:t>your RefSeq genome, gene by gene</a:t>
            </a:r>
            <a:endParaRPr lang="en-US" sz="1300" dirty="0"/>
          </a:p>
        </p:txBody>
      </p:sp>
      <p:sp>
        <p:nvSpPr>
          <p:cNvPr id="8" name="MS step 2 node"/>
          <p:cNvSpPr/>
          <p:nvPr/>
        </p:nvSpPr>
        <p:spPr>
          <a:xfrm>
            <a:off x="2537460" y="1188720"/>
            <a:ext cx="685800" cy="685800"/>
          </a:xfrm>
          <a:prstGeom prst="ellipse">
            <a:avLst/>
          </a:prstGeom>
          <a:solidFill>
            <a:schemeClr val="accent1"/>
          </a:solidFill>
          <a:ln/>
        </p:spPr>
      </p:sp>
      <p:pic>
        <p:nvPicPr>
          <p:cNvPr id="9" name="MS step 2 icon" descr="preencoded.png">    </p:cNvPr>
          <p:cNvPicPr>
            <a:picLocks noChangeAspect="1"/>
          </p:cNvPicPr>
          <p:nvPr/>
        </p:nvPicPr>
        <p:blipFill>
          <a:blip r:embed="rId2"/>
          <a:stretch>
            <a:fillRect/>
          </a:stretch>
        </p:blipFill>
        <p:spPr>
          <a:xfrm>
            <a:off x="2708910" y="1360170"/>
            <a:ext cx="342900" cy="342900"/>
          </a:xfrm>
          <a:prstGeom prst="rect">
            <a:avLst/>
          </a:prstGeom>
        </p:spPr>
      </p:pic>
      <p:sp>
        <p:nvSpPr>
          <p:cNvPr id="10" name="MS arrow 2"/>
          <p:cNvSpPr/>
          <p:nvPr/>
        </p:nvSpPr>
        <p:spPr>
          <a:xfrm>
            <a:off x="3296412" y="1531620"/>
            <a:ext cx="859536" cy="0"/>
          </a:xfrm>
          <a:prstGeom prst="line">
            <a:avLst/>
          </a:prstGeom>
          <a:noFill/>
          <a:ln w="19050">
            <a:solidFill>
              <a:schemeClr val="accent3"/>
            </a:solidFill>
            <a:prstDash val="solid"/>
            <a:tailEnd type="triangle"/>
          </a:ln>
        </p:spPr>
      </p:sp>
      <p:sp>
        <p:nvSpPr>
          <p:cNvPr id="11" name="MS step 2 label"/>
          <p:cNvSpPr txBox="1"/>
          <p:nvPr/>
        </p:nvSpPr>
        <p:spPr>
          <a:xfrm>
            <a:off x="2057400" y="1965960"/>
            <a:ext cx="1645920" cy="329184"/>
          </a:xfrm>
          <a:prstGeom prst="rect">
            <a:avLst/>
          </a:prstGeom>
          <a:noFill/>
          <a:ln/>
        </p:spPr>
        <p:txBody>
          <a:bodyPr wrap="square" lIns="0" tIns="0" rIns="0" bIns="0" rtlCol="0" anchor="ctr"/>
          <a:lstStyle/>
          <a:p>
            <a:pPr algn="ctr" indent="0" marL="0">
              <a:buNone/>
            </a:pPr>
            <a:r>
              <a:rPr lang="en-US" sz="1500" b="1" dirty="0">
                <a:solidFill>
                  <a:schemeClr val="tx2"/>
                </a:solidFill>
              </a:rPr>
              <a:t>RAST roles</a:t>
            </a:r>
            <a:endParaRPr lang="en-US" sz="1500" dirty="0"/>
          </a:p>
        </p:txBody>
      </p:sp>
      <p:sp>
        <p:nvSpPr>
          <p:cNvPr id="12" name="MS step 2 text"/>
          <p:cNvSpPr txBox="1"/>
          <p:nvPr/>
        </p:nvSpPr>
        <p:spPr>
          <a:xfrm>
            <a:off x="2148840" y="2304288"/>
            <a:ext cx="1463040" cy="731520"/>
          </a:xfrm>
          <a:prstGeom prst="rect">
            <a:avLst/>
          </a:prstGeom>
          <a:noFill/>
          <a:ln/>
        </p:spPr>
        <p:txBody>
          <a:bodyPr wrap="square" lIns="0" tIns="0" rIns="0" bIns="0" rtlCol="0" anchor="t"/>
          <a:lstStyle/>
          <a:p>
            <a:pPr algn="ctr" indent="0" marL="0">
              <a:buNone/>
            </a:pPr>
            <a:r>
              <a:rPr lang="en-US" sz="1300" dirty="0">
                <a:solidFill>
                  <a:schemeClr val="tx1"/>
                </a:solidFill>
              </a:rPr>
              <a:t>each gene gets a standard functional role</a:t>
            </a:r>
            <a:endParaRPr lang="en-US" sz="1300" dirty="0"/>
          </a:p>
        </p:txBody>
      </p:sp>
      <p:sp>
        <p:nvSpPr>
          <p:cNvPr id="13" name="MS step 3 node"/>
          <p:cNvSpPr/>
          <p:nvPr/>
        </p:nvSpPr>
        <p:spPr>
          <a:xfrm>
            <a:off x="4229100" y="1188720"/>
            <a:ext cx="685800" cy="685800"/>
          </a:xfrm>
          <a:prstGeom prst="ellipse">
            <a:avLst/>
          </a:prstGeom>
          <a:solidFill>
            <a:schemeClr val="accent1"/>
          </a:solidFill>
          <a:ln/>
        </p:spPr>
      </p:sp>
      <p:pic>
        <p:nvPicPr>
          <p:cNvPr id="14" name="MS step 3 icon" descr="preencoded.png">    </p:cNvPr>
          <p:cNvPicPr>
            <a:picLocks noChangeAspect="1"/>
          </p:cNvPicPr>
          <p:nvPr/>
        </p:nvPicPr>
        <p:blipFill>
          <a:blip r:embed="rId3"/>
          <a:stretch>
            <a:fillRect/>
          </a:stretch>
        </p:blipFill>
        <p:spPr>
          <a:xfrm>
            <a:off x="4400550" y="1360170"/>
            <a:ext cx="342900" cy="342900"/>
          </a:xfrm>
          <a:prstGeom prst="rect">
            <a:avLst/>
          </a:prstGeom>
        </p:spPr>
      </p:pic>
      <p:sp>
        <p:nvSpPr>
          <p:cNvPr id="15" name="MS arrow 3"/>
          <p:cNvSpPr/>
          <p:nvPr/>
        </p:nvSpPr>
        <p:spPr>
          <a:xfrm>
            <a:off x="4988052" y="1531620"/>
            <a:ext cx="859536" cy="0"/>
          </a:xfrm>
          <a:prstGeom prst="line">
            <a:avLst/>
          </a:prstGeom>
          <a:noFill/>
          <a:ln w="19050">
            <a:solidFill>
              <a:schemeClr val="accent3"/>
            </a:solidFill>
            <a:prstDash val="solid"/>
            <a:tailEnd type="triangle"/>
          </a:ln>
        </p:spPr>
      </p:sp>
      <p:sp>
        <p:nvSpPr>
          <p:cNvPr id="16" name="MS step 3 label"/>
          <p:cNvSpPr txBox="1"/>
          <p:nvPr/>
        </p:nvSpPr>
        <p:spPr>
          <a:xfrm>
            <a:off x="3749040" y="1965960"/>
            <a:ext cx="1645920" cy="329184"/>
          </a:xfrm>
          <a:prstGeom prst="rect">
            <a:avLst/>
          </a:prstGeom>
          <a:noFill/>
          <a:ln/>
        </p:spPr>
        <p:txBody>
          <a:bodyPr wrap="square" lIns="0" tIns="0" rIns="0" bIns="0" rtlCol="0" anchor="ctr"/>
          <a:lstStyle/>
          <a:p>
            <a:pPr algn="ctr" indent="0" marL="0">
              <a:buNone/>
            </a:pPr>
            <a:r>
              <a:rPr lang="en-US" sz="1500" b="1" dirty="0">
                <a:solidFill>
                  <a:schemeClr val="tx2"/>
                </a:solidFill>
              </a:rPr>
              <a:t>Template</a:t>
            </a:r>
            <a:endParaRPr lang="en-US" sz="1500" dirty="0"/>
          </a:p>
        </p:txBody>
      </p:sp>
      <p:sp>
        <p:nvSpPr>
          <p:cNvPr id="17" name="MS step 3 text"/>
          <p:cNvSpPr txBox="1"/>
          <p:nvPr/>
        </p:nvSpPr>
        <p:spPr>
          <a:xfrm>
            <a:off x="3840480" y="2304288"/>
            <a:ext cx="1463040" cy="731520"/>
          </a:xfrm>
          <a:prstGeom prst="rect">
            <a:avLst/>
          </a:prstGeom>
          <a:noFill/>
          <a:ln/>
        </p:spPr>
        <p:txBody>
          <a:bodyPr wrap="square" lIns="0" tIns="0" rIns="0" bIns="0" rtlCol="0" anchor="t"/>
          <a:lstStyle/>
          <a:p>
            <a:pPr algn="ctr" indent="0" marL="0">
              <a:buNone/>
            </a:pPr>
            <a:r>
              <a:rPr lang="en-US" sz="1300" dirty="0">
                <a:solidFill>
                  <a:schemeClr val="tx1"/>
                </a:solidFill>
              </a:rPr>
              <a:t>roles become reactions and gene rules</a:t>
            </a:r>
            <a:endParaRPr lang="en-US" sz="1300" dirty="0"/>
          </a:p>
        </p:txBody>
      </p:sp>
      <p:sp>
        <p:nvSpPr>
          <p:cNvPr id="18" name="MS step 4 node"/>
          <p:cNvSpPr/>
          <p:nvPr/>
        </p:nvSpPr>
        <p:spPr>
          <a:xfrm>
            <a:off x="5920740" y="1188720"/>
            <a:ext cx="685800" cy="685800"/>
          </a:xfrm>
          <a:prstGeom prst="ellipse">
            <a:avLst/>
          </a:prstGeom>
          <a:solidFill>
            <a:schemeClr val="accent1"/>
          </a:solidFill>
          <a:ln/>
        </p:spPr>
      </p:sp>
      <p:pic>
        <p:nvPicPr>
          <p:cNvPr id="19" name="MS step 4 icon" descr="preencoded.png">    </p:cNvPr>
          <p:cNvPicPr>
            <a:picLocks noChangeAspect="1"/>
          </p:cNvPicPr>
          <p:nvPr/>
        </p:nvPicPr>
        <p:blipFill>
          <a:blip r:embed="rId4"/>
          <a:stretch>
            <a:fillRect/>
          </a:stretch>
        </p:blipFill>
        <p:spPr>
          <a:xfrm>
            <a:off x="6092190" y="1360170"/>
            <a:ext cx="342900" cy="342900"/>
          </a:xfrm>
          <a:prstGeom prst="rect">
            <a:avLst/>
          </a:prstGeom>
        </p:spPr>
      </p:pic>
      <p:sp>
        <p:nvSpPr>
          <p:cNvPr id="20" name="MS arrow 4"/>
          <p:cNvSpPr/>
          <p:nvPr/>
        </p:nvSpPr>
        <p:spPr>
          <a:xfrm>
            <a:off x="6679692" y="1531620"/>
            <a:ext cx="859536" cy="0"/>
          </a:xfrm>
          <a:prstGeom prst="line">
            <a:avLst/>
          </a:prstGeom>
          <a:noFill/>
          <a:ln w="19050">
            <a:solidFill>
              <a:schemeClr val="accent3"/>
            </a:solidFill>
            <a:prstDash val="solid"/>
            <a:tailEnd type="triangle"/>
          </a:ln>
        </p:spPr>
      </p:sp>
      <p:sp>
        <p:nvSpPr>
          <p:cNvPr id="21" name="MS step 4 label"/>
          <p:cNvSpPr txBox="1"/>
          <p:nvPr/>
        </p:nvSpPr>
        <p:spPr>
          <a:xfrm>
            <a:off x="5440680" y="1965960"/>
            <a:ext cx="1645920" cy="329184"/>
          </a:xfrm>
          <a:prstGeom prst="rect">
            <a:avLst/>
          </a:prstGeom>
          <a:noFill/>
          <a:ln/>
        </p:spPr>
        <p:txBody>
          <a:bodyPr wrap="square" lIns="0" tIns="0" rIns="0" bIns="0" rtlCol="0" anchor="ctr"/>
          <a:lstStyle/>
          <a:p>
            <a:pPr algn="ctr" indent="0" marL="0">
              <a:buNone/>
            </a:pPr>
            <a:r>
              <a:rPr lang="en-US" sz="1500" b="1" dirty="0">
                <a:solidFill>
                  <a:schemeClr val="tx2"/>
                </a:solidFill>
              </a:rPr>
              <a:t>Biomass, ATP</a:t>
            </a:r>
            <a:endParaRPr lang="en-US" sz="1500" dirty="0"/>
          </a:p>
        </p:txBody>
      </p:sp>
      <p:sp>
        <p:nvSpPr>
          <p:cNvPr id="22" name="MS step 4 text"/>
          <p:cNvSpPr txBox="1"/>
          <p:nvPr/>
        </p:nvSpPr>
        <p:spPr>
          <a:xfrm>
            <a:off x="5532120" y="2304288"/>
            <a:ext cx="1463040" cy="731520"/>
          </a:xfrm>
          <a:prstGeom prst="rect">
            <a:avLst/>
          </a:prstGeom>
          <a:noFill/>
          <a:ln/>
        </p:spPr>
        <p:txBody>
          <a:bodyPr wrap="square" lIns="0" tIns="0" rIns="0" bIns="0" rtlCol="0" anchor="t"/>
          <a:lstStyle/>
          <a:p>
            <a:pPr algn="ctr" indent="0" marL="0">
              <a:buNone/>
            </a:pPr>
            <a:r>
              <a:rPr lang="en-US" sz="1300" dirty="0">
                <a:solidFill>
                  <a:schemeClr val="tx1"/>
                </a:solidFill>
              </a:rPr>
              <a:t>template biomass; ATP yield of the core checked</a:t>
            </a:r>
            <a:endParaRPr lang="en-US" sz="1300" dirty="0"/>
          </a:p>
        </p:txBody>
      </p:sp>
      <p:sp>
        <p:nvSpPr>
          <p:cNvPr id="23" name="MS step 5 node"/>
          <p:cNvSpPr/>
          <p:nvPr/>
        </p:nvSpPr>
        <p:spPr>
          <a:xfrm>
            <a:off x="7612380" y="1188720"/>
            <a:ext cx="685800" cy="685800"/>
          </a:xfrm>
          <a:prstGeom prst="ellipse">
            <a:avLst/>
          </a:prstGeom>
          <a:solidFill>
            <a:schemeClr val="accent2"/>
          </a:solidFill>
          <a:ln/>
        </p:spPr>
      </p:sp>
      <p:pic>
        <p:nvPicPr>
          <p:cNvPr id="24" name="MS step 5 icon" descr="preencoded.png">    </p:cNvPr>
          <p:cNvPicPr>
            <a:picLocks noChangeAspect="1"/>
          </p:cNvPicPr>
          <p:nvPr/>
        </p:nvPicPr>
        <p:blipFill>
          <a:blip r:embed="rId5"/>
          <a:stretch>
            <a:fillRect/>
          </a:stretch>
        </p:blipFill>
        <p:spPr>
          <a:xfrm>
            <a:off x="7783830" y="1360170"/>
            <a:ext cx="342900" cy="342900"/>
          </a:xfrm>
          <a:prstGeom prst="rect">
            <a:avLst/>
          </a:prstGeom>
        </p:spPr>
      </p:pic>
      <p:sp>
        <p:nvSpPr>
          <p:cNvPr id="25" name="MS step 5 label"/>
          <p:cNvSpPr txBox="1"/>
          <p:nvPr/>
        </p:nvSpPr>
        <p:spPr>
          <a:xfrm>
            <a:off x="7132320" y="1965960"/>
            <a:ext cx="1645920" cy="329184"/>
          </a:xfrm>
          <a:prstGeom prst="rect">
            <a:avLst/>
          </a:prstGeom>
          <a:noFill/>
          <a:ln/>
        </p:spPr>
        <p:txBody>
          <a:bodyPr wrap="square" lIns="0" tIns="0" rIns="0" bIns="0" rtlCol="0" anchor="ctr"/>
          <a:lstStyle/>
          <a:p>
            <a:pPr algn="ctr" indent="0" marL="0">
              <a:buNone/>
            </a:pPr>
            <a:r>
              <a:rPr lang="en-US" sz="1500" b="1" dirty="0">
                <a:solidFill>
                  <a:schemeClr val="tx2"/>
                </a:solidFill>
              </a:rPr>
              <a:t>Gap-fill</a:t>
            </a:r>
            <a:endParaRPr lang="en-US" sz="1500" dirty="0"/>
          </a:p>
        </p:txBody>
      </p:sp>
      <p:sp>
        <p:nvSpPr>
          <p:cNvPr id="26" name="MS step 5 text"/>
          <p:cNvSpPr txBox="1"/>
          <p:nvPr/>
        </p:nvSpPr>
        <p:spPr>
          <a:xfrm>
            <a:off x="7223760" y="2304288"/>
            <a:ext cx="1463040" cy="731520"/>
          </a:xfrm>
          <a:prstGeom prst="rect">
            <a:avLst/>
          </a:prstGeom>
          <a:noFill/>
          <a:ln/>
        </p:spPr>
        <p:txBody>
          <a:bodyPr wrap="square" lIns="0" tIns="0" rIns="0" bIns="0" rtlCol="0" anchor="t"/>
          <a:lstStyle/>
          <a:p>
            <a:pPr algn="ctr" indent="0" marL="0">
              <a:buNone/>
            </a:pPr>
            <a:r>
              <a:rPr lang="en-US" sz="1300" dirty="0">
                <a:solidFill>
                  <a:schemeClr val="tx1"/>
                </a:solidFill>
              </a:rPr>
              <a:t>fewest reactions added to grow on a medium</a:t>
            </a:r>
            <a:endParaRPr lang="en-US" sz="1300" dirty="0"/>
          </a:p>
        </p:txBody>
      </p:sp>
      <p:sp>
        <p:nvSpPr>
          <p:cNvPr id="27" name="Bottom-up card"/>
          <p:cNvSpPr/>
          <p:nvPr/>
        </p:nvSpPr>
        <p:spPr>
          <a:xfrm>
            <a:off x="457200" y="3200400"/>
            <a:ext cx="4023360" cy="1280160"/>
          </a:xfrm>
          <a:prstGeom prst="roundRect">
            <a:avLst>
              <a:gd name="adj" fmla="val 5714"/>
            </a:avLst>
          </a:prstGeom>
          <a:solidFill>
            <a:schemeClr val="bg2"/>
          </a:solidFill>
          <a:ln/>
        </p:spPr>
      </p:sp>
      <p:sp>
        <p:nvSpPr>
          <p:cNvPr id="28" name="Bottom-up node"/>
          <p:cNvSpPr/>
          <p:nvPr/>
        </p:nvSpPr>
        <p:spPr>
          <a:xfrm>
            <a:off x="640080" y="3364992"/>
            <a:ext cx="411480" cy="411480"/>
          </a:xfrm>
          <a:prstGeom prst="ellipse">
            <a:avLst/>
          </a:prstGeom>
          <a:solidFill>
            <a:schemeClr val="accent1"/>
          </a:solidFill>
          <a:ln/>
        </p:spPr>
      </p:sp>
      <p:pic>
        <p:nvPicPr>
          <p:cNvPr id="29" name="Bottom-up icon" descr="preencoded.png">    </p:cNvPr>
          <p:cNvPicPr>
            <a:picLocks noChangeAspect="1"/>
          </p:cNvPicPr>
          <p:nvPr/>
        </p:nvPicPr>
        <p:blipFill>
          <a:blip r:embed="rId6"/>
          <a:stretch>
            <a:fillRect/>
          </a:stretch>
        </p:blipFill>
        <p:spPr>
          <a:xfrm>
            <a:off x="742950" y="3467862"/>
            <a:ext cx="205740" cy="205740"/>
          </a:xfrm>
          <a:prstGeom prst="rect">
            <a:avLst/>
          </a:prstGeom>
        </p:spPr>
      </p:pic>
      <p:sp>
        <p:nvSpPr>
          <p:cNvPr id="30" name="Bottom-up heading"/>
          <p:cNvSpPr txBox="1"/>
          <p:nvPr/>
        </p:nvSpPr>
        <p:spPr>
          <a:xfrm>
            <a:off x="1188720" y="3364992"/>
            <a:ext cx="3108960" cy="411480"/>
          </a:xfrm>
          <a:prstGeom prst="rect">
            <a:avLst/>
          </a:prstGeom>
          <a:noFill/>
          <a:ln/>
        </p:spPr>
        <p:txBody>
          <a:bodyPr wrap="square" lIns="0" tIns="0" rIns="0" bIns="0" rtlCol="0" anchor="ctr"/>
          <a:lstStyle/>
          <a:p>
            <a:pPr indent="0" marL="0">
              <a:buNone/>
            </a:pPr>
            <a:r>
              <a:rPr lang="en-US" sz="1500" b="1" dirty="0">
                <a:solidFill>
                  <a:schemeClr val="tx2"/>
                </a:solidFill>
              </a:rPr>
              <a:t>Bottom-up</a:t>
            </a:r>
            <a:endParaRPr lang="en-US" sz="1500" dirty="0"/>
          </a:p>
        </p:txBody>
      </p:sp>
      <p:sp>
        <p:nvSpPr>
          <p:cNvPr id="31" name="Bottom-up text"/>
          <p:cNvSpPr txBox="1"/>
          <p:nvPr/>
        </p:nvSpPr>
        <p:spPr>
          <a:xfrm>
            <a:off x="640080" y="3822192"/>
            <a:ext cx="3657600" cy="621792"/>
          </a:xfrm>
          <a:prstGeom prst="rect">
            <a:avLst/>
          </a:prstGeom>
          <a:noFill/>
          <a:ln/>
        </p:spPr>
        <p:txBody>
          <a:bodyPr wrap="square" lIns="0" tIns="0" rIns="0" bIns="0" rtlCol="0" anchor="t"/>
          <a:lstStyle/>
          <a:p>
            <a:pPr indent="0" marL="0">
              <a:buNone/>
            </a:pPr>
            <a:r>
              <a:rPr lang="en-US" sz="1300" dirty="0">
                <a:solidFill>
                  <a:schemeClr val="tx1"/>
                </a:solidFill>
              </a:rPr>
              <a:t>Reactions come from annotated genes, plus spontaneous reactions and gap-filling. A gene RAST misses is a reaction the model misses.</a:t>
            </a:r>
            <a:endParaRPr lang="en-US" sz="1300" dirty="0"/>
          </a:p>
        </p:txBody>
      </p:sp>
      <p:sp>
        <p:nvSpPr>
          <p:cNvPr id="32" name="Namespace card"/>
          <p:cNvSpPr/>
          <p:nvPr/>
        </p:nvSpPr>
        <p:spPr>
          <a:xfrm>
            <a:off x="4663440" y="3200400"/>
            <a:ext cx="4023360" cy="1280160"/>
          </a:xfrm>
          <a:prstGeom prst="roundRect">
            <a:avLst>
              <a:gd name="adj" fmla="val 5714"/>
            </a:avLst>
          </a:prstGeom>
          <a:solidFill>
            <a:schemeClr val="tx2"/>
          </a:solidFill>
          <a:ln/>
        </p:spPr>
      </p:sp>
      <p:sp>
        <p:nvSpPr>
          <p:cNvPr id="33" name="Namespace node"/>
          <p:cNvSpPr/>
          <p:nvPr/>
        </p:nvSpPr>
        <p:spPr>
          <a:xfrm>
            <a:off x="4846320" y="3364992"/>
            <a:ext cx="411480" cy="411480"/>
          </a:xfrm>
          <a:prstGeom prst="ellipse">
            <a:avLst/>
          </a:prstGeom>
          <a:solidFill>
            <a:schemeClr val="accent2"/>
          </a:solidFill>
          <a:ln/>
        </p:spPr>
      </p:sp>
      <p:pic>
        <p:nvPicPr>
          <p:cNvPr id="34" name="Namespace icon" descr="preencoded.png">    </p:cNvPr>
          <p:cNvPicPr>
            <a:picLocks noChangeAspect="1"/>
          </p:cNvPicPr>
          <p:nvPr/>
        </p:nvPicPr>
        <p:blipFill>
          <a:blip r:embed="rId7"/>
          <a:stretch>
            <a:fillRect/>
          </a:stretch>
        </p:blipFill>
        <p:spPr>
          <a:xfrm>
            <a:off x="4949190" y="3467862"/>
            <a:ext cx="205740" cy="205740"/>
          </a:xfrm>
          <a:prstGeom prst="rect">
            <a:avLst/>
          </a:prstGeom>
        </p:spPr>
      </p:pic>
      <p:sp>
        <p:nvSpPr>
          <p:cNvPr id="35" name="Namespace heading"/>
          <p:cNvSpPr txBox="1"/>
          <p:nvPr/>
        </p:nvSpPr>
        <p:spPr>
          <a:xfrm>
            <a:off x="5394960" y="3364992"/>
            <a:ext cx="3108960" cy="411480"/>
          </a:xfrm>
          <a:prstGeom prst="rect">
            <a:avLst/>
          </a:prstGeom>
          <a:noFill/>
          <a:ln/>
        </p:spPr>
        <p:txBody>
          <a:bodyPr wrap="square" lIns="0" tIns="0" rIns="0" bIns="0" rtlCol="0" anchor="ctr"/>
          <a:lstStyle/>
          <a:p>
            <a:pPr indent="0" marL="0">
              <a:buNone/>
            </a:pPr>
            <a:r>
              <a:rPr lang="en-US" sz="1500" b="1" dirty="0">
                <a:solidFill>
                  <a:schemeClr val="bg1"/>
                </a:solidFill>
              </a:rPr>
              <a:t>Its own identifiers</a:t>
            </a:r>
            <a:endParaRPr lang="en-US" sz="1500" dirty="0"/>
          </a:p>
        </p:txBody>
      </p:sp>
      <p:sp>
        <p:nvSpPr>
          <p:cNvPr id="36" name="Namespace text"/>
          <p:cNvSpPr txBox="1"/>
          <p:nvPr/>
        </p:nvSpPr>
        <p:spPr>
          <a:xfrm>
            <a:off x="4846320" y="3822192"/>
            <a:ext cx="3657600" cy="621792"/>
          </a:xfrm>
          <a:prstGeom prst="rect">
            <a:avLst/>
          </a:prstGeom>
          <a:noFill/>
          <a:ln/>
        </p:spPr>
        <p:txBody>
          <a:bodyPr wrap="square" lIns="0" tIns="0" rIns="0" bIns="0" rtlCol="0" anchor="t"/>
          <a:lstStyle/>
          <a:p>
            <a:pPr indent="0" marL="0">
              <a:buNone/>
            </a:pPr>
            <a:r>
              <a:rPr lang="en-US" sz="1300" dirty="0">
                <a:solidFill>
                  <a:schemeClr val="accent4"/>
                </a:solidFill>
              </a:rPr>
              <a:t>Glucose is </a:t>
            </a:r>
            <a:pPr indent="0" marL="0">
              <a:buNone/>
            </a:pPr>
            <a:r>
              <a:rPr lang="en-US" sz="1300" dirty="0">
                <a:solidFill>
                  <a:schemeClr val="accent2"/>
                </a:solidFill>
                <a:latin typeface="Courier New" pitchFamily="34" charset="0"/>
                <a:ea typeface="Courier New" pitchFamily="34" charset="-122"/>
                <a:cs typeface="Courier New" pitchFamily="34" charset="-120"/>
              </a:rPr>
              <a:t>cpd00027</a:t>
            </a:r>
            <a:pPr indent="0" marL="0">
              <a:buNone/>
            </a:pPr>
            <a:r>
              <a:rPr lang="en-US" sz="1300" dirty="0">
                <a:solidFill>
                  <a:schemeClr val="accent4"/>
                </a:solidFill>
              </a:rPr>
              <a:t>, not </a:t>
            </a:r>
            <a:pPr indent="0" marL="0">
              <a:buNone/>
            </a:pPr>
            <a:r>
              <a:rPr lang="en-US" sz="1300" dirty="0">
                <a:solidFill>
                  <a:schemeClr val="accent2"/>
                </a:solidFill>
                <a:latin typeface="Courier New" pitchFamily="34" charset="0"/>
                <a:ea typeface="Courier New" pitchFamily="34" charset="-122"/>
                <a:cs typeface="Courier New" pitchFamily="34" charset="-120"/>
              </a:rPr>
              <a:t>glc__D</a:t>
            </a:r>
            <a:pPr indent="0" marL="0">
              <a:buNone/>
            </a:pPr>
            <a:r>
              <a:rPr lang="en-US" sz="1300" dirty="0">
                <a:solidFill>
                  <a:schemeClr val="accent4"/>
                </a:solidFill>
              </a:rPr>
              <a:t>. Reactions are rxn… IDs in compartments c0 and e0.</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Step 1 · Set up your Narrative</a:t>
            </a:r>
            <a:endParaRPr lang="en-US" sz="3400" dirty="0"/>
          </a:p>
        </p:txBody>
      </p:sp>
      <p:sp>
        <p:nvSpPr>
          <p:cNvPr id="3" name="Setup link 1"/>
          <p:cNvSpPr/>
          <p:nvPr/>
        </p:nvSpPr>
        <p:spPr>
          <a:xfrm>
            <a:off x="649224" y="1591056"/>
            <a:ext cx="0" cy="402336"/>
          </a:xfrm>
          <a:prstGeom prst="line">
            <a:avLst/>
          </a:prstGeom>
          <a:noFill/>
          <a:ln w="19050">
            <a:solidFill>
              <a:schemeClr val="accent4"/>
            </a:solidFill>
            <a:prstDash val="solid"/>
          </a:ln>
        </p:spPr>
      </p:sp>
      <p:sp>
        <p:nvSpPr>
          <p:cNvPr id="4" name="Setup step 1 node"/>
          <p:cNvSpPr/>
          <p:nvPr/>
        </p:nvSpPr>
        <p:spPr>
          <a:xfrm>
            <a:off x="457200" y="1188720"/>
            <a:ext cx="384048" cy="384048"/>
          </a:xfrm>
          <a:prstGeom prst="ellipse">
            <a:avLst/>
          </a:prstGeom>
          <a:solidFill>
            <a:schemeClr val="accent1"/>
          </a:solidFill>
          <a:ln/>
        </p:spPr>
      </p:sp>
      <p:sp>
        <p:nvSpPr>
          <p:cNvPr id="5" name="Setup step 1 number"/>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Setup step 1 text"/>
          <p:cNvSpPr txBox="1"/>
          <p:nvPr/>
        </p:nvSpPr>
        <p:spPr>
          <a:xfrm>
            <a:off x="1024128" y="1170432"/>
            <a:ext cx="3639312" cy="777240"/>
          </a:xfrm>
          <a:prstGeom prst="rect">
            <a:avLst/>
          </a:prstGeom>
          <a:noFill/>
          <a:ln/>
        </p:spPr>
        <p:txBody>
          <a:bodyPr wrap="square" lIns="0" tIns="0" rIns="0" bIns="0" rtlCol="0" anchor="t"/>
          <a:lstStyle/>
          <a:p>
            <a:pPr indent="0" marL="0">
              <a:buNone/>
            </a:pPr>
            <a:r>
              <a:rPr lang="en-US" sz="1400" dirty="0">
                <a:solidFill>
                  <a:schemeClr val="tx1"/>
                </a:solidFill>
              </a:rPr>
              <a:t>Go to narrative.kbase.us and sign in (free account with Google, ORCID or Globus)</a:t>
            </a:r>
            <a:endParaRPr lang="en-US" sz="1400" dirty="0"/>
          </a:p>
        </p:txBody>
      </p:sp>
      <p:sp>
        <p:nvSpPr>
          <p:cNvPr id="7" name="Setup link 2"/>
          <p:cNvSpPr/>
          <p:nvPr/>
        </p:nvSpPr>
        <p:spPr>
          <a:xfrm>
            <a:off x="649224" y="2414016"/>
            <a:ext cx="0" cy="402336"/>
          </a:xfrm>
          <a:prstGeom prst="line">
            <a:avLst/>
          </a:prstGeom>
          <a:noFill/>
          <a:ln w="19050">
            <a:solidFill>
              <a:schemeClr val="accent4"/>
            </a:solidFill>
            <a:prstDash val="solid"/>
          </a:ln>
        </p:spPr>
      </p:sp>
      <p:sp>
        <p:nvSpPr>
          <p:cNvPr id="8" name="Setup step 2 node"/>
          <p:cNvSpPr/>
          <p:nvPr/>
        </p:nvSpPr>
        <p:spPr>
          <a:xfrm>
            <a:off x="457200" y="2011680"/>
            <a:ext cx="384048" cy="384048"/>
          </a:xfrm>
          <a:prstGeom prst="ellipse">
            <a:avLst/>
          </a:prstGeom>
          <a:solidFill>
            <a:schemeClr val="accent1"/>
          </a:solidFill>
          <a:ln/>
        </p:spPr>
      </p:sp>
      <p:sp>
        <p:nvSpPr>
          <p:cNvPr id="9" name="Setup step 2 number"/>
          <p:cNvSpPr txBox="1"/>
          <p:nvPr/>
        </p:nvSpPr>
        <p:spPr>
          <a:xfrm>
            <a:off x="457200"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Setup step 2 text"/>
          <p:cNvSpPr txBox="1"/>
          <p:nvPr/>
        </p:nvSpPr>
        <p:spPr>
          <a:xfrm>
            <a:off x="1024128" y="1993392"/>
            <a:ext cx="3639312" cy="777240"/>
          </a:xfrm>
          <a:prstGeom prst="rect">
            <a:avLst/>
          </a:prstGeom>
          <a:noFill/>
          <a:ln/>
        </p:spPr>
        <p:txBody>
          <a:bodyPr wrap="square" lIns="0" tIns="0" rIns="0" bIns="0" rtlCol="0" anchor="t"/>
          <a:lstStyle/>
          <a:p>
            <a:pPr indent="0" marL="0">
              <a:buNone/>
            </a:pPr>
            <a:r>
              <a:rPr lang="en-US" sz="1400" dirty="0">
                <a:solidFill>
                  <a:schemeClr val="tx1"/>
                </a:solidFill>
              </a:rPr>
              <a:t>Click New Narrative; name it CODE-M ModelSEED, plus your name</a:t>
            </a:r>
            <a:endParaRPr lang="en-US" sz="1400" dirty="0"/>
          </a:p>
        </p:txBody>
      </p:sp>
      <p:sp>
        <p:nvSpPr>
          <p:cNvPr id="11" name="Setup link 3"/>
          <p:cNvSpPr/>
          <p:nvPr/>
        </p:nvSpPr>
        <p:spPr>
          <a:xfrm>
            <a:off x="649224" y="3236976"/>
            <a:ext cx="0" cy="402336"/>
          </a:xfrm>
          <a:prstGeom prst="line">
            <a:avLst/>
          </a:prstGeom>
          <a:noFill/>
          <a:ln w="19050">
            <a:solidFill>
              <a:schemeClr val="accent4"/>
            </a:solidFill>
            <a:prstDash val="solid"/>
          </a:ln>
        </p:spPr>
      </p:sp>
      <p:sp>
        <p:nvSpPr>
          <p:cNvPr id="12" name="Setup step 3 node"/>
          <p:cNvSpPr/>
          <p:nvPr/>
        </p:nvSpPr>
        <p:spPr>
          <a:xfrm>
            <a:off x="457200" y="2834640"/>
            <a:ext cx="384048" cy="384048"/>
          </a:xfrm>
          <a:prstGeom prst="ellipse">
            <a:avLst/>
          </a:prstGeom>
          <a:solidFill>
            <a:schemeClr val="accent1"/>
          </a:solidFill>
          <a:ln/>
        </p:spPr>
      </p:sp>
      <p:sp>
        <p:nvSpPr>
          <p:cNvPr id="13" name="Setup step 3 number"/>
          <p:cNvSpPr txBox="1"/>
          <p:nvPr/>
        </p:nvSpPr>
        <p:spPr>
          <a:xfrm>
            <a:off x="457200" y="2834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Setup step 3 text"/>
          <p:cNvSpPr txBox="1"/>
          <p:nvPr/>
        </p:nvSpPr>
        <p:spPr>
          <a:xfrm>
            <a:off x="1024128" y="2816352"/>
            <a:ext cx="3639312" cy="777240"/>
          </a:xfrm>
          <a:prstGeom prst="rect">
            <a:avLst/>
          </a:prstGeom>
          <a:noFill/>
          <a:ln/>
        </p:spPr>
        <p:txBody>
          <a:bodyPr wrap="square" lIns="0" tIns="0" rIns="0" bIns="0" rtlCol="0" anchor="t"/>
          <a:lstStyle/>
          <a:p>
            <a:pPr indent="0" marL="0">
              <a:buNone/>
            </a:pPr>
            <a:r>
              <a:rPr lang="en-US" sz="1400" dirty="0">
                <a:solidFill>
                  <a:schemeClr val="tx1"/>
                </a:solidFill>
              </a:rPr>
              <a:t>Data panel: Add Data, then the Public tab. Find each genome, hover over it and click &lt; Add</a:t>
            </a:r>
            <a:endParaRPr lang="en-US" sz="1400" dirty="0"/>
          </a:p>
        </p:txBody>
      </p:sp>
      <p:sp>
        <p:nvSpPr>
          <p:cNvPr id="15" name="Setup step 4 node"/>
          <p:cNvSpPr/>
          <p:nvPr/>
        </p:nvSpPr>
        <p:spPr>
          <a:xfrm>
            <a:off x="457200" y="3657600"/>
            <a:ext cx="384048" cy="384048"/>
          </a:xfrm>
          <a:prstGeom prst="ellipse">
            <a:avLst/>
          </a:prstGeom>
          <a:solidFill>
            <a:schemeClr val="accent1"/>
          </a:solidFill>
          <a:ln/>
        </p:spPr>
      </p:sp>
      <p:sp>
        <p:nvSpPr>
          <p:cNvPr id="16" name="Setup step 4 number"/>
          <p:cNvSpPr txBox="1"/>
          <p:nvPr/>
        </p:nvSpPr>
        <p:spPr>
          <a:xfrm>
            <a:off x="457200" y="3657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Setup step 4 text"/>
          <p:cNvSpPr txBox="1"/>
          <p:nvPr/>
        </p:nvSpPr>
        <p:spPr>
          <a:xfrm>
            <a:off x="1024128" y="3639312"/>
            <a:ext cx="3639312" cy="777240"/>
          </a:xfrm>
          <a:prstGeom prst="rect">
            <a:avLst/>
          </a:prstGeom>
          <a:noFill/>
          <a:ln/>
        </p:spPr>
        <p:txBody>
          <a:bodyPr wrap="square" lIns="0" tIns="0" rIns="0" bIns="0" rtlCol="0" anchor="t"/>
          <a:lstStyle/>
          <a:p>
            <a:pPr indent="0" marL="0">
              <a:buNone/>
            </a:pPr>
            <a:r>
              <a:rPr lang="en-US" sz="1400" dirty="0">
                <a:solidFill>
                  <a:schemeClr val="tx1"/>
                </a:solidFill>
              </a:rPr>
              <a:t>On the same tab, find and add two media: Carbon-D-Glucose and AuxoMedia</a:t>
            </a:r>
            <a:endParaRPr lang="en-US" sz="1400" dirty="0"/>
          </a:p>
        </p:txBody>
      </p:sp>
      <p:sp>
        <p:nvSpPr>
          <p:cNvPr id="18" name="Genomes card"/>
          <p:cNvSpPr/>
          <p:nvPr/>
        </p:nvSpPr>
        <p:spPr>
          <a:xfrm>
            <a:off x="4892040" y="1188720"/>
            <a:ext cx="3794760" cy="3291840"/>
          </a:xfrm>
          <a:prstGeom prst="roundRect">
            <a:avLst>
              <a:gd name="adj" fmla="val 2222"/>
            </a:avLst>
          </a:prstGeom>
          <a:solidFill>
            <a:schemeClr val="bg2"/>
          </a:solidFill>
          <a:ln/>
        </p:spPr>
      </p:sp>
      <p:sp>
        <p:nvSpPr>
          <p:cNvPr id="19" name="Genomes heading"/>
          <p:cNvSpPr txBox="1"/>
          <p:nvPr/>
        </p:nvSpPr>
        <p:spPr>
          <a:xfrm>
            <a:off x="5120640" y="1325880"/>
            <a:ext cx="3383280" cy="320040"/>
          </a:xfrm>
          <a:prstGeom prst="rect">
            <a:avLst/>
          </a:prstGeom>
          <a:noFill/>
          <a:ln/>
        </p:spPr>
        <p:txBody>
          <a:bodyPr wrap="square" lIns="0" tIns="0" rIns="0" bIns="0" rtlCol="0" anchor="ctr"/>
          <a:lstStyle/>
          <a:p>
            <a:pPr indent="0" marL="0">
              <a:buNone/>
            </a:pPr>
            <a:r>
              <a:rPr lang="en-US" sz="1500" b="1" dirty="0">
                <a:solidFill>
                  <a:schemeClr val="tx2"/>
                </a:solidFill>
              </a:rPr>
              <a:t>The three RefSeq genomes</a:t>
            </a:r>
            <a:endParaRPr lang="en-US" sz="1500" dirty="0"/>
          </a:p>
        </p:txBody>
      </p:sp>
      <p:sp>
        <p:nvSpPr>
          <p:cNvPr id="20" name="Genome 1 node"/>
          <p:cNvSpPr/>
          <p:nvPr/>
        </p:nvSpPr>
        <p:spPr>
          <a:xfrm>
            <a:off x="5120640" y="1819656"/>
            <a:ext cx="384048" cy="384048"/>
          </a:xfrm>
          <a:prstGeom prst="ellipse">
            <a:avLst/>
          </a:prstGeom>
          <a:solidFill>
            <a:schemeClr val="accent1"/>
          </a:solidFill>
          <a:ln/>
        </p:spPr>
      </p:sp>
      <p:pic>
        <p:nvPicPr>
          <p:cNvPr id="21" name="Genome 1 icon" descr="preencoded.png">    </p:cNvPr>
          <p:cNvPicPr>
            <a:picLocks noChangeAspect="1"/>
          </p:cNvPicPr>
          <p:nvPr/>
        </p:nvPicPr>
        <p:blipFill>
          <a:blip r:embed="rId1"/>
          <a:stretch>
            <a:fillRect/>
          </a:stretch>
        </p:blipFill>
        <p:spPr>
          <a:xfrm>
            <a:off x="5216652" y="1915668"/>
            <a:ext cx="192024" cy="192024"/>
          </a:xfrm>
          <a:prstGeom prst="rect">
            <a:avLst/>
          </a:prstGeom>
        </p:spPr>
      </p:pic>
      <p:sp>
        <p:nvSpPr>
          <p:cNvPr id="22" name="Genome 1 text"/>
          <p:cNvSpPr txBox="1"/>
          <p:nvPr/>
        </p:nvSpPr>
        <p:spPr>
          <a:xfrm>
            <a:off x="5623560" y="1783080"/>
            <a:ext cx="2971800" cy="502920"/>
          </a:xfrm>
          <a:prstGeom prst="rect">
            <a:avLst/>
          </a:prstGeom>
          <a:noFill/>
          <a:ln/>
        </p:spPr>
        <p:txBody>
          <a:bodyPr wrap="square" lIns="0" tIns="0" rIns="0" bIns="0" rtlCol="0" anchor="ctr"/>
          <a:lstStyle/>
          <a:p>
            <a:pPr indent="0" marL="0">
              <a:buNone/>
            </a:pPr>
            <a:r>
              <a:rPr lang="en-US" sz="1300" b="1" i="1" dirty="0">
                <a:solidFill>
                  <a:schemeClr val="tx1"/>
                </a:solidFill>
              </a:rPr>
              <a:t>Escherichia coli </a:t>
            </a:r>
            <a:pPr indent="0" marL="0">
              <a:buNone/>
            </a:pPr>
            <a:r>
              <a:rPr lang="en-US" sz="1300" dirty="0">
                <a:solidFill>
                  <a:schemeClr val="tx1"/>
                </a:solidFill>
              </a:rPr>
              <a:t>K-12 MG1655</a:t>
            </a:r>
            <a:endParaRPr lang="en-US" sz="1300" dirty="0"/>
          </a:p>
          <a:p>
            <a:pPr indent="0" marL="0">
              <a:buNone/>
            </a:pPr>
            <a:r>
              <a:rPr lang="en-US" sz="1200" dirty="0">
                <a:solidFill>
                  <a:schemeClr val="accent3"/>
                </a:solidFill>
                <a:latin typeface="Courier New" pitchFamily="34" charset="0"/>
                <a:ea typeface="Courier New" pitchFamily="34" charset="-122"/>
                <a:cs typeface="Courier New" pitchFamily="34" charset="-120"/>
              </a:rPr>
              <a:t>GCF_000005845.2</a:t>
            </a:r>
            <a:endParaRPr lang="en-US" sz="1300" dirty="0"/>
          </a:p>
        </p:txBody>
      </p:sp>
      <p:sp>
        <p:nvSpPr>
          <p:cNvPr id="23" name="Genome 2 node"/>
          <p:cNvSpPr/>
          <p:nvPr/>
        </p:nvSpPr>
        <p:spPr>
          <a:xfrm>
            <a:off x="5120640" y="2441448"/>
            <a:ext cx="384048" cy="384048"/>
          </a:xfrm>
          <a:prstGeom prst="ellipse">
            <a:avLst/>
          </a:prstGeom>
          <a:solidFill>
            <a:schemeClr val="accent6"/>
          </a:solidFill>
          <a:ln/>
        </p:spPr>
      </p:sp>
      <p:pic>
        <p:nvPicPr>
          <p:cNvPr id="24" name="Genome 2 icon" descr="preencoded.png">    </p:cNvPr>
          <p:cNvPicPr>
            <a:picLocks noChangeAspect="1"/>
          </p:cNvPicPr>
          <p:nvPr/>
        </p:nvPicPr>
        <p:blipFill>
          <a:blip r:embed="rId2"/>
          <a:stretch>
            <a:fillRect/>
          </a:stretch>
        </p:blipFill>
        <p:spPr>
          <a:xfrm>
            <a:off x="5216652" y="2537460"/>
            <a:ext cx="192024" cy="192024"/>
          </a:xfrm>
          <a:prstGeom prst="rect">
            <a:avLst/>
          </a:prstGeom>
        </p:spPr>
      </p:pic>
      <p:sp>
        <p:nvSpPr>
          <p:cNvPr id="25" name="Genome 2 text"/>
          <p:cNvSpPr txBox="1"/>
          <p:nvPr/>
        </p:nvSpPr>
        <p:spPr>
          <a:xfrm>
            <a:off x="5623560" y="2404872"/>
            <a:ext cx="2971800" cy="502920"/>
          </a:xfrm>
          <a:prstGeom prst="rect">
            <a:avLst/>
          </a:prstGeom>
          <a:noFill/>
          <a:ln/>
        </p:spPr>
        <p:txBody>
          <a:bodyPr wrap="square" lIns="0" tIns="0" rIns="0" bIns="0" rtlCol="0" anchor="ctr"/>
          <a:lstStyle/>
          <a:p>
            <a:pPr indent="0" marL="0">
              <a:buNone/>
            </a:pPr>
            <a:r>
              <a:rPr lang="en-US" sz="1300" b="1" i="1" dirty="0">
                <a:solidFill>
                  <a:schemeClr val="tx1"/>
                </a:solidFill>
              </a:rPr>
              <a:t>Bacillus subtilis </a:t>
            </a:r>
            <a:pPr indent="0" marL="0">
              <a:buNone/>
            </a:pPr>
            <a:r>
              <a:rPr lang="en-US" sz="1300" dirty="0">
                <a:solidFill>
                  <a:schemeClr val="tx1"/>
                </a:solidFill>
              </a:rPr>
              <a:t>168</a:t>
            </a:r>
            <a:endParaRPr lang="en-US" sz="1300" dirty="0"/>
          </a:p>
          <a:p>
            <a:pPr indent="0" marL="0">
              <a:buNone/>
            </a:pPr>
            <a:r>
              <a:rPr lang="en-US" sz="1200" dirty="0">
                <a:solidFill>
                  <a:schemeClr val="accent3"/>
                </a:solidFill>
                <a:latin typeface="Courier New" pitchFamily="34" charset="0"/>
                <a:ea typeface="Courier New" pitchFamily="34" charset="-122"/>
                <a:cs typeface="Courier New" pitchFamily="34" charset="-120"/>
              </a:rPr>
              <a:t>GCF_000009045.1</a:t>
            </a:r>
            <a:endParaRPr lang="en-US" sz="1300" dirty="0"/>
          </a:p>
        </p:txBody>
      </p:sp>
      <p:sp>
        <p:nvSpPr>
          <p:cNvPr id="26" name="Genome 3 node"/>
          <p:cNvSpPr/>
          <p:nvPr/>
        </p:nvSpPr>
        <p:spPr>
          <a:xfrm>
            <a:off x="5120640" y="3063240"/>
            <a:ext cx="384048" cy="384048"/>
          </a:xfrm>
          <a:prstGeom prst="ellipse">
            <a:avLst/>
          </a:prstGeom>
          <a:solidFill>
            <a:schemeClr val="accent2"/>
          </a:solidFill>
          <a:ln/>
        </p:spPr>
      </p:sp>
      <p:pic>
        <p:nvPicPr>
          <p:cNvPr id="27" name="Genome 3 icon" descr="preencoded.png">    </p:cNvPr>
          <p:cNvPicPr>
            <a:picLocks noChangeAspect="1"/>
          </p:cNvPicPr>
          <p:nvPr/>
        </p:nvPicPr>
        <p:blipFill>
          <a:blip r:embed="rId3"/>
          <a:stretch>
            <a:fillRect/>
          </a:stretch>
        </p:blipFill>
        <p:spPr>
          <a:xfrm>
            <a:off x="5216652" y="3159252"/>
            <a:ext cx="192024" cy="192024"/>
          </a:xfrm>
          <a:prstGeom prst="rect">
            <a:avLst/>
          </a:prstGeom>
        </p:spPr>
      </p:pic>
      <p:sp>
        <p:nvSpPr>
          <p:cNvPr id="28" name="Genome 3 text"/>
          <p:cNvSpPr txBox="1"/>
          <p:nvPr/>
        </p:nvSpPr>
        <p:spPr>
          <a:xfrm>
            <a:off x="5623560" y="3026664"/>
            <a:ext cx="2971800" cy="502920"/>
          </a:xfrm>
          <a:prstGeom prst="rect">
            <a:avLst/>
          </a:prstGeom>
          <a:noFill/>
          <a:ln/>
        </p:spPr>
        <p:txBody>
          <a:bodyPr wrap="square" lIns="0" tIns="0" rIns="0" bIns="0" rtlCol="0" anchor="ctr"/>
          <a:lstStyle/>
          <a:p>
            <a:pPr indent="0" marL="0">
              <a:buNone/>
            </a:pPr>
            <a:r>
              <a:rPr lang="en-US" sz="1300" b="1" i="1" dirty="0">
                <a:solidFill>
                  <a:schemeClr val="tx1"/>
                </a:solidFill>
              </a:rPr>
              <a:t>Lactococcus lactis </a:t>
            </a:r>
            <a:pPr indent="0" marL="0">
              <a:buNone/>
            </a:pPr>
            <a:r>
              <a:rPr lang="en-US" sz="1300" dirty="0">
                <a:solidFill>
                  <a:schemeClr val="tx1"/>
                </a:solidFill>
              </a:rPr>
              <a:t>subsp. cremoris MG1363</a:t>
            </a:r>
            <a:endParaRPr lang="en-US" sz="1300" dirty="0"/>
          </a:p>
          <a:p>
            <a:pPr indent="0" marL="0">
              <a:buNone/>
            </a:pPr>
            <a:r>
              <a:rPr lang="en-US" sz="1200" dirty="0">
                <a:solidFill>
                  <a:schemeClr val="accent3"/>
                </a:solidFill>
                <a:latin typeface="Courier New" pitchFamily="34" charset="0"/>
                <a:ea typeface="Courier New" pitchFamily="34" charset="-122"/>
                <a:cs typeface="Courier New" pitchFamily="34" charset="-120"/>
              </a:rPr>
              <a:t>GCF_000009425.1</a:t>
            </a:r>
            <a:endParaRPr lang="en-US" sz="1300" dirty="0"/>
          </a:p>
        </p:txBody>
      </p:sp>
      <p:sp>
        <p:nvSpPr>
          <p:cNvPr id="29" name="Genomes tip"/>
          <p:cNvSpPr txBox="1"/>
          <p:nvPr/>
        </p:nvSpPr>
        <p:spPr>
          <a:xfrm>
            <a:off x="5120640" y="3703320"/>
            <a:ext cx="3429000" cy="685800"/>
          </a:xfrm>
          <a:prstGeom prst="rect">
            <a:avLst/>
          </a:prstGeom>
          <a:noFill/>
          <a:ln/>
        </p:spPr>
        <p:txBody>
          <a:bodyPr wrap="square" lIns="0" tIns="0" rIns="0" bIns="0" rtlCol="0" anchor="t"/>
          <a:lstStyle/>
          <a:p>
            <a:pPr indent="0" marL="0">
              <a:buNone/>
            </a:pPr>
            <a:r>
              <a:rPr lang="en-US" sz="1200" b="1" dirty="0">
                <a:solidFill>
                  <a:schemeClr val="tx2"/>
                </a:solidFill>
              </a:rPr>
              <a:t>Check the accession before adding. </a:t>
            </a:r>
            <a:pPr indent="0" marL="0">
              <a:buNone/>
            </a:pPr>
            <a:r>
              <a:rPr lang="en-US" sz="1200" dirty="0">
                <a:solidFill>
                  <a:schemeClr val="tx2"/>
                </a:solidFill>
              </a:rPr>
              <a:t>NCBI now lists MG1363 as Lactococcus cremoris.</a:t>
            </a:r>
            <a:endParaRPr lang="en-US" sz="12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Step 2 · Annotate with RAST</a:t>
            </a:r>
            <a:endParaRPr lang="en-US" sz="3400" dirty="0"/>
          </a:p>
        </p:txBody>
      </p:sp>
      <p:sp>
        <p:nvSpPr>
          <p:cNvPr id="3" name="RAST link 1"/>
          <p:cNvSpPr/>
          <p:nvPr/>
        </p:nvSpPr>
        <p:spPr>
          <a:xfrm>
            <a:off x="649224" y="1591056"/>
            <a:ext cx="0" cy="402336"/>
          </a:xfrm>
          <a:prstGeom prst="line">
            <a:avLst/>
          </a:prstGeom>
          <a:noFill/>
          <a:ln w="19050">
            <a:solidFill>
              <a:schemeClr val="accent4"/>
            </a:solidFill>
            <a:prstDash val="solid"/>
          </a:ln>
        </p:spPr>
      </p:sp>
      <p:sp>
        <p:nvSpPr>
          <p:cNvPr id="4" name="RAST step 1 node"/>
          <p:cNvSpPr/>
          <p:nvPr/>
        </p:nvSpPr>
        <p:spPr>
          <a:xfrm>
            <a:off x="457200" y="1188720"/>
            <a:ext cx="384048" cy="384048"/>
          </a:xfrm>
          <a:prstGeom prst="ellipse">
            <a:avLst/>
          </a:prstGeom>
          <a:solidFill>
            <a:schemeClr val="accent1"/>
          </a:solidFill>
          <a:ln/>
        </p:spPr>
      </p:sp>
      <p:sp>
        <p:nvSpPr>
          <p:cNvPr id="5" name="RAST step 1 number"/>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RAST step 1 text"/>
          <p:cNvSpPr txBox="1"/>
          <p:nvPr/>
        </p:nvSpPr>
        <p:spPr>
          <a:xfrm>
            <a:off x="1024128" y="1170432"/>
            <a:ext cx="3639312" cy="777240"/>
          </a:xfrm>
          <a:prstGeom prst="rect">
            <a:avLst/>
          </a:prstGeom>
          <a:noFill/>
          <a:ln/>
        </p:spPr>
        <p:txBody>
          <a:bodyPr wrap="square" lIns="0" tIns="0" rIns="0" bIns="0" rtlCol="0" anchor="t"/>
          <a:lstStyle/>
          <a:p>
            <a:pPr indent="0" marL="0">
              <a:buNone/>
            </a:pPr>
            <a:r>
              <a:rPr lang="en-US" sz="1400" dirty="0">
                <a:solidFill>
                  <a:schemeClr val="tx1"/>
                </a:solidFill>
              </a:rPr>
              <a:t>Apps panel: search for RASTtk</a:t>
            </a:r>
            <a:endParaRPr lang="en-US" sz="1400" dirty="0"/>
          </a:p>
        </p:txBody>
      </p:sp>
      <p:sp>
        <p:nvSpPr>
          <p:cNvPr id="7" name="RAST link 2"/>
          <p:cNvSpPr/>
          <p:nvPr/>
        </p:nvSpPr>
        <p:spPr>
          <a:xfrm>
            <a:off x="649224" y="2414016"/>
            <a:ext cx="0" cy="402336"/>
          </a:xfrm>
          <a:prstGeom prst="line">
            <a:avLst/>
          </a:prstGeom>
          <a:noFill/>
          <a:ln w="19050">
            <a:solidFill>
              <a:schemeClr val="accent4"/>
            </a:solidFill>
            <a:prstDash val="solid"/>
          </a:ln>
        </p:spPr>
      </p:sp>
      <p:sp>
        <p:nvSpPr>
          <p:cNvPr id="8" name="RAST step 2 node"/>
          <p:cNvSpPr/>
          <p:nvPr/>
        </p:nvSpPr>
        <p:spPr>
          <a:xfrm>
            <a:off x="457200" y="2011680"/>
            <a:ext cx="384048" cy="384048"/>
          </a:xfrm>
          <a:prstGeom prst="ellipse">
            <a:avLst/>
          </a:prstGeom>
          <a:solidFill>
            <a:schemeClr val="accent1"/>
          </a:solidFill>
          <a:ln/>
        </p:spPr>
      </p:sp>
      <p:sp>
        <p:nvSpPr>
          <p:cNvPr id="9" name="RAST step 2 number"/>
          <p:cNvSpPr txBox="1"/>
          <p:nvPr/>
        </p:nvSpPr>
        <p:spPr>
          <a:xfrm>
            <a:off x="457200" y="20116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RAST step 2 text"/>
          <p:cNvSpPr txBox="1"/>
          <p:nvPr/>
        </p:nvSpPr>
        <p:spPr>
          <a:xfrm>
            <a:off x="1024128" y="1993392"/>
            <a:ext cx="3639312" cy="777240"/>
          </a:xfrm>
          <a:prstGeom prst="rect">
            <a:avLst/>
          </a:prstGeom>
          <a:noFill/>
          <a:ln/>
        </p:spPr>
        <p:txBody>
          <a:bodyPr wrap="square" lIns="0" tIns="0" rIns="0" bIns="0" rtlCol="0" anchor="t"/>
          <a:lstStyle/>
          <a:p>
            <a:pPr indent="0" marL="0">
              <a:buNone/>
            </a:pPr>
            <a:r>
              <a:rPr lang="en-US" sz="1400" dirty="0">
                <a:solidFill>
                  <a:schemeClr val="tx1"/>
                </a:solidFill>
              </a:rPr>
              <a:t>Open Annotate Multiple Microbial Genomes with RASTtk</a:t>
            </a:r>
            <a:endParaRPr lang="en-US" sz="1400" dirty="0"/>
          </a:p>
        </p:txBody>
      </p:sp>
      <p:sp>
        <p:nvSpPr>
          <p:cNvPr id="11" name="RAST link 3"/>
          <p:cNvSpPr/>
          <p:nvPr/>
        </p:nvSpPr>
        <p:spPr>
          <a:xfrm>
            <a:off x="649224" y="3236976"/>
            <a:ext cx="0" cy="402336"/>
          </a:xfrm>
          <a:prstGeom prst="line">
            <a:avLst/>
          </a:prstGeom>
          <a:noFill/>
          <a:ln w="19050">
            <a:solidFill>
              <a:schemeClr val="accent4"/>
            </a:solidFill>
            <a:prstDash val="solid"/>
          </a:ln>
        </p:spPr>
      </p:sp>
      <p:sp>
        <p:nvSpPr>
          <p:cNvPr id="12" name="RAST step 3 node"/>
          <p:cNvSpPr/>
          <p:nvPr/>
        </p:nvSpPr>
        <p:spPr>
          <a:xfrm>
            <a:off x="457200" y="2834640"/>
            <a:ext cx="384048" cy="384048"/>
          </a:xfrm>
          <a:prstGeom prst="ellipse">
            <a:avLst/>
          </a:prstGeom>
          <a:solidFill>
            <a:schemeClr val="accent1"/>
          </a:solidFill>
          <a:ln/>
        </p:spPr>
      </p:sp>
      <p:sp>
        <p:nvSpPr>
          <p:cNvPr id="13" name="RAST step 3 number"/>
          <p:cNvSpPr txBox="1"/>
          <p:nvPr/>
        </p:nvSpPr>
        <p:spPr>
          <a:xfrm>
            <a:off x="457200" y="28346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RAST step 3 text"/>
          <p:cNvSpPr txBox="1"/>
          <p:nvPr/>
        </p:nvSpPr>
        <p:spPr>
          <a:xfrm>
            <a:off x="1024128" y="2816352"/>
            <a:ext cx="3639312" cy="777240"/>
          </a:xfrm>
          <a:prstGeom prst="rect">
            <a:avLst/>
          </a:prstGeom>
          <a:noFill/>
          <a:ln/>
        </p:spPr>
        <p:txBody>
          <a:bodyPr wrap="square" lIns="0" tIns="0" rIns="0" bIns="0" rtlCol="0" anchor="t"/>
          <a:lstStyle/>
          <a:p>
            <a:pPr indent="0" marL="0">
              <a:buNone/>
            </a:pPr>
            <a:r>
              <a:rPr lang="en-US" sz="1400" dirty="0">
                <a:solidFill>
                  <a:schemeClr val="tx1"/>
                </a:solidFill>
              </a:rPr>
              <a:t>Add the three genomes, keep the default settings, name the output and click Run</a:t>
            </a:r>
            <a:endParaRPr lang="en-US" sz="1400" dirty="0"/>
          </a:p>
        </p:txBody>
      </p:sp>
      <p:sp>
        <p:nvSpPr>
          <p:cNvPr id="15" name="RAST step 4 node"/>
          <p:cNvSpPr/>
          <p:nvPr/>
        </p:nvSpPr>
        <p:spPr>
          <a:xfrm>
            <a:off x="457200" y="3657600"/>
            <a:ext cx="384048" cy="384048"/>
          </a:xfrm>
          <a:prstGeom prst="ellipse">
            <a:avLst/>
          </a:prstGeom>
          <a:solidFill>
            <a:schemeClr val="accent1"/>
          </a:solidFill>
          <a:ln/>
        </p:spPr>
      </p:sp>
      <p:sp>
        <p:nvSpPr>
          <p:cNvPr id="16" name="RAST step 4 number"/>
          <p:cNvSpPr txBox="1"/>
          <p:nvPr/>
        </p:nvSpPr>
        <p:spPr>
          <a:xfrm>
            <a:off x="457200" y="36576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RAST step 4 text"/>
          <p:cNvSpPr txBox="1"/>
          <p:nvPr/>
        </p:nvSpPr>
        <p:spPr>
          <a:xfrm>
            <a:off x="1024128" y="3639312"/>
            <a:ext cx="3639312" cy="777240"/>
          </a:xfrm>
          <a:prstGeom prst="rect">
            <a:avLst/>
          </a:prstGeom>
          <a:noFill/>
          <a:ln/>
        </p:spPr>
        <p:txBody>
          <a:bodyPr wrap="square" lIns="0" tIns="0" rIns="0" bIns="0" rtlCol="0" anchor="t"/>
          <a:lstStyle/>
          <a:p>
            <a:pPr indent="0" marL="0">
              <a:buNone/>
            </a:pPr>
            <a:r>
              <a:rPr lang="en-US" sz="1400" dirty="0">
                <a:solidFill>
                  <a:schemeClr val="tx1"/>
                </a:solidFill>
              </a:rPr>
              <a:t>The job queues, then runs on KBase servers. It takes several minutes: read Step 3 meanwhile</a:t>
            </a:r>
            <a:endParaRPr lang="en-US" sz="1400" dirty="0"/>
          </a:p>
        </p:txBody>
      </p:sp>
      <p:sp>
        <p:nvSpPr>
          <p:cNvPr id="18" name="Why RAST card"/>
          <p:cNvSpPr/>
          <p:nvPr/>
        </p:nvSpPr>
        <p:spPr>
          <a:xfrm>
            <a:off x="4892040" y="1188720"/>
            <a:ext cx="3794760" cy="3291840"/>
          </a:xfrm>
          <a:prstGeom prst="roundRect">
            <a:avLst>
              <a:gd name="adj" fmla="val 2222"/>
            </a:avLst>
          </a:prstGeom>
          <a:solidFill>
            <a:schemeClr val="tx2"/>
          </a:solidFill>
          <a:ln/>
        </p:spPr>
      </p:sp>
      <p:sp>
        <p:nvSpPr>
          <p:cNvPr id="19" name="Why RAST node"/>
          <p:cNvSpPr/>
          <p:nvPr/>
        </p:nvSpPr>
        <p:spPr>
          <a:xfrm>
            <a:off x="5074920" y="1325880"/>
            <a:ext cx="457200" cy="457200"/>
          </a:xfrm>
          <a:prstGeom prst="ellipse">
            <a:avLst/>
          </a:prstGeom>
          <a:solidFill>
            <a:schemeClr val="accent2"/>
          </a:solidFill>
          <a:ln/>
        </p:spPr>
      </p:sp>
      <p:pic>
        <p:nvPicPr>
          <p:cNvPr id="20" name="Why RAST icon" descr="preencoded.png">    </p:cNvPr>
          <p:cNvPicPr>
            <a:picLocks noChangeAspect="1"/>
          </p:cNvPicPr>
          <p:nvPr/>
        </p:nvPicPr>
        <p:blipFill>
          <a:blip r:embed="rId1"/>
          <a:stretch>
            <a:fillRect/>
          </a:stretch>
        </p:blipFill>
        <p:spPr>
          <a:xfrm>
            <a:off x="5189220" y="1440180"/>
            <a:ext cx="228600" cy="228600"/>
          </a:xfrm>
          <a:prstGeom prst="rect">
            <a:avLst/>
          </a:prstGeom>
        </p:spPr>
      </p:pic>
      <p:sp>
        <p:nvSpPr>
          <p:cNvPr id="21" name="Why RAST heading"/>
          <p:cNvSpPr txBox="1"/>
          <p:nvPr/>
        </p:nvSpPr>
        <p:spPr>
          <a:xfrm>
            <a:off x="5669280" y="1325880"/>
            <a:ext cx="2926080" cy="457200"/>
          </a:xfrm>
          <a:prstGeom prst="rect">
            <a:avLst/>
          </a:prstGeom>
          <a:noFill/>
          <a:ln/>
        </p:spPr>
        <p:txBody>
          <a:bodyPr wrap="square" lIns="0" tIns="0" rIns="0" bIns="0" rtlCol="0" anchor="ctr"/>
          <a:lstStyle/>
          <a:p>
            <a:pPr indent="0" marL="0">
              <a:buNone/>
            </a:pPr>
            <a:r>
              <a:rPr lang="en-US" sz="1600" b="1" dirty="0">
                <a:solidFill>
                  <a:schemeClr val="bg1"/>
                </a:solidFill>
              </a:rPr>
              <a:t>Why re-annotate?</a:t>
            </a:r>
            <a:endParaRPr lang="en-US" sz="1600" dirty="0"/>
          </a:p>
        </p:txBody>
      </p:sp>
      <p:sp>
        <p:nvSpPr>
          <p:cNvPr id="22" name="Why RAST text"/>
          <p:cNvSpPr txBox="1"/>
          <p:nvPr/>
        </p:nvSpPr>
        <p:spPr>
          <a:xfrm>
            <a:off x="5074920" y="1874520"/>
            <a:ext cx="3474720" cy="1005840"/>
          </a:xfrm>
          <a:prstGeom prst="rect">
            <a:avLst/>
          </a:prstGeom>
          <a:noFill/>
          <a:ln/>
        </p:spPr>
        <p:txBody>
          <a:bodyPr wrap="square" lIns="0" tIns="0" rIns="0" bIns="0" rtlCol="0" anchor="t"/>
          <a:lstStyle/>
          <a:p>
            <a:pPr indent="0" marL="0">
              <a:buNone/>
            </a:pPr>
            <a:r>
              <a:rPr lang="en-US" sz="1300" dirty="0">
                <a:solidFill>
                  <a:schemeClr val="accent4"/>
                </a:solidFill>
              </a:rPr>
              <a:t>ModelSEED's templates link reactions to RAST functional roles, a controlled vocabulary. RefSeq's own annotation uses different wording, so the templates cannot read it.</a:t>
            </a:r>
            <a:endParaRPr lang="en-US" sz="1300" dirty="0"/>
          </a:p>
        </p:txBody>
      </p:sp>
      <p:sp>
        <p:nvSpPr>
          <p:cNvPr id="23" name="Chain 1 label"/>
          <p:cNvSpPr txBox="1"/>
          <p:nvPr/>
        </p:nvSpPr>
        <p:spPr>
          <a:xfrm>
            <a:off x="5074920" y="2880360"/>
            <a:ext cx="731520" cy="384048"/>
          </a:xfrm>
          <a:prstGeom prst="rect">
            <a:avLst/>
          </a:prstGeom>
          <a:noFill/>
          <a:ln/>
        </p:spPr>
        <p:txBody>
          <a:bodyPr wrap="square" lIns="0" tIns="0" rIns="0" bIns="0" rtlCol="0" anchor="ctr"/>
          <a:lstStyle/>
          <a:p>
            <a:pPr indent="0" marL="0">
              <a:buNone/>
            </a:pPr>
            <a:r>
              <a:rPr lang="en-US" sz="1100" b="1" dirty="0">
                <a:solidFill>
                  <a:schemeClr val="accent2"/>
                </a:solidFill>
              </a:rPr>
              <a:t>gene</a:t>
            </a:r>
            <a:endParaRPr lang="en-US" sz="1100" dirty="0"/>
          </a:p>
        </p:txBody>
      </p:sp>
      <p:sp>
        <p:nvSpPr>
          <p:cNvPr id="24" name="Chain 1 value"/>
          <p:cNvSpPr txBox="1"/>
          <p:nvPr/>
        </p:nvSpPr>
        <p:spPr>
          <a:xfrm>
            <a:off x="5806440" y="2880360"/>
            <a:ext cx="2834640" cy="384048"/>
          </a:xfrm>
          <a:prstGeom prst="rect">
            <a:avLst/>
          </a:prstGeom>
          <a:noFill/>
          <a:ln/>
        </p:spPr>
        <p:txBody>
          <a:bodyPr wrap="square" lIns="0" tIns="0" rIns="0" bIns="0" rtlCol="0" anchor="ctr"/>
          <a:lstStyle/>
          <a:p>
            <a:pPr indent="0" marL="0">
              <a:buNone/>
            </a:pPr>
            <a:r>
              <a:rPr lang="en-US" sz="1200" dirty="0">
                <a:solidFill>
                  <a:schemeClr val="bg1"/>
                </a:solidFill>
              </a:rPr>
              <a:t>pfkA</a:t>
            </a:r>
            <a:endParaRPr lang="en-US" sz="1200" dirty="0"/>
          </a:p>
        </p:txBody>
      </p:sp>
      <p:sp>
        <p:nvSpPr>
          <p:cNvPr id="25" name="Chain arrow 1"/>
          <p:cNvSpPr/>
          <p:nvPr/>
        </p:nvSpPr>
        <p:spPr>
          <a:xfrm>
            <a:off x="6263640" y="3264408"/>
            <a:ext cx="0" cy="137160"/>
          </a:xfrm>
          <a:prstGeom prst="line">
            <a:avLst/>
          </a:prstGeom>
          <a:noFill/>
          <a:ln w="15875">
            <a:solidFill>
              <a:schemeClr val="accent2"/>
            </a:solidFill>
            <a:prstDash val="solid"/>
            <a:tailEnd type="triangle"/>
          </a:ln>
        </p:spPr>
      </p:sp>
      <p:sp>
        <p:nvSpPr>
          <p:cNvPr id="26" name="Chain 2 label"/>
          <p:cNvSpPr txBox="1"/>
          <p:nvPr/>
        </p:nvSpPr>
        <p:spPr>
          <a:xfrm>
            <a:off x="5074920" y="3401568"/>
            <a:ext cx="731520" cy="384048"/>
          </a:xfrm>
          <a:prstGeom prst="rect">
            <a:avLst/>
          </a:prstGeom>
          <a:noFill/>
          <a:ln/>
        </p:spPr>
        <p:txBody>
          <a:bodyPr wrap="square" lIns="0" tIns="0" rIns="0" bIns="0" rtlCol="0" anchor="ctr"/>
          <a:lstStyle/>
          <a:p>
            <a:pPr indent="0" marL="0">
              <a:buNone/>
            </a:pPr>
            <a:r>
              <a:rPr lang="en-US" sz="1100" b="1" dirty="0">
                <a:solidFill>
                  <a:schemeClr val="accent2"/>
                </a:solidFill>
              </a:rPr>
              <a:t>RAST role</a:t>
            </a:r>
            <a:endParaRPr lang="en-US" sz="1100" dirty="0"/>
          </a:p>
        </p:txBody>
      </p:sp>
      <p:sp>
        <p:nvSpPr>
          <p:cNvPr id="27" name="Chain 2 value"/>
          <p:cNvSpPr txBox="1"/>
          <p:nvPr/>
        </p:nvSpPr>
        <p:spPr>
          <a:xfrm>
            <a:off x="5806440" y="3401568"/>
            <a:ext cx="2834640" cy="384048"/>
          </a:xfrm>
          <a:prstGeom prst="rect">
            <a:avLst/>
          </a:prstGeom>
          <a:noFill/>
          <a:ln/>
        </p:spPr>
        <p:txBody>
          <a:bodyPr wrap="square" lIns="0" tIns="0" rIns="0" bIns="0" rtlCol="0" anchor="ctr"/>
          <a:lstStyle/>
          <a:p>
            <a:pPr indent="0" marL="0">
              <a:buNone/>
            </a:pPr>
            <a:r>
              <a:rPr lang="en-US" sz="1200" dirty="0">
                <a:solidFill>
                  <a:schemeClr val="bg1"/>
                </a:solidFill>
              </a:rPr>
              <a:t>6-phosphofructokinase (EC 2.7.1.11)</a:t>
            </a:r>
            <a:endParaRPr lang="en-US" sz="1200" dirty="0"/>
          </a:p>
        </p:txBody>
      </p:sp>
      <p:sp>
        <p:nvSpPr>
          <p:cNvPr id="28" name="Chain arrow 2"/>
          <p:cNvSpPr/>
          <p:nvPr/>
        </p:nvSpPr>
        <p:spPr>
          <a:xfrm>
            <a:off x="6263640" y="3785616"/>
            <a:ext cx="0" cy="137160"/>
          </a:xfrm>
          <a:prstGeom prst="line">
            <a:avLst/>
          </a:prstGeom>
          <a:noFill/>
          <a:ln w="15875">
            <a:solidFill>
              <a:schemeClr val="accent2"/>
            </a:solidFill>
            <a:prstDash val="solid"/>
            <a:tailEnd type="triangle"/>
          </a:ln>
        </p:spPr>
      </p:sp>
      <p:sp>
        <p:nvSpPr>
          <p:cNvPr id="29" name="Chain 3 label"/>
          <p:cNvSpPr txBox="1"/>
          <p:nvPr/>
        </p:nvSpPr>
        <p:spPr>
          <a:xfrm>
            <a:off x="5074920" y="3922776"/>
            <a:ext cx="731520" cy="384048"/>
          </a:xfrm>
          <a:prstGeom prst="rect">
            <a:avLst/>
          </a:prstGeom>
          <a:noFill/>
          <a:ln/>
        </p:spPr>
        <p:txBody>
          <a:bodyPr wrap="square" lIns="0" tIns="0" rIns="0" bIns="0" rtlCol="0" anchor="ctr"/>
          <a:lstStyle/>
          <a:p>
            <a:pPr indent="0" marL="0">
              <a:buNone/>
            </a:pPr>
            <a:r>
              <a:rPr lang="en-US" sz="1100" b="1" dirty="0">
                <a:solidFill>
                  <a:schemeClr val="accent2"/>
                </a:solidFill>
              </a:rPr>
              <a:t>reaction</a:t>
            </a:r>
            <a:endParaRPr lang="en-US" sz="1100" dirty="0"/>
          </a:p>
        </p:txBody>
      </p:sp>
      <p:sp>
        <p:nvSpPr>
          <p:cNvPr id="30" name="Chain 3 value"/>
          <p:cNvSpPr txBox="1"/>
          <p:nvPr/>
        </p:nvSpPr>
        <p:spPr>
          <a:xfrm>
            <a:off x="5806440" y="3922776"/>
            <a:ext cx="2834640" cy="384048"/>
          </a:xfrm>
          <a:prstGeom prst="rect">
            <a:avLst/>
          </a:prstGeom>
          <a:noFill/>
          <a:ln/>
        </p:spPr>
        <p:txBody>
          <a:bodyPr wrap="square" lIns="0" tIns="0" rIns="0" bIns="0" rtlCol="0" anchor="ctr"/>
          <a:lstStyle/>
          <a:p>
            <a:pPr indent="0" marL="0">
              <a:buNone/>
            </a:pPr>
            <a:r>
              <a:rPr lang="en-US" sz="1200" dirty="0">
                <a:solidFill>
                  <a:schemeClr val="bg1"/>
                </a:solidFill>
              </a:rPr>
              <a:t>F6P + ATP → FBP + ADP</a:t>
            </a:r>
            <a:endParaRPr lang="en-US" sz="12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Step 3 · Build the models</a:t>
            </a:r>
            <a:endParaRPr lang="en-US" sz="3400" dirty="0"/>
          </a:p>
        </p:txBody>
      </p:sp>
      <p:sp>
        <p:nvSpPr>
          <p:cNvPr id="3" name="Build link 1"/>
          <p:cNvSpPr/>
          <p:nvPr/>
        </p:nvSpPr>
        <p:spPr>
          <a:xfrm>
            <a:off x="649224" y="1591056"/>
            <a:ext cx="0" cy="219456"/>
          </a:xfrm>
          <a:prstGeom prst="line">
            <a:avLst/>
          </a:prstGeom>
          <a:noFill/>
          <a:ln w="19050">
            <a:solidFill>
              <a:schemeClr val="accent4"/>
            </a:solidFill>
            <a:prstDash val="solid"/>
          </a:ln>
        </p:spPr>
      </p:sp>
      <p:sp>
        <p:nvSpPr>
          <p:cNvPr id="4" name="Build step 1 node"/>
          <p:cNvSpPr/>
          <p:nvPr/>
        </p:nvSpPr>
        <p:spPr>
          <a:xfrm>
            <a:off x="457200" y="1188720"/>
            <a:ext cx="384048" cy="384048"/>
          </a:xfrm>
          <a:prstGeom prst="ellipse">
            <a:avLst/>
          </a:prstGeom>
          <a:solidFill>
            <a:schemeClr val="accent1"/>
          </a:solidFill>
          <a:ln/>
        </p:spPr>
      </p:sp>
      <p:sp>
        <p:nvSpPr>
          <p:cNvPr id="5" name="Build step 1 number"/>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Build step 1 text"/>
          <p:cNvSpPr txBox="1"/>
          <p:nvPr/>
        </p:nvSpPr>
        <p:spPr>
          <a:xfrm>
            <a:off x="1024128" y="1170432"/>
            <a:ext cx="3639312" cy="594360"/>
          </a:xfrm>
          <a:prstGeom prst="rect">
            <a:avLst/>
          </a:prstGeom>
          <a:noFill/>
          <a:ln/>
        </p:spPr>
        <p:txBody>
          <a:bodyPr wrap="square" lIns="0" tIns="0" rIns="0" bIns="0" rtlCol="0" anchor="t"/>
          <a:lstStyle/>
          <a:p>
            <a:pPr indent="0" marL="0">
              <a:buNone/>
            </a:pPr>
            <a:r>
              <a:rPr lang="en-US" sz="1400" dirty="0">
                <a:solidFill>
                  <a:schemeClr val="tx1"/>
                </a:solidFill>
              </a:rPr>
              <a:t>Apps panel: search for MS2 and open MS2 - Build Prokaryotic Metabolic Models</a:t>
            </a:r>
            <a:endParaRPr lang="en-US" sz="1400" dirty="0"/>
          </a:p>
        </p:txBody>
      </p:sp>
      <p:sp>
        <p:nvSpPr>
          <p:cNvPr id="7" name="Build link 2"/>
          <p:cNvSpPr/>
          <p:nvPr/>
        </p:nvSpPr>
        <p:spPr>
          <a:xfrm>
            <a:off x="649224" y="2231136"/>
            <a:ext cx="0" cy="219456"/>
          </a:xfrm>
          <a:prstGeom prst="line">
            <a:avLst/>
          </a:prstGeom>
          <a:noFill/>
          <a:ln w="19050">
            <a:solidFill>
              <a:schemeClr val="accent4"/>
            </a:solidFill>
            <a:prstDash val="solid"/>
          </a:ln>
        </p:spPr>
      </p:sp>
      <p:sp>
        <p:nvSpPr>
          <p:cNvPr id="8" name="Build step 2 node"/>
          <p:cNvSpPr/>
          <p:nvPr/>
        </p:nvSpPr>
        <p:spPr>
          <a:xfrm>
            <a:off x="457200" y="1828800"/>
            <a:ext cx="384048" cy="384048"/>
          </a:xfrm>
          <a:prstGeom prst="ellipse">
            <a:avLst/>
          </a:prstGeom>
          <a:solidFill>
            <a:schemeClr val="accent1"/>
          </a:solidFill>
          <a:ln/>
        </p:spPr>
      </p:sp>
      <p:sp>
        <p:nvSpPr>
          <p:cNvPr id="9" name="Build step 2 number"/>
          <p:cNvSpPr txBox="1"/>
          <p:nvPr/>
        </p:nvSpPr>
        <p:spPr>
          <a:xfrm>
            <a:off x="457200" y="18288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Build step 2 text"/>
          <p:cNvSpPr txBox="1"/>
          <p:nvPr/>
        </p:nvSpPr>
        <p:spPr>
          <a:xfrm>
            <a:off x="1024128" y="1810512"/>
            <a:ext cx="3639312" cy="594360"/>
          </a:xfrm>
          <a:prstGeom prst="rect">
            <a:avLst/>
          </a:prstGeom>
          <a:noFill/>
          <a:ln/>
        </p:spPr>
        <p:txBody>
          <a:bodyPr wrap="square" lIns="0" tIns="0" rIns="0" bIns="0" rtlCol="0" anchor="t"/>
          <a:lstStyle/>
          <a:p>
            <a:pPr indent="0" marL="0">
              <a:buNone/>
            </a:pPr>
            <a:r>
              <a:rPr lang="en-US" sz="1400" dirty="0">
                <a:solidFill>
                  <a:schemeClr val="tx1"/>
                </a:solidFill>
              </a:rPr>
              <a:t>Run it once per organism, because the gap-filling medium differs</a:t>
            </a:r>
            <a:endParaRPr lang="en-US" sz="1400" dirty="0"/>
          </a:p>
        </p:txBody>
      </p:sp>
      <p:sp>
        <p:nvSpPr>
          <p:cNvPr id="11" name="Build link 3"/>
          <p:cNvSpPr/>
          <p:nvPr/>
        </p:nvSpPr>
        <p:spPr>
          <a:xfrm>
            <a:off x="649224" y="2871216"/>
            <a:ext cx="0" cy="219456"/>
          </a:xfrm>
          <a:prstGeom prst="line">
            <a:avLst/>
          </a:prstGeom>
          <a:noFill/>
          <a:ln w="19050">
            <a:solidFill>
              <a:schemeClr val="accent4"/>
            </a:solidFill>
            <a:prstDash val="solid"/>
          </a:ln>
        </p:spPr>
      </p:sp>
      <p:sp>
        <p:nvSpPr>
          <p:cNvPr id="12" name="Build step 3 node"/>
          <p:cNvSpPr/>
          <p:nvPr/>
        </p:nvSpPr>
        <p:spPr>
          <a:xfrm>
            <a:off x="457200" y="2468880"/>
            <a:ext cx="384048" cy="384048"/>
          </a:xfrm>
          <a:prstGeom prst="ellipse">
            <a:avLst/>
          </a:prstGeom>
          <a:solidFill>
            <a:schemeClr val="accent1"/>
          </a:solidFill>
          <a:ln/>
        </p:spPr>
      </p:sp>
      <p:sp>
        <p:nvSpPr>
          <p:cNvPr id="13" name="Build step 3 number"/>
          <p:cNvSpPr txBox="1"/>
          <p:nvPr/>
        </p:nvSpPr>
        <p:spPr>
          <a:xfrm>
            <a:off x="457200" y="24688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Build step 3 text"/>
          <p:cNvSpPr txBox="1"/>
          <p:nvPr/>
        </p:nvSpPr>
        <p:spPr>
          <a:xfrm>
            <a:off x="1024128" y="2450592"/>
            <a:ext cx="3639312" cy="594360"/>
          </a:xfrm>
          <a:prstGeom prst="rect">
            <a:avLst/>
          </a:prstGeom>
          <a:noFill/>
          <a:ln/>
        </p:spPr>
        <p:txBody>
          <a:bodyPr wrap="square" lIns="0" tIns="0" rIns="0" bIns="0" rtlCol="0" anchor="t"/>
          <a:lstStyle/>
          <a:p>
            <a:pPr indent="0" marL="0">
              <a:buNone/>
            </a:pPr>
            <a:r>
              <a:rPr lang="en-US" sz="1400" dirty="0">
                <a:solidFill>
                  <a:schemeClr val="tx1"/>
                </a:solidFill>
              </a:rPr>
              <a:t>Use the settings on the right, then click Run</a:t>
            </a:r>
            <a:endParaRPr lang="en-US" sz="1400" dirty="0"/>
          </a:p>
        </p:txBody>
      </p:sp>
      <p:sp>
        <p:nvSpPr>
          <p:cNvPr id="15" name="Build step 4 node"/>
          <p:cNvSpPr/>
          <p:nvPr/>
        </p:nvSpPr>
        <p:spPr>
          <a:xfrm>
            <a:off x="457200" y="3108960"/>
            <a:ext cx="384048" cy="384048"/>
          </a:xfrm>
          <a:prstGeom prst="ellipse">
            <a:avLst/>
          </a:prstGeom>
          <a:solidFill>
            <a:schemeClr val="accent1"/>
          </a:solidFill>
          <a:ln/>
        </p:spPr>
      </p:sp>
      <p:sp>
        <p:nvSpPr>
          <p:cNvPr id="16" name="Build step 4 number"/>
          <p:cNvSpPr txBox="1"/>
          <p:nvPr/>
        </p:nvSpPr>
        <p:spPr>
          <a:xfrm>
            <a:off x="457200"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Build step 4 text"/>
          <p:cNvSpPr txBox="1"/>
          <p:nvPr/>
        </p:nvSpPr>
        <p:spPr>
          <a:xfrm>
            <a:off x="1024128" y="3090672"/>
            <a:ext cx="3639312" cy="594360"/>
          </a:xfrm>
          <a:prstGeom prst="rect">
            <a:avLst/>
          </a:prstGeom>
          <a:noFill/>
          <a:ln/>
        </p:spPr>
        <p:txBody>
          <a:bodyPr wrap="square" lIns="0" tIns="0" rIns="0" bIns="0" rtlCol="0" anchor="t"/>
          <a:lstStyle/>
          <a:p>
            <a:pPr indent="0" marL="0">
              <a:buNone/>
            </a:pPr>
            <a:r>
              <a:rPr lang="en-US" sz="1400" dirty="0">
                <a:solidFill>
                  <a:schemeClr val="tx1"/>
                </a:solidFill>
              </a:rPr>
              <a:t>Note reactions, compounds, genes and gap-filled reactions on your scorecard</a:t>
            </a:r>
            <a:endParaRPr lang="en-US" sz="1400" dirty="0"/>
          </a:p>
        </p:txBody>
      </p:sp>
      <p:sp>
        <p:nvSpPr>
          <p:cNvPr id="18" name="Lactis warning card"/>
          <p:cNvSpPr/>
          <p:nvPr/>
        </p:nvSpPr>
        <p:spPr>
          <a:xfrm>
            <a:off x="457200" y="3794760"/>
            <a:ext cx="4206240" cy="685800"/>
          </a:xfrm>
          <a:prstGeom prst="roundRect">
            <a:avLst>
              <a:gd name="adj" fmla="val 10667"/>
            </a:avLst>
          </a:prstGeom>
          <a:solidFill>
            <a:schemeClr val="bg2"/>
          </a:solidFill>
          <a:ln/>
        </p:spPr>
      </p:sp>
      <p:sp>
        <p:nvSpPr>
          <p:cNvPr id="19" name="Lactis warning node"/>
          <p:cNvSpPr/>
          <p:nvPr/>
        </p:nvSpPr>
        <p:spPr>
          <a:xfrm>
            <a:off x="594360" y="3904488"/>
            <a:ext cx="457200" cy="457200"/>
          </a:xfrm>
          <a:prstGeom prst="ellipse">
            <a:avLst/>
          </a:prstGeom>
          <a:solidFill>
            <a:schemeClr val="accent5"/>
          </a:solidFill>
          <a:ln/>
        </p:spPr>
      </p:sp>
      <p:pic>
        <p:nvPicPr>
          <p:cNvPr id="20" name="Lactis warning icon" descr="preencoded.png">    </p:cNvPr>
          <p:cNvPicPr>
            <a:picLocks noChangeAspect="1"/>
          </p:cNvPicPr>
          <p:nvPr/>
        </p:nvPicPr>
        <p:blipFill>
          <a:blip r:embed="rId1"/>
          <a:stretch>
            <a:fillRect/>
          </a:stretch>
        </p:blipFill>
        <p:spPr>
          <a:xfrm>
            <a:off x="708660" y="4018788"/>
            <a:ext cx="228600" cy="228600"/>
          </a:xfrm>
          <a:prstGeom prst="rect">
            <a:avLst/>
          </a:prstGeom>
        </p:spPr>
      </p:pic>
      <p:sp>
        <p:nvSpPr>
          <p:cNvPr id="21" name="Lactis warning text"/>
          <p:cNvSpPr txBox="1"/>
          <p:nvPr/>
        </p:nvSpPr>
        <p:spPr>
          <a:xfrm>
            <a:off x="1188720" y="3794760"/>
            <a:ext cx="3383280" cy="685800"/>
          </a:xfrm>
          <a:prstGeom prst="rect">
            <a:avLst/>
          </a:prstGeom>
          <a:noFill/>
          <a:ln/>
        </p:spPr>
        <p:txBody>
          <a:bodyPr wrap="square" lIns="0" tIns="0" rIns="0" bIns="0" rtlCol="0" anchor="ctr"/>
          <a:lstStyle/>
          <a:p>
            <a:pPr indent="0" marL="0">
              <a:buNone/>
            </a:pPr>
            <a:r>
              <a:rPr lang="en-US" sz="1200" b="1" i="1" dirty="0">
                <a:solidFill>
                  <a:schemeClr val="tx1"/>
                </a:solidFill>
              </a:rPr>
              <a:t>L. lactis</a:t>
            </a:r>
            <a:pPr indent="0" marL="0">
              <a:buNone/>
            </a:pPr>
            <a:r>
              <a:rPr lang="en-US" sz="1200" dirty="0">
                <a:solidFill>
                  <a:schemeClr val="tx1"/>
                </a:solidFill>
              </a:rPr>
              <a:t> needs amino acids and vitamins. On minimal glucose, gap-filling would invent pathways it lacks.</a:t>
            </a:r>
            <a:endParaRPr lang="en-US" sz="1200" dirty="0"/>
          </a:p>
        </p:txBody>
      </p:sp>
      <p:sp>
        <p:nvSpPr>
          <p:cNvPr id="22" name="Settings card"/>
          <p:cNvSpPr/>
          <p:nvPr/>
        </p:nvSpPr>
        <p:spPr>
          <a:xfrm>
            <a:off x="4892040" y="1188720"/>
            <a:ext cx="3794760" cy="3291840"/>
          </a:xfrm>
          <a:prstGeom prst="roundRect">
            <a:avLst>
              <a:gd name="adj" fmla="val 2222"/>
            </a:avLst>
          </a:prstGeom>
          <a:solidFill>
            <a:schemeClr val="bg2"/>
          </a:solidFill>
          <a:ln/>
        </p:spPr>
      </p:sp>
      <p:sp>
        <p:nvSpPr>
          <p:cNvPr id="23" name="Settings node"/>
          <p:cNvSpPr/>
          <p:nvPr/>
        </p:nvSpPr>
        <p:spPr>
          <a:xfrm>
            <a:off x="5074920" y="1298448"/>
            <a:ext cx="411480" cy="411480"/>
          </a:xfrm>
          <a:prstGeom prst="ellipse">
            <a:avLst/>
          </a:prstGeom>
          <a:solidFill>
            <a:schemeClr val="accent1"/>
          </a:solidFill>
          <a:ln/>
        </p:spPr>
      </p:sp>
      <p:pic>
        <p:nvPicPr>
          <p:cNvPr id="24" name="Settings icon" descr="preencoded.png">    </p:cNvPr>
          <p:cNvPicPr>
            <a:picLocks noChangeAspect="1"/>
          </p:cNvPicPr>
          <p:nvPr/>
        </p:nvPicPr>
        <p:blipFill>
          <a:blip r:embed="rId2"/>
          <a:stretch>
            <a:fillRect/>
          </a:stretch>
        </p:blipFill>
        <p:spPr>
          <a:xfrm>
            <a:off x="5177790" y="1401318"/>
            <a:ext cx="205740" cy="205740"/>
          </a:xfrm>
          <a:prstGeom prst="rect">
            <a:avLst/>
          </a:prstGeom>
        </p:spPr>
      </p:pic>
      <p:sp>
        <p:nvSpPr>
          <p:cNvPr id="25" name="Settings heading"/>
          <p:cNvSpPr txBox="1"/>
          <p:nvPr/>
        </p:nvSpPr>
        <p:spPr>
          <a:xfrm>
            <a:off x="5623560" y="1298448"/>
            <a:ext cx="2926080" cy="411480"/>
          </a:xfrm>
          <a:prstGeom prst="rect">
            <a:avLst/>
          </a:prstGeom>
          <a:noFill/>
          <a:ln/>
        </p:spPr>
        <p:txBody>
          <a:bodyPr wrap="square" lIns="0" tIns="0" rIns="0" bIns="0" rtlCol="0" anchor="ctr"/>
          <a:lstStyle/>
          <a:p>
            <a:pPr indent="0" marL="0">
              <a:buNone/>
            </a:pPr>
            <a:r>
              <a:rPr lang="en-US" sz="1500" b="1" dirty="0">
                <a:solidFill>
                  <a:schemeClr val="tx2"/>
                </a:solidFill>
              </a:rPr>
              <a:t>App settings</a:t>
            </a:r>
            <a:endParaRPr lang="en-US" sz="1500" dirty="0"/>
          </a:p>
        </p:txBody>
      </p:sp>
      <p:sp>
        <p:nvSpPr>
          <p:cNvPr id="26" name="Setting 1 label"/>
          <p:cNvSpPr txBox="1"/>
          <p:nvPr/>
        </p:nvSpPr>
        <p:spPr>
          <a:xfrm>
            <a:off x="5120640" y="1828800"/>
            <a:ext cx="3429000" cy="219456"/>
          </a:xfrm>
          <a:prstGeom prst="rect">
            <a:avLst/>
          </a:prstGeom>
          <a:noFill/>
          <a:ln/>
        </p:spPr>
        <p:txBody>
          <a:bodyPr wrap="square" lIns="0" tIns="0" rIns="0" bIns="0" rtlCol="0" anchor="t"/>
          <a:lstStyle/>
          <a:p>
            <a:pPr indent="0" marL="0">
              <a:buNone/>
            </a:pPr>
            <a:r>
              <a:rPr lang="en-US" sz="1100" b="1" dirty="0">
                <a:solidFill>
                  <a:schemeClr val="accent3"/>
                </a:solidFill>
              </a:rPr>
              <a:t>Genome or Genome Set</a:t>
            </a:r>
            <a:endParaRPr lang="en-US" sz="1100" dirty="0"/>
          </a:p>
        </p:txBody>
      </p:sp>
      <p:sp>
        <p:nvSpPr>
          <p:cNvPr id="27" name="Setting 1 value"/>
          <p:cNvSpPr txBox="1"/>
          <p:nvPr/>
        </p:nvSpPr>
        <p:spPr>
          <a:xfrm>
            <a:off x="5120640" y="2048256"/>
            <a:ext cx="3429000" cy="256032"/>
          </a:xfrm>
          <a:prstGeom prst="rect">
            <a:avLst/>
          </a:prstGeom>
          <a:noFill/>
          <a:ln/>
        </p:spPr>
        <p:txBody>
          <a:bodyPr wrap="square" lIns="0" tIns="0" rIns="0" bIns="0" rtlCol="0" anchor="t"/>
          <a:lstStyle/>
          <a:p>
            <a:pPr indent="0" marL="0">
              <a:buNone/>
            </a:pPr>
            <a:r>
              <a:rPr lang="en-US" sz="1300" dirty="0">
                <a:solidFill>
                  <a:schemeClr val="tx1"/>
                </a:solidFill>
              </a:rPr>
              <a:t>your RAST-annotated genome</a:t>
            </a:r>
            <a:endParaRPr lang="en-US" sz="1300" dirty="0"/>
          </a:p>
        </p:txBody>
      </p:sp>
      <p:sp>
        <p:nvSpPr>
          <p:cNvPr id="28" name="Setting 2 label"/>
          <p:cNvSpPr txBox="1"/>
          <p:nvPr/>
        </p:nvSpPr>
        <p:spPr>
          <a:xfrm>
            <a:off x="5120640" y="2468880"/>
            <a:ext cx="3429000" cy="219456"/>
          </a:xfrm>
          <a:prstGeom prst="rect">
            <a:avLst/>
          </a:prstGeom>
          <a:noFill/>
          <a:ln/>
        </p:spPr>
        <p:txBody>
          <a:bodyPr wrap="square" lIns="0" tIns="0" rIns="0" bIns="0" rtlCol="0" anchor="t"/>
          <a:lstStyle/>
          <a:p>
            <a:pPr indent="0" marL="0">
              <a:buNone/>
            </a:pPr>
            <a:r>
              <a:rPr lang="en-US" sz="1100" b="1" dirty="0">
                <a:solidFill>
                  <a:schemeClr val="accent3"/>
                </a:solidFill>
              </a:rPr>
              <a:t>Template for reconstruction</a:t>
            </a:r>
            <a:endParaRPr lang="en-US" sz="1100" dirty="0"/>
          </a:p>
        </p:txBody>
      </p:sp>
      <p:sp>
        <p:nvSpPr>
          <p:cNvPr id="29" name="Setting 2 value"/>
          <p:cNvSpPr txBox="1"/>
          <p:nvPr/>
        </p:nvSpPr>
        <p:spPr>
          <a:xfrm>
            <a:off x="5120640" y="2688336"/>
            <a:ext cx="3429000" cy="256032"/>
          </a:xfrm>
          <a:prstGeom prst="rect">
            <a:avLst/>
          </a:prstGeom>
          <a:noFill/>
          <a:ln/>
        </p:spPr>
        <p:txBody>
          <a:bodyPr wrap="square" lIns="0" tIns="0" rIns="0" bIns="0" rtlCol="0" anchor="t"/>
          <a:lstStyle/>
          <a:p>
            <a:pPr indent="0" marL="0">
              <a:buNone/>
            </a:pPr>
            <a:r>
              <a:rPr lang="en-US" sz="1300" dirty="0">
                <a:solidFill>
                  <a:schemeClr val="tx1"/>
                </a:solidFill>
              </a:rPr>
              <a:t>Automatic selection</a:t>
            </a:r>
            <a:endParaRPr lang="en-US" sz="1300" dirty="0"/>
          </a:p>
        </p:txBody>
      </p:sp>
      <p:sp>
        <p:nvSpPr>
          <p:cNvPr id="30" name="Setting 3 label"/>
          <p:cNvSpPr txBox="1"/>
          <p:nvPr/>
        </p:nvSpPr>
        <p:spPr>
          <a:xfrm>
            <a:off x="5120640" y="3108960"/>
            <a:ext cx="3429000" cy="219456"/>
          </a:xfrm>
          <a:prstGeom prst="rect">
            <a:avLst/>
          </a:prstGeom>
          <a:noFill/>
          <a:ln/>
        </p:spPr>
        <p:txBody>
          <a:bodyPr wrap="square" lIns="0" tIns="0" rIns="0" bIns="0" rtlCol="0" anchor="t"/>
          <a:lstStyle/>
          <a:p>
            <a:pPr indent="0" marL="0">
              <a:buNone/>
            </a:pPr>
            <a:r>
              <a:rPr lang="en-US" sz="1100" b="1" dirty="0">
                <a:solidFill>
                  <a:schemeClr val="accent3"/>
                </a:solidFill>
              </a:rPr>
              <a:t>Gapfilling Medias</a:t>
            </a:r>
            <a:endParaRPr lang="en-US" sz="1100" dirty="0"/>
          </a:p>
        </p:txBody>
      </p:sp>
      <p:sp>
        <p:nvSpPr>
          <p:cNvPr id="31" name="Setting 3 value"/>
          <p:cNvSpPr txBox="1"/>
          <p:nvPr/>
        </p:nvSpPr>
        <p:spPr>
          <a:xfrm>
            <a:off x="5120640" y="3328416"/>
            <a:ext cx="3429000" cy="457200"/>
          </a:xfrm>
          <a:prstGeom prst="rect">
            <a:avLst/>
          </a:prstGeom>
          <a:noFill/>
          <a:ln/>
        </p:spPr>
        <p:txBody>
          <a:bodyPr wrap="square" lIns="0" tIns="0" rIns="0" bIns="0" rtlCol="0" anchor="t"/>
          <a:lstStyle/>
          <a:p>
            <a:pPr indent="0" marL="0">
              <a:buNone/>
            </a:pPr>
            <a:r>
              <a:rPr lang="en-US" sz="1300" dirty="0">
                <a:solidFill>
                  <a:schemeClr val="tx1"/>
                </a:solidFill>
              </a:rPr>
              <a:t>E. coli, B. subtilis: Carbon-D-Glucose</a:t>
            </a:r>
            <a:endParaRPr lang="en-US" sz="1300" dirty="0"/>
          </a:p>
          <a:p>
            <a:pPr indent="0" marL="0">
              <a:buNone/>
            </a:pPr>
            <a:r>
              <a:rPr lang="en-US" sz="1300" dirty="0">
                <a:solidFill>
                  <a:schemeClr val="tx1"/>
                </a:solidFill>
              </a:rPr>
              <a:t>L. lactis: leave empty (AuxoMedia)</a:t>
            </a:r>
            <a:endParaRPr lang="en-US" sz="1300" dirty="0"/>
          </a:p>
        </p:txBody>
      </p:sp>
      <p:sp>
        <p:nvSpPr>
          <p:cNvPr id="32" name="Setting 4 label"/>
          <p:cNvSpPr txBox="1"/>
          <p:nvPr/>
        </p:nvSpPr>
        <p:spPr>
          <a:xfrm>
            <a:off x="5120640" y="3950208"/>
            <a:ext cx="3429000" cy="219456"/>
          </a:xfrm>
          <a:prstGeom prst="rect">
            <a:avLst/>
          </a:prstGeom>
          <a:noFill/>
          <a:ln/>
        </p:spPr>
        <p:txBody>
          <a:bodyPr wrap="square" lIns="0" tIns="0" rIns="0" bIns="0" rtlCol="0" anchor="t"/>
          <a:lstStyle/>
          <a:p>
            <a:pPr indent="0" marL="0">
              <a:buNone/>
            </a:pPr>
            <a:r>
              <a:rPr lang="en-US" sz="1100" b="1" dirty="0">
                <a:solidFill>
                  <a:schemeClr val="accent3"/>
                </a:solidFill>
              </a:rPr>
              <a:t>Gapfill models? · Apply ATP check?</a:t>
            </a:r>
            <a:endParaRPr lang="en-US" sz="1100" dirty="0"/>
          </a:p>
        </p:txBody>
      </p:sp>
      <p:sp>
        <p:nvSpPr>
          <p:cNvPr id="33" name="Setting 4 value"/>
          <p:cNvSpPr txBox="1"/>
          <p:nvPr/>
        </p:nvSpPr>
        <p:spPr>
          <a:xfrm>
            <a:off x="5120640" y="4169664"/>
            <a:ext cx="3429000" cy="256032"/>
          </a:xfrm>
          <a:prstGeom prst="rect">
            <a:avLst/>
          </a:prstGeom>
          <a:noFill/>
          <a:ln/>
        </p:spPr>
        <p:txBody>
          <a:bodyPr wrap="square" lIns="0" tIns="0" rIns="0" bIns="0" rtlCol="0" anchor="t"/>
          <a:lstStyle/>
          <a:p>
            <a:pPr indent="0" marL="0">
              <a:buNone/>
            </a:pPr>
            <a:r>
              <a:rPr lang="en-US" sz="1300" dirty="0">
                <a:solidFill>
                  <a:schemeClr val="tx1"/>
                </a:solidFill>
              </a:rPr>
              <a:t>keep both ticked (the defaults)</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Step 4 · Test the models with FBA</a:t>
            </a:r>
            <a:endParaRPr lang="en-US" sz="3400" dirty="0"/>
          </a:p>
        </p:txBody>
      </p:sp>
      <p:sp>
        <p:nvSpPr>
          <p:cNvPr id="3" name="FBA link 1"/>
          <p:cNvSpPr/>
          <p:nvPr/>
        </p:nvSpPr>
        <p:spPr>
          <a:xfrm>
            <a:off x="649224" y="1591056"/>
            <a:ext cx="0" cy="237744"/>
          </a:xfrm>
          <a:prstGeom prst="line">
            <a:avLst/>
          </a:prstGeom>
          <a:noFill/>
          <a:ln w="19050">
            <a:solidFill>
              <a:schemeClr val="accent4"/>
            </a:solidFill>
            <a:prstDash val="solid"/>
          </a:ln>
        </p:spPr>
      </p:sp>
      <p:sp>
        <p:nvSpPr>
          <p:cNvPr id="4" name="FBA step 1 node"/>
          <p:cNvSpPr/>
          <p:nvPr/>
        </p:nvSpPr>
        <p:spPr>
          <a:xfrm>
            <a:off x="457200" y="1188720"/>
            <a:ext cx="384048" cy="384048"/>
          </a:xfrm>
          <a:prstGeom prst="ellipse">
            <a:avLst/>
          </a:prstGeom>
          <a:solidFill>
            <a:schemeClr val="accent1"/>
          </a:solidFill>
          <a:ln/>
        </p:spPr>
      </p:sp>
      <p:sp>
        <p:nvSpPr>
          <p:cNvPr id="5" name="FBA step 1 number"/>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FBA step 1 text"/>
          <p:cNvSpPr txBox="1"/>
          <p:nvPr/>
        </p:nvSpPr>
        <p:spPr>
          <a:xfrm>
            <a:off x="1024128" y="1170432"/>
            <a:ext cx="3639312" cy="612648"/>
          </a:xfrm>
          <a:prstGeom prst="rect">
            <a:avLst/>
          </a:prstGeom>
          <a:noFill/>
          <a:ln/>
        </p:spPr>
        <p:txBody>
          <a:bodyPr wrap="square" lIns="0" tIns="0" rIns="0" bIns="0" rtlCol="0" anchor="t"/>
          <a:lstStyle/>
          <a:p>
            <a:pPr indent="0" marL="0">
              <a:buNone/>
            </a:pPr>
            <a:r>
              <a:rPr lang="en-US" sz="1400" dirty="0">
                <a:solidFill>
                  <a:schemeClr val="tx1"/>
                </a:solidFill>
              </a:rPr>
              <a:t>Apps panel: open Run Flux Balance Analysis</a:t>
            </a:r>
            <a:endParaRPr lang="en-US" sz="1400" dirty="0"/>
          </a:p>
        </p:txBody>
      </p:sp>
      <p:sp>
        <p:nvSpPr>
          <p:cNvPr id="7" name="FBA link 2"/>
          <p:cNvSpPr/>
          <p:nvPr/>
        </p:nvSpPr>
        <p:spPr>
          <a:xfrm>
            <a:off x="649224" y="2249424"/>
            <a:ext cx="0" cy="237744"/>
          </a:xfrm>
          <a:prstGeom prst="line">
            <a:avLst/>
          </a:prstGeom>
          <a:noFill/>
          <a:ln w="19050">
            <a:solidFill>
              <a:schemeClr val="accent4"/>
            </a:solidFill>
            <a:prstDash val="solid"/>
          </a:ln>
        </p:spPr>
      </p:sp>
      <p:sp>
        <p:nvSpPr>
          <p:cNvPr id="8" name="FBA step 2 node"/>
          <p:cNvSpPr/>
          <p:nvPr/>
        </p:nvSpPr>
        <p:spPr>
          <a:xfrm>
            <a:off x="457200" y="1847088"/>
            <a:ext cx="384048" cy="384048"/>
          </a:xfrm>
          <a:prstGeom prst="ellipse">
            <a:avLst/>
          </a:prstGeom>
          <a:solidFill>
            <a:schemeClr val="accent1"/>
          </a:solidFill>
          <a:ln/>
        </p:spPr>
      </p:sp>
      <p:sp>
        <p:nvSpPr>
          <p:cNvPr id="9" name="FBA step 2 number"/>
          <p:cNvSpPr txBox="1"/>
          <p:nvPr/>
        </p:nvSpPr>
        <p:spPr>
          <a:xfrm>
            <a:off x="457200" y="18470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FBA step 2 text"/>
          <p:cNvSpPr txBox="1"/>
          <p:nvPr/>
        </p:nvSpPr>
        <p:spPr>
          <a:xfrm>
            <a:off x="1024128" y="1828800"/>
            <a:ext cx="3639312" cy="612648"/>
          </a:xfrm>
          <a:prstGeom prst="rect">
            <a:avLst/>
          </a:prstGeom>
          <a:noFill/>
          <a:ln/>
        </p:spPr>
        <p:txBody>
          <a:bodyPr wrap="square" lIns="0" tIns="0" rIns="0" bIns="0" rtlCol="0" anchor="t"/>
          <a:lstStyle/>
          <a:p>
            <a:pPr indent="0" marL="0">
              <a:buNone/>
            </a:pPr>
            <a:r>
              <a:rPr lang="en-US" sz="1400" dirty="0">
                <a:solidFill>
                  <a:schemeClr val="tx1"/>
                </a:solidFill>
              </a:rPr>
              <a:t>Choose a model and a medium; keep biomass as the objective; Run</a:t>
            </a:r>
            <a:endParaRPr lang="en-US" sz="1400" dirty="0"/>
          </a:p>
        </p:txBody>
      </p:sp>
      <p:sp>
        <p:nvSpPr>
          <p:cNvPr id="11" name="FBA link 3"/>
          <p:cNvSpPr/>
          <p:nvPr/>
        </p:nvSpPr>
        <p:spPr>
          <a:xfrm>
            <a:off x="649224" y="2907792"/>
            <a:ext cx="0" cy="237744"/>
          </a:xfrm>
          <a:prstGeom prst="line">
            <a:avLst/>
          </a:prstGeom>
          <a:noFill/>
          <a:ln w="19050">
            <a:solidFill>
              <a:schemeClr val="accent4"/>
            </a:solidFill>
            <a:prstDash val="solid"/>
          </a:ln>
        </p:spPr>
      </p:sp>
      <p:sp>
        <p:nvSpPr>
          <p:cNvPr id="12" name="FBA step 3 node"/>
          <p:cNvSpPr/>
          <p:nvPr/>
        </p:nvSpPr>
        <p:spPr>
          <a:xfrm>
            <a:off x="457200" y="2505456"/>
            <a:ext cx="384048" cy="384048"/>
          </a:xfrm>
          <a:prstGeom prst="ellipse">
            <a:avLst/>
          </a:prstGeom>
          <a:solidFill>
            <a:schemeClr val="accent1"/>
          </a:solidFill>
          <a:ln/>
        </p:spPr>
      </p:sp>
      <p:sp>
        <p:nvSpPr>
          <p:cNvPr id="13" name="FBA step 3 number"/>
          <p:cNvSpPr txBox="1"/>
          <p:nvPr/>
        </p:nvSpPr>
        <p:spPr>
          <a:xfrm>
            <a:off x="457200" y="250545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4" name="FBA step 3 text"/>
          <p:cNvSpPr txBox="1"/>
          <p:nvPr/>
        </p:nvSpPr>
        <p:spPr>
          <a:xfrm>
            <a:off x="1024128" y="2487168"/>
            <a:ext cx="3639312" cy="612648"/>
          </a:xfrm>
          <a:prstGeom prst="rect">
            <a:avLst/>
          </a:prstGeom>
          <a:noFill/>
          <a:ln/>
        </p:spPr>
        <p:txBody>
          <a:bodyPr wrap="square" lIns="0" tIns="0" rIns="0" bIns="0" rtlCol="0" anchor="t"/>
          <a:lstStyle/>
          <a:p>
            <a:pPr indent="0" marL="0">
              <a:buNone/>
            </a:pPr>
            <a:r>
              <a:rPr lang="en-US" sz="1400" dirty="0">
                <a:solidFill>
                  <a:schemeClr val="tx1"/>
                </a:solidFill>
              </a:rPr>
              <a:t>The objective value is the predicted growth rate</a:t>
            </a:r>
            <a:endParaRPr lang="en-US" sz="1400" dirty="0"/>
          </a:p>
        </p:txBody>
      </p:sp>
      <p:sp>
        <p:nvSpPr>
          <p:cNvPr id="15" name="FBA link 4"/>
          <p:cNvSpPr/>
          <p:nvPr/>
        </p:nvSpPr>
        <p:spPr>
          <a:xfrm>
            <a:off x="649224" y="3566160"/>
            <a:ext cx="0" cy="237744"/>
          </a:xfrm>
          <a:prstGeom prst="line">
            <a:avLst/>
          </a:prstGeom>
          <a:noFill/>
          <a:ln w="19050">
            <a:solidFill>
              <a:schemeClr val="accent4"/>
            </a:solidFill>
            <a:prstDash val="solid"/>
          </a:ln>
        </p:spPr>
      </p:sp>
      <p:sp>
        <p:nvSpPr>
          <p:cNvPr id="16" name="FBA step 4 node"/>
          <p:cNvSpPr/>
          <p:nvPr/>
        </p:nvSpPr>
        <p:spPr>
          <a:xfrm>
            <a:off x="457200" y="3163824"/>
            <a:ext cx="384048" cy="384048"/>
          </a:xfrm>
          <a:prstGeom prst="ellipse">
            <a:avLst/>
          </a:prstGeom>
          <a:solidFill>
            <a:schemeClr val="accent1"/>
          </a:solidFill>
          <a:ln/>
        </p:spPr>
      </p:sp>
      <p:sp>
        <p:nvSpPr>
          <p:cNvPr id="17" name="FBA step 4 number"/>
          <p:cNvSpPr txBox="1"/>
          <p:nvPr/>
        </p:nvSpPr>
        <p:spPr>
          <a:xfrm>
            <a:off x="457200" y="31638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FBA step 4 text"/>
          <p:cNvSpPr txBox="1"/>
          <p:nvPr/>
        </p:nvSpPr>
        <p:spPr>
          <a:xfrm>
            <a:off x="1024128" y="3145536"/>
            <a:ext cx="3639312" cy="612648"/>
          </a:xfrm>
          <a:prstGeom prst="rect">
            <a:avLst/>
          </a:prstGeom>
          <a:noFill/>
          <a:ln/>
        </p:spPr>
        <p:txBody>
          <a:bodyPr wrap="square" lIns="0" tIns="0" rIns="0" bIns="0" rtlCol="0" anchor="t"/>
          <a:lstStyle/>
          <a:p>
            <a:pPr indent="0" marL="0">
              <a:buNone/>
            </a:pPr>
            <a:r>
              <a:rPr lang="en-US" sz="1400" dirty="0">
                <a:solidFill>
                  <a:schemeClr val="tx1"/>
                </a:solidFill>
              </a:rPr>
              <a:t>Test each model on Carbon-D-Glucose and on AuxoMedia</a:t>
            </a:r>
            <a:endParaRPr lang="en-US" sz="1400" dirty="0"/>
          </a:p>
        </p:txBody>
      </p:sp>
      <p:sp>
        <p:nvSpPr>
          <p:cNvPr id="19" name="FBA step 5 node"/>
          <p:cNvSpPr/>
          <p:nvPr/>
        </p:nvSpPr>
        <p:spPr>
          <a:xfrm>
            <a:off x="457200" y="3822192"/>
            <a:ext cx="384048" cy="384048"/>
          </a:xfrm>
          <a:prstGeom prst="ellipse">
            <a:avLst/>
          </a:prstGeom>
          <a:solidFill>
            <a:schemeClr val="accent1"/>
          </a:solidFill>
          <a:ln/>
        </p:spPr>
      </p:sp>
      <p:sp>
        <p:nvSpPr>
          <p:cNvPr id="20" name="FBA step 5 number"/>
          <p:cNvSpPr txBox="1"/>
          <p:nvPr/>
        </p:nvSpPr>
        <p:spPr>
          <a:xfrm>
            <a:off x="457200" y="382219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FBA step 5 text"/>
          <p:cNvSpPr txBox="1"/>
          <p:nvPr/>
        </p:nvSpPr>
        <p:spPr>
          <a:xfrm>
            <a:off x="1024128" y="3803904"/>
            <a:ext cx="3639312" cy="612648"/>
          </a:xfrm>
          <a:prstGeom prst="rect">
            <a:avLst/>
          </a:prstGeom>
          <a:noFill/>
          <a:ln/>
        </p:spPr>
        <p:txBody>
          <a:bodyPr wrap="square" lIns="0" tIns="0" rIns="0" bIns="0" rtlCol="0" anchor="t"/>
          <a:lstStyle/>
          <a:p>
            <a:pPr indent="0" marL="0">
              <a:buNone/>
            </a:pPr>
            <a:r>
              <a:rPr lang="en-US" sz="1400" dirty="0">
                <a:solidFill>
                  <a:schemeClr val="tx1"/>
                </a:solidFill>
              </a:rPr>
              <a:t>Optional: Compare Models shows all three side by side</a:t>
            </a:r>
            <a:endParaRPr lang="en-US" sz="1400" dirty="0"/>
          </a:p>
        </p:txBody>
      </p:sp>
      <p:sp>
        <p:nvSpPr>
          <p:cNvPr id="22" name="Predict card"/>
          <p:cNvSpPr/>
          <p:nvPr/>
        </p:nvSpPr>
        <p:spPr>
          <a:xfrm>
            <a:off x="4892040" y="1188720"/>
            <a:ext cx="3794760" cy="3291840"/>
          </a:xfrm>
          <a:prstGeom prst="roundRect">
            <a:avLst>
              <a:gd name="adj" fmla="val 2222"/>
            </a:avLst>
          </a:prstGeom>
          <a:solidFill>
            <a:schemeClr val="tx2"/>
          </a:solidFill>
          <a:ln/>
        </p:spPr>
      </p:sp>
      <p:sp>
        <p:nvSpPr>
          <p:cNvPr id="23" name="Predict node"/>
          <p:cNvSpPr/>
          <p:nvPr/>
        </p:nvSpPr>
        <p:spPr>
          <a:xfrm>
            <a:off x="5074920" y="1298448"/>
            <a:ext cx="411480" cy="411480"/>
          </a:xfrm>
          <a:prstGeom prst="ellipse">
            <a:avLst/>
          </a:prstGeom>
          <a:solidFill>
            <a:schemeClr val="accent2"/>
          </a:solidFill>
          <a:ln/>
        </p:spPr>
      </p:sp>
      <p:pic>
        <p:nvPicPr>
          <p:cNvPr id="24" name="Predict icon" descr="preencoded.png">    </p:cNvPr>
          <p:cNvPicPr>
            <a:picLocks noChangeAspect="1"/>
          </p:cNvPicPr>
          <p:nvPr/>
        </p:nvPicPr>
        <p:blipFill>
          <a:blip r:embed="rId1"/>
          <a:stretch>
            <a:fillRect/>
          </a:stretch>
        </p:blipFill>
        <p:spPr>
          <a:xfrm>
            <a:off x="5177790" y="1401318"/>
            <a:ext cx="205740" cy="205740"/>
          </a:xfrm>
          <a:prstGeom prst="rect">
            <a:avLst/>
          </a:prstGeom>
        </p:spPr>
      </p:pic>
      <p:sp>
        <p:nvSpPr>
          <p:cNvPr id="25" name="Predict heading"/>
          <p:cNvSpPr txBox="1"/>
          <p:nvPr/>
        </p:nvSpPr>
        <p:spPr>
          <a:xfrm>
            <a:off x="5623560" y="1298448"/>
            <a:ext cx="2926080" cy="411480"/>
          </a:xfrm>
          <a:prstGeom prst="rect">
            <a:avLst/>
          </a:prstGeom>
          <a:noFill/>
          <a:ln/>
        </p:spPr>
        <p:txBody>
          <a:bodyPr wrap="square" lIns="0" tIns="0" rIns="0" bIns="0" rtlCol="0" anchor="ctr"/>
          <a:lstStyle/>
          <a:p>
            <a:pPr indent="0" marL="0">
              <a:buNone/>
            </a:pPr>
            <a:r>
              <a:rPr lang="en-US" sz="1500" b="1" dirty="0">
                <a:solidFill>
                  <a:schemeClr val="bg1"/>
                </a:solidFill>
              </a:rPr>
              <a:t>Predict before you run</a:t>
            </a:r>
            <a:endParaRPr lang="en-US" sz="1500" dirty="0"/>
          </a:p>
        </p:txBody>
      </p:sp>
      <p:graphicFrame>
        <p:nvGraphicFramePr>
          <p:cNvPr id="8" name="Predict table"/>
          <p:cNvGraphicFramePr>
            <a:graphicFrameLocks noGrp="1"/>
          </p:cNvGraphicFramePr>
          <p:nvPr>
            <p:extLst>
              <p:ext uri="{D42A27DB-BD31-4B8C-83A1-F6EECF244321}">
                <p14:modId xmlns:p14="http://schemas.microsoft.com/office/powerpoint/2010/main" val="1579011935"/>
              </p:ext>
            </p:extLst>
          </p:nvPr>
        </p:nvGraphicFramePr>
        <p:xfrm>
          <a:off x="5074920" y="1847088"/>
          <a:ext cx="3429000" cy="914400"/>
        </p:xfrm>
        <a:graphic>
          <a:graphicData uri="http://schemas.openxmlformats.org/drawingml/2006/table">
            <a:tbl>
              <a:tblPr/>
              <a:tblGrid>
                <a:gridCol w="1417320"/>
                <a:gridCol w="1005840"/>
                <a:gridCol w="1005840"/>
              </a:tblGrid>
              <a:tr h="310896">
                <a:tc>
                  <a:txBody>
                    <a:bodyPr/>
                    <a:lstStyle/>
                    <a:p>
                      <a:pPr algn="ctr" indent="0" marL="0">
                        <a:buNone/>
                      </a:pPr>
                      <a:r>
                        <a:rPr lang="en-US" sz="1300" b="1" dirty="0">
                          <a:solidFill>
                            <a:schemeClr val="tx2"/>
                          </a:solidFill>
                        </a:rPr>
                        <a:t>Grows on</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tx2"/>
                          </a:solidFill>
                        </a:rPr>
                        <a:t>Glucose</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accent4"/>
                    </a:solidFill>
                  </a:tcPr>
                </a:tc>
                <a:tc>
                  <a:txBody>
                    <a:bodyPr/>
                    <a:lstStyle/>
                    <a:p>
                      <a:pPr algn="ctr" indent="0" marL="0">
                        <a:buNone/>
                      </a:pPr>
                      <a:r>
                        <a:rPr lang="en-US" sz="1300" b="1" dirty="0">
                          <a:solidFill>
                            <a:schemeClr val="tx2"/>
                          </a:solidFill>
                        </a:rPr>
                        <a:t>Auxo</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accent4"/>
                    </a:solidFill>
                  </a:tcPr>
                </a:tc>
              </a:tr>
              <a:tr h="310896">
                <a:tc>
                  <a:txBody>
                    <a:bodyPr/>
                    <a:lstStyle/>
                    <a:p>
                      <a:pPr indent="0" marL="0">
                        <a:buNone/>
                      </a:pPr>
                      <a:r>
                        <a:rPr lang="en-US" sz="1300" i="1" dirty="0">
                          <a:solidFill>
                            <a:schemeClr val="bg1"/>
                          </a:solidFill>
                        </a:rPr>
                        <a:t>E. coli</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2"/>
                          </a:solidFill>
                        </a:rPr>
                        <a:t>?</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2"/>
                          </a:solidFill>
                        </a:rPr>
                        <a:t>?</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r>
              <a:tr h="310896">
                <a:tc>
                  <a:txBody>
                    <a:bodyPr/>
                    <a:lstStyle/>
                    <a:p>
                      <a:pPr indent="0" marL="0">
                        <a:buNone/>
                      </a:pPr>
                      <a:r>
                        <a:rPr lang="en-US" sz="1300" i="1" dirty="0">
                          <a:solidFill>
                            <a:schemeClr val="bg1"/>
                          </a:solidFill>
                        </a:rPr>
                        <a:t>B. subtilis</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2"/>
                          </a:solidFill>
                        </a:rPr>
                        <a:t>?</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2"/>
                          </a:solidFill>
                        </a:rPr>
                        <a:t>?</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r>
              <a:tr h="310896">
                <a:tc>
                  <a:txBody>
                    <a:bodyPr/>
                    <a:lstStyle/>
                    <a:p>
                      <a:pPr indent="0" marL="0">
                        <a:buNone/>
                      </a:pPr>
                      <a:r>
                        <a:rPr lang="en-US" sz="1300" i="1" dirty="0">
                          <a:solidFill>
                            <a:schemeClr val="bg1"/>
                          </a:solidFill>
                        </a:rPr>
                        <a:t>L. lactis</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2"/>
                          </a:solidFill>
                        </a:rPr>
                        <a:t>?</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accent2"/>
                          </a:solidFill>
                        </a:rPr>
                        <a:t>?</a:t>
                      </a:r>
                      <a:endParaRPr lang="en-US" sz="1300" dirty="0"/>
                    </a:p>
                  </a:txBody>
                  <a:tcPr marL="73152" marR="73152" marT="27432" marB="27432" anchor="ctr">
                    <a:lnL w="9525" cap="flat" cmpd="sng" algn="ctr">
                      <a:solidFill>
                        <a:srgbClr val="5C7A82"/>
                      </a:solidFill>
                      <a:prstDash val="solid"/>
                      <a:round/>
                      <a:headEnd type="none" w="med" len="med"/>
                      <a:tailEnd type="none" w="med" len="med"/>
                    </a:lnL>
                    <a:lnR w="9525" cap="flat" cmpd="sng" algn="ctr">
                      <a:solidFill>
                        <a:srgbClr val="5C7A82"/>
                      </a:solidFill>
                      <a:prstDash val="solid"/>
                      <a:round/>
                      <a:headEnd type="none" w="med" len="med"/>
                      <a:tailEnd type="none" w="med" len="med"/>
                    </a:lnR>
                    <a:lnT w="9525" cap="flat" cmpd="sng" algn="ctr">
                      <a:solidFill>
                        <a:srgbClr val="5C7A82"/>
                      </a:solidFill>
                      <a:prstDash val="solid"/>
                      <a:round/>
                      <a:headEnd type="none" w="med" len="med"/>
                      <a:tailEnd type="none" w="med" len="med"/>
                    </a:lnT>
                    <a:lnB w="9525" cap="flat" cmpd="sng" algn="ctr">
                      <a:solidFill>
                        <a:srgbClr val="5C7A82"/>
                      </a:solidFill>
                      <a:prstDash val="solid"/>
                      <a:round/>
                      <a:headEnd type="none" w="med" len="med"/>
                      <a:tailEnd type="none" w="med" len="med"/>
                    </a:lnB>
                    <a:solidFill>
                      <a:schemeClr val="tx2"/>
                    </a:solidFill>
                  </a:tcPr>
                </a:tc>
              </a:tr>
            </a:tbl>
          </a:graphicData>
        </a:graphic>
      </p:graphicFrame>
      <p:sp>
        <p:nvSpPr>
          <p:cNvPr id="27" name="Predict question"/>
          <p:cNvSpPr txBox="1"/>
          <p:nvPr/>
        </p:nvSpPr>
        <p:spPr>
          <a:xfrm>
            <a:off x="5074920" y="3246120"/>
            <a:ext cx="3474720" cy="822960"/>
          </a:xfrm>
          <a:prstGeom prst="rect">
            <a:avLst/>
          </a:prstGeom>
          <a:noFill/>
          <a:ln/>
        </p:spPr>
        <p:txBody>
          <a:bodyPr wrap="square" lIns="0" tIns="0" rIns="0" bIns="0" rtlCol="0" anchor="t"/>
          <a:lstStyle/>
          <a:p>
            <a:pPr indent="0" marL="0">
              <a:buNone/>
            </a:pPr>
            <a:r>
              <a:rPr lang="en-US" sz="1300" i="1" dirty="0">
                <a:solidFill>
                  <a:schemeClr val="accent4"/>
                </a:solidFill>
              </a:rPr>
              <a:t>B. subtilis</a:t>
            </a:r>
            <a:pPr indent="0" marL="0">
              <a:buNone/>
            </a:pPr>
            <a:r>
              <a:rPr lang="en-US" sz="1300" dirty="0">
                <a:solidFill>
                  <a:schemeClr val="accent4"/>
                </a:solidFill>
              </a:rPr>
              <a:t> 168 carries the trpC2 mutation: it needs tryptophan. Does your model know?</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Step 5 · Compare with BiGG</a:t>
            </a:r>
            <a:endParaRPr lang="en-US" sz="3400" dirty="0"/>
          </a:p>
        </p:txBody>
      </p:sp>
      <p:sp>
        <p:nvSpPr>
          <p:cNvPr id="3" name="Compare code card"/>
          <p:cNvSpPr/>
          <p:nvPr/>
        </p:nvSpPr>
        <p:spPr>
          <a:xfrm>
            <a:off x="457200" y="1188720"/>
            <a:ext cx="4206240" cy="1828800"/>
          </a:xfrm>
          <a:prstGeom prst="roundRect">
            <a:avLst>
              <a:gd name="adj" fmla="val 4000"/>
            </a:avLst>
          </a:prstGeom>
          <a:solidFill>
            <a:schemeClr val="tx2"/>
          </a:solidFill>
          <a:ln/>
        </p:spPr>
      </p:sp>
      <p:sp>
        <p:nvSpPr>
          <p:cNvPr id="4" name="Compare code label"/>
          <p:cNvSpPr txBox="1"/>
          <p:nvPr/>
        </p:nvSpPr>
        <p:spPr>
          <a:xfrm>
            <a:off x="685800" y="1353312"/>
            <a:ext cx="3749040" cy="274320"/>
          </a:xfrm>
          <a:prstGeom prst="rect">
            <a:avLst/>
          </a:prstGeom>
          <a:noFill/>
          <a:ln/>
        </p:spPr>
        <p:txBody>
          <a:bodyPr wrap="square" lIns="0" tIns="0" rIns="0" bIns="0" rtlCol="0" anchor="t"/>
          <a:lstStyle/>
          <a:p>
            <a:pPr indent="0" marL="0">
              <a:buNone/>
            </a:pPr>
            <a:r>
              <a:rPr lang="en-US" sz="1200" b="1" dirty="0">
                <a:solidFill>
                  <a:schemeClr val="accent2"/>
                </a:solidFill>
              </a:rPr>
              <a:t>In the notebook (cobrapy)</a:t>
            </a:r>
            <a:endParaRPr lang="en-US" sz="1200" dirty="0"/>
          </a:p>
        </p:txBody>
      </p:sp>
      <p:sp>
        <p:nvSpPr>
          <p:cNvPr id="5" name="Compare code code"/>
          <p:cNvSpPr txBox="1"/>
          <p:nvPr/>
        </p:nvSpPr>
        <p:spPr>
          <a:xfrm>
            <a:off x="685800" y="1691640"/>
            <a:ext cx="3749040" cy="11887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import cobra</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from kbase_models import load_model</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ms  = load_model("kbase.json.zip")</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ref = cobra.io.read_sbml_model("bigg.xml")</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for m in (ms, ref):</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    print(len(m.reactions), len(m.genes))</a:t>
            </a:r>
            <a:endParaRPr lang="en-US" sz="1100" dirty="0"/>
          </a:p>
        </p:txBody>
      </p:sp>
      <p:sp>
        <p:nvSpPr>
          <p:cNvPr id="6" name="Export link 1"/>
          <p:cNvSpPr/>
          <p:nvPr/>
        </p:nvSpPr>
        <p:spPr>
          <a:xfrm>
            <a:off x="5084064" y="1591056"/>
            <a:ext cx="0" cy="201168"/>
          </a:xfrm>
          <a:prstGeom prst="line">
            <a:avLst/>
          </a:prstGeom>
          <a:noFill/>
          <a:ln w="19050">
            <a:solidFill>
              <a:schemeClr val="accent4"/>
            </a:solidFill>
            <a:prstDash val="solid"/>
          </a:ln>
        </p:spPr>
      </p:sp>
      <p:sp>
        <p:nvSpPr>
          <p:cNvPr id="7" name="Export step 1 node"/>
          <p:cNvSpPr/>
          <p:nvPr/>
        </p:nvSpPr>
        <p:spPr>
          <a:xfrm>
            <a:off x="4892040" y="1188720"/>
            <a:ext cx="384048" cy="384048"/>
          </a:xfrm>
          <a:prstGeom prst="ellipse">
            <a:avLst/>
          </a:prstGeom>
          <a:solidFill>
            <a:schemeClr val="accent1"/>
          </a:solidFill>
          <a:ln/>
        </p:spPr>
      </p:sp>
      <p:sp>
        <p:nvSpPr>
          <p:cNvPr id="8" name="Export step 1 number"/>
          <p:cNvSpPr txBox="1"/>
          <p:nvPr/>
        </p:nvSpPr>
        <p:spPr>
          <a:xfrm>
            <a:off x="4892040" y="1188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Export step 1 text"/>
          <p:cNvSpPr txBox="1"/>
          <p:nvPr/>
        </p:nvSpPr>
        <p:spPr>
          <a:xfrm>
            <a:off x="5458968" y="1170432"/>
            <a:ext cx="3227832" cy="576072"/>
          </a:xfrm>
          <a:prstGeom prst="rect">
            <a:avLst/>
          </a:prstGeom>
          <a:noFill/>
          <a:ln/>
        </p:spPr>
        <p:txBody>
          <a:bodyPr wrap="square" lIns="0" tIns="0" rIns="0" bIns="0" rtlCol="0" anchor="t"/>
          <a:lstStyle/>
          <a:p>
            <a:pPr indent="0" marL="0">
              <a:buNone/>
            </a:pPr>
            <a:r>
              <a:rPr lang="en-US" sz="1400" dirty="0">
                <a:solidFill>
                  <a:schemeClr val="tx1"/>
                </a:solidFill>
              </a:rPr>
              <a:t>Export each model: Data panel, click it, download icon (JSON or SBML)</a:t>
            </a:r>
            <a:endParaRPr lang="en-US" sz="1400" dirty="0"/>
          </a:p>
        </p:txBody>
      </p:sp>
      <p:sp>
        <p:nvSpPr>
          <p:cNvPr id="10" name="Export link 2"/>
          <p:cNvSpPr/>
          <p:nvPr/>
        </p:nvSpPr>
        <p:spPr>
          <a:xfrm>
            <a:off x="5084064" y="2212848"/>
            <a:ext cx="0" cy="201168"/>
          </a:xfrm>
          <a:prstGeom prst="line">
            <a:avLst/>
          </a:prstGeom>
          <a:noFill/>
          <a:ln w="19050">
            <a:solidFill>
              <a:schemeClr val="accent4"/>
            </a:solidFill>
            <a:prstDash val="solid"/>
          </a:ln>
        </p:spPr>
      </p:sp>
      <p:sp>
        <p:nvSpPr>
          <p:cNvPr id="11" name="Export step 2 node"/>
          <p:cNvSpPr/>
          <p:nvPr/>
        </p:nvSpPr>
        <p:spPr>
          <a:xfrm>
            <a:off x="4892040" y="1810512"/>
            <a:ext cx="384048" cy="384048"/>
          </a:xfrm>
          <a:prstGeom prst="ellipse">
            <a:avLst/>
          </a:prstGeom>
          <a:solidFill>
            <a:schemeClr val="accent1"/>
          </a:solidFill>
          <a:ln/>
        </p:spPr>
      </p:sp>
      <p:sp>
        <p:nvSpPr>
          <p:cNvPr id="12" name="Export step 2 number"/>
          <p:cNvSpPr txBox="1"/>
          <p:nvPr/>
        </p:nvSpPr>
        <p:spPr>
          <a:xfrm>
            <a:off x="4892040" y="181051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Export step 2 text"/>
          <p:cNvSpPr txBox="1"/>
          <p:nvPr/>
        </p:nvSpPr>
        <p:spPr>
          <a:xfrm>
            <a:off x="5458968" y="1792224"/>
            <a:ext cx="3227832" cy="576072"/>
          </a:xfrm>
          <a:prstGeom prst="rect">
            <a:avLst/>
          </a:prstGeom>
          <a:noFill/>
          <a:ln/>
        </p:spPr>
        <p:txBody>
          <a:bodyPr wrap="square" lIns="0" tIns="0" rIns="0" bIns="0" rtlCol="0" anchor="t"/>
          <a:lstStyle/>
          <a:p>
            <a:pPr indent="0" marL="0">
              <a:buNone/>
            </a:pPr>
            <a:r>
              <a:rPr lang="en-US" sz="1400" dirty="0">
                <a:solidFill>
                  <a:schemeClr val="tx1"/>
                </a:solidFill>
              </a:rPr>
              <a:t>Copy the files into 04_Models, next to the three BiGG models</a:t>
            </a:r>
            <a:endParaRPr lang="en-US" sz="1400" dirty="0"/>
          </a:p>
        </p:txBody>
      </p:sp>
      <p:sp>
        <p:nvSpPr>
          <p:cNvPr id="14" name="Export step 3 node"/>
          <p:cNvSpPr/>
          <p:nvPr/>
        </p:nvSpPr>
        <p:spPr>
          <a:xfrm>
            <a:off x="4892040" y="2432304"/>
            <a:ext cx="384048" cy="384048"/>
          </a:xfrm>
          <a:prstGeom prst="ellipse">
            <a:avLst/>
          </a:prstGeom>
          <a:solidFill>
            <a:schemeClr val="accent1"/>
          </a:solidFill>
          <a:ln/>
        </p:spPr>
      </p:sp>
      <p:sp>
        <p:nvSpPr>
          <p:cNvPr id="15" name="Export step 3 number"/>
          <p:cNvSpPr txBox="1"/>
          <p:nvPr/>
        </p:nvSpPr>
        <p:spPr>
          <a:xfrm>
            <a:off x="4892040" y="243230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6" name="Export step 3 text"/>
          <p:cNvSpPr txBox="1"/>
          <p:nvPr/>
        </p:nvSpPr>
        <p:spPr>
          <a:xfrm>
            <a:off x="5458968" y="2414016"/>
            <a:ext cx="3227832" cy="576072"/>
          </a:xfrm>
          <a:prstGeom prst="rect">
            <a:avLst/>
          </a:prstGeom>
          <a:noFill/>
          <a:ln/>
        </p:spPr>
        <p:txBody>
          <a:bodyPr wrap="square" lIns="0" tIns="0" rIns="0" bIns="0" rtlCol="0" anchor="t"/>
          <a:lstStyle/>
          <a:p>
            <a:pPr indent="0" marL="0">
              <a:buNone/>
            </a:pPr>
            <a:r>
              <a:rPr lang="en-US" sz="1400" dirty="0">
                <a:solidFill>
                  <a:schemeClr val="tx1"/>
                </a:solidFill>
              </a:rPr>
              <a:t>Run the comparison notebook in 04_Compare_with_BiGG</a:t>
            </a:r>
            <a:endParaRPr lang="en-US" sz="1400" dirty="0"/>
          </a:p>
        </p:txBody>
      </p:sp>
      <p:graphicFrame>
        <p:nvGraphicFramePr>
          <p:cNvPr id="9" name="Names table"/>
          <p:cNvGraphicFramePr>
            <a:graphicFrameLocks noGrp="1"/>
          </p:cNvGraphicFramePr>
          <p:nvPr>
            <p:extLst>
              <p:ext uri="{D42A27DB-BD31-4B8C-83A1-F6EECF244321}">
                <p14:modId xmlns:p14="http://schemas.microsoft.com/office/powerpoint/2010/main" val="1579011935"/>
              </p:ext>
            </p:extLst>
          </p:nvPr>
        </p:nvGraphicFramePr>
        <p:xfrm>
          <a:off x="457200" y="3154680"/>
          <a:ext cx="8229600" cy="914400"/>
        </p:xfrm>
        <a:graphic>
          <a:graphicData uri="http://schemas.openxmlformats.org/drawingml/2006/table">
            <a:tbl>
              <a:tblPr/>
              <a:tblGrid>
                <a:gridCol w="2194560"/>
                <a:gridCol w="2743200"/>
                <a:gridCol w="3291840"/>
              </a:tblGrid>
              <a:tr h="237744">
                <a:tc>
                  <a:txBody>
                    <a:bodyPr/>
                    <a:lstStyle/>
                    <a:p>
                      <a:pPr indent="0" marL="0">
                        <a:buNone/>
                      </a:pPr>
                      <a:r>
                        <a:rPr lang="en-US" sz="1100" b="1" dirty="0">
                          <a:solidFill>
                            <a:schemeClr val="bg1"/>
                          </a:solidFill>
                        </a:rPr>
                        <a:t>Same biology, different names</a:t>
                      </a:r>
                      <a:endParaRPr lang="en-US" sz="11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ModelSEED (KBase)</a:t>
                      </a:r>
                      <a:endParaRPr lang="en-US" sz="11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BiGG</a:t>
                      </a:r>
                      <a:endParaRPr lang="en-US" sz="11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r>
              <a:tr h="237744">
                <a:tc>
                  <a:txBody>
                    <a:bodyPr/>
                    <a:lstStyle/>
                    <a:p>
                      <a:pPr indent="0" marL="0">
                        <a:buNone/>
                      </a:pPr>
                      <a:r>
                        <a:rPr lang="en-US" sz="1100" b="1" dirty="0">
                          <a:solidFill>
                            <a:schemeClr val="tx2"/>
                          </a:solidFill>
                        </a:rPr>
                        <a:t>Glucose</a:t>
                      </a:r>
                      <a:endParaRPr lang="en-US" sz="11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cpd00027</a:t>
                      </a:r>
                      <a:endParaRPr lang="en-US" sz="1100" dirty="0">
                        <a:latin typeface="Courier New" charset="0"/>
                        <a:ea typeface="Courier New" charset="0"/>
                        <a:cs typeface="Courier New" charset="0"/>
                      </a:endParaRPr>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glc__D</a:t>
                      </a:r>
                      <a:endParaRPr lang="en-US" sz="1100" dirty="0">
                        <a:latin typeface="Courier New" charset="0"/>
                        <a:ea typeface="Courier New" charset="0"/>
                        <a:cs typeface="Courier New" charset="0"/>
                      </a:endParaRPr>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237744">
                <a:tc>
                  <a:txBody>
                    <a:bodyPr/>
                    <a:lstStyle/>
                    <a:p>
                      <a:pPr indent="0" marL="0">
                        <a:buNone/>
                      </a:pPr>
                      <a:r>
                        <a:rPr lang="en-US" sz="1100" b="1" dirty="0">
                          <a:solidFill>
                            <a:schemeClr val="tx2"/>
                          </a:solidFill>
                        </a:rPr>
                        <a:t>Glucose uptake</a:t>
                      </a:r>
                      <a:endParaRPr lang="en-US" sz="11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EX_cpd00027_e0</a:t>
                      </a:r>
                      <a:endParaRPr lang="en-US" sz="1100" dirty="0">
                        <a:latin typeface="Courier New" charset="0"/>
                        <a:ea typeface="Courier New" charset="0"/>
                        <a:cs typeface="Courier New" charset="0"/>
                      </a:endParaRPr>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EX_glc__D_e</a:t>
                      </a:r>
                      <a:endParaRPr lang="en-US" sz="1100" dirty="0">
                        <a:latin typeface="Courier New" charset="0"/>
                        <a:ea typeface="Courier New" charset="0"/>
                        <a:cs typeface="Courier New" charset="0"/>
                      </a:endParaRPr>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237744">
                <a:tc>
                  <a:txBody>
                    <a:bodyPr/>
                    <a:lstStyle/>
                    <a:p>
                      <a:pPr indent="0" marL="0">
                        <a:buNone/>
                      </a:pPr>
                      <a:r>
                        <a:rPr lang="en-US" sz="1100" b="1" dirty="0">
                          <a:solidFill>
                            <a:schemeClr val="tx2"/>
                          </a:solidFill>
                        </a:rPr>
                        <a:t>Biomass reaction</a:t>
                      </a:r>
                      <a:endParaRPr lang="en-US" sz="11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bio1</a:t>
                      </a:r>
                      <a:endParaRPr lang="en-US" sz="1100" dirty="0">
                        <a:latin typeface="Courier New" charset="0"/>
                        <a:ea typeface="Courier New" charset="0"/>
                        <a:cs typeface="Courier New" charset="0"/>
                      </a:endParaRPr>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BIOMASS_Ec_iML1515_core_75p37M</a:t>
                      </a:r>
                      <a:endParaRPr lang="en-US" sz="1100" dirty="0">
                        <a:latin typeface="Courier New" charset="0"/>
                        <a:ea typeface="Courier New" charset="0"/>
                        <a:cs typeface="Courier New" charset="0"/>
                      </a:endParaRPr>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r>
              <a:tr h="237744">
                <a:tc>
                  <a:txBody>
                    <a:bodyPr/>
                    <a:lstStyle/>
                    <a:p>
                      <a:pPr indent="0" marL="0">
                        <a:buNone/>
                      </a:pPr>
                      <a:r>
                        <a:rPr lang="en-US" sz="1100" b="1" dirty="0">
                          <a:solidFill>
                            <a:schemeClr val="tx2"/>
                          </a:solidFill>
                        </a:rPr>
                        <a:t>Genes (B. subtilis)</a:t>
                      </a:r>
                      <a:endParaRPr lang="en-US" sz="1100" dirty="0"/>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BSU_00010</a:t>
                      </a:r>
                      <a:endParaRPr lang="en-US" sz="1100" dirty="0">
                        <a:latin typeface="Courier New" charset="0"/>
                        <a:ea typeface="Courier New" charset="0"/>
                        <a:cs typeface="Courier New" charset="0"/>
                      </a:endParaRPr>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indent="0" marL="0">
                        <a:buNone/>
                      </a:pPr>
                      <a:r>
                        <a:rPr lang="en-US" sz="1100" dirty="0">
                          <a:solidFill>
                            <a:srgbClr val="000000"/>
                          </a:solidFill>
                          <a:latin typeface="Courier New" pitchFamily="34" charset="0"/>
                          <a:ea typeface="Courier New" pitchFamily="34" charset="-122"/>
                          <a:cs typeface="Courier New" pitchFamily="34" charset="-120"/>
                        </a:rPr>
                        <a:t>BSU00010</a:t>
                      </a:r>
                      <a:endParaRPr lang="en-US" sz="1100" dirty="0">
                        <a:latin typeface="Courier New" charset="0"/>
                        <a:ea typeface="Courier New" charset="0"/>
                        <a:cs typeface="Courier New" charset="0"/>
                      </a:endParaRPr>
                    </a:p>
                  </a:txBody>
                  <a:tcPr marL="73152" marR="73152" marT="18288" marB="18288"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8229600" cy="685800"/>
          </a:xfrm>
          <a:prstGeom prst="rect">
            <a:avLst/>
          </a:prstGeom>
          <a:noFill/>
          <a:ln/>
        </p:spPr>
        <p:txBody>
          <a:bodyPr wrap="square" lIns="0" tIns="0" rIns="0" bIns="0" rtlCol="0" anchor="ctr"/>
          <a:lstStyle/>
          <a:p>
            <a:pPr algn="l" indent="0" marL="0">
              <a:buNone/>
            </a:pPr>
            <a:r>
              <a:rPr lang="en-US" sz="3400" b="1" dirty="0">
                <a:solidFill>
                  <a:schemeClr val="tx2"/>
                </a:solidFill>
              </a:rPr>
              <a:t>Your scorecard</a:t>
            </a:r>
            <a:endParaRPr lang="en-US" sz="3400" dirty="0"/>
          </a:p>
        </p:txBody>
      </p:sp>
      <p:graphicFrame>
        <p:nvGraphicFramePr>
          <p:cNvPr id="10" name="Scorecard table"/>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194560"/>
                <a:gridCol w="1005840"/>
                <a:gridCol w="1005840"/>
                <a:gridCol w="1005840"/>
                <a:gridCol w="1005840"/>
                <a:gridCol w="1005840"/>
                <a:gridCol w="1005840"/>
              </a:tblGrid>
              <a:tr h="329184">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tx2"/>
                    </a:solidFill>
                  </a:tcPr>
                </a:tc>
                <a:tc gridSpan="2">
                  <a:txBody>
                    <a:bodyPr/>
                    <a:lstStyle/>
                    <a:p>
                      <a:pPr algn="ctr" indent="0" marL="0">
                        <a:buNone/>
                      </a:pPr>
                      <a:r>
                        <a:rPr lang="en-US" sz="1300" b="1" i="1" dirty="0">
                          <a:solidFill>
                            <a:schemeClr val="bg1"/>
                          </a:solidFill>
                        </a:rPr>
                        <a:t>E. coli</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1"/>
                    </a:solidFill>
                  </a:tcPr>
                </a:tc>
                <a:tc hMerge="1">
                  <a:tcPr/>
                </a:tc>
                <a:tc gridSpan="2">
                  <a:txBody>
                    <a:bodyPr/>
                    <a:lstStyle/>
                    <a:p>
                      <a:pPr algn="ctr" indent="0" marL="0">
                        <a:buNone/>
                      </a:pPr>
                      <a:r>
                        <a:rPr lang="en-US" sz="1300" b="1" i="1" dirty="0">
                          <a:solidFill>
                            <a:schemeClr val="bg1"/>
                          </a:solidFill>
                        </a:rPr>
                        <a:t>B. subtilis</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6"/>
                    </a:solidFill>
                  </a:tcPr>
                </a:tc>
                <a:tc hMerge="1">
                  <a:tcPr/>
                </a:tc>
                <a:tc gridSpan="2">
                  <a:txBody>
                    <a:bodyPr/>
                    <a:lstStyle/>
                    <a:p>
                      <a:pPr algn="ctr" indent="0" marL="0">
                        <a:buNone/>
                      </a:pPr>
                      <a:r>
                        <a:rPr lang="en-US" sz="1300" b="1" i="1" dirty="0">
                          <a:solidFill>
                            <a:schemeClr val="bg1"/>
                          </a:solidFill>
                        </a:rPr>
                        <a:t>L. lactis</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2"/>
                    </a:solidFill>
                  </a:tcPr>
                </a:tc>
                <a:tc hMerge="1">
                  <a:tcPr/>
                </a:tc>
              </a:tr>
              <a:tr h="329184">
                <a:tc>
                  <a:txBody>
                    <a:bodyPr/>
                    <a:lstStyle/>
                    <a:p>
                      <a:pPr algn="ctr" indent="0" marL="0">
                        <a:buNone/>
                      </a:pPr>
                      <a:endParaRPr lang="en-US" sz="12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tx2"/>
                          </a:solidFill>
                        </a:rPr>
                        <a:t>ModelSEED</a:t>
                      </a:r>
                      <a:endParaRPr lang="en-US" sz="12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tx2"/>
                          </a:solidFill>
                        </a:rPr>
                        <a:t>iML1515</a:t>
                      </a:r>
                      <a:endParaRPr lang="en-US" sz="12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tx2"/>
                          </a:solidFill>
                        </a:rPr>
                        <a:t>ModelSEED</a:t>
                      </a:r>
                      <a:endParaRPr lang="en-US" sz="12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tx2"/>
                          </a:solidFill>
                        </a:rPr>
                        <a:t>iYO844</a:t>
                      </a:r>
                      <a:endParaRPr lang="en-US" sz="12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tx2"/>
                          </a:solidFill>
                        </a:rPr>
                        <a:t>ModelSEED</a:t>
                      </a:r>
                      <a:endParaRPr lang="en-US" sz="12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c>
                  <a:txBody>
                    <a:bodyPr/>
                    <a:lstStyle/>
                    <a:p>
                      <a:pPr algn="ctr" indent="0" marL="0">
                        <a:buNone/>
                      </a:pPr>
                      <a:r>
                        <a:rPr lang="en-US" sz="1200" b="1" dirty="0">
                          <a:solidFill>
                            <a:schemeClr val="tx2"/>
                          </a:solidFill>
                        </a:rPr>
                        <a:t>iNF517</a:t>
                      </a:r>
                      <a:endParaRPr lang="en-US" sz="12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accent4"/>
                    </a:solidFill>
                  </a:tcPr>
                </a:tc>
              </a:tr>
              <a:tr h="329184">
                <a:tc>
                  <a:txBody>
                    <a:bodyPr/>
                    <a:lstStyle/>
                    <a:p>
                      <a:pPr indent="0" marL="0">
                        <a:buNone/>
                      </a:pPr>
                      <a:r>
                        <a:rPr lang="en-US" sz="1300" b="1" dirty="0">
                          <a:solidFill>
                            <a:schemeClr val="tx2"/>
                          </a:solidFill>
                        </a:rPr>
                        <a:t>All reactions</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2,712</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1,250</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754</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329184">
                <a:tc>
                  <a:txBody>
                    <a:bodyPr/>
                    <a:lstStyle/>
                    <a:p>
                      <a:pPr indent="0" marL="0">
                        <a:buNone/>
                      </a:pPr>
                      <a:r>
                        <a:rPr lang="en-US" sz="1300" b="1" dirty="0">
                          <a:solidFill>
                            <a:schemeClr val="tx2"/>
                          </a:solidFill>
                        </a:rPr>
                        <a:t>Metabolites</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1,877</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990</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650</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329184">
                <a:tc>
                  <a:txBody>
                    <a:bodyPr/>
                    <a:lstStyle/>
                    <a:p>
                      <a:pPr indent="0" marL="0">
                        <a:buNone/>
                      </a:pPr>
                      <a:r>
                        <a:rPr lang="en-US" sz="1300" b="1" dirty="0">
                          <a:solidFill>
                            <a:schemeClr val="tx2"/>
                          </a:solidFill>
                        </a:rPr>
                        <a:t>Genes</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1,516</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844</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516</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329184">
                <a:tc>
                  <a:txBody>
                    <a:bodyPr/>
                    <a:lstStyle/>
                    <a:p>
                      <a:pPr indent="0" marL="0">
                        <a:buNone/>
                      </a:pPr>
                      <a:r>
                        <a:rPr lang="en-US" sz="1300" b="1" dirty="0">
                          <a:solidFill>
                            <a:schemeClr val="tx2"/>
                          </a:solidFill>
                        </a:rPr>
                        <a:t>Gap-filled reactions</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329184">
                <a:tc>
                  <a:txBody>
                    <a:bodyPr/>
                    <a:lstStyle/>
                    <a:p>
                      <a:pPr indent="0" marL="0">
                        <a:buNone/>
                      </a:pPr>
                      <a:r>
                        <a:rPr lang="en-US" sz="1300" b="1" dirty="0">
                          <a:solidFill>
                            <a:schemeClr val="tx2"/>
                          </a:solidFill>
                        </a:rPr>
                        <a:t>Grows on glucose minimal?</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r h="329184">
                <a:tc>
                  <a:txBody>
                    <a:bodyPr/>
                    <a:lstStyle/>
                    <a:p>
                      <a:pPr indent="0" marL="0">
                        <a:buNone/>
                      </a:pPr>
                      <a:r>
                        <a:rPr lang="en-US" sz="1300" b="1" dirty="0">
                          <a:solidFill>
                            <a:schemeClr val="tx2"/>
                          </a:solidFill>
                        </a:rPr>
                        <a:t>Genes shared with BiGG</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c>
                  <a:txBody>
                    <a:bodyPr/>
                    <a:lstStyle/>
                    <a:p>
                      <a:pPr algn="ctr" indent="0" marL="0">
                        <a:buNone/>
                      </a:pP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accent3"/>
                          </a:solidFill>
                        </a:rPr>
                        <a:t>–</a:t>
                      </a:r>
                      <a:endParaRPr lang="en-US" sz="1300" dirty="0"/>
                    </a:p>
                  </a:txBody>
                  <a:tcPr marL="73152" marR="73152" marT="27432" marB="27432" anchor="ctr">
                    <a:lnL w="9525" cap="flat" cmpd="sng" algn="ctr">
                      <a:solidFill>
                        <a:srgbClr val="C5E3DC"/>
                      </a:solidFill>
                      <a:prstDash val="solid"/>
                      <a:round/>
                      <a:headEnd type="none" w="med" len="med"/>
                      <a:tailEnd type="none" w="med" len="med"/>
                    </a:lnL>
                    <a:lnR w="9525" cap="flat" cmpd="sng" algn="ctr">
                      <a:solidFill>
                        <a:srgbClr val="C5E3DC"/>
                      </a:solidFill>
                      <a:prstDash val="solid"/>
                      <a:round/>
                      <a:headEnd type="none" w="med" len="med"/>
                      <a:tailEnd type="none" w="med" len="med"/>
                    </a:lnR>
                    <a:lnT w="9525" cap="flat" cmpd="sng" algn="ctr">
                      <a:solidFill>
                        <a:srgbClr val="C5E3DC"/>
                      </a:solidFill>
                      <a:prstDash val="solid"/>
                      <a:round/>
                      <a:headEnd type="none" w="med" len="med"/>
                      <a:tailEnd type="none" w="med" len="med"/>
                    </a:lnT>
                    <a:lnB w="9525" cap="flat" cmpd="sng" algn="ctr">
                      <a:solidFill>
                        <a:srgbClr val="C5E3DC"/>
                      </a:solidFill>
                      <a:prstDash val="solid"/>
                      <a:round/>
                      <a:headEnd type="none" w="med" len="med"/>
                      <a:tailEnd type="none" w="med" len="med"/>
                    </a:lnB>
                    <a:solidFill>
                      <a:schemeClr val="bg2"/>
                    </a:solidFill>
                  </a:tcPr>
                </a:tc>
              </a:tr>
            </a:tbl>
          </a:graphicData>
        </a:graphic>
      </p:graphicFrame>
      <p:sp>
        <p:nvSpPr>
          <p:cNvPr id="4" name="Scorecard message card"/>
          <p:cNvSpPr/>
          <p:nvPr/>
        </p:nvSpPr>
        <p:spPr>
          <a:xfrm>
            <a:off x="457200" y="3931920"/>
            <a:ext cx="8229600" cy="548640"/>
          </a:xfrm>
          <a:prstGeom prst="roundRect">
            <a:avLst>
              <a:gd name="adj" fmla="val 13333"/>
            </a:avLst>
          </a:prstGeom>
          <a:solidFill>
            <a:schemeClr val="tx2"/>
          </a:solidFill>
          <a:ln/>
        </p:spPr>
      </p:sp>
      <p:sp>
        <p:nvSpPr>
          <p:cNvPr id="5" name="Scorecard message"/>
          <p:cNvSpPr txBox="1"/>
          <p:nvPr/>
        </p:nvSpPr>
        <p:spPr>
          <a:xfrm>
            <a:off x="640080" y="3931920"/>
            <a:ext cx="7863840" cy="548640"/>
          </a:xfrm>
          <a:prstGeom prst="rect">
            <a:avLst/>
          </a:prstGeom>
          <a:noFill/>
          <a:ln/>
        </p:spPr>
        <p:txBody>
          <a:bodyPr wrap="square" lIns="0" tIns="0" rIns="0" bIns="0" rtlCol="0" anchor="ctr"/>
          <a:lstStyle/>
          <a:p>
            <a:pPr algn="ctr" indent="0" marL="0">
              <a:buNone/>
            </a:pPr>
            <a:r>
              <a:rPr lang="en-US" sz="1500" b="1" dirty="0">
                <a:solidFill>
                  <a:schemeClr val="bg1"/>
                </a:solidFill>
              </a:rPr>
              <a:t>Fill in the ModelSEED columns and bring your scorecard to the 15:30 discussion</a:t>
            </a:r>
            <a:endParaRPr lang="en-US" sz="15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1097280"/>
            <a:ext cx="5394960" cy="365760"/>
          </a:xfrm>
          <a:prstGeom prst="rect">
            <a:avLst/>
          </a:prstGeom>
          <a:noFill/>
          <a:ln/>
        </p:spPr>
        <p:txBody>
          <a:bodyPr wrap="square" lIns="0" tIns="0" rIns="0" bIns="0" rtlCol="0" anchor="ctr"/>
          <a:lstStyle/>
          <a:p>
            <a:pPr indent="0" marL="0">
              <a:buNone/>
            </a:pPr>
            <a:r>
              <a:rPr lang="en-US" sz="1400" b="1" dirty="0">
                <a:solidFill>
                  <a:schemeClr val="accent2"/>
                </a:solidFill>
              </a:rPr>
              <a:t>For the 15:30 discussion</a:t>
            </a:r>
            <a:endParaRPr lang="en-US" sz="1400" dirty="0"/>
          </a:p>
        </p:txBody>
      </p:sp>
      <p:sp>
        <p:nvSpPr>
          <p:cNvPr id="3" name="Text 0"/>
          <p:cNvSpPr/>
          <p:nvPr>
            <p:ph idx="101" type="title" hasCustomPrompt="1"/>
          </p:nvPr>
        </p:nvSpPr>
        <p:spPr>
          <a:xfrm>
            <a:off x="548640" y="1554480"/>
            <a:ext cx="5486400" cy="2011680"/>
          </a:xfrm>
          <a:prstGeom prst="rect">
            <a:avLst/>
          </a:prstGeom>
          <a:noFill/>
          <a:ln/>
        </p:spPr>
        <p:txBody>
          <a:bodyPr wrap="square" lIns="0" tIns="0" rIns="0" bIns="0" rtlCol="0" anchor="t"/>
          <a:lstStyle/>
          <a:p>
            <a:pPr algn="l" indent="0" marL="0">
              <a:buNone/>
            </a:pPr>
            <a:r>
              <a:rPr lang="en-US" sz="3200" b="1" dirty="0">
                <a:solidFill>
                  <a:schemeClr val="bg1"/>
                </a:solidFill>
              </a:rPr>
              <a:t>Which draft is closest to its curated model, and why?</a:t>
            </a:r>
            <a:endParaRPr lang="en-US" sz="3200" dirty="0"/>
          </a:p>
        </p:txBody>
      </p:sp>
      <p:sp>
        <p:nvSpPr>
          <p:cNvPr id="4" name="Text 0"/>
          <p:cNvSpPr/>
          <p:nvPr>
            <p:ph idx="102" type="body" hasCustomPrompt="1"/>
          </p:nvPr>
        </p:nvSpPr>
        <p:spPr>
          <a:xfrm>
            <a:off x="548640" y="3657600"/>
            <a:ext cx="5394960" cy="731520"/>
          </a:xfrm>
          <a:prstGeom prst="rect">
            <a:avLst/>
          </a:prstGeom>
          <a:noFill/>
          <a:ln/>
        </p:spPr>
        <p:txBody>
          <a:bodyPr wrap="square" lIns="0" tIns="0" rIns="0" bIns="0" rtlCol="0" anchor="t"/>
          <a:lstStyle/>
          <a:p>
            <a:pPr indent="0" marL="0">
              <a:buNone/>
            </a:pPr>
            <a:r>
              <a:rPr lang="en-US" sz="1600" dirty="0">
                <a:solidFill>
                  <a:schemeClr val="accent4"/>
                </a:solidFill>
              </a:rPr>
              <a:t>What did gap-filling add, and is it real biology? Would you trust a draft for a genome with no curated model?</a:t>
            </a:r>
            <a:endParaRPr lang="en-US" sz="1600" dirty="0"/>
          </a:p>
        </p:txBody>
      </p:sp>
      <p:sp>
        <p:nvSpPr>
          <p:cNvPr id="5" name="Closing edge AC"/>
          <p:cNvSpPr/>
          <p:nvPr/>
        </p:nvSpPr>
        <p:spPr>
          <a:xfrm>
            <a:off x="6455061" y="1456625"/>
            <a:ext cx="333297" cy="435850"/>
          </a:xfrm>
          <a:prstGeom prst="line">
            <a:avLst/>
          </a:prstGeom>
          <a:noFill/>
          <a:ln w="15875">
            <a:solidFill>
              <a:schemeClr val="accent4"/>
            </a:solidFill>
            <a:prstDash val="solid"/>
            <a:tailEnd type="triangle"/>
          </a:ln>
        </p:spPr>
      </p:sp>
      <p:sp>
        <p:nvSpPr>
          <p:cNvPr id="6" name="Closing edge BD"/>
          <p:cNvSpPr/>
          <p:nvPr/>
        </p:nvSpPr>
        <p:spPr>
          <a:xfrm>
            <a:off x="7598612" y="1235407"/>
            <a:ext cx="530456" cy="500987"/>
          </a:xfrm>
          <a:prstGeom prst="line">
            <a:avLst/>
          </a:prstGeom>
          <a:noFill/>
          <a:ln w="15875">
            <a:solidFill>
              <a:schemeClr val="accent4"/>
            </a:solidFill>
            <a:prstDash val="solid"/>
            <a:tailEnd type="triangle"/>
          </a:ln>
        </p:spPr>
      </p:sp>
      <p:sp>
        <p:nvSpPr>
          <p:cNvPr id="7" name="Closing edge CD"/>
          <p:cNvSpPr/>
          <p:nvPr/>
        </p:nvSpPr>
        <p:spPr>
          <a:xfrm flipV="1">
            <a:off x="7192738" y="1908700"/>
            <a:ext cx="884339" cy="152472"/>
          </a:xfrm>
          <a:prstGeom prst="line">
            <a:avLst/>
          </a:prstGeom>
          <a:noFill/>
          <a:ln w="15875">
            <a:solidFill>
              <a:schemeClr val="accent4"/>
            </a:solidFill>
            <a:prstDash val="solid"/>
            <a:tailEnd type="triangle"/>
          </a:ln>
        </p:spPr>
      </p:sp>
      <p:sp>
        <p:nvSpPr>
          <p:cNvPr id="8" name="Closing edge DE"/>
          <p:cNvSpPr/>
          <p:nvPr/>
        </p:nvSpPr>
        <p:spPr>
          <a:xfrm flipH="1">
            <a:off x="7837092" y="2038093"/>
            <a:ext cx="356442" cy="712884"/>
          </a:xfrm>
          <a:prstGeom prst="line">
            <a:avLst/>
          </a:prstGeom>
          <a:noFill/>
          <a:ln w="15875">
            <a:solidFill>
              <a:schemeClr val="accent4"/>
            </a:solidFill>
            <a:prstDash val="solid"/>
            <a:tailEnd type="triangle"/>
          </a:ln>
        </p:spPr>
      </p:sp>
      <p:sp>
        <p:nvSpPr>
          <p:cNvPr id="9" name="Closing edge CF"/>
          <p:cNvSpPr/>
          <p:nvPr/>
        </p:nvSpPr>
        <p:spPr>
          <a:xfrm flipH="1">
            <a:off x="6529370" y="2325846"/>
            <a:ext cx="313549" cy="655602"/>
          </a:xfrm>
          <a:prstGeom prst="line">
            <a:avLst/>
          </a:prstGeom>
          <a:noFill/>
          <a:ln w="15875">
            <a:solidFill>
              <a:schemeClr val="accent4"/>
            </a:solidFill>
            <a:prstDash val="solid"/>
            <a:tailEnd type="triangle"/>
          </a:ln>
        </p:spPr>
      </p:sp>
      <p:sp>
        <p:nvSpPr>
          <p:cNvPr id="10" name="Closing edge FH"/>
          <p:cNvSpPr/>
          <p:nvPr/>
        </p:nvSpPr>
        <p:spPr>
          <a:xfrm>
            <a:off x="6561467" y="3284954"/>
            <a:ext cx="455905" cy="516692"/>
          </a:xfrm>
          <a:prstGeom prst="line">
            <a:avLst/>
          </a:prstGeom>
          <a:noFill/>
          <a:ln w="15875">
            <a:solidFill>
              <a:schemeClr val="accent4"/>
            </a:solidFill>
            <a:prstDash val="solid"/>
            <a:tailEnd type="triangle"/>
          </a:ln>
        </p:spPr>
      </p:sp>
      <p:sp>
        <p:nvSpPr>
          <p:cNvPr id="11" name="Closing edge EH"/>
          <p:cNvSpPr/>
          <p:nvPr/>
        </p:nvSpPr>
        <p:spPr>
          <a:xfrm flipH="1">
            <a:off x="7223767" y="3166171"/>
            <a:ext cx="382589" cy="618028"/>
          </a:xfrm>
          <a:prstGeom prst="line">
            <a:avLst/>
          </a:prstGeom>
          <a:noFill/>
          <a:ln w="15875">
            <a:solidFill>
              <a:schemeClr val="accent4"/>
            </a:solidFill>
            <a:prstDash val="solid"/>
            <a:tailEnd type="triangle"/>
          </a:ln>
        </p:spPr>
      </p:sp>
      <p:sp>
        <p:nvSpPr>
          <p:cNvPr id="12" name="Closing edge DG"/>
          <p:cNvSpPr/>
          <p:nvPr/>
        </p:nvSpPr>
        <p:spPr>
          <a:xfrm>
            <a:off x="8307102" y="2054617"/>
            <a:ext cx="202811" cy="1149261"/>
          </a:xfrm>
          <a:prstGeom prst="line">
            <a:avLst/>
          </a:prstGeom>
          <a:noFill/>
          <a:ln w="15875">
            <a:solidFill>
              <a:schemeClr val="accent4"/>
            </a:solidFill>
            <a:prstDash val="solid"/>
            <a:tailEnd type="triangle"/>
          </a:ln>
        </p:spPr>
      </p:sp>
      <p:sp>
        <p:nvSpPr>
          <p:cNvPr id="13" name="Closing flux BC"/>
          <p:cNvSpPr/>
          <p:nvPr/>
        </p:nvSpPr>
        <p:spPr>
          <a:xfrm flipH="1">
            <a:off x="7068030" y="1277210"/>
            <a:ext cx="294365" cy="588729"/>
          </a:xfrm>
          <a:prstGeom prst="line">
            <a:avLst/>
          </a:prstGeom>
          <a:noFill/>
          <a:ln w="31750">
            <a:solidFill>
              <a:schemeClr val="accent2"/>
            </a:solidFill>
            <a:prstDash val="solid"/>
            <a:tailEnd type="triangle"/>
          </a:ln>
        </p:spPr>
      </p:sp>
      <p:sp>
        <p:nvSpPr>
          <p:cNvPr id="14" name="Closing flux CE"/>
          <p:cNvSpPr/>
          <p:nvPr/>
        </p:nvSpPr>
        <p:spPr>
          <a:xfrm>
            <a:off x="7114064" y="2287111"/>
            <a:ext cx="447993" cy="500698"/>
          </a:xfrm>
          <a:prstGeom prst="line">
            <a:avLst/>
          </a:prstGeom>
          <a:noFill/>
          <a:ln w="31750">
            <a:solidFill>
              <a:schemeClr val="accent2"/>
            </a:solidFill>
            <a:prstDash val="solid"/>
            <a:tailEnd type="triangle"/>
          </a:ln>
        </p:spPr>
      </p:sp>
      <p:sp>
        <p:nvSpPr>
          <p:cNvPr id="15" name="Closing flux EG"/>
          <p:cNvSpPr/>
          <p:nvPr/>
        </p:nvSpPr>
        <p:spPr>
          <a:xfrm>
            <a:off x="7926512" y="3082818"/>
            <a:ext cx="423295" cy="235164"/>
          </a:xfrm>
          <a:prstGeom prst="line">
            <a:avLst/>
          </a:prstGeom>
          <a:noFill/>
          <a:ln w="31750">
            <a:solidFill>
              <a:schemeClr val="accent2"/>
            </a:solidFill>
            <a:prstDash val="solid"/>
            <a:tailEnd type="triangle"/>
          </a:ln>
        </p:spPr>
      </p:sp>
      <p:sp>
        <p:nvSpPr>
          <p:cNvPr id="16" name="Closing node A"/>
          <p:cNvSpPr/>
          <p:nvPr/>
        </p:nvSpPr>
        <p:spPr>
          <a:xfrm>
            <a:off x="6236208" y="1207008"/>
            <a:ext cx="237744" cy="237744"/>
          </a:xfrm>
          <a:prstGeom prst="ellipse">
            <a:avLst/>
          </a:prstGeom>
          <a:solidFill>
            <a:schemeClr val="accent1"/>
          </a:solidFill>
          <a:ln/>
        </p:spPr>
      </p:sp>
      <p:sp>
        <p:nvSpPr>
          <p:cNvPr id="17" name="Closing node B"/>
          <p:cNvSpPr/>
          <p:nvPr/>
        </p:nvSpPr>
        <p:spPr>
          <a:xfrm>
            <a:off x="7296912" y="941832"/>
            <a:ext cx="310896" cy="310896"/>
          </a:xfrm>
          <a:prstGeom prst="ellipse">
            <a:avLst/>
          </a:prstGeom>
          <a:solidFill>
            <a:schemeClr val="accent2"/>
          </a:solidFill>
          <a:ln/>
        </p:spPr>
      </p:sp>
      <p:sp>
        <p:nvSpPr>
          <p:cNvPr id="18" name="Closing node C"/>
          <p:cNvSpPr/>
          <p:nvPr/>
        </p:nvSpPr>
        <p:spPr>
          <a:xfrm>
            <a:off x="6748272" y="1901952"/>
            <a:ext cx="402336" cy="402336"/>
          </a:xfrm>
          <a:prstGeom prst="ellipse">
            <a:avLst/>
          </a:prstGeom>
          <a:solidFill>
            <a:schemeClr val="accent2"/>
          </a:solidFill>
          <a:ln/>
        </p:spPr>
      </p:sp>
      <p:sp>
        <p:nvSpPr>
          <p:cNvPr id="19" name="Closing node D"/>
          <p:cNvSpPr/>
          <p:nvPr/>
        </p:nvSpPr>
        <p:spPr>
          <a:xfrm>
            <a:off x="8138160" y="1737360"/>
            <a:ext cx="274320" cy="274320"/>
          </a:xfrm>
          <a:prstGeom prst="ellipse">
            <a:avLst/>
          </a:prstGeom>
          <a:solidFill>
            <a:schemeClr val="accent1"/>
          </a:solidFill>
          <a:ln/>
        </p:spPr>
      </p:sp>
      <p:sp>
        <p:nvSpPr>
          <p:cNvPr id="20" name="Closing node E"/>
          <p:cNvSpPr/>
          <p:nvPr/>
        </p:nvSpPr>
        <p:spPr>
          <a:xfrm>
            <a:off x="7543800" y="2788920"/>
            <a:ext cx="365760" cy="365760"/>
          </a:xfrm>
          <a:prstGeom prst="ellipse">
            <a:avLst/>
          </a:prstGeom>
          <a:solidFill>
            <a:schemeClr val="accent2"/>
          </a:solidFill>
          <a:ln/>
        </p:spPr>
      </p:sp>
      <p:sp>
        <p:nvSpPr>
          <p:cNvPr id="21" name="Closing node F"/>
          <p:cNvSpPr/>
          <p:nvPr/>
        </p:nvSpPr>
        <p:spPr>
          <a:xfrm>
            <a:off x="6318504" y="3026664"/>
            <a:ext cx="256032" cy="256032"/>
          </a:xfrm>
          <a:prstGeom prst="ellipse">
            <a:avLst/>
          </a:prstGeom>
          <a:solidFill>
            <a:schemeClr val="accent1"/>
          </a:solidFill>
          <a:ln/>
        </p:spPr>
      </p:sp>
      <p:sp>
        <p:nvSpPr>
          <p:cNvPr id="22" name="Closing node G"/>
          <p:cNvSpPr/>
          <p:nvPr/>
        </p:nvSpPr>
        <p:spPr>
          <a:xfrm>
            <a:off x="8385048" y="3264408"/>
            <a:ext cx="329184" cy="329184"/>
          </a:xfrm>
          <a:prstGeom prst="ellipse">
            <a:avLst/>
          </a:prstGeom>
          <a:solidFill>
            <a:schemeClr val="accent2"/>
          </a:solidFill>
          <a:ln/>
        </p:spPr>
      </p:sp>
      <p:sp>
        <p:nvSpPr>
          <p:cNvPr id="23" name="Closing node H"/>
          <p:cNvSpPr/>
          <p:nvPr/>
        </p:nvSpPr>
        <p:spPr>
          <a:xfrm>
            <a:off x="7022592" y="3822192"/>
            <a:ext cx="219456" cy="219456"/>
          </a:xfrm>
          <a:prstGeom prst="ellipse">
            <a:avLst/>
          </a:prstGeom>
          <a:solidFill>
            <a:schemeClr val="accent1"/>
          </a:solidFill>
          <a:ln/>
        </p:spPr>
      </p:sp>
    </p:spTree>
  </p:cSld>
  <p:clrMapOvr>
    <a:masterClrMapping/>
  </p:clrMapOvr>
</p:sld>
</file>

<file path=ppt/theme/theme1.xml><?xml version="1.0" encoding="utf-8"?>
<a:theme xmlns:a="http://schemas.openxmlformats.org/drawingml/2006/main" name="CODE-M">
  <a:themeElements>
    <a:clrScheme name="CODE-M">
      <a:dk1>
        <a:srgbClr val="1F2A2E"/>
      </a:dk1>
      <a:lt1>
        <a:srgbClr val="FFFFFF"/>
      </a:lt1>
      <a:dk2>
        <a:srgbClr val="0E3B43"/>
      </a:dk2>
      <a:lt2>
        <a:srgbClr val="EAF4F1"/>
      </a:lt2>
      <a:accent1>
        <a:srgbClr val="1B998B"/>
      </a:accent1>
      <a:accent2>
        <a:srgbClr val="E8913A"/>
      </a:accent2>
      <a:accent3>
        <a:srgbClr val="5C7A82"/>
      </a:accent3>
      <a:accent4>
        <a:srgbClr val="C5E3DC"/>
      </a:accent4>
      <a:accent5>
        <a:srgbClr val="B85C1E"/>
      </a:accent5>
      <a:accent6>
        <a:srgbClr val="2E6F7A"/>
      </a:accent6>
      <a:hlink>
        <a:srgbClr val="1B998B"/>
      </a:hlink>
      <a:folHlink>
        <a:srgbClr val="5C7A82"/>
      </a:folHlink>
    </a:clrScheme>
    <a:fontScheme name="CODE-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CODE-M Day 2 — ModelSEED hands-on</dc:title>
  <dc:subject>CODE-M Workshop, Day 2, 14:00</dc:subject>
  <dc:creator>Francesco Del Carratore</dc:creator>
  <cp:lastModifiedBy>Francesco Del Carratore</cp:lastModifiedBy>
  <cp:revision>1</cp:revision>
  <dcterms:created xsi:type="dcterms:W3CDTF">2026-10-09T12:29:15Z</dcterms:created>
  <dcterms:modified xsi:type="dcterms:W3CDTF">2026-10-09T12:29:15Z</dcterms:modified>
</cp:coreProperties>
</file>