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d5e5b9d-65f8-bb45-c1f5-e4b9529c1145}">
          <p14:sldIdLst>
            <p14:sldId id="256"/>
            <p14:sldId id="257"/>
            <p14:sldId id="258"/>
          </p14:sldIdLst>
        </p14:section>
        <p14:section name="1 Annotation" id="{00ed219c-a2ed-c34d-e52f-a5c25e14dead}">
          <p14:sldIdLst>
            <p14:sldId id="259"/>
            <p14:sldId id="260"/>
            <p14:sldId id="261"/>
            <p14:sldId id="262"/>
          </p14:sldIdLst>
        </p14:section>
        <p14:section name="2 Drafting" id="{37d18761-efe1-0e3e-029e-2bd3003d91c8}">
          <p14:sldIdLst>
            <p14:sldId id="263"/>
            <p14:sldId id="264"/>
            <p14:sldId id="265"/>
            <p14:sldId id="266"/>
          </p14:sldIdLst>
        </p14:section>
        <p14:section name="3 Gap-filling" id="{5ca67155-9d53-1f61-007f-66d2b24ea1d9}">
          <p14:sldIdLst>
            <p14:sldId id="267"/>
            <p14:sldId id="268"/>
            <p14:sldId id="269"/>
            <p14:sldId id="270"/>
          </p14:sldIdLst>
        </p14:section>
        <p14:section name="4 Curation" id="{854978c4-a31e-2816-555b-b1f358280c5e}">
          <p14:sldIdLst>
            <p14:sldId id="271"/>
            <p14:sldId id="272"/>
            <p14:sldId id="273"/>
            <p14:sldId id="274"/>
            <p14:sldId id="275"/>
          </p14:sldIdLst>
        </p14:section>
        <p14:section name="5 Tools" id="{90425f8b-859e-a140-4342-05f47059fc5e}">
          <p14:sldIdLst>
            <p14:sldId id="276"/>
            <p14:sldId id="277"/>
            <p14:sldId id="278"/>
            <p14:sldId id="279"/>
            <p14:sldId id="280"/>
            <p14:sldId id="281"/>
            <p14:sldId id="282"/>
            <p14:sldId id="283"/>
            <p14:sldId id="284"/>
            <p14:sldId id="285"/>
          </p14:sldIdLst>
        </p14:section>
        <p14:section name="Wrap-up" id="{c281347e-8d0c-3a23-02db-84c36ce6544f}">
          <p14:sldIdLst>
            <p14:sldId id="286"/>
            <p14:sldId id="287"/>
            <p14:sldId id="28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E3B43"/>
                </a:solidFill>
                <a:latin typeface="+mn-lt"/>
              </a:defRPr>
            </a:pPr>
            <a:r>
              <a:rPr sz="1300" b="0" i="0" u="none" strike="noStrike">
                <a:solidFill>
                  <a:srgbClr val="0E3B43"/>
                </a:solidFill>
                <a:latin typeface="+mn-lt"/>
              </a:rPr>
              <a:t>B. subtilis: essential genes predicted correctly (%)</a:t>
            </a:r>
          </a:p>
        </c:rich>
      </c:tx>
      <c:layout/>
      <c:overlay val="0"/>
    </c:title>
    <c:autoTitleDeleted val="0"/>
    <c:plotArea>
      <c:layout/>
      <c:barChart>
        <c:barDir val="bar"/>
        <c:grouping val="clustered"/>
        <c:varyColors val="0"/>
        <c:ser>
          <c:idx val="0"/>
          <c:order val="0"/>
          <c:tx>
            <c:strRef>
              <c:f>Sheet1!$B$1</c:f>
              <c:strCache>
                <c:ptCount val="1"/>
                <c:pt idx="0">
                  <c:v>accuracy</c:v>
                </c:pt>
              </c:strCache>
            </c:strRef>
          </c:tx>
          <c:spPr>
            <a:solidFill>
              <a:srgbClr val="1B998B"/>
            </a:solidFill>
            <a:effectLst/>
          </c:spPr>
          <c:invertIfNegative val="0"/>
          <c:dLbls>
            <c:numFmt formatCode="0.0" sourceLinked="0"/>
            <c:txPr>
              <a:bodyPr/>
              <a:lstStyle/>
              <a:p>
                <a:pPr>
                  <a:defRPr b="0" i="0" strike="noStrike" sz="1200" u="none">
                    <a:solidFill>
                      <a:srgbClr val="1F2A2E"/>
                    </a:solidFill>
                    <a:latin typeface="+mn-lt"/>
                  </a:defRPr>
                </a:pPr>
              </a:p>
            </c:txPr>
            <c:showLegendKey val="0"/>
            <c:showVal val="1"/>
            <c:showCatName val="0"/>
            <c:showSerName val="0"/>
            <c:showPercent val="0"/>
            <c:showBubbleSize val="0"/>
            <c:showLeaderLines val="0"/>
          </c:dLbls>
          <c:dPt>
            <c:idx val="0"/>
            <c:invertIfNegative val="0"/>
            <c:bubble3D val="0"/>
            <c:spPr>
              <a:solidFill>
                <a:srgbClr val="1B998B"/>
              </a:solidFill>
              <a:effectLst/>
            </c:spPr>
          </c:dPt>
          <c:dPt>
            <c:idx val="1"/>
            <c:invertIfNegative val="0"/>
            <c:bubble3D val="0"/>
            <c:spPr>
              <a:solidFill>
                <a:srgbClr val="5C7A82"/>
              </a:solidFill>
              <a:effectLst/>
            </c:spPr>
          </c:dPt>
          <c:dPt>
            <c:idx val="2"/>
            <c:invertIfNegative val="0"/>
            <c:bubble3D val="0"/>
            <c:spPr>
              <a:solidFill>
                <a:srgbClr val="5C7A82"/>
              </a:solidFill>
              <a:effectLst/>
            </c:spPr>
          </c:dPt>
          <c:dPt>
            <c:idx val="3"/>
            <c:invertIfNegative val="0"/>
            <c:bubble3D val="0"/>
            <c:spPr>
              <a:solidFill>
                <a:srgbClr val="5C7A82"/>
              </a:solidFill>
              <a:effectLst/>
            </c:spPr>
          </c:dPt>
          <c:cat>
            <c:multiLvlStrRef>
              <c:f>Sheet1!$A$2:$A$5</c:f>
              <c:multiLvlStrCache>
                <c:ptCount val="4"/>
                <c:lvl>
                  <c:pt idx="0">
                    <c:v>AlphaGEM</c:v>
                  </c:pt>
                  <c:pt idx="1">
                    <c:v>CarveMe</c:v>
                  </c:pt>
                  <c:pt idx="2">
                    <c:v>gapseq</c:v>
                  </c:pt>
                  <c:pt idx="3">
                    <c:v>ModelSEED</c:v>
                  </c:pt>
                </c:lvl>
              </c:multiLvlStrCache>
            </c:multiLvlStrRef>
          </c:cat>
          <c:val>
            <c:numRef>
              <c:f>Sheet1!$B$2:$B$5</c:f>
              <c:numCache>
                <c:formatCode>General</c:formatCode>
                <c:ptCount val="4"/>
                <c:pt idx="0">
                  <c:v>85.52</c:v>
                </c:pt>
                <c:pt idx="1">
                  <c:v>83.09</c:v>
                </c:pt>
                <c:pt idx="2">
                  <c:v>79.35</c:v>
                </c:pt>
                <c:pt idx="3">
                  <c:v>77.24</c:v>
                </c:pt>
              </c:numCache>
            </c:numRef>
          </c:val>
        </c:ser>
        <c:dLbls>
          <c:numFmt formatCode="0.0" sourceLinked="0"/>
          <c:txPr>
            <a:bodyPr/>
            <a:lstStyle/>
            <a:p>
              <a:pPr>
                <a:defRPr b="0" i="0" strike="noStrike" sz="1200" u="none">
                  <a:solidFill>
                    <a:srgbClr val="1F2A2E"/>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F2A2E"/>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E3B43"/>
                </a:solidFill>
                <a:latin typeface="+mn-lt"/>
              </a:defRPr>
            </a:pPr>
            <a:r>
              <a:rPr sz="1300" b="0" i="0" u="none" strike="noStrike">
                <a:solidFill>
                  <a:srgbClr val="0E3B43"/>
                </a:solidFill>
                <a:latin typeface="+mn-lt"/>
              </a:rPr>
              <a:t>K. pneumoniae: carbon sources predicted correctly (%)</a:t>
            </a:r>
          </a:p>
        </c:rich>
      </c:tx>
      <c:layout/>
      <c:overlay val="0"/>
    </c:title>
    <c:autoTitleDeleted val="0"/>
    <c:plotArea>
      <c:layout/>
      <c:barChart>
        <c:barDir val="bar"/>
        <c:grouping val="clustered"/>
        <c:varyColors val="0"/>
        <c:ser>
          <c:idx val="0"/>
          <c:order val="0"/>
          <c:tx>
            <c:strRef>
              <c:f>Sheet1!$B$1</c:f>
              <c:strCache>
                <c:ptCount val="1"/>
                <c:pt idx="0">
                  <c:v>accuracy</c:v>
                </c:pt>
              </c:strCache>
            </c:strRef>
          </c:tx>
          <c:spPr>
            <a:solidFill>
              <a:srgbClr val="0E3B43"/>
            </a:solidFill>
            <a:effectLst/>
          </c:spPr>
          <c:invertIfNegative val="0"/>
          <c:dLbls>
            <c:numFmt formatCode="0.0" sourceLinked="0"/>
            <c:txPr>
              <a:bodyPr/>
              <a:lstStyle/>
              <a:p>
                <a:pPr>
                  <a:defRPr b="0" i="0" strike="noStrike" sz="1200" u="none">
                    <a:solidFill>
                      <a:srgbClr val="1F2A2E"/>
                    </a:solidFill>
                    <a:latin typeface="+mn-lt"/>
                  </a:defRPr>
                </a:pPr>
              </a:p>
            </c:txPr>
            <c:showLegendKey val="0"/>
            <c:showVal val="1"/>
            <c:showCatName val="0"/>
            <c:showSerName val="0"/>
            <c:showPercent val="0"/>
            <c:showBubbleSize val="0"/>
            <c:showLeaderLines val="0"/>
          </c:dLbls>
          <c:dPt>
            <c:idx val="0"/>
            <c:invertIfNegative val="0"/>
            <c:bubble3D val="0"/>
            <c:spPr>
              <a:solidFill>
                <a:srgbClr val="0E3B43"/>
              </a:solidFill>
              <a:effectLst/>
            </c:spPr>
          </c:dPt>
          <c:dPt>
            <c:idx val="1"/>
            <c:invertIfNegative val="0"/>
            <c:bubble3D val="0"/>
            <c:spPr>
              <a:solidFill>
                <a:srgbClr val="1B998B"/>
              </a:solidFill>
              <a:effectLst/>
            </c:spPr>
          </c:dPt>
          <c:dPt>
            <c:idx val="2"/>
            <c:invertIfNegative val="0"/>
            <c:bubble3D val="0"/>
            <c:spPr>
              <a:solidFill>
                <a:srgbClr val="5C7A82"/>
              </a:solidFill>
              <a:effectLst/>
            </c:spPr>
          </c:dPt>
          <c:dPt>
            <c:idx val="3"/>
            <c:invertIfNegative val="0"/>
            <c:bubble3D val="0"/>
            <c:spPr>
              <a:solidFill>
                <a:srgbClr val="5C7A82"/>
              </a:solidFill>
              <a:effectLst/>
            </c:spPr>
          </c:dPt>
          <c:cat>
            <c:multiLvlStrRef>
              <c:f>Sheet1!$A$2:$A$5</c:f>
              <c:multiLvlStrCache>
                <c:ptCount val="4"/>
                <c:lvl>
                  <c:pt idx="0">
                    <c:v>curated iYL1228</c:v>
                  </c:pt>
                  <c:pt idx="1">
                    <c:v>AlphaGEM</c:v>
                  </c:pt>
                  <c:pt idx="2">
                    <c:v>CarveMe</c:v>
                  </c:pt>
                  <c:pt idx="3">
                    <c:v>ModelSEED</c:v>
                  </c:pt>
                </c:lvl>
              </c:multiLvlStrCache>
            </c:multiLvlStrRef>
          </c:cat>
          <c:val>
            <c:numRef>
              <c:f>Sheet1!$B$2:$B$5</c:f>
              <c:numCache>
                <c:formatCode>General</c:formatCode>
                <c:ptCount val="4"/>
                <c:pt idx="0">
                  <c:v>81.8</c:v>
                </c:pt>
                <c:pt idx="1">
                  <c:v>75.32</c:v>
                </c:pt>
                <c:pt idx="2">
                  <c:v>45.45</c:v>
                </c:pt>
                <c:pt idx="3">
                  <c:v>41.56</c:v>
                </c:pt>
              </c:numCache>
            </c:numRef>
          </c:val>
        </c:ser>
        <c:dLbls>
          <c:numFmt formatCode="0.0" sourceLinked="0"/>
          <c:txPr>
            <a:bodyPr/>
            <a:lstStyle/>
            <a:p>
              <a:pPr>
                <a:defRPr b="0" i="0" strike="noStrike" sz="1200" u="none">
                  <a:solidFill>
                    <a:srgbClr val="1F2A2E"/>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F2A2E"/>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morning you rebuilt a bacterium by hand. In the next hour we'll see how the same steps are automated for real genomes, what can go wrong at each step, and how to choose between the main tools: CarveMe, ModelSEED and KBase, gapseq, and a recent addition, AlphaGEM. Straight after this talk you'll run one of them, ModelSEED, on three bacteria in KBase. (~30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look back. Toybacter: 21 genes, 24 reactions, and eight decisions you made by hand — fixing the ATP synthase subunits, two database errors, water and ethanol diffusion, the alanine gap and its gene, and the direction of LDH. A real bacterium like E. coli has well over a thousand metabolic genes and more than two and a half thousand reactions. The steps are the same; nobody does them by hand at that scale. Pipelines automate them, and every pitfall you met this morning is still there, just hidden.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pipeline, however it is marketed, runs these five stages, the same ones you went through this morning (the chips show the notebook sections). Annotate the genes; turn functions into a draft network with gene rules; add the boundary and a biomass reaction; gap-fill until the model can grow; then curate and validate. The tools mostly differ at stage 2, where the reactions come from, and stage 4, how gaps are filled. Keep that in mind when we compare tools at the end.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one: annotation. Everything downstream inherits its quality, good or bad. (~10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Annotation has two halves. First find the genes: gene callers like Prodigal, usually wrapped inside pipelines such as Prokka, Bakta or RAST. Then give each gene a function: by homology, aligning against curated proteins in Swiss-Prot with BLAST or the much faster DIAMOND; by orthology, with eggNOG-mapper or KofamKOALA; or by protein domains. What the model actually needs at the end is a short list: EC numbers for enzymes, KEGG orthologs, TC numbers for transporters, and ideally a location for eukaryotes.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ways annotation goes wrong, and you met three of them this morning. Hypothetical proteins: enzymes the model can't see, like TF_0018, the alanine dehydrogenase. Copied mistakes: an error in one database is transferred to every new genome annotated against it. Subunits that share an EC number look like isozymes, like the ATP synthase subunits. And transporters and locations are the weakest annotations of all: the substrate, the mechanism and the compartment are often guesses.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much should you trust a hit? These are common rules of thumb: e-value below 10 to the minus 20, identity above 30 percent, coverage above half the protein, bit score above 60. TF_0018 passed all four this morning. The problem is the twilight zone: below about 30 percent identity, sequence alone can't separate real relatives from chance. Protein structure is conserved much longer than sequence. With more than 200 million AlphaFold-predicted structures, and Foldseek able to search them at proteome scale, homology by structure is now practical. Keep this in mind: it's the core idea of AlphaGEM, in section 5.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two: turning functions into a network of reactions with gene rules. This is where tools differ the most. (~10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pipeline is tied to a reaction database, and each database has its own dialect. Glucose is glc__D in BiGG, cpd00027 in ModelSEED, C00031 in KEGG and CHEBI 17634 in ChEBI, which Rhea uses. They also differ in what they're good at: BiGG for curated models, ModelSEED for a large consistent biochemistry, KEGG and MetaCyc for pathways, Rhea for expert-curated reactions linked to UniProt. MetaNetX translates between them, but if you ever combine models from two tools, expect identifier mismatches to be your first headache.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strategies for building the draft. Bottom-up, what you did this morning: take the annotation and add the reactions it supports. Every reaction has genetic evidence, but there are many gaps. ModelSEED, gapseq and merlin work this way. Top-down, CarveMe's approach: start from a universal model of all known reactions, already balanced and connected, and carve away what the genome doesn't support. It's fast and consistent, but it can't add anything outside the universal model. Template-based: start from a curated model of a related organism and keep reactions whose genes have homologues in your genome. You inherit the template's curated gene rules and biomass, but also its blind spots. RAVEN and AlphaGEM work this way. (~2.5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 rules are what turn a reaction network into gene-level predictions, so how a pipeline builds them matters. Here is the rule you saw in the extension this morning: acetate kinase needs pta AND either ackA OR ackB. Knock out ackA and nothing happens; knock out pta and the reaction disappears. Bottom-up tools assemble these rules from complexes stored in their database, CarveMe takes them from its universal model, and template-based tools copy the template's rules, which is why a well-curated template matters so much.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Stages three and four: giving the model something to grow into, and making sure it can. (~10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genome tells you which reactions exist, not what the cell is made of. Most pipelines borrow a biomass reaction: CarveMe and ModelSEED have templates for Gram-negative and Gram-positive bacteria, and template-based tools copy the template's. The better option is to measure it, or at least compute the protein, DNA and RNA composition from the genome, as merlin does, and fit the ATP costs to growth data. Our toy biomass had 3 components; iJO1366's core biomass has 68. Every coefficient moves the predicted growth rate.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Gap-filling is an optimisation problem. You give it three things: the draft that can't grow, a universal database of candidate reactions, and a medium. It solves a mixed-integer linear program: each candidate has an on/off switch y_i and a cost w_i, and it minimises the total cost of the reactions it switches on, subject to steady state and to a minimum growth rate. This morning there were four candidates and the answer was ALAD. Real tools face thousands of candidates, and the clever ones set the costs from sequence evidence, so reactions with a plausible gene are cheaper.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Gap-filling is powerful and easy to misuse. It fills for the medium you give it: fill on a rich medium and real auxotrophies disappear. It picks the cheapest fix, which isn't necessarily the biological one. Every reaction it adds without a gene is a hypothesis. And it brings database errors along with it. Good practice: weight candidates by evidence, fill on media you have data for, then go back to the genome and look for the gene, exactly as you did with TF_0018, and label gap-filled reactions so the next user knows.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five: checking the model, and testing it against data. (~10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curation checklist, and you've already done five of these six. Balance every element and charge; check each reaction's direction against thermodynamics and data, for example with eQuilibrator; find dead ends and blocked reactions; add transport and diffusion that have no gene; and check that complexes really are 'and'. The sixth, energy from nothing, is the one automated models fail most often, so it gets its own slide.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energy-generating cycle is a loop of reactions that makes ATP, NADH or a proton gradient from nothing. FBA happily uses it, so predicted growth and yields go up. Fritzemeier and colleagues found such cycles to be common in automatically generated models, usually caused by a reaction allowed to run backwards. The test is simple and worth running on every model you download or build: close every uptake, let ATP maintenance be the objective, and optimise. The answer must be zero. Toybacter passes; run it on every model you build or download.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MEMOTE, from Lieven and colleagues in 2020, is the community's standard test suite. One command produces an HTML report. The score covers consistency (stoichiometry, mass and charge balance), annotation, meaning whether things carry database identifiers, and SBO terms; biomass, energy-generating cycles and network gaps are reported but not scored. Journals increasingly ask for it. But remember what it measures: a high MEMOTE score means a tidy, well-annotated model, not one that predicts correctly. At 15:30 we'll look at MEMOTE reports for the three bacteria you'll model.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means comparing predictions with data the model was not built from: growth phenotypes on different substrates, gene essentiality from transposon screens or knockout collections, secretion products and yields, and, best but rarest, intracellular fluxes from carbon-13 labelling. Here is this morning's essentiality test as a confusion matrix: four essential genes predicted correctly, two viable ones correct, one false prediction, glcP, which pointed us to a missing transporter. Because essential genes are usually a minority, accuracy alone flatters a model, so also report sensitivity, specificity or the Matthews correlation coefficient.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tools themselves: what each one does at each stage. (~10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pipelines on one slide. CarveMe carves a BiGG-based universal model and runs from the command line. ModelSEED builds bottom-up from RAST annotations using templates, and is used point-and-click through KBase or scripted with ModelSEEDpy. gapseq is bottom-up but pathway-centred, and reads the raw genome. merlin is a desktop application for user-guided reconstruction. RAVEN is a MATLAB toolbox that works from templates or from KEGG and MetaCyc. AlphaGEM, highlighted, is the newest: template-based, using protein structure and deep learning. We'll go through four of them in more detail.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CarveMe is the main top-down tool. It aligns your proteome against the genes of the BiGG universal model with DIAMOND, giving every reaction a score. A mixed-integer program then keeps the well-supported reactions while making sure the network stays connected and can make biomass; low-scoring reactions are kept only if needed. Optionally it gap-fills for media you name, then writes SBML. It takes minutes, uses consistent BiGG identifiers and can merge models into communities. The limits: it's for bacteria and archaea, and it can't invent reactions that aren't in the universal model. (~2.5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ModelSEED is the classic bottom-up pipeline. The genome is annotated with RAST, which assigns functional roles; a template maps roles to reactions, with templates for Gram-negative, Gram-positive and other groups; the template biomass is added, and the model is gap-filled on a medium you choose. Most people use it through KBase, the DOE platform, where each step is an app in a shareable Narrative, with nothing to install. The biochemistry database is huge and consistent. The weak points: everything depends on RAST's roles, and gap-filling can add a lot of reactions. This is the tool you'll use in the next session.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gapseq takes a pathway-first view. It reads the genome directly, with no separate annotation step, and searches reference protein sequences from UniProt and TCDB to decide which MetaCyc and KEGG pathways and which transporters are present. The draft uses the ModelSEED namespace, and gap-filling prefers reactions that have at least some sequence evidence. In the authors' benchmark of almost 15,000 phenotypes across more than 3,000 bacteria it reached 81 percent accuracy, ahead of the other tools they tested. The cost is speed: hours rather than minutes per genome.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AlphaGEM, published this year in Nature Communications by Hongzhong Lu's group, attacks the annotation problem from slide 7. It's template-based: you pick a curated reference model, such as iML1515 for bacteria, Yeast9 for fungi or Human1 for mammals. It finds homologues with sequence plus structure alignment, using Foldseek and US-align on predicted structures, or a protein language model when you have no structures. Reactions and gene rules are transferred from the template, keeping complexes when at least 80 percent of subunits are found. Then the new part: for proteins with no homologue in the template, the 'dark metabolism', deep-learning enzyme predictors and eggNOG-mapper assign EC numbers and KEGG orthologs, which become new reactions from Rhea. Finally it gap-fills with cobrapy, but keeps a filled reaction only if tblastn finds support in the genome or growth requires it. (~2.5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well does it do? These are the authors' own benchmarks, so treat them as promising rather than settled. For Bacillus subtilis gene essentiality, AlphaGEM scored 85.5 percent, slightly ahead of CarveMe at 83.1, gapseq at 79.4 and ModelSEED at 77.2. The bigger gap is carbon-source use in Klebsiella pneumoniae: 75 percent, close to the manually curated model at 82, where CarveMe and ModelSEED were around 42 to 45 percent. They also reconstructed models for 332 yeast species, and showed results for fungi and mammals, where most other automatic tools don't go. The practical cost: Linux, a GPU and a Gurobi licence.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more you'll meet in the literature. merlin, from the Minho group, is a desktop tool for careful, user-guided reconstruction. RAVEN is the MATLAB toolbox behind many eukaryotic models. Pathway Tools builds a MetaCyc-style database for your organism and MetaFlux turns it into a model. Two that save you work: AGORA2, more than 7,000 curated models of human gut microbes, so check before you rebuild; and GEMsembler, which combines models from several tools into a consensus.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independent benchmark by Mendoza and colleagues, comparing the main tools against manually curated models, reached a clear conclusion: no tool wins everywhere. Each uses a different database, different scoring and different gap-filling, so three tools give you three different models of the same genome, sharing only part of their reactions. That's not only a problem, it's an opportunity: consensus models that combine several tools, for example with GEMsembler, have outperformed the gold-standard curated models on auxotrophy and essentiality tests for Lactiplantibacillus plantarum and E. coli.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 you choose? Match the tool to the question. Many bacterial genomes, or a community: CarveMe. No installation, a web interface: ModelSEED in KBase. When phenotype predictions matter most, carbon sources and fermentation products: gapseq. A eukaryote, or an organism far from the usual model species, with a good template and a GPU: AlphaGEM, or RAVEN. One organism you know well, with your own lab data: merlin plus manual curation. And for human gut microbes, start from AGORA2. Whatever you choose, curate, test for free ATP, run MEMOTE, and validate.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the trade-off. Manual curation takes months to years, draws on literature, lab data and experts, and its errors are specific to whoever curated it. Automated pipelines take minutes, draw on databases and templates, and their errors are systematic: the same mistake repeated across every model built with the tool, but at least you can re-run them and get the same result. In practice the answer is both: automate the draft, then curate the model.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you'll do all of this on real genomes. At 14:00 you'll build models of three bacteria with ModelSEED in KBase and compare each with its curated BiGG model; at 15:30 we'll discuss how far to trust them, with MEMOTE; and at 16:00 the drop-in clinic is there for your own laptop. While you work, keep this checklist in mind: reactions without genes, growth on the right media, what gap-filling added, whether complexes look right, and whether the model makes free ATP.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to take away. Automate the draft: no one should reconstruct a bacterium by hand from scratch any more. Curate the model: every pipeline makes choices about database, strategy and gap-filling, and you need to know them before you trust the output. And validate against data, because a model that grows is not yet a model that's right. Questions? (~30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051560"/>
            <a:ext cx="5303520" cy="365760"/>
          </a:xfrm>
          <a:prstGeom prst="rect">
            <a:avLst/>
          </a:prstGeom>
          <a:noFill/>
          <a:ln/>
        </p:spPr>
        <p:txBody>
          <a:bodyPr wrap="square" rtlCol="0"/>
          <a:lstStyle>
            <a:lvl1pPr indent="0" marL="0">
              <a:buNone/>
              <a:defRPr lang="en-US" sz="1400" b="1" dirty="0">
                <a:solidFill>
                  <a:schemeClr val="accent2"/>
                </a:solidFill>
              </a:defRPr>
            </a:lvl1pPr>
          </a:lstStyle>
          <a:p>
            <a:pPr indent="0" marL="0">
              <a:buNone/>
            </a:pPr>
            <a:endParaRPr lang="en-US" sz="1400" dirty="0"/>
          </a:p>
        </p:txBody>
      </p:sp>
      <p:sp>
        <p:nvSpPr>
          <p:cNvPr id="3" name="Text 0"/>
          <p:cNvSpPr/>
          <p:nvPr>
            <p:ph idx="101" type="title" hasCustomPrompt="1"/>
          </p:nvPr>
        </p:nvSpPr>
        <p:spPr>
          <a:xfrm>
            <a:off x="548640" y="1508760"/>
            <a:ext cx="5486400" cy="146304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4" name="Text 0"/>
          <p:cNvSpPr/>
          <p:nvPr>
            <p:ph idx="102" type="body" hasCustomPrompt="1"/>
          </p:nvPr>
        </p:nvSpPr>
        <p:spPr>
          <a:xfrm>
            <a:off x="548640" y="3063240"/>
            <a:ext cx="5303520" cy="731520"/>
          </a:xfrm>
          <a:prstGeom prst="rect">
            <a:avLst/>
          </a:prstGeom>
          <a:noFill/>
          <a:ln/>
        </p:spPr>
        <p:txBody>
          <a:bodyPr wrap="square" rtlCol="0"/>
          <a:lstStyle>
            <a:lvl1pPr indent="0" marL="0">
              <a:buNone/>
              <a:defRPr lang="en-US" sz="1700" dirty="0">
                <a:solidFill>
                  <a:schemeClr val="accent4"/>
                </a:solidFill>
              </a:defRPr>
            </a:lvl1pPr>
          </a:lstStyle>
          <a:p>
            <a:pPr indent="0" marL="0">
              <a:buNone/>
            </a:pPr>
            <a:endParaRPr lang="en-US" sz="1700" dirty="0"/>
          </a:p>
        </p:txBody>
      </p:sp>
      <p:sp>
        <p:nvSpPr>
          <p:cNvPr id="5" name="Text 0"/>
          <p:cNvSpPr/>
          <p:nvPr>
            <p:ph idx="103" type="body" hasCustomPrompt="1"/>
          </p:nvPr>
        </p:nvSpPr>
        <p:spPr>
          <a:xfrm>
            <a:off x="548640" y="4114800"/>
            <a:ext cx="5120640" cy="365760"/>
          </a:xfrm>
          <a:prstGeom prst="rect">
            <a:avLst/>
          </a:prstGeom>
          <a:noFill/>
          <a:ln/>
        </p:spPr>
        <p:txBody>
          <a:bodyPr wrap="square" rtlCol="0"/>
          <a:lstStyle>
            <a:lvl1pPr indent="0" marL="0">
              <a:buNone/>
              <a:defRPr lang="en-US" sz="1400" dirty="0">
                <a:solidFill>
                  <a:schemeClr val="bg1"/>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914400"/>
            <a:ext cx="2286000" cy="1188720"/>
          </a:xfrm>
          <a:prstGeom prst="rect">
            <a:avLst/>
          </a:prstGeom>
          <a:noFill/>
          <a:ln/>
        </p:spPr>
        <p:txBody>
          <a:bodyPr wrap="square" rtlCol="0"/>
          <a:lstStyle>
            <a:lvl1pPr indent="0" marL="0">
              <a:buNone/>
              <a:defRPr lang="en-US" sz="8000" b="1" dirty="0">
                <a:solidFill>
                  <a:schemeClr val="accent2"/>
                </a:solidFill>
                <a:latin typeface="+mj-lt" pitchFamily="34" charset="0"/>
                <a:ea typeface="+mj-lt" pitchFamily="34" charset="-122"/>
                <a:cs typeface="+mj-lt" pitchFamily="34" charset="-120"/>
              </a:defRPr>
            </a:lvl1pPr>
          </a:lstStyle>
          <a:p>
            <a:pPr indent="0" marL="0">
              <a:buNone/>
            </a:pPr>
            <a:endParaRPr lang="en-US" sz="8000" dirty="0"/>
          </a:p>
        </p:txBody>
      </p:sp>
      <p:sp>
        <p:nvSpPr>
          <p:cNvPr id="3" name="Text 0"/>
          <p:cNvSpPr/>
          <p:nvPr>
            <p:ph idx="101" type="title" hasCustomPrompt="1"/>
          </p:nvPr>
        </p:nvSpPr>
        <p:spPr>
          <a:xfrm>
            <a:off x="548640" y="2240280"/>
            <a:ext cx="5486400" cy="77724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4" name="Text 0"/>
          <p:cNvSpPr/>
          <p:nvPr>
            <p:ph idx="102" type="body" hasCustomPrompt="1"/>
          </p:nvPr>
        </p:nvSpPr>
        <p:spPr>
          <a:xfrm>
            <a:off x="548640" y="3063240"/>
            <a:ext cx="5394960" cy="548640"/>
          </a:xfrm>
          <a:prstGeom prst="rect">
            <a:avLst/>
          </a:prstGeom>
          <a:noFill/>
          <a:ln/>
        </p:spPr>
        <p:txBody>
          <a:bodyPr wrap="square" rtlCol="0"/>
          <a:lstStyle>
            <a:lvl1pPr indent="0" marL="0">
              <a:buNone/>
              <a:defRPr lang="en-US" sz="2000" i="1" dirty="0">
                <a:solidFill>
                  <a:schemeClr val="accent4"/>
                </a:solidFill>
              </a:defRPr>
            </a:lvl1pPr>
          </a:lstStyle>
          <a:p>
            <a:pPr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nvSpPr>
        <p:spPr>
          <a:xfrm>
            <a:off x="457200" y="4736592"/>
            <a:ext cx="5943600" cy="274320"/>
          </a:xfrm>
          <a:prstGeom prst="rect">
            <a:avLst/>
          </a:prstGeom>
          <a:noFill/>
          <a:ln/>
        </p:spPr>
        <p:txBody>
          <a:bodyPr wrap="square" lIns="0" tIns="0" rIns="0" bIns="0" rtlCol="0" anchor="t"/>
          <a:lstStyle/>
          <a:p>
            <a:pPr indent="0" marL="0">
              <a:buNone/>
            </a:pPr>
            <a:r>
              <a:rPr lang="en-US" sz="1000" dirty="0">
                <a:solidFill>
                  <a:schemeClr val="accent3"/>
                </a:solidFill>
              </a:rPr>
              <a:t>CODE-M Workshop · Day 2 · Reconstruction pipelines</a:t>
            </a:r>
            <a:endParaRPr lang="en-US" sz="10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097280"/>
            <a:ext cx="5394960" cy="365760"/>
          </a:xfrm>
          <a:prstGeom prst="rect">
            <a:avLst/>
          </a:prstGeom>
          <a:noFill/>
          <a:ln/>
        </p:spPr>
        <p:txBody>
          <a:bodyPr wrap="square" rtlCol="0"/>
          <a:lstStyle>
            <a:lvl1pPr indent="0" marL="0">
              <a:buNone/>
              <a:defRPr lang="en-US" sz="1400" b="1" dirty="0">
                <a:solidFill>
                  <a:schemeClr val="accent2"/>
                </a:solidFill>
              </a:defRPr>
            </a:lvl1pPr>
          </a:lstStyle>
          <a:p>
            <a:pPr indent="0" marL="0">
              <a:buNone/>
            </a:pPr>
            <a:endParaRPr lang="en-US" sz="1400" dirty="0"/>
          </a:p>
        </p:txBody>
      </p:sp>
      <p:sp>
        <p:nvSpPr>
          <p:cNvPr id="3" name="Text 0"/>
          <p:cNvSpPr/>
          <p:nvPr>
            <p:ph idx="101" type="title" hasCustomPrompt="1"/>
          </p:nvPr>
        </p:nvSpPr>
        <p:spPr>
          <a:xfrm>
            <a:off x="548640" y="1554480"/>
            <a:ext cx="5486400" cy="201168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4" name="Text 0"/>
          <p:cNvSpPr/>
          <p:nvPr>
            <p:ph idx="102" type="body" hasCustomPrompt="1"/>
          </p:nvPr>
        </p:nvSpPr>
        <p:spPr>
          <a:xfrm>
            <a:off x="548640" y="3657600"/>
            <a:ext cx="5394960" cy="731520"/>
          </a:xfrm>
          <a:prstGeom prst="rect">
            <a:avLst/>
          </a:prstGeom>
          <a:noFill/>
          <a:ln/>
        </p:spPr>
        <p:txBody>
          <a:bodyPr wrap="square" rtlCol="0"/>
          <a:lstStyle>
            <a:lvl1pPr indent="0" marL="0">
              <a:buNone/>
              <a:defRPr lang="en-US" sz="1600" dirty="0">
                <a:solidFill>
                  <a:schemeClr val="accent4"/>
                </a:solidFill>
              </a:defRPr>
            </a:lvl1pPr>
          </a:lstStyle>
          <a:p>
            <a:pPr indent="0" marL="0">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4.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4.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4.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4.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4.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4.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4.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4.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4.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4.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slideLayout" Target="../slideLayouts/slideLayout4.xml"/><Relationship Id="rId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slideLayout" Target="../slideLayouts/slideLayout4.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051560"/>
            <a:ext cx="5303520" cy="365760"/>
          </a:xfrm>
          <a:prstGeom prst="rect">
            <a:avLst/>
          </a:prstGeom>
          <a:noFill/>
          <a:ln/>
        </p:spPr>
        <p:txBody>
          <a:bodyPr wrap="square" lIns="0" tIns="0" rIns="0" bIns="0" rtlCol="0" anchor="ctr"/>
          <a:lstStyle/>
          <a:p>
            <a:pPr indent="0" marL="0">
              <a:buNone/>
            </a:pPr>
            <a:r>
              <a:rPr lang="en-US" sz="1400" b="1" dirty="0">
                <a:solidFill>
                  <a:schemeClr val="accent2"/>
                </a:solidFill>
              </a:rPr>
              <a:t>CODE-M Workshop · Day 2 · 13:00</a:t>
            </a:r>
            <a:endParaRPr lang="en-US" sz="1400" dirty="0"/>
          </a:p>
        </p:txBody>
      </p:sp>
      <p:sp>
        <p:nvSpPr>
          <p:cNvPr id="3" name="Text 0"/>
          <p:cNvSpPr/>
          <p:nvPr>
            <p:ph idx="101" type="title" hasCustomPrompt="1"/>
          </p:nvPr>
        </p:nvSpPr>
        <p:spPr>
          <a:xfrm>
            <a:off x="548640" y="1508760"/>
            <a:ext cx="5486400" cy="1463040"/>
          </a:xfrm>
          <a:prstGeom prst="rect">
            <a:avLst/>
          </a:prstGeom>
          <a:noFill/>
          <a:ln/>
        </p:spPr>
        <p:txBody>
          <a:bodyPr wrap="square" lIns="0" tIns="0" rIns="0" bIns="0" rtlCol="0" anchor="t"/>
          <a:lstStyle/>
          <a:p>
            <a:pPr algn="l" indent="0" marL="0">
              <a:buNone/>
            </a:pPr>
            <a:r>
              <a:rPr lang="en-US" sz="3400" b="1" dirty="0">
                <a:solidFill>
                  <a:schemeClr val="bg1"/>
                </a:solidFill>
              </a:rPr>
              <a:t>From genome to model: reconstruction pipelines</a:t>
            </a:r>
            <a:endParaRPr lang="en-US" sz="3400" dirty="0"/>
          </a:p>
        </p:txBody>
      </p:sp>
      <p:sp>
        <p:nvSpPr>
          <p:cNvPr id="4" name="Text 0"/>
          <p:cNvSpPr/>
          <p:nvPr>
            <p:ph idx="102" type="body" hasCustomPrompt="1"/>
          </p:nvPr>
        </p:nvSpPr>
        <p:spPr>
          <a:xfrm>
            <a:off x="548640" y="3063240"/>
            <a:ext cx="5303520" cy="731520"/>
          </a:xfrm>
          <a:prstGeom prst="rect">
            <a:avLst/>
          </a:prstGeom>
          <a:noFill/>
          <a:ln/>
        </p:spPr>
        <p:txBody>
          <a:bodyPr wrap="square" lIns="0" tIns="0" rIns="0" bIns="0" rtlCol="0" anchor="t"/>
          <a:lstStyle/>
          <a:p>
            <a:pPr indent="0" marL="0">
              <a:buNone/>
            </a:pPr>
            <a:r>
              <a:rPr lang="en-US" sz="1700" dirty="0">
                <a:solidFill>
                  <a:schemeClr val="accent4"/>
                </a:solidFill>
              </a:rPr>
              <a:t>How annotation, drafting, gap-filling and curation are automated, and which tools do it</a:t>
            </a:r>
            <a:endParaRPr lang="en-US" sz="1700" dirty="0"/>
          </a:p>
        </p:txBody>
      </p:sp>
      <p:sp>
        <p:nvSpPr>
          <p:cNvPr id="5" name="Text 0"/>
          <p:cNvSpPr/>
          <p:nvPr>
            <p:ph idx="103" type="body" hasCustomPrompt="1"/>
          </p:nvPr>
        </p:nvSpPr>
        <p:spPr>
          <a:xfrm>
            <a:off x="548640" y="4114800"/>
            <a:ext cx="5120640" cy="365760"/>
          </a:xfrm>
          <a:prstGeom prst="rect">
            <a:avLst/>
          </a:prstGeom>
          <a:noFill/>
          <a:ln/>
        </p:spPr>
        <p:txBody>
          <a:bodyPr wrap="square" lIns="0" tIns="0" rIns="0" bIns="0" rtlCol="0" anchor="ctr"/>
          <a:lstStyle/>
          <a:p>
            <a:pPr indent="0" marL="0">
              <a:buNone/>
            </a:pPr>
            <a:r>
              <a:rPr lang="en-US" sz="1400" dirty="0">
                <a:solidFill>
                  <a:schemeClr val="bg1"/>
                </a:solidFill>
              </a:rPr>
              <a:t>Francesco Del Carratore</a:t>
            </a:r>
            <a:endParaRPr lang="en-US" sz="1400" dirty="0"/>
          </a:p>
        </p:txBody>
      </p:sp>
      <p:sp>
        <p:nvSpPr>
          <p:cNvPr id="6" name="Title edge AC"/>
          <p:cNvSpPr/>
          <p:nvPr/>
        </p:nvSpPr>
        <p:spPr>
          <a:xfrm>
            <a:off x="6455061" y="1456625"/>
            <a:ext cx="333297" cy="435850"/>
          </a:xfrm>
          <a:prstGeom prst="line">
            <a:avLst/>
          </a:prstGeom>
          <a:noFill/>
          <a:ln w="15875">
            <a:solidFill>
              <a:schemeClr val="accent4"/>
            </a:solidFill>
            <a:prstDash val="solid"/>
            <a:tailEnd type="triangle"/>
          </a:ln>
        </p:spPr>
      </p:sp>
      <p:sp>
        <p:nvSpPr>
          <p:cNvPr id="7" name="Title edge BD"/>
          <p:cNvSpPr/>
          <p:nvPr/>
        </p:nvSpPr>
        <p:spPr>
          <a:xfrm>
            <a:off x="7598612" y="1235407"/>
            <a:ext cx="530456" cy="500987"/>
          </a:xfrm>
          <a:prstGeom prst="line">
            <a:avLst/>
          </a:prstGeom>
          <a:noFill/>
          <a:ln w="15875">
            <a:solidFill>
              <a:schemeClr val="accent4"/>
            </a:solidFill>
            <a:prstDash val="solid"/>
            <a:tailEnd type="triangle"/>
          </a:ln>
        </p:spPr>
      </p:sp>
      <p:sp>
        <p:nvSpPr>
          <p:cNvPr id="8" name="Title edge CD"/>
          <p:cNvSpPr/>
          <p:nvPr/>
        </p:nvSpPr>
        <p:spPr>
          <a:xfrm flipV="1">
            <a:off x="7192738" y="1908700"/>
            <a:ext cx="884339" cy="152472"/>
          </a:xfrm>
          <a:prstGeom prst="line">
            <a:avLst/>
          </a:prstGeom>
          <a:noFill/>
          <a:ln w="15875">
            <a:solidFill>
              <a:schemeClr val="accent4"/>
            </a:solidFill>
            <a:prstDash val="solid"/>
            <a:tailEnd type="triangle"/>
          </a:ln>
        </p:spPr>
      </p:sp>
      <p:sp>
        <p:nvSpPr>
          <p:cNvPr id="9" name="Title edge DE"/>
          <p:cNvSpPr/>
          <p:nvPr/>
        </p:nvSpPr>
        <p:spPr>
          <a:xfrm flipH="1">
            <a:off x="7837092" y="2038093"/>
            <a:ext cx="356442" cy="712884"/>
          </a:xfrm>
          <a:prstGeom prst="line">
            <a:avLst/>
          </a:prstGeom>
          <a:noFill/>
          <a:ln w="15875">
            <a:solidFill>
              <a:schemeClr val="accent4"/>
            </a:solidFill>
            <a:prstDash val="solid"/>
            <a:tailEnd type="triangle"/>
          </a:ln>
        </p:spPr>
      </p:sp>
      <p:sp>
        <p:nvSpPr>
          <p:cNvPr id="10" name="Title edge CF"/>
          <p:cNvSpPr/>
          <p:nvPr/>
        </p:nvSpPr>
        <p:spPr>
          <a:xfrm flipH="1">
            <a:off x="6529370" y="2325846"/>
            <a:ext cx="313549" cy="655602"/>
          </a:xfrm>
          <a:prstGeom prst="line">
            <a:avLst/>
          </a:prstGeom>
          <a:noFill/>
          <a:ln w="15875">
            <a:solidFill>
              <a:schemeClr val="accent4"/>
            </a:solidFill>
            <a:prstDash val="solid"/>
            <a:tailEnd type="triangle"/>
          </a:ln>
        </p:spPr>
      </p:sp>
      <p:sp>
        <p:nvSpPr>
          <p:cNvPr id="11" name="Title edge FH"/>
          <p:cNvSpPr/>
          <p:nvPr/>
        </p:nvSpPr>
        <p:spPr>
          <a:xfrm>
            <a:off x="6561467" y="3284954"/>
            <a:ext cx="455905" cy="516692"/>
          </a:xfrm>
          <a:prstGeom prst="line">
            <a:avLst/>
          </a:prstGeom>
          <a:noFill/>
          <a:ln w="15875">
            <a:solidFill>
              <a:schemeClr val="accent4"/>
            </a:solidFill>
            <a:prstDash val="solid"/>
            <a:tailEnd type="triangle"/>
          </a:ln>
        </p:spPr>
      </p:sp>
      <p:sp>
        <p:nvSpPr>
          <p:cNvPr id="12" name="Title edge EH"/>
          <p:cNvSpPr/>
          <p:nvPr/>
        </p:nvSpPr>
        <p:spPr>
          <a:xfrm flipH="1">
            <a:off x="7223767" y="3166171"/>
            <a:ext cx="382589" cy="618028"/>
          </a:xfrm>
          <a:prstGeom prst="line">
            <a:avLst/>
          </a:prstGeom>
          <a:noFill/>
          <a:ln w="15875">
            <a:solidFill>
              <a:schemeClr val="accent4"/>
            </a:solidFill>
            <a:prstDash val="solid"/>
            <a:tailEnd type="triangle"/>
          </a:ln>
        </p:spPr>
      </p:sp>
      <p:sp>
        <p:nvSpPr>
          <p:cNvPr id="13" name="Title edge DG"/>
          <p:cNvSpPr/>
          <p:nvPr/>
        </p:nvSpPr>
        <p:spPr>
          <a:xfrm>
            <a:off x="8307102" y="2054617"/>
            <a:ext cx="202811" cy="1149261"/>
          </a:xfrm>
          <a:prstGeom prst="line">
            <a:avLst/>
          </a:prstGeom>
          <a:noFill/>
          <a:ln w="15875">
            <a:solidFill>
              <a:schemeClr val="accent4"/>
            </a:solidFill>
            <a:prstDash val="solid"/>
            <a:tailEnd type="triangle"/>
          </a:ln>
        </p:spPr>
      </p:sp>
      <p:sp>
        <p:nvSpPr>
          <p:cNvPr id="14" name="Title flux BC"/>
          <p:cNvSpPr/>
          <p:nvPr/>
        </p:nvSpPr>
        <p:spPr>
          <a:xfrm flipH="1">
            <a:off x="7068030" y="1277210"/>
            <a:ext cx="294365" cy="588729"/>
          </a:xfrm>
          <a:prstGeom prst="line">
            <a:avLst/>
          </a:prstGeom>
          <a:noFill/>
          <a:ln w="31750">
            <a:solidFill>
              <a:schemeClr val="accent2"/>
            </a:solidFill>
            <a:prstDash val="solid"/>
            <a:tailEnd type="triangle"/>
          </a:ln>
        </p:spPr>
      </p:sp>
      <p:sp>
        <p:nvSpPr>
          <p:cNvPr id="15" name="Title flux CE"/>
          <p:cNvSpPr/>
          <p:nvPr/>
        </p:nvSpPr>
        <p:spPr>
          <a:xfrm>
            <a:off x="7114064" y="2287111"/>
            <a:ext cx="447993" cy="500698"/>
          </a:xfrm>
          <a:prstGeom prst="line">
            <a:avLst/>
          </a:prstGeom>
          <a:noFill/>
          <a:ln w="31750">
            <a:solidFill>
              <a:schemeClr val="accent2"/>
            </a:solidFill>
            <a:prstDash val="solid"/>
            <a:tailEnd type="triangle"/>
          </a:ln>
        </p:spPr>
      </p:sp>
      <p:sp>
        <p:nvSpPr>
          <p:cNvPr id="16" name="Title flux EG"/>
          <p:cNvSpPr/>
          <p:nvPr/>
        </p:nvSpPr>
        <p:spPr>
          <a:xfrm>
            <a:off x="7926512" y="3082818"/>
            <a:ext cx="423295" cy="235164"/>
          </a:xfrm>
          <a:prstGeom prst="line">
            <a:avLst/>
          </a:prstGeom>
          <a:noFill/>
          <a:ln w="31750">
            <a:solidFill>
              <a:schemeClr val="accent2"/>
            </a:solidFill>
            <a:prstDash val="solid"/>
            <a:tailEnd type="triangle"/>
          </a:ln>
        </p:spPr>
      </p:sp>
      <p:sp>
        <p:nvSpPr>
          <p:cNvPr id="17" name="Title node A"/>
          <p:cNvSpPr/>
          <p:nvPr/>
        </p:nvSpPr>
        <p:spPr>
          <a:xfrm>
            <a:off x="6236208" y="1207008"/>
            <a:ext cx="237744" cy="237744"/>
          </a:xfrm>
          <a:prstGeom prst="ellipse">
            <a:avLst/>
          </a:prstGeom>
          <a:solidFill>
            <a:schemeClr val="accent1"/>
          </a:solidFill>
          <a:ln/>
        </p:spPr>
      </p:sp>
      <p:sp>
        <p:nvSpPr>
          <p:cNvPr id="18" name="Title node B"/>
          <p:cNvSpPr/>
          <p:nvPr/>
        </p:nvSpPr>
        <p:spPr>
          <a:xfrm>
            <a:off x="7296912" y="941832"/>
            <a:ext cx="310896" cy="310896"/>
          </a:xfrm>
          <a:prstGeom prst="ellipse">
            <a:avLst/>
          </a:prstGeom>
          <a:solidFill>
            <a:schemeClr val="accent2"/>
          </a:solidFill>
          <a:ln/>
        </p:spPr>
      </p:sp>
      <p:sp>
        <p:nvSpPr>
          <p:cNvPr id="19" name="Title node C"/>
          <p:cNvSpPr/>
          <p:nvPr/>
        </p:nvSpPr>
        <p:spPr>
          <a:xfrm>
            <a:off x="6748272" y="1901952"/>
            <a:ext cx="402336" cy="402336"/>
          </a:xfrm>
          <a:prstGeom prst="ellipse">
            <a:avLst/>
          </a:prstGeom>
          <a:solidFill>
            <a:schemeClr val="accent2"/>
          </a:solidFill>
          <a:ln/>
        </p:spPr>
      </p:sp>
      <p:sp>
        <p:nvSpPr>
          <p:cNvPr id="20" name="Title node D"/>
          <p:cNvSpPr/>
          <p:nvPr/>
        </p:nvSpPr>
        <p:spPr>
          <a:xfrm>
            <a:off x="8138160" y="1737360"/>
            <a:ext cx="274320" cy="274320"/>
          </a:xfrm>
          <a:prstGeom prst="ellipse">
            <a:avLst/>
          </a:prstGeom>
          <a:solidFill>
            <a:schemeClr val="accent1"/>
          </a:solidFill>
          <a:ln/>
        </p:spPr>
      </p:sp>
      <p:sp>
        <p:nvSpPr>
          <p:cNvPr id="21" name="Title node E"/>
          <p:cNvSpPr/>
          <p:nvPr/>
        </p:nvSpPr>
        <p:spPr>
          <a:xfrm>
            <a:off x="7543800" y="2788920"/>
            <a:ext cx="365760" cy="365760"/>
          </a:xfrm>
          <a:prstGeom prst="ellipse">
            <a:avLst/>
          </a:prstGeom>
          <a:solidFill>
            <a:schemeClr val="accent2"/>
          </a:solidFill>
          <a:ln/>
        </p:spPr>
      </p:sp>
      <p:sp>
        <p:nvSpPr>
          <p:cNvPr id="22" name="Title node F"/>
          <p:cNvSpPr/>
          <p:nvPr/>
        </p:nvSpPr>
        <p:spPr>
          <a:xfrm>
            <a:off x="6318504" y="3026664"/>
            <a:ext cx="256032" cy="256032"/>
          </a:xfrm>
          <a:prstGeom prst="ellipse">
            <a:avLst/>
          </a:prstGeom>
          <a:solidFill>
            <a:schemeClr val="accent1"/>
          </a:solidFill>
          <a:ln/>
        </p:spPr>
      </p:sp>
      <p:sp>
        <p:nvSpPr>
          <p:cNvPr id="23" name="Title node G"/>
          <p:cNvSpPr/>
          <p:nvPr/>
        </p:nvSpPr>
        <p:spPr>
          <a:xfrm>
            <a:off x="8385048" y="3264408"/>
            <a:ext cx="329184" cy="329184"/>
          </a:xfrm>
          <a:prstGeom prst="ellipse">
            <a:avLst/>
          </a:prstGeom>
          <a:solidFill>
            <a:schemeClr val="accent2"/>
          </a:solidFill>
          <a:ln/>
        </p:spPr>
      </p:sp>
      <p:sp>
        <p:nvSpPr>
          <p:cNvPr id="24" name="Title node H"/>
          <p:cNvSpPr/>
          <p:nvPr/>
        </p:nvSpPr>
        <p:spPr>
          <a:xfrm>
            <a:off x="7022592" y="3822192"/>
            <a:ext cx="219456" cy="219456"/>
          </a:xfrm>
          <a:prstGeom prst="ellipse">
            <a:avLst/>
          </a:prstGeom>
          <a:solidFill>
            <a:schemeClr val="accent1"/>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400" b="1" dirty="0">
                <a:solidFill>
                  <a:schemeClr val="tx2"/>
                </a:solidFill>
              </a:rPr>
              <a:t>This morning, by hand</a:t>
            </a:r>
            <a:endParaRPr lang="en-US" sz="3400" dirty="0"/>
          </a:p>
        </p:txBody>
      </p:sp>
      <p:sp>
        <p:nvSpPr>
          <p:cNvPr id="3" name="Toy card"/>
          <p:cNvSpPr/>
          <p:nvPr/>
        </p:nvSpPr>
        <p:spPr>
          <a:xfrm>
            <a:off x="457200" y="1188720"/>
            <a:ext cx="3886200" cy="2743200"/>
          </a:xfrm>
          <a:prstGeom prst="roundRect">
            <a:avLst>
              <a:gd name="adj" fmla="val 2667"/>
            </a:avLst>
          </a:prstGeom>
          <a:solidFill>
            <a:schemeClr val="bg2"/>
          </a:solidFill>
          <a:ln/>
        </p:spPr>
      </p:sp>
      <p:sp>
        <p:nvSpPr>
          <p:cNvPr id="4" name="Toy node"/>
          <p:cNvSpPr/>
          <p:nvPr/>
        </p:nvSpPr>
        <p:spPr>
          <a:xfrm>
            <a:off x="685800" y="1371600"/>
            <a:ext cx="502920" cy="502920"/>
          </a:xfrm>
          <a:prstGeom prst="ellipse">
            <a:avLst/>
          </a:prstGeom>
          <a:solidFill>
            <a:schemeClr val="accent1"/>
          </a:solidFill>
          <a:ln/>
        </p:spPr>
      </p:sp>
      <p:pic>
        <p:nvPicPr>
          <p:cNvPr id="5" name="Toy icon" descr="preencoded.png">    </p:cNvPr>
          <p:cNvPicPr>
            <a:picLocks noChangeAspect="1"/>
          </p:cNvPicPr>
          <p:nvPr/>
        </p:nvPicPr>
        <p:blipFill>
          <a:blip r:embed="rId1"/>
          <a:stretch>
            <a:fillRect/>
          </a:stretch>
        </p:blipFill>
        <p:spPr>
          <a:xfrm>
            <a:off x="811530" y="1497330"/>
            <a:ext cx="251460" cy="251460"/>
          </a:xfrm>
          <a:prstGeom prst="rect">
            <a:avLst/>
          </a:prstGeom>
        </p:spPr>
      </p:pic>
      <p:sp>
        <p:nvSpPr>
          <p:cNvPr id="6" name="Toy heading"/>
          <p:cNvSpPr txBox="1"/>
          <p:nvPr/>
        </p:nvSpPr>
        <p:spPr>
          <a:xfrm>
            <a:off x="1325880" y="1371600"/>
            <a:ext cx="2834640" cy="502920"/>
          </a:xfrm>
          <a:prstGeom prst="rect">
            <a:avLst/>
          </a:prstGeom>
          <a:noFill/>
          <a:ln/>
        </p:spPr>
        <p:txBody>
          <a:bodyPr wrap="square" lIns="0" tIns="0" rIns="0" bIns="0" rtlCol="0" anchor="ctr"/>
          <a:lstStyle/>
          <a:p>
            <a:pPr indent="0" marL="0">
              <a:buNone/>
            </a:pPr>
            <a:r>
              <a:rPr lang="en-US" sz="1700" b="1" i="1" dirty="0">
                <a:solidFill>
                  <a:schemeClr val="tx2"/>
                </a:solidFill>
              </a:rPr>
              <a:t>Toybacter fermentans</a:t>
            </a:r>
            <a:endParaRPr lang="en-US" sz="1700" dirty="0"/>
          </a:p>
        </p:txBody>
      </p:sp>
      <p:sp>
        <p:nvSpPr>
          <p:cNvPr id="7" name="Toy stat 1"/>
          <p:cNvSpPr txBox="1"/>
          <p:nvPr/>
        </p:nvSpPr>
        <p:spPr>
          <a:xfrm>
            <a:off x="731520" y="2057400"/>
            <a:ext cx="914400" cy="502920"/>
          </a:xfrm>
          <a:prstGeom prst="rect">
            <a:avLst/>
          </a:prstGeom>
          <a:noFill/>
          <a:ln/>
        </p:spPr>
        <p:txBody>
          <a:bodyPr wrap="square" lIns="0" tIns="0" rIns="0" bIns="0" rtlCol="0" anchor="ctr"/>
          <a:lstStyle/>
          <a:p>
            <a:pPr indent="0" marL="0">
              <a:buNone/>
            </a:pPr>
            <a:r>
              <a:rPr lang="en-US" sz="3000" b="1" dirty="0">
                <a:solidFill>
                  <a:schemeClr val="accent1"/>
                </a:solidFill>
                <a:latin typeface="+mj-lt" pitchFamily="34" charset="0"/>
                <a:ea typeface="+mj-lt" pitchFamily="34" charset="-122"/>
                <a:cs typeface="+mj-lt" pitchFamily="34" charset="-120"/>
              </a:rPr>
              <a:t>21</a:t>
            </a:r>
            <a:endParaRPr lang="en-US" sz="3000" dirty="0"/>
          </a:p>
        </p:txBody>
      </p:sp>
      <p:sp>
        <p:nvSpPr>
          <p:cNvPr id="8" name="Toy label 1"/>
          <p:cNvSpPr txBox="1"/>
          <p:nvPr/>
        </p:nvSpPr>
        <p:spPr>
          <a:xfrm>
            <a:off x="1691640" y="2057400"/>
            <a:ext cx="2560320" cy="502920"/>
          </a:xfrm>
          <a:prstGeom prst="rect">
            <a:avLst/>
          </a:prstGeom>
          <a:noFill/>
          <a:ln/>
        </p:spPr>
        <p:txBody>
          <a:bodyPr wrap="square" lIns="0" tIns="0" rIns="0" bIns="0" rtlCol="0" anchor="ctr"/>
          <a:lstStyle/>
          <a:p>
            <a:pPr indent="0" marL="0">
              <a:buNone/>
            </a:pPr>
            <a:r>
              <a:rPr lang="en-US" sz="1500" dirty="0">
                <a:solidFill>
                  <a:schemeClr val="tx1"/>
                </a:solidFill>
              </a:rPr>
              <a:t>genes in the annotation</a:t>
            </a:r>
            <a:endParaRPr lang="en-US" sz="1500" dirty="0"/>
          </a:p>
        </p:txBody>
      </p:sp>
      <p:sp>
        <p:nvSpPr>
          <p:cNvPr id="9" name="Toy stat 2"/>
          <p:cNvSpPr txBox="1"/>
          <p:nvPr/>
        </p:nvSpPr>
        <p:spPr>
          <a:xfrm>
            <a:off x="731520" y="2660904"/>
            <a:ext cx="914400" cy="502920"/>
          </a:xfrm>
          <a:prstGeom prst="rect">
            <a:avLst/>
          </a:prstGeom>
          <a:noFill/>
          <a:ln/>
        </p:spPr>
        <p:txBody>
          <a:bodyPr wrap="square" lIns="0" tIns="0" rIns="0" bIns="0" rtlCol="0" anchor="ctr"/>
          <a:lstStyle/>
          <a:p>
            <a:pPr indent="0" marL="0">
              <a:buNone/>
            </a:pPr>
            <a:r>
              <a:rPr lang="en-US" sz="3000" b="1" dirty="0">
                <a:solidFill>
                  <a:schemeClr val="accent1"/>
                </a:solidFill>
                <a:latin typeface="+mj-lt" pitchFamily="34" charset="0"/>
                <a:ea typeface="+mj-lt" pitchFamily="34" charset="-122"/>
                <a:cs typeface="+mj-lt" pitchFamily="34" charset="-120"/>
              </a:rPr>
              <a:t>24</a:t>
            </a:r>
            <a:endParaRPr lang="en-US" sz="3000" dirty="0"/>
          </a:p>
        </p:txBody>
      </p:sp>
      <p:sp>
        <p:nvSpPr>
          <p:cNvPr id="10" name="Toy label 2"/>
          <p:cNvSpPr txBox="1"/>
          <p:nvPr/>
        </p:nvSpPr>
        <p:spPr>
          <a:xfrm>
            <a:off x="1691640" y="2660904"/>
            <a:ext cx="2560320" cy="502920"/>
          </a:xfrm>
          <a:prstGeom prst="rect">
            <a:avLst/>
          </a:prstGeom>
          <a:noFill/>
          <a:ln/>
        </p:spPr>
        <p:txBody>
          <a:bodyPr wrap="square" lIns="0" tIns="0" rIns="0" bIns="0" rtlCol="0" anchor="ctr"/>
          <a:lstStyle/>
          <a:p>
            <a:pPr indent="0" marL="0">
              <a:buNone/>
            </a:pPr>
            <a:r>
              <a:rPr lang="en-US" sz="1500" dirty="0">
                <a:solidFill>
                  <a:schemeClr val="tx1"/>
                </a:solidFill>
              </a:rPr>
              <a:t>reactions in the final model</a:t>
            </a:r>
            <a:endParaRPr lang="en-US" sz="1500" dirty="0"/>
          </a:p>
        </p:txBody>
      </p:sp>
      <p:sp>
        <p:nvSpPr>
          <p:cNvPr id="11" name="Toy stat 3"/>
          <p:cNvSpPr txBox="1"/>
          <p:nvPr/>
        </p:nvSpPr>
        <p:spPr>
          <a:xfrm>
            <a:off x="731520" y="3264408"/>
            <a:ext cx="914400" cy="502920"/>
          </a:xfrm>
          <a:prstGeom prst="rect">
            <a:avLst/>
          </a:prstGeom>
          <a:noFill/>
          <a:ln/>
        </p:spPr>
        <p:txBody>
          <a:bodyPr wrap="square" lIns="0" tIns="0" rIns="0" bIns="0" rtlCol="0" anchor="ctr"/>
          <a:lstStyle/>
          <a:p>
            <a:pPr indent="0" marL="0">
              <a:buNone/>
            </a:pPr>
            <a:r>
              <a:rPr lang="en-US" sz="3000" b="1" dirty="0">
                <a:solidFill>
                  <a:schemeClr val="accent1"/>
                </a:solidFill>
                <a:latin typeface="+mj-lt" pitchFamily="34" charset="0"/>
                <a:ea typeface="+mj-lt" pitchFamily="34" charset="-122"/>
                <a:cs typeface="+mj-lt" pitchFamily="34" charset="-120"/>
              </a:rPr>
              <a:t>8</a:t>
            </a:r>
            <a:endParaRPr lang="en-US" sz="3000" dirty="0"/>
          </a:p>
        </p:txBody>
      </p:sp>
      <p:sp>
        <p:nvSpPr>
          <p:cNvPr id="12" name="Toy label 3"/>
          <p:cNvSpPr txBox="1"/>
          <p:nvPr/>
        </p:nvSpPr>
        <p:spPr>
          <a:xfrm>
            <a:off x="1691640" y="3264408"/>
            <a:ext cx="2560320" cy="502920"/>
          </a:xfrm>
          <a:prstGeom prst="rect">
            <a:avLst/>
          </a:prstGeom>
          <a:noFill/>
          <a:ln/>
        </p:spPr>
        <p:txBody>
          <a:bodyPr wrap="square" lIns="0" tIns="0" rIns="0" bIns="0" rtlCol="0" anchor="ctr"/>
          <a:lstStyle/>
          <a:p>
            <a:pPr indent="0" marL="0">
              <a:buNone/>
            </a:pPr>
            <a:r>
              <a:rPr lang="en-US" sz="1500" dirty="0">
                <a:solidFill>
                  <a:schemeClr val="tx1"/>
                </a:solidFill>
              </a:rPr>
              <a:t>curation decisions, by you</a:t>
            </a:r>
            <a:endParaRPr lang="en-US" sz="1500" dirty="0"/>
          </a:p>
        </p:txBody>
      </p:sp>
      <p:sp>
        <p:nvSpPr>
          <p:cNvPr id="13" name="Scale arrow"/>
          <p:cNvSpPr/>
          <p:nvPr/>
        </p:nvSpPr>
        <p:spPr>
          <a:xfrm>
            <a:off x="4434840" y="2560320"/>
            <a:ext cx="228600" cy="0"/>
          </a:xfrm>
          <a:prstGeom prst="line">
            <a:avLst/>
          </a:prstGeom>
          <a:noFill/>
          <a:ln w="31750">
            <a:solidFill>
              <a:schemeClr val="accent2"/>
            </a:solidFill>
            <a:prstDash val="solid"/>
            <a:tailEnd type="triangle"/>
          </a:ln>
        </p:spPr>
      </p:sp>
      <p:sp>
        <p:nvSpPr>
          <p:cNvPr id="14" name="Ecoli card"/>
          <p:cNvSpPr/>
          <p:nvPr/>
        </p:nvSpPr>
        <p:spPr>
          <a:xfrm>
            <a:off x="4800600" y="1188720"/>
            <a:ext cx="3886200" cy="2743200"/>
          </a:xfrm>
          <a:prstGeom prst="roundRect">
            <a:avLst>
              <a:gd name="adj" fmla="val 2667"/>
            </a:avLst>
          </a:prstGeom>
          <a:solidFill>
            <a:schemeClr val="tx2"/>
          </a:solidFill>
          <a:ln/>
        </p:spPr>
      </p:sp>
      <p:sp>
        <p:nvSpPr>
          <p:cNvPr id="15" name="Ecoli node"/>
          <p:cNvSpPr/>
          <p:nvPr/>
        </p:nvSpPr>
        <p:spPr>
          <a:xfrm>
            <a:off x="5029200" y="1371600"/>
            <a:ext cx="502920" cy="502920"/>
          </a:xfrm>
          <a:prstGeom prst="ellipse">
            <a:avLst/>
          </a:prstGeom>
          <a:solidFill>
            <a:schemeClr val="accent2"/>
          </a:solidFill>
          <a:ln/>
        </p:spPr>
      </p:sp>
      <p:pic>
        <p:nvPicPr>
          <p:cNvPr id="16" name="Ecoli icon" descr="preencoded.png">    </p:cNvPr>
          <p:cNvPicPr>
            <a:picLocks noChangeAspect="1"/>
          </p:cNvPicPr>
          <p:nvPr/>
        </p:nvPicPr>
        <p:blipFill>
          <a:blip r:embed="rId2"/>
          <a:stretch>
            <a:fillRect/>
          </a:stretch>
        </p:blipFill>
        <p:spPr>
          <a:xfrm>
            <a:off x="5154930" y="1497330"/>
            <a:ext cx="251460" cy="251460"/>
          </a:xfrm>
          <a:prstGeom prst="rect">
            <a:avLst/>
          </a:prstGeom>
        </p:spPr>
      </p:pic>
      <p:sp>
        <p:nvSpPr>
          <p:cNvPr id="17" name="Ecoli heading"/>
          <p:cNvSpPr txBox="1"/>
          <p:nvPr/>
        </p:nvSpPr>
        <p:spPr>
          <a:xfrm>
            <a:off x="5669280" y="1371600"/>
            <a:ext cx="2926080" cy="502920"/>
          </a:xfrm>
          <a:prstGeom prst="rect">
            <a:avLst/>
          </a:prstGeom>
          <a:noFill/>
          <a:ln/>
        </p:spPr>
        <p:txBody>
          <a:bodyPr wrap="square" lIns="0" tIns="0" rIns="0" bIns="0" rtlCol="0" anchor="ctr"/>
          <a:lstStyle/>
          <a:p>
            <a:pPr indent="0" marL="0">
              <a:buNone/>
            </a:pPr>
            <a:r>
              <a:rPr lang="en-US" sz="1700" b="1" i="1" dirty="0">
                <a:solidFill>
                  <a:schemeClr val="bg1"/>
                </a:solidFill>
              </a:rPr>
              <a:t>E. coli</a:t>
            </a:r>
            <a:pPr indent="0" marL="0">
              <a:buNone/>
            </a:pPr>
            <a:r>
              <a:rPr lang="en-US" sz="1700" b="1" dirty="0">
                <a:solidFill>
                  <a:schemeClr val="bg1"/>
                </a:solidFill>
              </a:rPr>
              <a:t> K-12 model iJO1366</a:t>
            </a:r>
            <a:endParaRPr lang="en-US" sz="1700" dirty="0"/>
          </a:p>
        </p:txBody>
      </p:sp>
      <p:sp>
        <p:nvSpPr>
          <p:cNvPr id="18" name="Ecoli stat 1"/>
          <p:cNvSpPr txBox="1"/>
          <p:nvPr/>
        </p:nvSpPr>
        <p:spPr>
          <a:xfrm>
            <a:off x="5074920" y="2057400"/>
            <a:ext cx="1371600" cy="502920"/>
          </a:xfrm>
          <a:prstGeom prst="rect">
            <a:avLst/>
          </a:prstGeom>
          <a:noFill/>
          <a:ln/>
        </p:spPr>
        <p:txBody>
          <a:bodyPr wrap="square" lIns="0" tIns="0" rIns="0" bIns="0" rtlCol="0" anchor="ctr"/>
          <a:lstStyle/>
          <a:p>
            <a:pPr indent="0" marL="0">
              <a:buNone/>
            </a:pPr>
            <a:r>
              <a:rPr lang="en-US" sz="3000" b="1" dirty="0">
                <a:solidFill>
                  <a:schemeClr val="accent2"/>
                </a:solidFill>
                <a:latin typeface="+mj-lt" pitchFamily="34" charset="0"/>
                <a:ea typeface="+mj-lt" pitchFamily="34" charset="-122"/>
                <a:cs typeface="+mj-lt" pitchFamily="34" charset="-120"/>
              </a:rPr>
              <a:t>1,367</a:t>
            </a:r>
            <a:endParaRPr lang="en-US" sz="3000" dirty="0"/>
          </a:p>
        </p:txBody>
      </p:sp>
      <p:sp>
        <p:nvSpPr>
          <p:cNvPr id="19" name="Ecoli label 1"/>
          <p:cNvSpPr txBox="1"/>
          <p:nvPr/>
        </p:nvSpPr>
        <p:spPr>
          <a:xfrm>
            <a:off x="6537960" y="2057400"/>
            <a:ext cx="2011680" cy="502920"/>
          </a:xfrm>
          <a:prstGeom prst="rect">
            <a:avLst/>
          </a:prstGeom>
          <a:noFill/>
          <a:ln/>
        </p:spPr>
        <p:txBody>
          <a:bodyPr wrap="square" lIns="0" tIns="0" rIns="0" bIns="0" rtlCol="0" anchor="ctr"/>
          <a:lstStyle/>
          <a:p>
            <a:pPr indent="0" marL="0">
              <a:buNone/>
            </a:pPr>
            <a:r>
              <a:rPr lang="en-US" sz="1500" dirty="0">
                <a:solidFill>
                  <a:schemeClr val="accent4"/>
                </a:solidFill>
              </a:rPr>
              <a:t>genes</a:t>
            </a:r>
            <a:endParaRPr lang="en-US" sz="1500" dirty="0"/>
          </a:p>
        </p:txBody>
      </p:sp>
      <p:sp>
        <p:nvSpPr>
          <p:cNvPr id="20" name="Ecoli stat 2"/>
          <p:cNvSpPr txBox="1"/>
          <p:nvPr/>
        </p:nvSpPr>
        <p:spPr>
          <a:xfrm>
            <a:off x="5074920" y="2660904"/>
            <a:ext cx="1371600" cy="502920"/>
          </a:xfrm>
          <a:prstGeom prst="rect">
            <a:avLst/>
          </a:prstGeom>
          <a:noFill/>
          <a:ln/>
        </p:spPr>
        <p:txBody>
          <a:bodyPr wrap="square" lIns="0" tIns="0" rIns="0" bIns="0" rtlCol="0" anchor="ctr"/>
          <a:lstStyle/>
          <a:p>
            <a:pPr indent="0" marL="0">
              <a:buNone/>
            </a:pPr>
            <a:r>
              <a:rPr lang="en-US" sz="3000" b="1" dirty="0">
                <a:solidFill>
                  <a:schemeClr val="accent2"/>
                </a:solidFill>
                <a:latin typeface="+mj-lt" pitchFamily="34" charset="0"/>
                <a:ea typeface="+mj-lt" pitchFamily="34" charset="-122"/>
                <a:cs typeface="+mj-lt" pitchFamily="34" charset="-120"/>
              </a:rPr>
              <a:t>2,583</a:t>
            </a:r>
            <a:endParaRPr lang="en-US" sz="3000" dirty="0"/>
          </a:p>
        </p:txBody>
      </p:sp>
      <p:sp>
        <p:nvSpPr>
          <p:cNvPr id="21" name="Ecoli label 2"/>
          <p:cNvSpPr txBox="1"/>
          <p:nvPr/>
        </p:nvSpPr>
        <p:spPr>
          <a:xfrm>
            <a:off x="6537960" y="2660904"/>
            <a:ext cx="2011680" cy="502920"/>
          </a:xfrm>
          <a:prstGeom prst="rect">
            <a:avLst/>
          </a:prstGeom>
          <a:noFill/>
          <a:ln/>
        </p:spPr>
        <p:txBody>
          <a:bodyPr wrap="square" lIns="0" tIns="0" rIns="0" bIns="0" rtlCol="0" anchor="ctr"/>
          <a:lstStyle/>
          <a:p>
            <a:pPr indent="0" marL="0">
              <a:buNone/>
            </a:pPr>
            <a:r>
              <a:rPr lang="en-US" sz="1500" dirty="0">
                <a:solidFill>
                  <a:schemeClr val="accent4"/>
                </a:solidFill>
              </a:rPr>
              <a:t>reactions</a:t>
            </a:r>
            <a:endParaRPr lang="en-US" sz="1500" dirty="0"/>
          </a:p>
        </p:txBody>
      </p:sp>
      <p:sp>
        <p:nvSpPr>
          <p:cNvPr id="22" name="Ecoli stat 3"/>
          <p:cNvSpPr txBox="1"/>
          <p:nvPr/>
        </p:nvSpPr>
        <p:spPr>
          <a:xfrm>
            <a:off x="5074920" y="3264408"/>
            <a:ext cx="1371600" cy="502920"/>
          </a:xfrm>
          <a:prstGeom prst="rect">
            <a:avLst/>
          </a:prstGeom>
          <a:noFill/>
          <a:ln/>
        </p:spPr>
        <p:txBody>
          <a:bodyPr wrap="square" lIns="0" tIns="0" rIns="0" bIns="0" rtlCol="0" anchor="ctr"/>
          <a:lstStyle/>
          <a:p>
            <a:pPr indent="0" marL="0">
              <a:buNone/>
            </a:pPr>
            <a:r>
              <a:rPr lang="en-US" sz="3000" b="1" dirty="0">
                <a:solidFill>
                  <a:schemeClr val="accent2"/>
                </a:solidFill>
                <a:latin typeface="+mj-lt" pitchFamily="34" charset="0"/>
                <a:ea typeface="+mj-lt" pitchFamily="34" charset="-122"/>
                <a:cs typeface="+mj-lt" pitchFamily="34" charset="-120"/>
              </a:rPr>
              <a:t>1,805</a:t>
            </a:r>
            <a:endParaRPr lang="en-US" sz="3000" dirty="0"/>
          </a:p>
        </p:txBody>
      </p:sp>
      <p:sp>
        <p:nvSpPr>
          <p:cNvPr id="23" name="Ecoli label 3"/>
          <p:cNvSpPr txBox="1"/>
          <p:nvPr/>
        </p:nvSpPr>
        <p:spPr>
          <a:xfrm>
            <a:off x="6537960" y="3264408"/>
            <a:ext cx="2011680" cy="502920"/>
          </a:xfrm>
          <a:prstGeom prst="rect">
            <a:avLst/>
          </a:prstGeom>
          <a:noFill/>
          <a:ln/>
        </p:spPr>
        <p:txBody>
          <a:bodyPr wrap="square" lIns="0" tIns="0" rIns="0" bIns="0" rtlCol="0" anchor="ctr"/>
          <a:lstStyle/>
          <a:p>
            <a:pPr indent="0" marL="0">
              <a:buNone/>
            </a:pPr>
            <a:r>
              <a:rPr lang="en-US" sz="1500" dirty="0">
                <a:solidFill>
                  <a:schemeClr val="accent4"/>
                </a:solidFill>
              </a:rPr>
              <a:t>metabolites</a:t>
            </a:r>
            <a:endParaRPr lang="en-US" sz="1500" dirty="0"/>
          </a:p>
        </p:txBody>
      </p:sp>
      <p:sp>
        <p:nvSpPr>
          <p:cNvPr id="24" name="Scale message"/>
          <p:cNvSpPr txBox="1"/>
          <p:nvPr/>
        </p:nvSpPr>
        <p:spPr>
          <a:xfrm>
            <a:off x="457200" y="4114800"/>
            <a:ext cx="8229600" cy="411480"/>
          </a:xfrm>
          <a:prstGeom prst="rect">
            <a:avLst/>
          </a:prstGeom>
          <a:noFill/>
          <a:ln/>
        </p:spPr>
        <p:txBody>
          <a:bodyPr wrap="square" lIns="0" tIns="0" rIns="0" bIns="0" rtlCol="0" anchor="ctr"/>
          <a:lstStyle/>
          <a:p>
            <a:pPr indent="0" marL="0">
              <a:buNone/>
            </a:pPr>
            <a:r>
              <a:rPr lang="en-US" sz="1700" b="1" dirty="0">
                <a:solidFill>
                  <a:schemeClr val="tx2"/>
                </a:solidFill>
              </a:rPr>
              <a:t>Same steps, 100 times bigger. </a:t>
            </a:r>
            <a:pPr indent="0" marL="0">
              <a:buNone/>
            </a:pPr>
            <a:r>
              <a:rPr lang="en-US" sz="1700" dirty="0">
                <a:solidFill>
                  <a:schemeClr val="tx1"/>
                </a:solidFill>
              </a:rPr>
              <a:t>Pipelines automate them, and inherit their pitfalls.</a:t>
            </a:r>
            <a:endParaRPr lang="en-US" sz="17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400" b="1" dirty="0">
                <a:solidFill>
                  <a:schemeClr val="tx2"/>
                </a:solidFill>
              </a:rPr>
              <a:t>Every pipeline, five stages</a:t>
            </a:r>
            <a:endParaRPr lang="en-US" sz="3400" dirty="0"/>
          </a:p>
        </p:txBody>
      </p:sp>
      <p:sp>
        <p:nvSpPr>
          <p:cNvPr id="3" name="Stage 1 node"/>
          <p:cNvSpPr/>
          <p:nvPr/>
        </p:nvSpPr>
        <p:spPr>
          <a:xfrm>
            <a:off x="845820" y="1280160"/>
            <a:ext cx="685800" cy="685800"/>
          </a:xfrm>
          <a:prstGeom prst="ellipse">
            <a:avLst/>
          </a:prstGeom>
          <a:solidFill>
            <a:schemeClr val="accent1"/>
          </a:solidFill>
          <a:ln/>
        </p:spPr>
      </p:sp>
      <p:pic>
        <p:nvPicPr>
          <p:cNvPr id="4" name="Stage 1 icon" descr="preencoded.png">    </p:cNvPr>
          <p:cNvPicPr>
            <a:picLocks noChangeAspect="1"/>
          </p:cNvPicPr>
          <p:nvPr/>
        </p:nvPicPr>
        <p:blipFill>
          <a:blip r:embed="rId1"/>
          <a:stretch>
            <a:fillRect/>
          </a:stretch>
        </p:blipFill>
        <p:spPr>
          <a:xfrm>
            <a:off x="1017270" y="1451610"/>
            <a:ext cx="342900" cy="342900"/>
          </a:xfrm>
          <a:prstGeom prst="rect">
            <a:avLst/>
          </a:prstGeom>
        </p:spPr>
      </p:pic>
      <p:sp>
        <p:nvSpPr>
          <p:cNvPr id="5" name="Stage arrow 1"/>
          <p:cNvSpPr/>
          <p:nvPr/>
        </p:nvSpPr>
        <p:spPr>
          <a:xfrm>
            <a:off x="1604772" y="1623060"/>
            <a:ext cx="859536" cy="0"/>
          </a:xfrm>
          <a:prstGeom prst="line">
            <a:avLst/>
          </a:prstGeom>
          <a:noFill/>
          <a:ln w="19050">
            <a:solidFill>
              <a:schemeClr val="accent3"/>
            </a:solidFill>
            <a:prstDash val="solid"/>
            <a:tailEnd type="triangle"/>
          </a:ln>
        </p:spPr>
      </p:sp>
      <p:sp>
        <p:nvSpPr>
          <p:cNvPr id="6" name="Stage 1 label"/>
          <p:cNvSpPr txBox="1"/>
          <p:nvPr/>
        </p:nvSpPr>
        <p:spPr>
          <a:xfrm>
            <a:off x="365760" y="2103120"/>
            <a:ext cx="1645920" cy="365760"/>
          </a:xfrm>
          <a:prstGeom prst="rect">
            <a:avLst/>
          </a:prstGeom>
          <a:noFill/>
          <a:ln/>
        </p:spPr>
        <p:txBody>
          <a:bodyPr wrap="square" lIns="0" tIns="0" rIns="0" bIns="0" rtlCol="0" anchor="ctr"/>
          <a:lstStyle/>
          <a:p>
            <a:pPr algn="ctr" indent="0" marL="0">
              <a:buNone/>
            </a:pPr>
            <a:r>
              <a:rPr lang="en-US" sz="1500" b="1" dirty="0">
                <a:solidFill>
                  <a:schemeClr val="tx2"/>
                </a:solidFill>
              </a:rPr>
              <a:t>1 · Annotate</a:t>
            </a:r>
            <a:endParaRPr lang="en-US" sz="1500" dirty="0"/>
          </a:p>
        </p:txBody>
      </p:sp>
      <p:sp>
        <p:nvSpPr>
          <p:cNvPr id="7" name="Stage 1 text"/>
          <p:cNvSpPr txBox="1"/>
          <p:nvPr/>
        </p:nvSpPr>
        <p:spPr>
          <a:xfrm>
            <a:off x="457200" y="2487168"/>
            <a:ext cx="1463040" cy="640080"/>
          </a:xfrm>
          <a:prstGeom prst="rect">
            <a:avLst/>
          </a:prstGeom>
          <a:noFill/>
          <a:ln/>
        </p:spPr>
        <p:txBody>
          <a:bodyPr wrap="square" lIns="0" tIns="0" rIns="0" bIns="0" rtlCol="0" anchor="t"/>
          <a:lstStyle/>
          <a:p>
            <a:pPr algn="ctr" indent="0" marL="0">
              <a:buNone/>
            </a:pPr>
            <a:r>
              <a:rPr lang="en-US" sz="1400" dirty="0">
                <a:solidFill>
                  <a:schemeClr val="tx1"/>
                </a:solidFill>
              </a:rPr>
              <a:t>genes → functions (EC, KO, TC)</a:t>
            </a:r>
            <a:endParaRPr lang="en-US" sz="1400" dirty="0"/>
          </a:p>
        </p:txBody>
      </p:sp>
      <p:sp>
        <p:nvSpPr>
          <p:cNvPr id="8" name="Stage 1 chip"/>
          <p:cNvSpPr/>
          <p:nvPr/>
        </p:nvSpPr>
        <p:spPr>
          <a:xfrm>
            <a:off x="731520" y="3200400"/>
            <a:ext cx="914400" cy="274320"/>
          </a:xfrm>
          <a:prstGeom prst="roundRect">
            <a:avLst>
              <a:gd name="adj" fmla="val 50000"/>
            </a:avLst>
          </a:prstGeom>
          <a:solidFill>
            <a:schemeClr val="bg2"/>
          </a:solidFill>
          <a:ln/>
        </p:spPr>
      </p:sp>
      <p:sp>
        <p:nvSpPr>
          <p:cNvPr id="9" name="Stage 1 chip text"/>
          <p:cNvSpPr txBox="1"/>
          <p:nvPr/>
        </p:nvSpPr>
        <p:spPr>
          <a:xfrm>
            <a:off x="731520" y="3200400"/>
            <a:ext cx="914400" cy="274320"/>
          </a:xfrm>
          <a:prstGeom prst="rect">
            <a:avLst/>
          </a:prstGeom>
          <a:noFill/>
          <a:ln/>
        </p:spPr>
        <p:txBody>
          <a:bodyPr wrap="square" lIns="0" tIns="0" rIns="0" bIns="0" rtlCol="0" anchor="ctr"/>
          <a:lstStyle/>
          <a:p>
            <a:pPr algn="ctr" indent="0" marL="0">
              <a:buNone/>
            </a:pPr>
            <a:r>
              <a:rPr lang="en-US" sz="1100" dirty="0">
                <a:solidFill>
                  <a:schemeClr val="accent3"/>
                </a:solidFill>
              </a:rPr>
              <a:t>toy §1</a:t>
            </a:r>
            <a:endParaRPr lang="en-US" sz="1100" dirty="0"/>
          </a:p>
        </p:txBody>
      </p:sp>
      <p:sp>
        <p:nvSpPr>
          <p:cNvPr id="10" name="Stage 2 node"/>
          <p:cNvSpPr/>
          <p:nvPr/>
        </p:nvSpPr>
        <p:spPr>
          <a:xfrm>
            <a:off x="2537460" y="1280160"/>
            <a:ext cx="685800" cy="685800"/>
          </a:xfrm>
          <a:prstGeom prst="ellipse">
            <a:avLst/>
          </a:prstGeom>
          <a:solidFill>
            <a:schemeClr val="accent2"/>
          </a:solidFill>
          <a:ln/>
        </p:spPr>
      </p:sp>
      <p:pic>
        <p:nvPicPr>
          <p:cNvPr id="11" name="Stage 2 icon" descr="preencoded.png">    </p:cNvPr>
          <p:cNvPicPr>
            <a:picLocks noChangeAspect="1"/>
          </p:cNvPicPr>
          <p:nvPr/>
        </p:nvPicPr>
        <p:blipFill>
          <a:blip r:embed="rId2"/>
          <a:stretch>
            <a:fillRect/>
          </a:stretch>
        </p:blipFill>
        <p:spPr>
          <a:xfrm>
            <a:off x="2708910" y="1451610"/>
            <a:ext cx="342900" cy="342900"/>
          </a:xfrm>
          <a:prstGeom prst="rect">
            <a:avLst/>
          </a:prstGeom>
        </p:spPr>
      </p:pic>
      <p:sp>
        <p:nvSpPr>
          <p:cNvPr id="12" name="Stage arrow 2"/>
          <p:cNvSpPr/>
          <p:nvPr/>
        </p:nvSpPr>
        <p:spPr>
          <a:xfrm>
            <a:off x="3296412" y="1623060"/>
            <a:ext cx="859536" cy="0"/>
          </a:xfrm>
          <a:prstGeom prst="line">
            <a:avLst/>
          </a:prstGeom>
          <a:noFill/>
          <a:ln w="19050">
            <a:solidFill>
              <a:schemeClr val="accent3"/>
            </a:solidFill>
            <a:prstDash val="solid"/>
            <a:tailEnd type="triangle"/>
          </a:ln>
        </p:spPr>
      </p:sp>
      <p:sp>
        <p:nvSpPr>
          <p:cNvPr id="13" name="Stage 2 label"/>
          <p:cNvSpPr txBox="1"/>
          <p:nvPr/>
        </p:nvSpPr>
        <p:spPr>
          <a:xfrm>
            <a:off x="2057400" y="2103120"/>
            <a:ext cx="1645920" cy="365760"/>
          </a:xfrm>
          <a:prstGeom prst="rect">
            <a:avLst/>
          </a:prstGeom>
          <a:noFill/>
          <a:ln/>
        </p:spPr>
        <p:txBody>
          <a:bodyPr wrap="square" lIns="0" tIns="0" rIns="0" bIns="0" rtlCol="0" anchor="ctr"/>
          <a:lstStyle/>
          <a:p>
            <a:pPr algn="ctr" indent="0" marL="0">
              <a:buNone/>
            </a:pPr>
            <a:r>
              <a:rPr lang="en-US" sz="1500" b="1" dirty="0">
                <a:solidFill>
                  <a:schemeClr val="tx2"/>
                </a:solidFill>
              </a:rPr>
              <a:t>2 · Draft</a:t>
            </a:r>
            <a:endParaRPr lang="en-US" sz="1500" dirty="0"/>
          </a:p>
        </p:txBody>
      </p:sp>
      <p:sp>
        <p:nvSpPr>
          <p:cNvPr id="14" name="Stage 2 text"/>
          <p:cNvSpPr txBox="1"/>
          <p:nvPr/>
        </p:nvSpPr>
        <p:spPr>
          <a:xfrm>
            <a:off x="2148840" y="2487168"/>
            <a:ext cx="1463040" cy="640080"/>
          </a:xfrm>
          <a:prstGeom prst="rect">
            <a:avLst/>
          </a:prstGeom>
          <a:noFill/>
          <a:ln/>
        </p:spPr>
        <p:txBody>
          <a:bodyPr wrap="square" lIns="0" tIns="0" rIns="0" bIns="0" rtlCol="0" anchor="t"/>
          <a:lstStyle/>
          <a:p>
            <a:pPr algn="ctr" indent="0" marL="0">
              <a:buNone/>
            </a:pPr>
            <a:r>
              <a:rPr lang="en-US" sz="1400" dirty="0">
                <a:solidFill>
                  <a:schemeClr val="tx1"/>
                </a:solidFill>
              </a:rPr>
              <a:t>functions → reactions and gene rules</a:t>
            </a:r>
            <a:endParaRPr lang="en-US" sz="1400" dirty="0"/>
          </a:p>
        </p:txBody>
      </p:sp>
      <p:sp>
        <p:nvSpPr>
          <p:cNvPr id="15" name="Stage 2 chip"/>
          <p:cNvSpPr/>
          <p:nvPr/>
        </p:nvSpPr>
        <p:spPr>
          <a:xfrm>
            <a:off x="2423160" y="3200400"/>
            <a:ext cx="914400" cy="274320"/>
          </a:xfrm>
          <a:prstGeom prst="roundRect">
            <a:avLst>
              <a:gd name="adj" fmla="val 50000"/>
            </a:avLst>
          </a:prstGeom>
          <a:solidFill>
            <a:schemeClr val="bg2"/>
          </a:solidFill>
          <a:ln/>
        </p:spPr>
      </p:sp>
      <p:sp>
        <p:nvSpPr>
          <p:cNvPr id="16" name="Stage 2 chip text"/>
          <p:cNvSpPr txBox="1"/>
          <p:nvPr/>
        </p:nvSpPr>
        <p:spPr>
          <a:xfrm>
            <a:off x="2423160" y="3200400"/>
            <a:ext cx="914400" cy="274320"/>
          </a:xfrm>
          <a:prstGeom prst="rect">
            <a:avLst/>
          </a:prstGeom>
          <a:noFill/>
          <a:ln/>
        </p:spPr>
        <p:txBody>
          <a:bodyPr wrap="square" lIns="0" tIns="0" rIns="0" bIns="0" rtlCol="0" anchor="ctr"/>
          <a:lstStyle/>
          <a:p>
            <a:pPr algn="ctr" indent="0" marL="0">
              <a:buNone/>
            </a:pPr>
            <a:r>
              <a:rPr lang="en-US" sz="1100" dirty="0">
                <a:solidFill>
                  <a:schemeClr val="accent3"/>
                </a:solidFill>
              </a:rPr>
              <a:t>toy §3</a:t>
            </a:r>
            <a:endParaRPr lang="en-US" sz="1100" dirty="0"/>
          </a:p>
        </p:txBody>
      </p:sp>
      <p:sp>
        <p:nvSpPr>
          <p:cNvPr id="17" name="Stage 3 node"/>
          <p:cNvSpPr/>
          <p:nvPr/>
        </p:nvSpPr>
        <p:spPr>
          <a:xfrm>
            <a:off x="4229100" y="1280160"/>
            <a:ext cx="685800" cy="685800"/>
          </a:xfrm>
          <a:prstGeom prst="ellipse">
            <a:avLst/>
          </a:prstGeom>
          <a:solidFill>
            <a:schemeClr val="accent1"/>
          </a:solidFill>
          <a:ln/>
        </p:spPr>
      </p:sp>
      <p:pic>
        <p:nvPicPr>
          <p:cNvPr id="18" name="Stage 3 icon" descr="preencoded.png">    </p:cNvPr>
          <p:cNvPicPr>
            <a:picLocks noChangeAspect="1"/>
          </p:cNvPicPr>
          <p:nvPr/>
        </p:nvPicPr>
        <p:blipFill>
          <a:blip r:embed="rId3"/>
          <a:stretch>
            <a:fillRect/>
          </a:stretch>
        </p:blipFill>
        <p:spPr>
          <a:xfrm>
            <a:off x="4400550" y="1451610"/>
            <a:ext cx="342900" cy="342900"/>
          </a:xfrm>
          <a:prstGeom prst="rect">
            <a:avLst/>
          </a:prstGeom>
        </p:spPr>
      </p:pic>
      <p:sp>
        <p:nvSpPr>
          <p:cNvPr id="19" name="Stage arrow 3"/>
          <p:cNvSpPr/>
          <p:nvPr/>
        </p:nvSpPr>
        <p:spPr>
          <a:xfrm>
            <a:off x="4988052" y="1623060"/>
            <a:ext cx="859536" cy="0"/>
          </a:xfrm>
          <a:prstGeom prst="line">
            <a:avLst/>
          </a:prstGeom>
          <a:noFill/>
          <a:ln w="19050">
            <a:solidFill>
              <a:schemeClr val="accent3"/>
            </a:solidFill>
            <a:prstDash val="solid"/>
            <a:tailEnd type="triangle"/>
          </a:ln>
        </p:spPr>
      </p:sp>
      <p:sp>
        <p:nvSpPr>
          <p:cNvPr id="20" name="Stage 3 label"/>
          <p:cNvSpPr txBox="1"/>
          <p:nvPr/>
        </p:nvSpPr>
        <p:spPr>
          <a:xfrm>
            <a:off x="3749040" y="2103120"/>
            <a:ext cx="1645920" cy="365760"/>
          </a:xfrm>
          <a:prstGeom prst="rect">
            <a:avLst/>
          </a:prstGeom>
          <a:noFill/>
          <a:ln/>
        </p:spPr>
        <p:txBody>
          <a:bodyPr wrap="square" lIns="0" tIns="0" rIns="0" bIns="0" rtlCol="0" anchor="ctr"/>
          <a:lstStyle/>
          <a:p>
            <a:pPr algn="ctr" indent="0" marL="0">
              <a:buNone/>
            </a:pPr>
            <a:r>
              <a:rPr lang="en-US" sz="1500" b="1" dirty="0">
                <a:solidFill>
                  <a:schemeClr val="tx2"/>
                </a:solidFill>
              </a:rPr>
              <a:t>3 · Biomass</a:t>
            </a:r>
            <a:endParaRPr lang="en-US" sz="1500" dirty="0"/>
          </a:p>
        </p:txBody>
      </p:sp>
      <p:sp>
        <p:nvSpPr>
          <p:cNvPr id="21" name="Stage 3 text"/>
          <p:cNvSpPr txBox="1"/>
          <p:nvPr/>
        </p:nvSpPr>
        <p:spPr>
          <a:xfrm>
            <a:off x="3840480" y="2487168"/>
            <a:ext cx="1463040" cy="640080"/>
          </a:xfrm>
          <a:prstGeom prst="rect">
            <a:avLst/>
          </a:prstGeom>
          <a:noFill/>
          <a:ln/>
        </p:spPr>
        <p:txBody>
          <a:bodyPr wrap="square" lIns="0" tIns="0" rIns="0" bIns="0" rtlCol="0" anchor="t"/>
          <a:lstStyle/>
          <a:p>
            <a:pPr algn="ctr" indent="0" marL="0">
              <a:buNone/>
            </a:pPr>
            <a:r>
              <a:rPr lang="en-US" sz="1400" dirty="0">
                <a:solidFill>
                  <a:schemeClr val="tx1"/>
                </a:solidFill>
              </a:rPr>
              <a:t>exchanges, medium and biomass reaction</a:t>
            </a:r>
            <a:endParaRPr lang="en-US" sz="1400" dirty="0"/>
          </a:p>
        </p:txBody>
      </p:sp>
      <p:sp>
        <p:nvSpPr>
          <p:cNvPr id="22" name="Stage 3 chip"/>
          <p:cNvSpPr/>
          <p:nvPr/>
        </p:nvSpPr>
        <p:spPr>
          <a:xfrm>
            <a:off x="4114800" y="3200400"/>
            <a:ext cx="914400" cy="274320"/>
          </a:xfrm>
          <a:prstGeom prst="roundRect">
            <a:avLst>
              <a:gd name="adj" fmla="val 50000"/>
            </a:avLst>
          </a:prstGeom>
          <a:solidFill>
            <a:schemeClr val="bg2"/>
          </a:solidFill>
          <a:ln/>
        </p:spPr>
      </p:sp>
      <p:sp>
        <p:nvSpPr>
          <p:cNvPr id="23" name="Stage 3 chip text"/>
          <p:cNvSpPr txBox="1"/>
          <p:nvPr/>
        </p:nvSpPr>
        <p:spPr>
          <a:xfrm>
            <a:off x="4114800" y="3200400"/>
            <a:ext cx="914400" cy="274320"/>
          </a:xfrm>
          <a:prstGeom prst="rect">
            <a:avLst/>
          </a:prstGeom>
          <a:noFill/>
          <a:ln/>
        </p:spPr>
        <p:txBody>
          <a:bodyPr wrap="square" lIns="0" tIns="0" rIns="0" bIns="0" rtlCol="0" anchor="ctr"/>
          <a:lstStyle/>
          <a:p>
            <a:pPr algn="ctr" indent="0" marL="0">
              <a:buNone/>
            </a:pPr>
            <a:r>
              <a:rPr lang="en-US" sz="1100" dirty="0">
                <a:solidFill>
                  <a:schemeClr val="accent3"/>
                </a:solidFill>
              </a:rPr>
              <a:t>toy §4–5</a:t>
            </a:r>
            <a:endParaRPr lang="en-US" sz="1100" dirty="0"/>
          </a:p>
        </p:txBody>
      </p:sp>
      <p:sp>
        <p:nvSpPr>
          <p:cNvPr id="24" name="Stage 4 node"/>
          <p:cNvSpPr/>
          <p:nvPr/>
        </p:nvSpPr>
        <p:spPr>
          <a:xfrm>
            <a:off x="5920740" y="1280160"/>
            <a:ext cx="685800" cy="685800"/>
          </a:xfrm>
          <a:prstGeom prst="ellipse">
            <a:avLst/>
          </a:prstGeom>
          <a:solidFill>
            <a:schemeClr val="accent2"/>
          </a:solidFill>
          <a:ln/>
        </p:spPr>
      </p:sp>
      <p:pic>
        <p:nvPicPr>
          <p:cNvPr id="25" name="Stage 4 icon" descr="preencoded.png">    </p:cNvPr>
          <p:cNvPicPr>
            <a:picLocks noChangeAspect="1"/>
          </p:cNvPicPr>
          <p:nvPr/>
        </p:nvPicPr>
        <p:blipFill>
          <a:blip r:embed="rId4"/>
          <a:stretch>
            <a:fillRect/>
          </a:stretch>
        </p:blipFill>
        <p:spPr>
          <a:xfrm>
            <a:off x="6092190" y="1451610"/>
            <a:ext cx="342900" cy="342900"/>
          </a:xfrm>
          <a:prstGeom prst="rect">
            <a:avLst/>
          </a:prstGeom>
        </p:spPr>
      </p:pic>
      <p:sp>
        <p:nvSpPr>
          <p:cNvPr id="26" name="Stage arrow 4"/>
          <p:cNvSpPr/>
          <p:nvPr/>
        </p:nvSpPr>
        <p:spPr>
          <a:xfrm>
            <a:off x="6679692" y="1623060"/>
            <a:ext cx="859536" cy="0"/>
          </a:xfrm>
          <a:prstGeom prst="line">
            <a:avLst/>
          </a:prstGeom>
          <a:noFill/>
          <a:ln w="19050">
            <a:solidFill>
              <a:schemeClr val="accent3"/>
            </a:solidFill>
            <a:prstDash val="solid"/>
            <a:tailEnd type="triangle"/>
          </a:ln>
        </p:spPr>
      </p:sp>
      <p:sp>
        <p:nvSpPr>
          <p:cNvPr id="27" name="Stage 4 label"/>
          <p:cNvSpPr txBox="1"/>
          <p:nvPr/>
        </p:nvSpPr>
        <p:spPr>
          <a:xfrm>
            <a:off x="5440680" y="2103120"/>
            <a:ext cx="1645920" cy="365760"/>
          </a:xfrm>
          <a:prstGeom prst="rect">
            <a:avLst/>
          </a:prstGeom>
          <a:noFill/>
          <a:ln/>
        </p:spPr>
        <p:txBody>
          <a:bodyPr wrap="square" lIns="0" tIns="0" rIns="0" bIns="0" rtlCol="0" anchor="ctr"/>
          <a:lstStyle/>
          <a:p>
            <a:pPr algn="ctr" indent="0" marL="0">
              <a:buNone/>
            </a:pPr>
            <a:r>
              <a:rPr lang="en-US" sz="1500" b="1" dirty="0">
                <a:solidFill>
                  <a:schemeClr val="tx2"/>
                </a:solidFill>
              </a:rPr>
              <a:t>4 · Gap-fill</a:t>
            </a:r>
            <a:endParaRPr lang="en-US" sz="1500" dirty="0"/>
          </a:p>
        </p:txBody>
      </p:sp>
      <p:sp>
        <p:nvSpPr>
          <p:cNvPr id="28" name="Stage 4 text"/>
          <p:cNvSpPr txBox="1"/>
          <p:nvPr/>
        </p:nvSpPr>
        <p:spPr>
          <a:xfrm>
            <a:off x="5532120" y="2487168"/>
            <a:ext cx="1463040" cy="640080"/>
          </a:xfrm>
          <a:prstGeom prst="rect">
            <a:avLst/>
          </a:prstGeom>
          <a:noFill/>
          <a:ln/>
        </p:spPr>
        <p:txBody>
          <a:bodyPr wrap="square" lIns="0" tIns="0" rIns="0" bIns="0" rtlCol="0" anchor="t"/>
          <a:lstStyle/>
          <a:p>
            <a:pPr algn="ctr" indent="0" marL="0">
              <a:buNone/>
            </a:pPr>
            <a:r>
              <a:rPr lang="en-US" sz="1400" dirty="0">
                <a:solidFill>
                  <a:schemeClr val="tx1"/>
                </a:solidFill>
              </a:rPr>
              <a:t>add the minimum needed to grow</a:t>
            </a:r>
            <a:endParaRPr lang="en-US" sz="1400" dirty="0"/>
          </a:p>
        </p:txBody>
      </p:sp>
      <p:sp>
        <p:nvSpPr>
          <p:cNvPr id="29" name="Stage 4 chip"/>
          <p:cNvSpPr/>
          <p:nvPr/>
        </p:nvSpPr>
        <p:spPr>
          <a:xfrm>
            <a:off x="5806440" y="3200400"/>
            <a:ext cx="914400" cy="274320"/>
          </a:xfrm>
          <a:prstGeom prst="roundRect">
            <a:avLst>
              <a:gd name="adj" fmla="val 50000"/>
            </a:avLst>
          </a:prstGeom>
          <a:solidFill>
            <a:schemeClr val="bg2"/>
          </a:solidFill>
          <a:ln/>
        </p:spPr>
      </p:sp>
      <p:sp>
        <p:nvSpPr>
          <p:cNvPr id="30" name="Stage 4 chip text"/>
          <p:cNvSpPr txBox="1"/>
          <p:nvPr/>
        </p:nvSpPr>
        <p:spPr>
          <a:xfrm>
            <a:off x="5806440" y="3200400"/>
            <a:ext cx="914400" cy="274320"/>
          </a:xfrm>
          <a:prstGeom prst="rect">
            <a:avLst/>
          </a:prstGeom>
          <a:noFill/>
          <a:ln/>
        </p:spPr>
        <p:txBody>
          <a:bodyPr wrap="square" lIns="0" tIns="0" rIns="0" bIns="0" rtlCol="0" anchor="ctr"/>
          <a:lstStyle/>
          <a:p>
            <a:pPr algn="ctr" indent="0" marL="0">
              <a:buNone/>
            </a:pPr>
            <a:r>
              <a:rPr lang="en-US" sz="1100" dirty="0">
                <a:solidFill>
                  <a:schemeClr val="accent3"/>
                </a:solidFill>
              </a:rPr>
              <a:t>toy §7</a:t>
            </a:r>
            <a:endParaRPr lang="en-US" sz="1100" dirty="0"/>
          </a:p>
        </p:txBody>
      </p:sp>
      <p:sp>
        <p:nvSpPr>
          <p:cNvPr id="31" name="Stage 5 node"/>
          <p:cNvSpPr/>
          <p:nvPr/>
        </p:nvSpPr>
        <p:spPr>
          <a:xfrm>
            <a:off x="7612380" y="1280160"/>
            <a:ext cx="685800" cy="685800"/>
          </a:xfrm>
          <a:prstGeom prst="ellipse">
            <a:avLst/>
          </a:prstGeom>
          <a:solidFill>
            <a:schemeClr val="accent1"/>
          </a:solidFill>
          <a:ln/>
        </p:spPr>
      </p:sp>
      <p:pic>
        <p:nvPicPr>
          <p:cNvPr id="32" name="Stage 5 icon" descr="preencoded.png">    </p:cNvPr>
          <p:cNvPicPr>
            <a:picLocks noChangeAspect="1"/>
          </p:cNvPicPr>
          <p:nvPr/>
        </p:nvPicPr>
        <p:blipFill>
          <a:blip r:embed="rId5"/>
          <a:stretch>
            <a:fillRect/>
          </a:stretch>
        </p:blipFill>
        <p:spPr>
          <a:xfrm>
            <a:off x="7783830" y="1451610"/>
            <a:ext cx="342900" cy="342900"/>
          </a:xfrm>
          <a:prstGeom prst="rect">
            <a:avLst/>
          </a:prstGeom>
        </p:spPr>
      </p:pic>
      <p:sp>
        <p:nvSpPr>
          <p:cNvPr id="33" name="Stage 5 label"/>
          <p:cNvSpPr txBox="1"/>
          <p:nvPr/>
        </p:nvSpPr>
        <p:spPr>
          <a:xfrm>
            <a:off x="7132320" y="2103120"/>
            <a:ext cx="1645920" cy="365760"/>
          </a:xfrm>
          <a:prstGeom prst="rect">
            <a:avLst/>
          </a:prstGeom>
          <a:noFill/>
          <a:ln/>
        </p:spPr>
        <p:txBody>
          <a:bodyPr wrap="square" lIns="0" tIns="0" rIns="0" bIns="0" rtlCol="0" anchor="ctr"/>
          <a:lstStyle/>
          <a:p>
            <a:pPr algn="ctr" indent="0" marL="0">
              <a:buNone/>
            </a:pPr>
            <a:r>
              <a:rPr lang="en-US" sz="1500" b="1" dirty="0">
                <a:solidFill>
                  <a:schemeClr val="tx2"/>
                </a:solidFill>
              </a:rPr>
              <a:t>5 · Curate &amp; validate</a:t>
            </a:r>
            <a:endParaRPr lang="en-US" sz="1500" dirty="0"/>
          </a:p>
        </p:txBody>
      </p:sp>
      <p:sp>
        <p:nvSpPr>
          <p:cNvPr id="34" name="Stage 5 text"/>
          <p:cNvSpPr txBox="1"/>
          <p:nvPr/>
        </p:nvSpPr>
        <p:spPr>
          <a:xfrm>
            <a:off x="7223760" y="2487168"/>
            <a:ext cx="1463040" cy="640080"/>
          </a:xfrm>
          <a:prstGeom prst="rect">
            <a:avLst/>
          </a:prstGeom>
          <a:noFill/>
          <a:ln/>
        </p:spPr>
        <p:txBody>
          <a:bodyPr wrap="square" lIns="0" tIns="0" rIns="0" bIns="0" rtlCol="0" anchor="t"/>
          <a:lstStyle/>
          <a:p>
            <a:pPr algn="ctr" indent="0" marL="0">
              <a:buNone/>
            </a:pPr>
            <a:r>
              <a:rPr lang="en-US" sz="1400" dirty="0">
                <a:solidFill>
                  <a:schemeClr val="tx1"/>
                </a:solidFill>
              </a:rPr>
              <a:t>balance, test, compare with data</a:t>
            </a:r>
            <a:endParaRPr lang="en-US" sz="1400" dirty="0"/>
          </a:p>
        </p:txBody>
      </p:sp>
      <p:sp>
        <p:nvSpPr>
          <p:cNvPr id="35" name="Stage 5 chip"/>
          <p:cNvSpPr/>
          <p:nvPr/>
        </p:nvSpPr>
        <p:spPr>
          <a:xfrm>
            <a:off x="7498080" y="3200400"/>
            <a:ext cx="914400" cy="274320"/>
          </a:xfrm>
          <a:prstGeom prst="roundRect">
            <a:avLst>
              <a:gd name="adj" fmla="val 50000"/>
            </a:avLst>
          </a:prstGeom>
          <a:solidFill>
            <a:schemeClr val="bg2"/>
          </a:solidFill>
          <a:ln/>
        </p:spPr>
      </p:sp>
      <p:sp>
        <p:nvSpPr>
          <p:cNvPr id="36" name="Stage 5 chip text"/>
          <p:cNvSpPr txBox="1"/>
          <p:nvPr/>
        </p:nvSpPr>
        <p:spPr>
          <a:xfrm>
            <a:off x="7498080" y="3200400"/>
            <a:ext cx="914400" cy="274320"/>
          </a:xfrm>
          <a:prstGeom prst="rect">
            <a:avLst/>
          </a:prstGeom>
          <a:noFill/>
          <a:ln/>
        </p:spPr>
        <p:txBody>
          <a:bodyPr wrap="square" lIns="0" tIns="0" rIns="0" bIns="0" rtlCol="0" anchor="ctr"/>
          <a:lstStyle/>
          <a:p>
            <a:pPr algn="ctr" indent="0" marL="0">
              <a:buNone/>
            </a:pPr>
            <a:r>
              <a:rPr lang="en-US" sz="1100" dirty="0">
                <a:solidFill>
                  <a:schemeClr val="accent3"/>
                </a:solidFill>
              </a:rPr>
              <a:t>toy §6, §8</a:t>
            </a:r>
            <a:endParaRPr lang="en-US" sz="1100" dirty="0"/>
          </a:p>
        </p:txBody>
      </p:sp>
      <p:sp>
        <p:nvSpPr>
          <p:cNvPr id="37" name="Stages message card"/>
          <p:cNvSpPr/>
          <p:nvPr/>
        </p:nvSpPr>
        <p:spPr>
          <a:xfrm>
            <a:off x="457200" y="3703320"/>
            <a:ext cx="8229600" cy="731520"/>
          </a:xfrm>
          <a:prstGeom prst="roundRect">
            <a:avLst>
              <a:gd name="adj" fmla="val 10000"/>
            </a:avLst>
          </a:prstGeom>
          <a:solidFill>
            <a:schemeClr val="bg2"/>
          </a:solidFill>
          <a:ln/>
        </p:spPr>
      </p:sp>
      <p:sp>
        <p:nvSpPr>
          <p:cNvPr id="38" name="Stages message node"/>
          <p:cNvSpPr/>
          <p:nvPr/>
        </p:nvSpPr>
        <p:spPr>
          <a:xfrm>
            <a:off x="658368" y="3840480"/>
            <a:ext cx="457200" cy="457200"/>
          </a:xfrm>
          <a:prstGeom prst="ellipse">
            <a:avLst/>
          </a:prstGeom>
          <a:solidFill>
            <a:schemeClr val="accent5"/>
          </a:solidFill>
          <a:ln/>
        </p:spPr>
      </p:sp>
      <p:pic>
        <p:nvPicPr>
          <p:cNvPr id="39" name="Stages message icon" descr="preencoded.png">    </p:cNvPr>
          <p:cNvPicPr>
            <a:picLocks noChangeAspect="1"/>
          </p:cNvPicPr>
          <p:nvPr/>
        </p:nvPicPr>
        <p:blipFill>
          <a:blip r:embed="rId6"/>
          <a:stretch>
            <a:fillRect/>
          </a:stretch>
        </p:blipFill>
        <p:spPr>
          <a:xfrm>
            <a:off x="772668" y="3954780"/>
            <a:ext cx="228600" cy="228600"/>
          </a:xfrm>
          <a:prstGeom prst="rect">
            <a:avLst/>
          </a:prstGeom>
        </p:spPr>
      </p:pic>
      <p:sp>
        <p:nvSpPr>
          <p:cNvPr id="40" name="Stages message text"/>
          <p:cNvSpPr txBox="1"/>
          <p:nvPr/>
        </p:nvSpPr>
        <p:spPr>
          <a:xfrm>
            <a:off x="1280160" y="3703320"/>
            <a:ext cx="7223760" cy="731520"/>
          </a:xfrm>
          <a:prstGeom prst="rect">
            <a:avLst/>
          </a:prstGeom>
          <a:noFill/>
          <a:ln/>
        </p:spPr>
        <p:txBody>
          <a:bodyPr wrap="square" lIns="0" tIns="0" rIns="0" bIns="0" rtlCol="0" anchor="ctr"/>
          <a:lstStyle/>
          <a:p>
            <a:pPr indent="0" marL="0">
              <a:buNone/>
            </a:pPr>
            <a:r>
              <a:rPr lang="en-US" sz="1600" b="1" dirty="0">
                <a:solidFill>
                  <a:schemeClr val="tx2"/>
                </a:solidFill>
              </a:rPr>
              <a:t>Tools differ most at stages 2 and 4 </a:t>
            </a:r>
            <a:pPr indent="0" marL="0">
              <a:buNone/>
            </a:pPr>
            <a:r>
              <a:rPr lang="en-US" sz="1600" dirty="0">
                <a:solidFill>
                  <a:schemeClr val="tx1"/>
                </a:solidFill>
              </a:rPr>
              <a:t>(orange): where the reactions come from, and how the gaps are filled.</a:t>
            </a:r>
            <a:endParaRPr lang="en-US" sz="16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914400"/>
            <a:ext cx="2286000" cy="1188720"/>
          </a:xfrm>
          <a:prstGeom prst="rect">
            <a:avLst/>
          </a:prstGeom>
          <a:noFill/>
          <a:ln/>
        </p:spPr>
        <p:txBody>
          <a:bodyPr wrap="square" lIns="0" tIns="0" rIns="0" bIns="0" rtlCol="0" anchor="b"/>
          <a:lstStyle/>
          <a:p>
            <a:pPr indent="0" marL="0">
              <a:buNone/>
            </a:pPr>
            <a:r>
              <a:rPr lang="en-US" sz="8000" b="1" dirty="0">
                <a:solidFill>
                  <a:schemeClr val="accent2"/>
                </a:solidFill>
                <a:latin typeface="+mj-lt" pitchFamily="34" charset="0"/>
                <a:ea typeface="+mj-lt" pitchFamily="34" charset="-122"/>
                <a:cs typeface="+mj-lt" pitchFamily="34" charset="-120"/>
              </a:rPr>
              <a:t>1</a:t>
            </a:r>
            <a:endParaRPr lang="en-US" sz="8000" dirty="0"/>
          </a:p>
        </p:txBody>
      </p:sp>
      <p:sp>
        <p:nvSpPr>
          <p:cNvPr id="3" name="Text 0"/>
          <p:cNvSpPr/>
          <p:nvPr>
            <p:ph idx="101" type="title" hasCustomPrompt="1"/>
          </p:nvPr>
        </p:nvSpPr>
        <p:spPr>
          <a:xfrm>
            <a:off x="548640" y="2240280"/>
            <a:ext cx="5486400" cy="777240"/>
          </a:xfrm>
          <a:prstGeom prst="rect">
            <a:avLst/>
          </a:prstGeom>
          <a:noFill/>
          <a:ln/>
        </p:spPr>
        <p:txBody>
          <a:bodyPr wrap="square" lIns="0" tIns="0" rIns="0" bIns="0" rtlCol="0" anchor="t"/>
          <a:lstStyle/>
          <a:p>
            <a:pPr algn="l" indent="0" marL="0">
              <a:buNone/>
            </a:pPr>
            <a:r>
              <a:rPr lang="en-US" sz="3200" b="1" dirty="0">
                <a:solidFill>
                  <a:schemeClr val="bg1"/>
                </a:solidFill>
              </a:rPr>
              <a:t>Annotation</a:t>
            </a:r>
            <a:endParaRPr lang="en-US" sz="3200" dirty="0"/>
          </a:p>
        </p:txBody>
      </p:sp>
      <p:sp>
        <p:nvSpPr>
          <p:cNvPr id="4" name="Text 0"/>
          <p:cNvSpPr/>
          <p:nvPr>
            <p:ph idx="102" type="body" hasCustomPrompt="1"/>
          </p:nvPr>
        </p:nvSpPr>
        <p:spPr>
          <a:xfrm>
            <a:off x="548640" y="3063240"/>
            <a:ext cx="5394960" cy="548640"/>
          </a:xfrm>
          <a:prstGeom prst="rect">
            <a:avLst/>
          </a:prstGeom>
          <a:noFill/>
          <a:ln/>
        </p:spPr>
        <p:txBody>
          <a:bodyPr wrap="square" lIns="0" tIns="0" rIns="0" bIns="0" rtlCol="0" anchor="t"/>
          <a:lstStyle/>
          <a:p>
            <a:pPr indent="0" marL="0">
              <a:buNone/>
            </a:pPr>
            <a:r>
              <a:rPr lang="en-US" sz="2000" i="1" dirty="0">
                <a:solidFill>
                  <a:schemeClr val="accent4"/>
                </a:solidFill>
              </a:rPr>
              <a:t>What does each gene do?</a:t>
            </a:r>
            <a:endParaRPr lang="en-US" sz="2000" dirty="0"/>
          </a:p>
        </p:txBody>
      </p:sp>
      <p:sp>
        <p:nvSpPr>
          <p:cNvPr id="5" name="Divider 1 edge AC"/>
          <p:cNvSpPr/>
          <p:nvPr/>
        </p:nvSpPr>
        <p:spPr>
          <a:xfrm>
            <a:off x="6455061" y="1456625"/>
            <a:ext cx="333297" cy="435850"/>
          </a:xfrm>
          <a:prstGeom prst="line">
            <a:avLst/>
          </a:prstGeom>
          <a:noFill/>
          <a:ln w="15875">
            <a:solidFill>
              <a:schemeClr val="accent4"/>
            </a:solidFill>
            <a:prstDash val="solid"/>
            <a:tailEnd type="triangle"/>
          </a:ln>
        </p:spPr>
      </p:sp>
      <p:sp>
        <p:nvSpPr>
          <p:cNvPr id="6" name="Divider 1 edge BD"/>
          <p:cNvSpPr/>
          <p:nvPr/>
        </p:nvSpPr>
        <p:spPr>
          <a:xfrm>
            <a:off x="7598612" y="1235407"/>
            <a:ext cx="530456" cy="500987"/>
          </a:xfrm>
          <a:prstGeom prst="line">
            <a:avLst/>
          </a:prstGeom>
          <a:noFill/>
          <a:ln w="15875">
            <a:solidFill>
              <a:schemeClr val="accent4"/>
            </a:solidFill>
            <a:prstDash val="solid"/>
            <a:tailEnd type="triangle"/>
          </a:ln>
        </p:spPr>
      </p:sp>
      <p:sp>
        <p:nvSpPr>
          <p:cNvPr id="7" name="Divider 1 edge CD"/>
          <p:cNvSpPr/>
          <p:nvPr/>
        </p:nvSpPr>
        <p:spPr>
          <a:xfrm flipV="1">
            <a:off x="7192738" y="1908700"/>
            <a:ext cx="884339" cy="152472"/>
          </a:xfrm>
          <a:prstGeom prst="line">
            <a:avLst/>
          </a:prstGeom>
          <a:noFill/>
          <a:ln w="15875">
            <a:solidFill>
              <a:schemeClr val="accent4"/>
            </a:solidFill>
            <a:prstDash val="solid"/>
            <a:tailEnd type="triangle"/>
          </a:ln>
        </p:spPr>
      </p:sp>
      <p:sp>
        <p:nvSpPr>
          <p:cNvPr id="8" name="Divider 1 edge DE"/>
          <p:cNvSpPr/>
          <p:nvPr/>
        </p:nvSpPr>
        <p:spPr>
          <a:xfrm flipH="1">
            <a:off x="7837092" y="2038093"/>
            <a:ext cx="356442" cy="712884"/>
          </a:xfrm>
          <a:prstGeom prst="line">
            <a:avLst/>
          </a:prstGeom>
          <a:noFill/>
          <a:ln w="15875">
            <a:solidFill>
              <a:schemeClr val="accent4"/>
            </a:solidFill>
            <a:prstDash val="solid"/>
            <a:tailEnd type="triangle"/>
          </a:ln>
        </p:spPr>
      </p:sp>
      <p:sp>
        <p:nvSpPr>
          <p:cNvPr id="9" name="Divider 1 edge CF"/>
          <p:cNvSpPr/>
          <p:nvPr/>
        </p:nvSpPr>
        <p:spPr>
          <a:xfrm flipH="1">
            <a:off x="6529370" y="2325846"/>
            <a:ext cx="313549" cy="655602"/>
          </a:xfrm>
          <a:prstGeom prst="line">
            <a:avLst/>
          </a:prstGeom>
          <a:noFill/>
          <a:ln w="15875">
            <a:solidFill>
              <a:schemeClr val="accent4"/>
            </a:solidFill>
            <a:prstDash val="solid"/>
            <a:tailEnd type="triangle"/>
          </a:ln>
        </p:spPr>
      </p:sp>
      <p:sp>
        <p:nvSpPr>
          <p:cNvPr id="10" name="Divider 1 edge FH"/>
          <p:cNvSpPr/>
          <p:nvPr/>
        </p:nvSpPr>
        <p:spPr>
          <a:xfrm>
            <a:off x="6561467" y="3284954"/>
            <a:ext cx="455905" cy="516692"/>
          </a:xfrm>
          <a:prstGeom prst="line">
            <a:avLst/>
          </a:prstGeom>
          <a:noFill/>
          <a:ln w="15875">
            <a:solidFill>
              <a:schemeClr val="accent4"/>
            </a:solidFill>
            <a:prstDash val="solid"/>
            <a:tailEnd type="triangle"/>
          </a:ln>
        </p:spPr>
      </p:sp>
      <p:sp>
        <p:nvSpPr>
          <p:cNvPr id="11" name="Divider 1 edge EH"/>
          <p:cNvSpPr/>
          <p:nvPr/>
        </p:nvSpPr>
        <p:spPr>
          <a:xfrm flipH="1">
            <a:off x="7223767" y="3166171"/>
            <a:ext cx="382589" cy="618028"/>
          </a:xfrm>
          <a:prstGeom prst="line">
            <a:avLst/>
          </a:prstGeom>
          <a:noFill/>
          <a:ln w="15875">
            <a:solidFill>
              <a:schemeClr val="accent4"/>
            </a:solidFill>
            <a:prstDash val="solid"/>
            <a:tailEnd type="triangle"/>
          </a:ln>
        </p:spPr>
      </p:sp>
      <p:sp>
        <p:nvSpPr>
          <p:cNvPr id="12" name="Divider 1 edge DG"/>
          <p:cNvSpPr/>
          <p:nvPr/>
        </p:nvSpPr>
        <p:spPr>
          <a:xfrm>
            <a:off x="8307102" y="2054617"/>
            <a:ext cx="202811" cy="1149261"/>
          </a:xfrm>
          <a:prstGeom prst="line">
            <a:avLst/>
          </a:prstGeom>
          <a:noFill/>
          <a:ln w="15875">
            <a:solidFill>
              <a:schemeClr val="accent4"/>
            </a:solidFill>
            <a:prstDash val="solid"/>
            <a:tailEnd type="triangle"/>
          </a:ln>
        </p:spPr>
      </p:sp>
      <p:sp>
        <p:nvSpPr>
          <p:cNvPr id="13" name="Divider 1 flux BC"/>
          <p:cNvSpPr/>
          <p:nvPr/>
        </p:nvSpPr>
        <p:spPr>
          <a:xfrm flipH="1">
            <a:off x="7068030" y="1277210"/>
            <a:ext cx="294365" cy="588729"/>
          </a:xfrm>
          <a:prstGeom prst="line">
            <a:avLst/>
          </a:prstGeom>
          <a:noFill/>
          <a:ln w="31750">
            <a:solidFill>
              <a:schemeClr val="accent2"/>
            </a:solidFill>
            <a:prstDash val="solid"/>
            <a:tailEnd type="triangle"/>
          </a:ln>
        </p:spPr>
      </p:sp>
      <p:sp>
        <p:nvSpPr>
          <p:cNvPr id="14" name="Divider 1 flux CE"/>
          <p:cNvSpPr/>
          <p:nvPr/>
        </p:nvSpPr>
        <p:spPr>
          <a:xfrm>
            <a:off x="7114064" y="2287111"/>
            <a:ext cx="447993" cy="500698"/>
          </a:xfrm>
          <a:prstGeom prst="line">
            <a:avLst/>
          </a:prstGeom>
          <a:noFill/>
          <a:ln w="31750">
            <a:solidFill>
              <a:schemeClr val="accent2"/>
            </a:solidFill>
            <a:prstDash val="solid"/>
            <a:tailEnd type="triangle"/>
          </a:ln>
        </p:spPr>
      </p:sp>
      <p:sp>
        <p:nvSpPr>
          <p:cNvPr id="15" name="Divider 1 flux EG"/>
          <p:cNvSpPr/>
          <p:nvPr/>
        </p:nvSpPr>
        <p:spPr>
          <a:xfrm>
            <a:off x="7926512" y="3082818"/>
            <a:ext cx="423295" cy="235164"/>
          </a:xfrm>
          <a:prstGeom prst="line">
            <a:avLst/>
          </a:prstGeom>
          <a:noFill/>
          <a:ln w="31750">
            <a:solidFill>
              <a:schemeClr val="accent2"/>
            </a:solidFill>
            <a:prstDash val="solid"/>
            <a:tailEnd type="triangle"/>
          </a:ln>
        </p:spPr>
      </p:sp>
      <p:sp>
        <p:nvSpPr>
          <p:cNvPr id="16" name="Divider 1 node A"/>
          <p:cNvSpPr/>
          <p:nvPr/>
        </p:nvSpPr>
        <p:spPr>
          <a:xfrm>
            <a:off x="6236208" y="1207008"/>
            <a:ext cx="237744" cy="237744"/>
          </a:xfrm>
          <a:prstGeom prst="ellipse">
            <a:avLst/>
          </a:prstGeom>
          <a:solidFill>
            <a:schemeClr val="accent1"/>
          </a:solidFill>
          <a:ln/>
        </p:spPr>
      </p:sp>
      <p:sp>
        <p:nvSpPr>
          <p:cNvPr id="17" name="Divider 1 node B"/>
          <p:cNvSpPr/>
          <p:nvPr/>
        </p:nvSpPr>
        <p:spPr>
          <a:xfrm>
            <a:off x="7296912" y="941832"/>
            <a:ext cx="310896" cy="310896"/>
          </a:xfrm>
          <a:prstGeom prst="ellipse">
            <a:avLst/>
          </a:prstGeom>
          <a:solidFill>
            <a:schemeClr val="accent2"/>
          </a:solidFill>
          <a:ln/>
        </p:spPr>
      </p:sp>
      <p:sp>
        <p:nvSpPr>
          <p:cNvPr id="18" name="Divider 1 node C"/>
          <p:cNvSpPr/>
          <p:nvPr/>
        </p:nvSpPr>
        <p:spPr>
          <a:xfrm>
            <a:off x="6748272" y="1901952"/>
            <a:ext cx="402336" cy="402336"/>
          </a:xfrm>
          <a:prstGeom prst="ellipse">
            <a:avLst/>
          </a:prstGeom>
          <a:solidFill>
            <a:schemeClr val="accent2"/>
          </a:solidFill>
          <a:ln/>
        </p:spPr>
      </p:sp>
      <p:sp>
        <p:nvSpPr>
          <p:cNvPr id="19" name="Divider 1 node D"/>
          <p:cNvSpPr/>
          <p:nvPr/>
        </p:nvSpPr>
        <p:spPr>
          <a:xfrm>
            <a:off x="8138160" y="1737360"/>
            <a:ext cx="274320" cy="274320"/>
          </a:xfrm>
          <a:prstGeom prst="ellipse">
            <a:avLst/>
          </a:prstGeom>
          <a:solidFill>
            <a:schemeClr val="accent1"/>
          </a:solidFill>
          <a:ln/>
        </p:spPr>
      </p:sp>
      <p:sp>
        <p:nvSpPr>
          <p:cNvPr id="20" name="Divider 1 node E"/>
          <p:cNvSpPr/>
          <p:nvPr/>
        </p:nvSpPr>
        <p:spPr>
          <a:xfrm>
            <a:off x="7543800" y="2788920"/>
            <a:ext cx="365760" cy="365760"/>
          </a:xfrm>
          <a:prstGeom prst="ellipse">
            <a:avLst/>
          </a:prstGeom>
          <a:solidFill>
            <a:schemeClr val="accent2"/>
          </a:solidFill>
          <a:ln/>
        </p:spPr>
      </p:sp>
      <p:sp>
        <p:nvSpPr>
          <p:cNvPr id="21" name="Divider 1 node F"/>
          <p:cNvSpPr/>
          <p:nvPr/>
        </p:nvSpPr>
        <p:spPr>
          <a:xfrm>
            <a:off x="6318504" y="3026664"/>
            <a:ext cx="256032" cy="256032"/>
          </a:xfrm>
          <a:prstGeom prst="ellipse">
            <a:avLst/>
          </a:prstGeom>
          <a:solidFill>
            <a:schemeClr val="accent1"/>
          </a:solidFill>
          <a:ln/>
        </p:spPr>
      </p:sp>
      <p:sp>
        <p:nvSpPr>
          <p:cNvPr id="22" name="Divider 1 node G"/>
          <p:cNvSpPr/>
          <p:nvPr/>
        </p:nvSpPr>
        <p:spPr>
          <a:xfrm>
            <a:off x="8385048" y="3264408"/>
            <a:ext cx="329184" cy="329184"/>
          </a:xfrm>
          <a:prstGeom prst="ellipse">
            <a:avLst/>
          </a:prstGeom>
          <a:solidFill>
            <a:schemeClr val="accent2"/>
          </a:solidFill>
          <a:ln/>
        </p:spPr>
      </p:sp>
      <p:sp>
        <p:nvSpPr>
          <p:cNvPr id="23" name="Divider 1 node H"/>
          <p:cNvSpPr/>
          <p:nvPr/>
        </p:nvSpPr>
        <p:spPr>
          <a:xfrm>
            <a:off x="7022592" y="3822192"/>
            <a:ext cx="219456" cy="219456"/>
          </a:xfrm>
          <a:prstGeom prst="ellipse">
            <a:avLst/>
          </a:prstGeom>
          <a:solidFill>
            <a:schemeClr val="accent1"/>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400" b="1" dirty="0">
                <a:solidFill>
                  <a:schemeClr val="tx2"/>
                </a:solidFill>
              </a:rPr>
              <a:t>From sequence to function</a:t>
            </a:r>
            <a:endParaRPr lang="en-US" sz="3400" dirty="0"/>
          </a:p>
        </p:txBody>
      </p:sp>
      <p:sp>
        <p:nvSpPr>
          <p:cNvPr id="3" name="Annotation card 1"/>
          <p:cNvSpPr/>
          <p:nvPr/>
        </p:nvSpPr>
        <p:spPr>
          <a:xfrm>
            <a:off x="457200" y="1188720"/>
            <a:ext cx="2560320" cy="3246120"/>
          </a:xfrm>
          <a:prstGeom prst="roundRect">
            <a:avLst>
              <a:gd name="adj" fmla="val 2857"/>
            </a:avLst>
          </a:prstGeom>
          <a:solidFill>
            <a:schemeClr val="bg2"/>
          </a:solidFill>
          <a:ln/>
        </p:spPr>
      </p:sp>
      <p:sp>
        <p:nvSpPr>
          <p:cNvPr id="4" name="Annotation 1 node"/>
          <p:cNvSpPr/>
          <p:nvPr/>
        </p:nvSpPr>
        <p:spPr>
          <a:xfrm>
            <a:off x="640080" y="1371600"/>
            <a:ext cx="502920" cy="502920"/>
          </a:xfrm>
          <a:prstGeom prst="ellipse">
            <a:avLst/>
          </a:prstGeom>
          <a:solidFill>
            <a:schemeClr val="accent1"/>
          </a:solidFill>
          <a:ln/>
        </p:spPr>
      </p:sp>
      <p:pic>
        <p:nvPicPr>
          <p:cNvPr id="5" name="Annotation 1 icon" descr="preencoded.png">    </p:cNvPr>
          <p:cNvPicPr>
            <a:picLocks noChangeAspect="1"/>
          </p:cNvPicPr>
          <p:nvPr/>
        </p:nvPicPr>
        <p:blipFill>
          <a:blip r:embed="rId1"/>
          <a:stretch>
            <a:fillRect/>
          </a:stretch>
        </p:blipFill>
        <p:spPr>
          <a:xfrm>
            <a:off x="765810" y="1497330"/>
            <a:ext cx="251460" cy="251460"/>
          </a:xfrm>
          <a:prstGeom prst="rect">
            <a:avLst/>
          </a:prstGeom>
        </p:spPr>
      </p:pic>
      <p:sp>
        <p:nvSpPr>
          <p:cNvPr id="6" name="Annotation 1 heading"/>
          <p:cNvSpPr txBox="1"/>
          <p:nvPr/>
        </p:nvSpPr>
        <p:spPr>
          <a:xfrm>
            <a:off x="1280160" y="1371600"/>
            <a:ext cx="1645920" cy="502920"/>
          </a:xfrm>
          <a:prstGeom prst="rect">
            <a:avLst/>
          </a:prstGeom>
          <a:noFill/>
          <a:ln/>
        </p:spPr>
        <p:txBody>
          <a:bodyPr wrap="square" lIns="0" tIns="0" rIns="0" bIns="0" rtlCol="0" anchor="ctr"/>
          <a:lstStyle/>
          <a:p>
            <a:pPr indent="0" marL="0">
              <a:buNone/>
            </a:pPr>
            <a:r>
              <a:rPr lang="en-US" sz="1600" b="1" dirty="0">
                <a:solidFill>
                  <a:schemeClr val="tx2"/>
                </a:solidFill>
              </a:rPr>
              <a:t>Find the genes</a:t>
            </a:r>
            <a:endParaRPr lang="en-US" sz="1600" dirty="0"/>
          </a:p>
        </p:txBody>
      </p:sp>
      <p:sp>
        <p:nvSpPr>
          <p:cNvPr id="7" name="Annotation 1 list"/>
          <p:cNvSpPr txBox="1"/>
          <p:nvPr/>
        </p:nvSpPr>
        <p:spPr>
          <a:xfrm>
            <a:off x="640080" y="2057400"/>
            <a:ext cx="2240280" cy="224028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Gene callers predict coding sequences: Prodigal, Glimmer</a:t>
            </a:r>
            <a:endParaRPr lang="en-US" sz="1400" dirty="0"/>
          </a:p>
          <a:p>
            <a:pPr marL="177800" indent="-177800">
              <a:spcAft>
                <a:spcPts val="400"/>
              </a:spcAft>
              <a:buSzPct val="100000"/>
              <a:buChar char="•"/>
            </a:pPr>
            <a:r>
              <a:rPr lang="en-US" sz="1400" dirty="0">
                <a:solidFill>
                  <a:schemeClr val="tx1"/>
                </a:solidFill>
              </a:rPr>
              <a:t>Complete pipelines: Prokka, Bakta, RAST</a:t>
            </a:r>
            <a:endParaRPr lang="en-US" sz="1400" dirty="0"/>
          </a:p>
        </p:txBody>
      </p:sp>
      <p:sp>
        <p:nvSpPr>
          <p:cNvPr id="8" name="Annotation arrow 1"/>
          <p:cNvSpPr/>
          <p:nvPr/>
        </p:nvSpPr>
        <p:spPr>
          <a:xfrm>
            <a:off x="3035808" y="1623060"/>
            <a:ext cx="237744" cy="0"/>
          </a:xfrm>
          <a:prstGeom prst="line">
            <a:avLst/>
          </a:prstGeom>
          <a:noFill/>
          <a:ln w="25400">
            <a:solidFill>
              <a:schemeClr val="accent2"/>
            </a:solidFill>
            <a:prstDash val="solid"/>
            <a:tailEnd type="triangle"/>
          </a:ln>
        </p:spPr>
      </p:sp>
      <p:sp>
        <p:nvSpPr>
          <p:cNvPr id="9" name="Annotation card 2"/>
          <p:cNvSpPr/>
          <p:nvPr/>
        </p:nvSpPr>
        <p:spPr>
          <a:xfrm>
            <a:off x="3291840" y="1188720"/>
            <a:ext cx="2560320" cy="3246120"/>
          </a:xfrm>
          <a:prstGeom prst="roundRect">
            <a:avLst>
              <a:gd name="adj" fmla="val 2857"/>
            </a:avLst>
          </a:prstGeom>
          <a:solidFill>
            <a:schemeClr val="bg2"/>
          </a:solidFill>
          <a:ln/>
        </p:spPr>
      </p:sp>
      <p:sp>
        <p:nvSpPr>
          <p:cNvPr id="10" name="Annotation 2 node"/>
          <p:cNvSpPr/>
          <p:nvPr/>
        </p:nvSpPr>
        <p:spPr>
          <a:xfrm>
            <a:off x="3474720" y="1371600"/>
            <a:ext cx="502920" cy="502920"/>
          </a:xfrm>
          <a:prstGeom prst="ellipse">
            <a:avLst/>
          </a:prstGeom>
          <a:solidFill>
            <a:schemeClr val="accent1"/>
          </a:solidFill>
          <a:ln/>
        </p:spPr>
      </p:sp>
      <p:pic>
        <p:nvPicPr>
          <p:cNvPr id="11" name="Annotation 2 icon" descr="preencoded.png">    </p:cNvPr>
          <p:cNvPicPr>
            <a:picLocks noChangeAspect="1"/>
          </p:cNvPicPr>
          <p:nvPr/>
        </p:nvPicPr>
        <p:blipFill>
          <a:blip r:embed="rId2"/>
          <a:stretch>
            <a:fillRect/>
          </a:stretch>
        </p:blipFill>
        <p:spPr>
          <a:xfrm>
            <a:off x="3600450" y="1497330"/>
            <a:ext cx="251460" cy="251460"/>
          </a:xfrm>
          <a:prstGeom prst="rect">
            <a:avLst/>
          </a:prstGeom>
        </p:spPr>
      </p:pic>
      <p:sp>
        <p:nvSpPr>
          <p:cNvPr id="12" name="Annotation 2 heading"/>
          <p:cNvSpPr txBox="1"/>
          <p:nvPr/>
        </p:nvSpPr>
        <p:spPr>
          <a:xfrm>
            <a:off x="4114800" y="1371600"/>
            <a:ext cx="1645920" cy="502920"/>
          </a:xfrm>
          <a:prstGeom prst="rect">
            <a:avLst/>
          </a:prstGeom>
          <a:noFill/>
          <a:ln/>
        </p:spPr>
        <p:txBody>
          <a:bodyPr wrap="square" lIns="0" tIns="0" rIns="0" bIns="0" rtlCol="0" anchor="ctr"/>
          <a:lstStyle/>
          <a:p>
            <a:pPr indent="0" marL="0">
              <a:buNone/>
            </a:pPr>
            <a:r>
              <a:rPr lang="en-US" sz="1600" b="1" dirty="0">
                <a:solidFill>
                  <a:schemeClr val="tx2"/>
                </a:solidFill>
              </a:rPr>
              <a:t>Give each a function</a:t>
            </a:r>
            <a:endParaRPr lang="en-US" sz="1600" dirty="0"/>
          </a:p>
        </p:txBody>
      </p:sp>
      <p:sp>
        <p:nvSpPr>
          <p:cNvPr id="13" name="Annotation 2 list"/>
          <p:cNvSpPr txBox="1"/>
          <p:nvPr/>
        </p:nvSpPr>
        <p:spPr>
          <a:xfrm>
            <a:off x="3474720" y="2057400"/>
            <a:ext cx="2240280" cy="224028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Homology: BLAST or DIAMOND against Swiss-Prot</a:t>
            </a:r>
            <a:endParaRPr lang="en-US" sz="1400" dirty="0"/>
          </a:p>
          <a:p>
            <a:pPr marL="177800" indent="-177800">
              <a:spcAft>
                <a:spcPts val="400"/>
              </a:spcAft>
              <a:buSzPct val="100000"/>
              <a:buChar char="•"/>
            </a:pPr>
            <a:r>
              <a:rPr lang="en-US" sz="1400" dirty="0">
                <a:solidFill>
                  <a:schemeClr val="tx1"/>
                </a:solidFill>
              </a:rPr>
              <a:t>Orthology: eggNOG-mapper, KofamKOALA</a:t>
            </a:r>
            <a:endParaRPr lang="en-US" sz="1400" dirty="0"/>
          </a:p>
          <a:p>
            <a:pPr marL="177800" indent="-177800">
              <a:spcAft>
                <a:spcPts val="400"/>
              </a:spcAft>
              <a:buSzPct val="100000"/>
              <a:buChar char="•"/>
            </a:pPr>
            <a:r>
              <a:rPr lang="en-US" sz="1400" dirty="0">
                <a:solidFill>
                  <a:schemeClr val="tx1"/>
                </a:solidFill>
              </a:rPr>
              <a:t>Domains: InterProScan, Pfam</a:t>
            </a:r>
            <a:endParaRPr lang="en-US" sz="1400" dirty="0"/>
          </a:p>
        </p:txBody>
      </p:sp>
      <p:sp>
        <p:nvSpPr>
          <p:cNvPr id="14" name="Annotation arrow 2"/>
          <p:cNvSpPr/>
          <p:nvPr/>
        </p:nvSpPr>
        <p:spPr>
          <a:xfrm>
            <a:off x="5870448" y="1623060"/>
            <a:ext cx="237744" cy="0"/>
          </a:xfrm>
          <a:prstGeom prst="line">
            <a:avLst/>
          </a:prstGeom>
          <a:noFill/>
          <a:ln w="25400">
            <a:solidFill>
              <a:schemeClr val="accent2"/>
            </a:solidFill>
            <a:prstDash val="solid"/>
            <a:tailEnd type="triangle"/>
          </a:ln>
        </p:spPr>
      </p:sp>
      <p:sp>
        <p:nvSpPr>
          <p:cNvPr id="15" name="Annotation card 3"/>
          <p:cNvSpPr/>
          <p:nvPr/>
        </p:nvSpPr>
        <p:spPr>
          <a:xfrm>
            <a:off x="6126480" y="1188720"/>
            <a:ext cx="2560320" cy="3246120"/>
          </a:xfrm>
          <a:prstGeom prst="roundRect">
            <a:avLst>
              <a:gd name="adj" fmla="val 2857"/>
            </a:avLst>
          </a:prstGeom>
          <a:solidFill>
            <a:schemeClr val="bg2"/>
          </a:solidFill>
          <a:ln/>
        </p:spPr>
      </p:sp>
      <p:sp>
        <p:nvSpPr>
          <p:cNvPr id="16" name="Annotation 3 node"/>
          <p:cNvSpPr/>
          <p:nvPr/>
        </p:nvSpPr>
        <p:spPr>
          <a:xfrm>
            <a:off x="6309360" y="1371600"/>
            <a:ext cx="502920" cy="502920"/>
          </a:xfrm>
          <a:prstGeom prst="ellipse">
            <a:avLst/>
          </a:prstGeom>
          <a:solidFill>
            <a:schemeClr val="accent1"/>
          </a:solidFill>
          <a:ln/>
        </p:spPr>
      </p:sp>
      <p:pic>
        <p:nvPicPr>
          <p:cNvPr id="17" name="Annotation 3 icon" descr="preencoded.png">    </p:cNvPr>
          <p:cNvPicPr>
            <a:picLocks noChangeAspect="1"/>
          </p:cNvPicPr>
          <p:nvPr/>
        </p:nvPicPr>
        <p:blipFill>
          <a:blip r:embed="rId3"/>
          <a:stretch>
            <a:fillRect/>
          </a:stretch>
        </p:blipFill>
        <p:spPr>
          <a:xfrm>
            <a:off x="6435090" y="1497330"/>
            <a:ext cx="251460" cy="251460"/>
          </a:xfrm>
          <a:prstGeom prst="rect">
            <a:avLst/>
          </a:prstGeom>
        </p:spPr>
      </p:pic>
      <p:sp>
        <p:nvSpPr>
          <p:cNvPr id="18" name="Annotation 3 heading"/>
          <p:cNvSpPr txBox="1"/>
          <p:nvPr/>
        </p:nvSpPr>
        <p:spPr>
          <a:xfrm>
            <a:off x="6949440" y="1371600"/>
            <a:ext cx="1645920" cy="502920"/>
          </a:xfrm>
          <a:prstGeom prst="rect">
            <a:avLst/>
          </a:prstGeom>
          <a:noFill/>
          <a:ln/>
        </p:spPr>
        <p:txBody>
          <a:bodyPr wrap="square" lIns="0" tIns="0" rIns="0" bIns="0" rtlCol="0" anchor="ctr"/>
          <a:lstStyle/>
          <a:p>
            <a:pPr indent="0" marL="0">
              <a:buNone/>
            </a:pPr>
            <a:r>
              <a:rPr lang="en-US" sz="1600" b="1" dirty="0">
                <a:solidFill>
                  <a:schemeClr val="tx2"/>
                </a:solidFill>
              </a:rPr>
              <a:t>What the model needs</a:t>
            </a:r>
            <a:endParaRPr lang="en-US" sz="1600" dirty="0"/>
          </a:p>
        </p:txBody>
      </p:sp>
      <p:sp>
        <p:nvSpPr>
          <p:cNvPr id="19" name="Annotation 3 list"/>
          <p:cNvSpPr txBox="1"/>
          <p:nvPr/>
        </p:nvSpPr>
        <p:spPr>
          <a:xfrm>
            <a:off x="6309360" y="2057400"/>
            <a:ext cx="2240280" cy="224028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EC numbers for enzymes</a:t>
            </a:r>
            <a:endParaRPr lang="en-US" sz="1400" dirty="0"/>
          </a:p>
          <a:p>
            <a:pPr marL="177800" indent="-177800">
              <a:spcAft>
                <a:spcPts val="400"/>
              </a:spcAft>
              <a:buSzPct val="100000"/>
              <a:buChar char="•"/>
            </a:pPr>
            <a:r>
              <a:rPr lang="en-US" sz="1400" dirty="0">
                <a:solidFill>
                  <a:schemeClr val="tx1"/>
                </a:solidFill>
              </a:rPr>
              <a:t>KEGG orthologs (KO)</a:t>
            </a:r>
            <a:endParaRPr lang="en-US" sz="1400" dirty="0"/>
          </a:p>
          <a:p>
            <a:pPr marL="177800" indent="-177800">
              <a:spcAft>
                <a:spcPts val="400"/>
              </a:spcAft>
              <a:buSzPct val="100000"/>
              <a:buChar char="•"/>
            </a:pPr>
            <a:r>
              <a:rPr lang="en-US" sz="1400" dirty="0">
                <a:solidFill>
                  <a:schemeClr val="tx1"/>
                </a:solidFill>
              </a:rPr>
              <a:t>TC numbers for transporters</a:t>
            </a:r>
            <a:endParaRPr lang="en-US" sz="1400" dirty="0"/>
          </a:p>
          <a:p>
            <a:pPr marL="177800" indent="-177800">
              <a:spcAft>
                <a:spcPts val="400"/>
              </a:spcAft>
              <a:buSzPct val="100000"/>
              <a:buChar char="•"/>
            </a:pPr>
            <a:r>
              <a:rPr lang="en-US" sz="1400" dirty="0">
                <a:solidFill>
                  <a:schemeClr val="tx1"/>
                </a:solidFill>
              </a:rPr>
              <a:t>Location: PSORTb, DeepLoc</a:t>
            </a:r>
            <a:endParaRPr lang="en-US" sz="14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400" b="1" dirty="0">
                <a:solidFill>
                  <a:schemeClr val="tx2"/>
                </a:solidFill>
              </a:rPr>
              <a:t>Where annotation goes wrong</a:t>
            </a:r>
            <a:endParaRPr lang="en-US" sz="3400" dirty="0"/>
          </a:p>
        </p:txBody>
      </p:sp>
      <p:sp>
        <p:nvSpPr>
          <p:cNvPr id="3" name="Pitfall card 1"/>
          <p:cNvSpPr/>
          <p:nvPr/>
        </p:nvSpPr>
        <p:spPr>
          <a:xfrm>
            <a:off x="457200" y="1188720"/>
            <a:ext cx="4023360" cy="1463040"/>
          </a:xfrm>
          <a:prstGeom prst="roundRect">
            <a:avLst>
              <a:gd name="adj" fmla="val 5000"/>
            </a:avLst>
          </a:prstGeom>
          <a:solidFill>
            <a:schemeClr val="bg2"/>
          </a:solidFill>
          <a:ln/>
        </p:spPr>
      </p:sp>
      <p:sp>
        <p:nvSpPr>
          <p:cNvPr id="4" name="Pitfall 1 node"/>
          <p:cNvSpPr/>
          <p:nvPr/>
        </p:nvSpPr>
        <p:spPr>
          <a:xfrm>
            <a:off x="658368" y="1417320"/>
            <a:ext cx="502920" cy="502920"/>
          </a:xfrm>
          <a:prstGeom prst="ellipse">
            <a:avLst/>
          </a:prstGeom>
          <a:solidFill>
            <a:schemeClr val="accent1"/>
          </a:solidFill>
          <a:ln/>
        </p:spPr>
      </p:sp>
      <p:pic>
        <p:nvPicPr>
          <p:cNvPr id="5" name="Pitfall 1 icon" descr="preencoded.png">    </p:cNvPr>
          <p:cNvPicPr>
            <a:picLocks noChangeAspect="1"/>
          </p:cNvPicPr>
          <p:nvPr/>
        </p:nvPicPr>
        <p:blipFill>
          <a:blip r:embed="rId1"/>
          <a:stretch>
            <a:fillRect/>
          </a:stretch>
        </p:blipFill>
        <p:spPr>
          <a:xfrm>
            <a:off x="784098" y="1543050"/>
            <a:ext cx="251460" cy="251460"/>
          </a:xfrm>
          <a:prstGeom prst="rect">
            <a:avLst/>
          </a:prstGeom>
        </p:spPr>
      </p:pic>
      <p:sp>
        <p:nvSpPr>
          <p:cNvPr id="6" name="Pitfall 1 heading"/>
          <p:cNvSpPr txBox="1"/>
          <p:nvPr/>
        </p:nvSpPr>
        <p:spPr>
          <a:xfrm>
            <a:off x="1325880" y="1389888"/>
            <a:ext cx="3017520" cy="365760"/>
          </a:xfrm>
          <a:prstGeom prst="rect">
            <a:avLst/>
          </a:prstGeom>
          <a:noFill/>
          <a:ln/>
        </p:spPr>
        <p:txBody>
          <a:bodyPr wrap="square" lIns="0" tIns="0" rIns="0" bIns="0" rtlCol="0" anchor="ctr"/>
          <a:lstStyle/>
          <a:p>
            <a:pPr indent="0" marL="0">
              <a:buNone/>
            </a:pPr>
            <a:r>
              <a:rPr lang="en-US" sz="1600" b="1" dirty="0">
                <a:solidFill>
                  <a:schemeClr val="tx2"/>
                </a:solidFill>
              </a:rPr>
              <a:t>Hypothetical proteins</a:t>
            </a:r>
            <a:endParaRPr lang="en-US" sz="1600" dirty="0"/>
          </a:p>
        </p:txBody>
      </p:sp>
      <p:sp>
        <p:nvSpPr>
          <p:cNvPr id="7" name="Pitfall 1 text"/>
          <p:cNvSpPr txBox="1"/>
          <p:nvPr/>
        </p:nvSpPr>
        <p:spPr>
          <a:xfrm>
            <a:off x="1325880" y="1783080"/>
            <a:ext cx="3017520" cy="777240"/>
          </a:xfrm>
          <a:prstGeom prst="rect">
            <a:avLst/>
          </a:prstGeom>
          <a:noFill/>
          <a:ln/>
        </p:spPr>
        <p:txBody>
          <a:bodyPr wrap="square" lIns="0" tIns="0" rIns="0" bIns="0" rtlCol="0" anchor="t"/>
          <a:lstStyle/>
          <a:p>
            <a:pPr indent="0" marL="0">
              <a:buNone/>
            </a:pPr>
            <a:r>
              <a:rPr lang="en-US" sz="1400" dirty="0">
                <a:solidFill>
                  <a:schemeClr val="tx1"/>
                </a:solidFill>
              </a:rPr>
              <a:t>Genes with no known function: real enzymes the model cannot see (TF_0018 this morning).</a:t>
            </a:r>
            <a:endParaRPr lang="en-US" sz="1400" dirty="0"/>
          </a:p>
        </p:txBody>
      </p:sp>
      <p:sp>
        <p:nvSpPr>
          <p:cNvPr id="8" name="Pitfall card 2"/>
          <p:cNvSpPr/>
          <p:nvPr/>
        </p:nvSpPr>
        <p:spPr>
          <a:xfrm>
            <a:off x="4663440" y="1188720"/>
            <a:ext cx="4023360" cy="1463040"/>
          </a:xfrm>
          <a:prstGeom prst="roundRect">
            <a:avLst>
              <a:gd name="adj" fmla="val 5000"/>
            </a:avLst>
          </a:prstGeom>
          <a:solidFill>
            <a:schemeClr val="bg2"/>
          </a:solidFill>
          <a:ln/>
        </p:spPr>
      </p:sp>
      <p:sp>
        <p:nvSpPr>
          <p:cNvPr id="9" name="Pitfall 2 node"/>
          <p:cNvSpPr/>
          <p:nvPr/>
        </p:nvSpPr>
        <p:spPr>
          <a:xfrm>
            <a:off x="4864608" y="1417320"/>
            <a:ext cx="502920" cy="502920"/>
          </a:xfrm>
          <a:prstGeom prst="ellipse">
            <a:avLst/>
          </a:prstGeom>
          <a:solidFill>
            <a:schemeClr val="accent1"/>
          </a:solidFill>
          <a:ln/>
        </p:spPr>
      </p:sp>
      <p:pic>
        <p:nvPicPr>
          <p:cNvPr id="10" name="Pitfall 2 icon" descr="preencoded.png">    </p:cNvPr>
          <p:cNvPicPr>
            <a:picLocks noChangeAspect="1"/>
          </p:cNvPicPr>
          <p:nvPr/>
        </p:nvPicPr>
        <p:blipFill>
          <a:blip r:embed="rId2"/>
          <a:stretch>
            <a:fillRect/>
          </a:stretch>
        </p:blipFill>
        <p:spPr>
          <a:xfrm>
            <a:off x="4990338" y="1543050"/>
            <a:ext cx="251460" cy="251460"/>
          </a:xfrm>
          <a:prstGeom prst="rect">
            <a:avLst/>
          </a:prstGeom>
        </p:spPr>
      </p:pic>
      <p:sp>
        <p:nvSpPr>
          <p:cNvPr id="11" name="Pitfall 2 heading"/>
          <p:cNvSpPr txBox="1"/>
          <p:nvPr/>
        </p:nvSpPr>
        <p:spPr>
          <a:xfrm>
            <a:off x="5532120" y="1389888"/>
            <a:ext cx="3017520" cy="365760"/>
          </a:xfrm>
          <a:prstGeom prst="rect">
            <a:avLst/>
          </a:prstGeom>
          <a:noFill/>
          <a:ln/>
        </p:spPr>
        <p:txBody>
          <a:bodyPr wrap="square" lIns="0" tIns="0" rIns="0" bIns="0" rtlCol="0" anchor="ctr"/>
          <a:lstStyle/>
          <a:p>
            <a:pPr indent="0" marL="0">
              <a:buNone/>
            </a:pPr>
            <a:r>
              <a:rPr lang="en-US" sz="1600" b="1" dirty="0">
                <a:solidFill>
                  <a:schemeClr val="tx2"/>
                </a:solidFill>
              </a:rPr>
              <a:t>Copied mistakes</a:t>
            </a:r>
            <a:endParaRPr lang="en-US" sz="1600" dirty="0"/>
          </a:p>
        </p:txBody>
      </p:sp>
      <p:sp>
        <p:nvSpPr>
          <p:cNvPr id="12" name="Pitfall 2 text"/>
          <p:cNvSpPr txBox="1"/>
          <p:nvPr/>
        </p:nvSpPr>
        <p:spPr>
          <a:xfrm>
            <a:off x="5532120" y="1783080"/>
            <a:ext cx="3017520" cy="777240"/>
          </a:xfrm>
          <a:prstGeom prst="rect">
            <a:avLst/>
          </a:prstGeom>
          <a:noFill/>
          <a:ln/>
        </p:spPr>
        <p:txBody>
          <a:bodyPr wrap="square" lIns="0" tIns="0" rIns="0" bIns="0" rtlCol="0" anchor="t"/>
          <a:lstStyle/>
          <a:p>
            <a:pPr indent="0" marL="0">
              <a:buNone/>
            </a:pPr>
            <a:r>
              <a:rPr lang="en-US" sz="1400" dirty="0">
                <a:solidFill>
                  <a:schemeClr val="tx1"/>
                </a:solidFill>
              </a:rPr>
              <a:t>A wrong label in one database spreads to every genome annotated from it.</a:t>
            </a:r>
            <a:endParaRPr lang="en-US" sz="1400" dirty="0"/>
          </a:p>
        </p:txBody>
      </p:sp>
      <p:sp>
        <p:nvSpPr>
          <p:cNvPr id="13" name="Pitfall card 3"/>
          <p:cNvSpPr/>
          <p:nvPr/>
        </p:nvSpPr>
        <p:spPr>
          <a:xfrm>
            <a:off x="457200" y="2880360"/>
            <a:ext cx="4023360" cy="1463040"/>
          </a:xfrm>
          <a:prstGeom prst="roundRect">
            <a:avLst>
              <a:gd name="adj" fmla="val 5000"/>
            </a:avLst>
          </a:prstGeom>
          <a:solidFill>
            <a:schemeClr val="bg2"/>
          </a:solidFill>
          <a:ln/>
        </p:spPr>
      </p:sp>
      <p:sp>
        <p:nvSpPr>
          <p:cNvPr id="14" name="Pitfall 3 node"/>
          <p:cNvSpPr/>
          <p:nvPr/>
        </p:nvSpPr>
        <p:spPr>
          <a:xfrm>
            <a:off x="658368" y="3108960"/>
            <a:ext cx="502920" cy="502920"/>
          </a:xfrm>
          <a:prstGeom prst="ellipse">
            <a:avLst/>
          </a:prstGeom>
          <a:solidFill>
            <a:schemeClr val="accent5"/>
          </a:solidFill>
          <a:ln/>
        </p:spPr>
      </p:sp>
      <p:pic>
        <p:nvPicPr>
          <p:cNvPr id="15" name="Pitfall 3 icon" descr="preencoded.png">    </p:cNvPr>
          <p:cNvPicPr>
            <a:picLocks noChangeAspect="1"/>
          </p:cNvPicPr>
          <p:nvPr/>
        </p:nvPicPr>
        <p:blipFill>
          <a:blip r:embed="rId3"/>
          <a:stretch>
            <a:fillRect/>
          </a:stretch>
        </p:blipFill>
        <p:spPr>
          <a:xfrm>
            <a:off x="784098" y="3234690"/>
            <a:ext cx="251460" cy="251460"/>
          </a:xfrm>
          <a:prstGeom prst="rect">
            <a:avLst/>
          </a:prstGeom>
        </p:spPr>
      </p:pic>
      <p:sp>
        <p:nvSpPr>
          <p:cNvPr id="16" name="Pitfall 3 heading"/>
          <p:cNvSpPr txBox="1"/>
          <p:nvPr/>
        </p:nvSpPr>
        <p:spPr>
          <a:xfrm>
            <a:off x="1325880" y="3081528"/>
            <a:ext cx="3017520" cy="365760"/>
          </a:xfrm>
          <a:prstGeom prst="rect">
            <a:avLst/>
          </a:prstGeom>
          <a:noFill/>
          <a:ln/>
        </p:spPr>
        <p:txBody>
          <a:bodyPr wrap="square" lIns="0" tIns="0" rIns="0" bIns="0" rtlCol="0" anchor="ctr"/>
          <a:lstStyle/>
          <a:p>
            <a:pPr indent="0" marL="0">
              <a:buNone/>
            </a:pPr>
            <a:r>
              <a:rPr lang="en-US" sz="1600" b="1" dirty="0">
                <a:solidFill>
                  <a:schemeClr val="tx2"/>
                </a:solidFill>
              </a:rPr>
              <a:t>Subunits that look like isozymes</a:t>
            </a:r>
            <a:endParaRPr lang="en-US" sz="1600" dirty="0"/>
          </a:p>
        </p:txBody>
      </p:sp>
      <p:sp>
        <p:nvSpPr>
          <p:cNvPr id="17" name="Pitfall 3 text"/>
          <p:cNvSpPr txBox="1"/>
          <p:nvPr/>
        </p:nvSpPr>
        <p:spPr>
          <a:xfrm>
            <a:off x="1325880" y="3474720"/>
            <a:ext cx="3017520" cy="777240"/>
          </a:xfrm>
          <a:prstGeom prst="rect">
            <a:avLst/>
          </a:prstGeom>
          <a:noFill/>
          <a:ln/>
        </p:spPr>
        <p:txBody>
          <a:bodyPr wrap="square" lIns="0" tIns="0" rIns="0" bIns="0" rtlCol="0" anchor="t"/>
          <a:lstStyle/>
          <a:p>
            <a:pPr indent="0" marL="0">
              <a:buNone/>
            </a:pPr>
            <a:r>
              <a:rPr lang="en-US" sz="1400" dirty="0">
                <a:solidFill>
                  <a:schemeClr val="tx1"/>
                </a:solidFill>
              </a:rPr>
              <a:t>Shared EC numbers turn complexes into 'or' rules (atpA and atpD this morning).</a:t>
            </a:r>
            <a:endParaRPr lang="en-US" sz="1400" dirty="0"/>
          </a:p>
        </p:txBody>
      </p:sp>
      <p:sp>
        <p:nvSpPr>
          <p:cNvPr id="18" name="Pitfall card 4"/>
          <p:cNvSpPr/>
          <p:nvPr/>
        </p:nvSpPr>
        <p:spPr>
          <a:xfrm>
            <a:off x="4663440" y="2880360"/>
            <a:ext cx="4023360" cy="1463040"/>
          </a:xfrm>
          <a:prstGeom prst="roundRect">
            <a:avLst>
              <a:gd name="adj" fmla="val 5000"/>
            </a:avLst>
          </a:prstGeom>
          <a:solidFill>
            <a:schemeClr val="bg2"/>
          </a:solidFill>
          <a:ln/>
        </p:spPr>
      </p:sp>
      <p:sp>
        <p:nvSpPr>
          <p:cNvPr id="19" name="Pitfall 4 node"/>
          <p:cNvSpPr/>
          <p:nvPr/>
        </p:nvSpPr>
        <p:spPr>
          <a:xfrm>
            <a:off x="4864608" y="3108960"/>
            <a:ext cx="502920" cy="502920"/>
          </a:xfrm>
          <a:prstGeom prst="ellipse">
            <a:avLst/>
          </a:prstGeom>
          <a:solidFill>
            <a:schemeClr val="accent1"/>
          </a:solidFill>
          <a:ln/>
        </p:spPr>
      </p:sp>
      <p:pic>
        <p:nvPicPr>
          <p:cNvPr id="20" name="Pitfall 4 icon" descr="preencoded.png">    </p:cNvPr>
          <p:cNvPicPr>
            <a:picLocks noChangeAspect="1"/>
          </p:cNvPicPr>
          <p:nvPr/>
        </p:nvPicPr>
        <p:blipFill>
          <a:blip r:embed="rId4"/>
          <a:stretch>
            <a:fillRect/>
          </a:stretch>
        </p:blipFill>
        <p:spPr>
          <a:xfrm>
            <a:off x="4990338" y="3234690"/>
            <a:ext cx="251460" cy="251460"/>
          </a:xfrm>
          <a:prstGeom prst="rect">
            <a:avLst/>
          </a:prstGeom>
        </p:spPr>
      </p:pic>
      <p:sp>
        <p:nvSpPr>
          <p:cNvPr id="21" name="Pitfall 4 heading"/>
          <p:cNvSpPr txBox="1"/>
          <p:nvPr/>
        </p:nvSpPr>
        <p:spPr>
          <a:xfrm>
            <a:off x="5532120" y="3081528"/>
            <a:ext cx="3017520" cy="365760"/>
          </a:xfrm>
          <a:prstGeom prst="rect">
            <a:avLst/>
          </a:prstGeom>
          <a:noFill/>
          <a:ln/>
        </p:spPr>
        <p:txBody>
          <a:bodyPr wrap="square" lIns="0" tIns="0" rIns="0" bIns="0" rtlCol="0" anchor="ctr"/>
          <a:lstStyle/>
          <a:p>
            <a:pPr indent="0" marL="0">
              <a:buNone/>
            </a:pPr>
            <a:r>
              <a:rPr lang="en-US" sz="1600" b="1" dirty="0">
                <a:solidFill>
                  <a:schemeClr val="tx2"/>
                </a:solidFill>
              </a:rPr>
              <a:t>Transporters and location</a:t>
            </a:r>
            <a:endParaRPr lang="en-US" sz="1600" dirty="0"/>
          </a:p>
        </p:txBody>
      </p:sp>
      <p:sp>
        <p:nvSpPr>
          <p:cNvPr id="22" name="Pitfall 4 text"/>
          <p:cNvSpPr txBox="1"/>
          <p:nvPr/>
        </p:nvSpPr>
        <p:spPr>
          <a:xfrm>
            <a:off x="5532120" y="3474720"/>
            <a:ext cx="3017520" cy="777240"/>
          </a:xfrm>
          <a:prstGeom prst="rect">
            <a:avLst/>
          </a:prstGeom>
          <a:noFill/>
          <a:ln/>
        </p:spPr>
        <p:txBody>
          <a:bodyPr wrap="square" lIns="0" tIns="0" rIns="0" bIns="0" rtlCol="0" anchor="t"/>
          <a:lstStyle/>
          <a:p>
            <a:pPr indent="0" marL="0">
              <a:buNone/>
            </a:pPr>
            <a:r>
              <a:rPr lang="en-US" sz="1400" dirty="0">
                <a:solidFill>
                  <a:schemeClr val="tx1"/>
                </a:solidFill>
              </a:rPr>
              <a:t>The weakest annotations: substrate, mechanism and compartment are often guesses.</a:t>
            </a:r>
            <a:endParaRPr lang="en-US" sz="14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400" b="1" dirty="0">
                <a:solidFill>
                  <a:schemeClr val="tx2"/>
                </a:solidFill>
              </a:rPr>
              <a:t>When sequence similarity fades</a:t>
            </a:r>
            <a:endParaRPr lang="en-US" sz="3400" dirty="0"/>
          </a:p>
        </p:txBody>
      </p:sp>
      <p:sp>
        <p:nvSpPr>
          <p:cNvPr id="3" name="Thresholds card"/>
          <p:cNvSpPr/>
          <p:nvPr/>
        </p:nvSpPr>
        <p:spPr>
          <a:xfrm>
            <a:off x="457200" y="1188720"/>
            <a:ext cx="3931920" cy="3246120"/>
          </a:xfrm>
          <a:prstGeom prst="roundRect">
            <a:avLst>
              <a:gd name="adj" fmla="val 2254"/>
            </a:avLst>
          </a:prstGeom>
          <a:solidFill>
            <a:schemeClr val="bg2"/>
          </a:solidFill>
          <a:ln/>
        </p:spPr>
      </p:sp>
      <p:sp>
        <p:nvSpPr>
          <p:cNvPr id="4" name="Thresholds heading"/>
          <p:cNvSpPr txBox="1"/>
          <p:nvPr/>
        </p:nvSpPr>
        <p:spPr>
          <a:xfrm>
            <a:off x="685800" y="1325880"/>
            <a:ext cx="3566160" cy="365760"/>
          </a:xfrm>
          <a:prstGeom prst="rect">
            <a:avLst/>
          </a:prstGeom>
          <a:noFill/>
          <a:ln/>
        </p:spPr>
        <p:txBody>
          <a:bodyPr wrap="square" lIns="0" tIns="0" rIns="0" bIns="0" rtlCol="0" anchor="ctr"/>
          <a:lstStyle/>
          <a:p>
            <a:pPr indent="0" marL="0">
              <a:buNone/>
            </a:pPr>
            <a:r>
              <a:rPr lang="en-US" sz="1600" b="1" dirty="0">
                <a:solidFill>
                  <a:schemeClr val="tx2"/>
                </a:solidFill>
              </a:rPr>
              <a:t>Rules of thumb for trusting a hit</a:t>
            </a:r>
            <a:endParaRPr lang="en-US" sz="1600" dirty="0"/>
          </a:p>
        </p:txBody>
      </p:sp>
      <p:sp>
        <p:nvSpPr>
          <p:cNvPr id="5" name="Threshold 1 name"/>
          <p:cNvSpPr txBox="1"/>
          <p:nvPr/>
        </p:nvSpPr>
        <p:spPr>
          <a:xfrm>
            <a:off x="777240" y="1828800"/>
            <a:ext cx="1645920" cy="365760"/>
          </a:xfrm>
          <a:prstGeom prst="rect">
            <a:avLst/>
          </a:prstGeom>
          <a:noFill/>
          <a:ln/>
        </p:spPr>
        <p:txBody>
          <a:bodyPr wrap="square" lIns="0" tIns="0" rIns="0" bIns="0" rtlCol="0" anchor="ctr"/>
          <a:lstStyle/>
          <a:p>
            <a:pPr indent="0" marL="0">
              <a:buNone/>
            </a:pPr>
            <a:r>
              <a:rPr lang="en-US" sz="1500" dirty="0">
                <a:solidFill>
                  <a:schemeClr val="tx1"/>
                </a:solidFill>
              </a:rPr>
              <a:t>e-value</a:t>
            </a:r>
            <a:endParaRPr lang="en-US" sz="1500" dirty="0"/>
          </a:p>
        </p:txBody>
      </p:sp>
      <p:sp>
        <p:nvSpPr>
          <p:cNvPr id="6" name="Threshold 1 value"/>
          <p:cNvSpPr txBox="1"/>
          <p:nvPr/>
        </p:nvSpPr>
        <p:spPr>
          <a:xfrm>
            <a:off x="2468880" y="1828800"/>
            <a:ext cx="1645920" cy="365760"/>
          </a:xfrm>
          <a:prstGeom prst="rect">
            <a:avLst/>
          </a:prstGeom>
          <a:noFill/>
          <a:ln/>
        </p:spPr>
        <p:txBody>
          <a:bodyPr wrap="square" lIns="0" tIns="0" rIns="0" bIns="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&lt; 1e-20</a:t>
            </a:r>
            <a:endParaRPr lang="en-US" sz="1500" dirty="0"/>
          </a:p>
        </p:txBody>
      </p:sp>
      <p:sp>
        <p:nvSpPr>
          <p:cNvPr id="7" name="Threshold 2 name"/>
          <p:cNvSpPr txBox="1"/>
          <p:nvPr/>
        </p:nvSpPr>
        <p:spPr>
          <a:xfrm>
            <a:off x="777240" y="2240280"/>
            <a:ext cx="1645920" cy="365760"/>
          </a:xfrm>
          <a:prstGeom prst="rect">
            <a:avLst/>
          </a:prstGeom>
          <a:noFill/>
          <a:ln/>
        </p:spPr>
        <p:txBody>
          <a:bodyPr wrap="square" lIns="0" tIns="0" rIns="0" bIns="0" rtlCol="0" anchor="ctr"/>
          <a:lstStyle/>
          <a:p>
            <a:pPr indent="0" marL="0">
              <a:buNone/>
            </a:pPr>
            <a:r>
              <a:rPr lang="en-US" sz="1500" dirty="0">
                <a:solidFill>
                  <a:schemeClr val="tx1"/>
                </a:solidFill>
              </a:rPr>
              <a:t>identity</a:t>
            </a:r>
            <a:endParaRPr lang="en-US" sz="1500" dirty="0"/>
          </a:p>
        </p:txBody>
      </p:sp>
      <p:sp>
        <p:nvSpPr>
          <p:cNvPr id="8" name="Threshold 2 value"/>
          <p:cNvSpPr txBox="1"/>
          <p:nvPr/>
        </p:nvSpPr>
        <p:spPr>
          <a:xfrm>
            <a:off x="2468880" y="2240280"/>
            <a:ext cx="1645920" cy="365760"/>
          </a:xfrm>
          <a:prstGeom prst="rect">
            <a:avLst/>
          </a:prstGeom>
          <a:noFill/>
          <a:ln/>
        </p:spPr>
        <p:txBody>
          <a:bodyPr wrap="square" lIns="0" tIns="0" rIns="0" bIns="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&gt; 30 %</a:t>
            </a:r>
            <a:endParaRPr lang="en-US" sz="1500" dirty="0"/>
          </a:p>
        </p:txBody>
      </p:sp>
      <p:sp>
        <p:nvSpPr>
          <p:cNvPr id="9" name="Threshold 3 name"/>
          <p:cNvSpPr txBox="1"/>
          <p:nvPr/>
        </p:nvSpPr>
        <p:spPr>
          <a:xfrm>
            <a:off x="777240" y="2651760"/>
            <a:ext cx="1645920" cy="365760"/>
          </a:xfrm>
          <a:prstGeom prst="rect">
            <a:avLst/>
          </a:prstGeom>
          <a:noFill/>
          <a:ln/>
        </p:spPr>
        <p:txBody>
          <a:bodyPr wrap="square" lIns="0" tIns="0" rIns="0" bIns="0" rtlCol="0" anchor="ctr"/>
          <a:lstStyle/>
          <a:p>
            <a:pPr indent="0" marL="0">
              <a:buNone/>
            </a:pPr>
            <a:r>
              <a:rPr lang="en-US" sz="1500" dirty="0">
                <a:solidFill>
                  <a:schemeClr val="tx1"/>
                </a:solidFill>
              </a:rPr>
              <a:t>coverage</a:t>
            </a:r>
            <a:endParaRPr lang="en-US" sz="1500" dirty="0"/>
          </a:p>
        </p:txBody>
      </p:sp>
      <p:sp>
        <p:nvSpPr>
          <p:cNvPr id="10" name="Threshold 3 value"/>
          <p:cNvSpPr txBox="1"/>
          <p:nvPr/>
        </p:nvSpPr>
        <p:spPr>
          <a:xfrm>
            <a:off x="2468880" y="2651760"/>
            <a:ext cx="1645920" cy="365760"/>
          </a:xfrm>
          <a:prstGeom prst="rect">
            <a:avLst/>
          </a:prstGeom>
          <a:noFill/>
          <a:ln/>
        </p:spPr>
        <p:txBody>
          <a:bodyPr wrap="square" lIns="0" tIns="0" rIns="0" bIns="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&gt; 50 %</a:t>
            </a:r>
            <a:endParaRPr lang="en-US" sz="1500" dirty="0"/>
          </a:p>
        </p:txBody>
      </p:sp>
      <p:sp>
        <p:nvSpPr>
          <p:cNvPr id="11" name="Threshold 4 name"/>
          <p:cNvSpPr txBox="1"/>
          <p:nvPr/>
        </p:nvSpPr>
        <p:spPr>
          <a:xfrm>
            <a:off x="777240" y="3063240"/>
            <a:ext cx="1645920" cy="365760"/>
          </a:xfrm>
          <a:prstGeom prst="rect">
            <a:avLst/>
          </a:prstGeom>
          <a:noFill/>
          <a:ln/>
        </p:spPr>
        <p:txBody>
          <a:bodyPr wrap="square" lIns="0" tIns="0" rIns="0" bIns="0" rtlCol="0" anchor="ctr"/>
          <a:lstStyle/>
          <a:p>
            <a:pPr indent="0" marL="0">
              <a:buNone/>
            </a:pPr>
            <a:r>
              <a:rPr lang="en-US" sz="1500" dirty="0">
                <a:solidFill>
                  <a:schemeClr val="tx1"/>
                </a:solidFill>
              </a:rPr>
              <a:t>bit score</a:t>
            </a:r>
            <a:endParaRPr lang="en-US" sz="1500" dirty="0"/>
          </a:p>
        </p:txBody>
      </p:sp>
      <p:sp>
        <p:nvSpPr>
          <p:cNvPr id="12" name="Threshold 4 value"/>
          <p:cNvSpPr txBox="1"/>
          <p:nvPr/>
        </p:nvSpPr>
        <p:spPr>
          <a:xfrm>
            <a:off x="2468880" y="3063240"/>
            <a:ext cx="1645920" cy="365760"/>
          </a:xfrm>
          <a:prstGeom prst="rect">
            <a:avLst/>
          </a:prstGeom>
          <a:noFill/>
          <a:ln/>
        </p:spPr>
        <p:txBody>
          <a:bodyPr wrap="square" lIns="0" tIns="0" rIns="0" bIns="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&gt; 60</a:t>
            </a:r>
            <a:endParaRPr lang="en-US" sz="1500" dirty="0"/>
          </a:p>
        </p:txBody>
      </p:sp>
      <p:sp>
        <p:nvSpPr>
          <p:cNvPr id="13" name="Thresholds note"/>
          <p:cNvSpPr txBox="1"/>
          <p:nvPr/>
        </p:nvSpPr>
        <p:spPr>
          <a:xfrm>
            <a:off x="685800" y="3566160"/>
            <a:ext cx="3520440" cy="731520"/>
          </a:xfrm>
          <a:prstGeom prst="rect">
            <a:avLst/>
          </a:prstGeom>
          <a:noFill/>
          <a:ln/>
        </p:spPr>
        <p:txBody>
          <a:bodyPr wrap="square" lIns="0" tIns="0" rIns="0" bIns="0" rtlCol="0" anchor="t"/>
          <a:lstStyle/>
          <a:p>
            <a:pPr indent="0" marL="0">
              <a:buNone/>
            </a:pPr>
            <a:r>
              <a:rPr lang="en-US" sz="1400" i="1" dirty="0">
                <a:solidFill>
                  <a:schemeClr val="accent3"/>
                </a:solidFill>
              </a:rPr>
              <a:t>Below about 30 % identity, sequence alone struggles to tell real relatives from chance.</a:t>
            </a:r>
            <a:endParaRPr lang="en-US" sz="1400" dirty="0"/>
          </a:p>
        </p:txBody>
      </p:sp>
      <p:sp>
        <p:nvSpPr>
          <p:cNvPr id="14" name="Structure card"/>
          <p:cNvSpPr/>
          <p:nvPr/>
        </p:nvSpPr>
        <p:spPr>
          <a:xfrm>
            <a:off x="4754880" y="1188720"/>
            <a:ext cx="3931920" cy="3246120"/>
          </a:xfrm>
          <a:prstGeom prst="roundRect">
            <a:avLst>
              <a:gd name="adj" fmla="val 2254"/>
            </a:avLst>
          </a:prstGeom>
          <a:solidFill>
            <a:schemeClr val="tx2"/>
          </a:solidFill>
          <a:ln/>
        </p:spPr>
      </p:sp>
      <p:sp>
        <p:nvSpPr>
          <p:cNvPr id="15" name="Structure node"/>
          <p:cNvSpPr/>
          <p:nvPr/>
        </p:nvSpPr>
        <p:spPr>
          <a:xfrm>
            <a:off x="4983480" y="1371600"/>
            <a:ext cx="502920" cy="502920"/>
          </a:xfrm>
          <a:prstGeom prst="ellipse">
            <a:avLst/>
          </a:prstGeom>
          <a:solidFill>
            <a:schemeClr val="accent2"/>
          </a:solidFill>
          <a:ln/>
        </p:spPr>
      </p:sp>
      <p:pic>
        <p:nvPicPr>
          <p:cNvPr id="16" name="Structure icon" descr="preencoded.png">    </p:cNvPr>
          <p:cNvPicPr>
            <a:picLocks noChangeAspect="1"/>
          </p:cNvPicPr>
          <p:nvPr/>
        </p:nvPicPr>
        <p:blipFill>
          <a:blip r:embed="rId1"/>
          <a:stretch>
            <a:fillRect/>
          </a:stretch>
        </p:blipFill>
        <p:spPr>
          <a:xfrm>
            <a:off x="5109210" y="1497330"/>
            <a:ext cx="251460" cy="251460"/>
          </a:xfrm>
          <a:prstGeom prst="rect">
            <a:avLst/>
          </a:prstGeom>
        </p:spPr>
      </p:pic>
      <p:sp>
        <p:nvSpPr>
          <p:cNvPr id="17" name="Structure heading"/>
          <p:cNvSpPr txBox="1"/>
          <p:nvPr/>
        </p:nvSpPr>
        <p:spPr>
          <a:xfrm>
            <a:off x="5623560" y="1325880"/>
            <a:ext cx="2926080" cy="640080"/>
          </a:xfrm>
          <a:prstGeom prst="rect">
            <a:avLst/>
          </a:prstGeom>
          <a:noFill/>
          <a:ln/>
        </p:spPr>
        <p:txBody>
          <a:bodyPr wrap="square" lIns="0" tIns="0" rIns="0" bIns="0" rtlCol="0" anchor="ctr"/>
          <a:lstStyle/>
          <a:p>
            <a:pPr indent="0" marL="0">
              <a:buNone/>
            </a:pPr>
            <a:r>
              <a:rPr lang="en-US" sz="1500" b="1" dirty="0">
                <a:solidFill>
                  <a:schemeClr val="bg1"/>
                </a:solidFill>
              </a:rPr>
              <a:t>Structure is conserved long after sequence has diverged</a:t>
            </a:r>
            <a:endParaRPr lang="en-US" sz="1500" dirty="0"/>
          </a:p>
        </p:txBody>
      </p:sp>
      <p:sp>
        <p:nvSpPr>
          <p:cNvPr id="18" name="AFDB stat"/>
          <p:cNvSpPr txBox="1"/>
          <p:nvPr/>
        </p:nvSpPr>
        <p:spPr>
          <a:xfrm>
            <a:off x="5029200" y="2103120"/>
            <a:ext cx="3474720" cy="502920"/>
          </a:xfrm>
          <a:prstGeom prst="rect">
            <a:avLst/>
          </a:prstGeom>
          <a:noFill/>
          <a:ln/>
        </p:spPr>
        <p:txBody>
          <a:bodyPr wrap="square" lIns="0" tIns="0" rIns="0" bIns="0" rtlCol="0" anchor="ctr"/>
          <a:lstStyle/>
          <a:p>
            <a:pPr indent="0" marL="0">
              <a:buNone/>
            </a:pPr>
            <a:r>
              <a:rPr lang="en-US" sz="3000" b="1" dirty="0">
                <a:solidFill>
                  <a:schemeClr val="accent2"/>
                </a:solidFill>
                <a:latin typeface="+mj-lt" pitchFamily="34" charset="0"/>
                <a:ea typeface="+mj-lt" pitchFamily="34" charset="-122"/>
                <a:cs typeface="+mj-lt" pitchFamily="34" charset="-120"/>
              </a:rPr>
              <a:t>200 million+</a:t>
            </a:r>
            <a:endParaRPr lang="en-US" sz="3000" dirty="0"/>
          </a:p>
        </p:txBody>
      </p:sp>
      <p:sp>
        <p:nvSpPr>
          <p:cNvPr id="19" name="AFDB label"/>
          <p:cNvSpPr txBox="1"/>
          <p:nvPr/>
        </p:nvSpPr>
        <p:spPr>
          <a:xfrm>
            <a:off x="5029200" y="2606040"/>
            <a:ext cx="3474720" cy="457200"/>
          </a:xfrm>
          <a:prstGeom prst="rect">
            <a:avLst/>
          </a:prstGeom>
          <a:noFill/>
          <a:ln/>
        </p:spPr>
        <p:txBody>
          <a:bodyPr wrap="square" lIns="0" tIns="0" rIns="0" bIns="0" rtlCol="0" anchor="t"/>
          <a:lstStyle/>
          <a:p>
            <a:pPr indent="0" marL="0">
              <a:buNone/>
            </a:pPr>
            <a:r>
              <a:rPr lang="en-US" sz="1400" dirty="0">
                <a:solidFill>
                  <a:schemeClr val="accent4"/>
                </a:solidFill>
              </a:rPr>
              <a:t>predicted protein structures in the AlphaFold Database</a:t>
            </a:r>
            <a:endParaRPr lang="en-US" sz="1400" dirty="0"/>
          </a:p>
        </p:txBody>
      </p:sp>
      <p:sp>
        <p:nvSpPr>
          <p:cNvPr id="20" name="Structure text"/>
          <p:cNvSpPr txBox="1"/>
          <p:nvPr/>
        </p:nvSpPr>
        <p:spPr>
          <a:xfrm>
            <a:off x="5029200" y="3200400"/>
            <a:ext cx="3474720" cy="1097280"/>
          </a:xfrm>
          <a:prstGeom prst="rect">
            <a:avLst/>
          </a:prstGeom>
          <a:noFill/>
          <a:ln/>
        </p:spPr>
        <p:txBody>
          <a:bodyPr wrap="square" lIns="0" tIns="0" rIns="0" bIns="0" rtlCol="0" anchor="t"/>
          <a:lstStyle/>
          <a:p>
            <a:pPr indent="0" marL="0">
              <a:buNone/>
            </a:pPr>
            <a:r>
              <a:rPr lang="en-US" sz="1400" dirty="0">
                <a:solidFill>
                  <a:schemeClr val="bg1"/>
                </a:solidFill>
              </a:rPr>
              <a:t>Foldseek searches structures fast enough for whole proteomes: structure-based homology becomes practical. That is the idea behind AlphaGEM (section 5).</a:t>
            </a:r>
            <a:endParaRPr lang="en-US" sz="14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914400"/>
            <a:ext cx="2286000" cy="1188720"/>
          </a:xfrm>
          <a:prstGeom prst="rect">
            <a:avLst/>
          </a:prstGeom>
          <a:noFill/>
          <a:ln/>
        </p:spPr>
        <p:txBody>
          <a:bodyPr wrap="square" lIns="0" tIns="0" rIns="0" bIns="0" rtlCol="0" anchor="b"/>
          <a:lstStyle/>
          <a:p>
            <a:pPr indent="0" marL="0">
              <a:buNone/>
            </a:pPr>
            <a:r>
              <a:rPr lang="en-US" sz="8000" b="1" dirty="0">
                <a:solidFill>
                  <a:schemeClr val="accent2"/>
                </a:solidFill>
                <a:latin typeface="+mj-lt" pitchFamily="34" charset="0"/>
                <a:ea typeface="+mj-lt" pitchFamily="34" charset="-122"/>
                <a:cs typeface="+mj-lt" pitchFamily="34" charset="-120"/>
              </a:rPr>
              <a:t>2</a:t>
            </a:r>
            <a:endParaRPr lang="en-US" sz="8000" dirty="0"/>
          </a:p>
        </p:txBody>
      </p:sp>
      <p:sp>
        <p:nvSpPr>
          <p:cNvPr id="3" name="Text 0"/>
          <p:cNvSpPr/>
          <p:nvPr>
            <p:ph idx="101" type="title" hasCustomPrompt="1"/>
          </p:nvPr>
        </p:nvSpPr>
        <p:spPr>
          <a:xfrm>
            <a:off x="548640" y="2240280"/>
            <a:ext cx="5486400" cy="777240"/>
          </a:xfrm>
          <a:prstGeom prst="rect">
            <a:avLst/>
          </a:prstGeom>
          <a:noFill/>
          <a:ln/>
        </p:spPr>
        <p:txBody>
          <a:bodyPr wrap="square" lIns="0" tIns="0" rIns="0" bIns="0" rtlCol="0" anchor="t"/>
          <a:lstStyle/>
          <a:p>
            <a:pPr algn="l" indent="0" marL="0">
              <a:buNone/>
            </a:pPr>
            <a:r>
              <a:rPr lang="en-US" sz="3200" b="1" dirty="0">
                <a:solidFill>
                  <a:schemeClr val="bg1"/>
                </a:solidFill>
              </a:rPr>
              <a:t>Drafting the network</a:t>
            </a:r>
            <a:endParaRPr lang="en-US" sz="3200" dirty="0"/>
          </a:p>
        </p:txBody>
      </p:sp>
      <p:sp>
        <p:nvSpPr>
          <p:cNvPr id="4" name="Text 0"/>
          <p:cNvSpPr/>
          <p:nvPr>
            <p:ph idx="102" type="body" hasCustomPrompt="1"/>
          </p:nvPr>
        </p:nvSpPr>
        <p:spPr>
          <a:xfrm>
            <a:off x="548640" y="3063240"/>
            <a:ext cx="5394960" cy="548640"/>
          </a:xfrm>
          <a:prstGeom prst="rect">
            <a:avLst/>
          </a:prstGeom>
          <a:noFill/>
          <a:ln/>
        </p:spPr>
        <p:txBody>
          <a:bodyPr wrap="square" lIns="0" tIns="0" rIns="0" bIns="0" rtlCol="0" anchor="t"/>
          <a:lstStyle/>
          <a:p>
            <a:pPr indent="0" marL="0">
              <a:buNone/>
            </a:pPr>
            <a:r>
              <a:rPr lang="en-US" sz="2000" i="1" dirty="0">
                <a:solidFill>
                  <a:schemeClr val="accent4"/>
                </a:solidFill>
              </a:rPr>
              <a:t>Which reactions, which genes?</a:t>
            </a:r>
            <a:endParaRPr lang="en-US" sz="2000" dirty="0"/>
          </a:p>
        </p:txBody>
      </p:sp>
      <p:sp>
        <p:nvSpPr>
          <p:cNvPr id="5" name="Divider 2 edge AC"/>
          <p:cNvSpPr/>
          <p:nvPr/>
        </p:nvSpPr>
        <p:spPr>
          <a:xfrm>
            <a:off x="6455061" y="1456625"/>
            <a:ext cx="333297" cy="435850"/>
          </a:xfrm>
          <a:prstGeom prst="line">
            <a:avLst/>
          </a:prstGeom>
          <a:noFill/>
          <a:ln w="15875">
            <a:solidFill>
              <a:schemeClr val="accent4"/>
            </a:solidFill>
            <a:prstDash val="solid"/>
            <a:tailEnd type="triangle"/>
          </a:ln>
        </p:spPr>
      </p:sp>
      <p:sp>
        <p:nvSpPr>
          <p:cNvPr id="6" name="Divider 2 edge BD"/>
          <p:cNvSpPr/>
          <p:nvPr/>
        </p:nvSpPr>
        <p:spPr>
          <a:xfrm>
            <a:off x="7598612" y="1235407"/>
            <a:ext cx="530456" cy="500987"/>
          </a:xfrm>
          <a:prstGeom prst="line">
            <a:avLst/>
          </a:prstGeom>
          <a:noFill/>
          <a:ln w="15875">
            <a:solidFill>
              <a:schemeClr val="accent4"/>
            </a:solidFill>
            <a:prstDash val="solid"/>
            <a:tailEnd type="triangle"/>
          </a:ln>
        </p:spPr>
      </p:sp>
      <p:sp>
        <p:nvSpPr>
          <p:cNvPr id="7" name="Divider 2 edge CD"/>
          <p:cNvSpPr/>
          <p:nvPr/>
        </p:nvSpPr>
        <p:spPr>
          <a:xfrm flipV="1">
            <a:off x="7192738" y="1908700"/>
            <a:ext cx="884339" cy="152472"/>
          </a:xfrm>
          <a:prstGeom prst="line">
            <a:avLst/>
          </a:prstGeom>
          <a:noFill/>
          <a:ln w="15875">
            <a:solidFill>
              <a:schemeClr val="accent4"/>
            </a:solidFill>
            <a:prstDash val="solid"/>
            <a:tailEnd type="triangle"/>
          </a:ln>
        </p:spPr>
      </p:sp>
      <p:sp>
        <p:nvSpPr>
          <p:cNvPr id="8" name="Divider 2 edge DE"/>
          <p:cNvSpPr/>
          <p:nvPr/>
        </p:nvSpPr>
        <p:spPr>
          <a:xfrm flipH="1">
            <a:off x="7837092" y="2038093"/>
            <a:ext cx="356442" cy="712884"/>
          </a:xfrm>
          <a:prstGeom prst="line">
            <a:avLst/>
          </a:prstGeom>
          <a:noFill/>
          <a:ln w="15875">
            <a:solidFill>
              <a:schemeClr val="accent4"/>
            </a:solidFill>
            <a:prstDash val="solid"/>
            <a:tailEnd type="triangle"/>
          </a:ln>
        </p:spPr>
      </p:sp>
      <p:sp>
        <p:nvSpPr>
          <p:cNvPr id="9" name="Divider 2 edge CF"/>
          <p:cNvSpPr/>
          <p:nvPr/>
        </p:nvSpPr>
        <p:spPr>
          <a:xfrm flipH="1">
            <a:off x="6529370" y="2325846"/>
            <a:ext cx="313549" cy="655602"/>
          </a:xfrm>
          <a:prstGeom prst="line">
            <a:avLst/>
          </a:prstGeom>
          <a:noFill/>
          <a:ln w="15875">
            <a:solidFill>
              <a:schemeClr val="accent4"/>
            </a:solidFill>
            <a:prstDash val="solid"/>
            <a:tailEnd type="triangle"/>
          </a:ln>
        </p:spPr>
      </p:sp>
      <p:sp>
        <p:nvSpPr>
          <p:cNvPr id="10" name="Divider 2 edge FH"/>
          <p:cNvSpPr/>
          <p:nvPr/>
        </p:nvSpPr>
        <p:spPr>
          <a:xfrm>
            <a:off x="6561467" y="3284954"/>
            <a:ext cx="455905" cy="516692"/>
          </a:xfrm>
          <a:prstGeom prst="line">
            <a:avLst/>
          </a:prstGeom>
          <a:noFill/>
          <a:ln w="15875">
            <a:solidFill>
              <a:schemeClr val="accent4"/>
            </a:solidFill>
            <a:prstDash val="solid"/>
            <a:tailEnd type="triangle"/>
          </a:ln>
        </p:spPr>
      </p:sp>
      <p:sp>
        <p:nvSpPr>
          <p:cNvPr id="11" name="Divider 2 edge EH"/>
          <p:cNvSpPr/>
          <p:nvPr/>
        </p:nvSpPr>
        <p:spPr>
          <a:xfrm flipH="1">
            <a:off x="7223767" y="3166171"/>
            <a:ext cx="382589" cy="618028"/>
          </a:xfrm>
          <a:prstGeom prst="line">
            <a:avLst/>
          </a:prstGeom>
          <a:noFill/>
          <a:ln w="15875">
            <a:solidFill>
              <a:schemeClr val="accent4"/>
            </a:solidFill>
            <a:prstDash val="solid"/>
            <a:tailEnd type="triangle"/>
          </a:ln>
        </p:spPr>
      </p:sp>
      <p:sp>
        <p:nvSpPr>
          <p:cNvPr id="12" name="Divider 2 edge DG"/>
          <p:cNvSpPr/>
          <p:nvPr/>
        </p:nvSpPr>
        <p:spPr>
          <a:xfrm>
            <a:off x="8307102" y="2054617"/>
            <a:ext cx="202811" cy="1149261"/>
          </a:xfrm>
          <a:prstGeom prst="line">
            <a:avLst/>
          </a:prstGeom>
          <a:noFill/>
          <a:ln w="15875">
            <a:solidFill>
              <a:schemeClr val="accent4"/>
            </a:solidFill>
            <a:prstDash val="solid"/>
            <a:tailEnd type="triangle"/>
          </a:ln>
        </p:spPr>
      </p:sp>
      <p:sp>
        <p:nvSpPr>
          <p:cNvPr id="13" name="Divider 2 flux BC"/>
          <p:cNvSpPr/>
          <p:nvPr/>
        </p:nvSpPr>
        <p:spPr>
          <a:xfrm flipH="1">
            <a:off x="7068030" y="1277210"/>
            <a:ext cx="294365" cy="588729"/>
          </a:xfrm>
          <a:prstGeom prst="line">
            <a:avLst/>
          </a:prstGeom>
          <a:noFill/>
          <a:ln w="31750">
            <a:solidFill>
              <a:schemeClr val="accent2"/>
            </a:solidFill>
            <a:prstDash val="solid"/>
            <a:tailEnd type="triangle"/>
          </a:ln>
        </p:spPr>
      </p:sp>
      <p:sp>
        <p:nvSpPr>
          <p:cNvPr id="14" name="Divider 2 flux CE"/>
          <p:cNvSpPr/>
          <p:nvPr/>
        </p:nvSpPr>
        <p:spPr>
          <a:xfrm>
            <a:off x="7114064" y="2287111"/>
            <a:ext cx="447993" cy="500698"/>
          </a:xfrm>
          <a:prstGeom prst="line">
            <a:avLst/>
          </a:prstGeom>
          <a:noFill/>
          <a:ln w="31750">
            <a:solidFill>
              <a:schemeClr val="accent2"/>
            </a:solidFill>
            <a:prstDash val="solid"/>
            <a:tailEnd type="triangle"/>
          </a:ln>
        </p:spPr>
      </p:sp>
      <p:sp>
        <p:nvSpPr>
          <p:cNvPr id="15" name="Divider 2 flux EG"/>
          <p:cNvSpPr/>
          <p:nvPr/>
        </p:nvSpPr>
        <p:spPr>
          <a:xfrm>
            <a:off x="7926512" y="3082818"/>
            <a:ext cx="423295" cy="235164"/>
          </a:xfrm>
          <a:prstGeom prst="line">
            <a:avLst/>
          </a:prstGeom>
          <a:noFill/>
          <a:ln w="31750">
            <a:solidFill>
              <a:schemeClr val="accent2"/>
            </a:solidFill>
            <a:prstDash val="solid"/>
            <a:tailEnd type="triangle"/>
          </a:ln>
        </p:spPr>
      </p:sp>
      <p:sp>
        <p:nvSpPr>
          <p:cNvPr id="16" name="Divider 2 node A"/>
          <p:cNvSpPr/>
          <p:nvPr/>
        </p:nvSpPr>
        <p:spPr>
          <a:xfrm>
            <a:off x="6236208" y="1207008"/>
            <a:ext cx="237744" cy="237744"/>
          </a:xfrm>
          <a:prstGeom prst="ellipse">
            <a:avLst/>
          </a:prstGeom>
          <a:solidFill>
            <a:schemeClr val="accent1"/>
          </a:solidFill>
          <a:ln/>
        </p:spPr>
      </p:sp>
      <p:sp>
        <p:nvSpPr>
          <p:cNvPr id="17" name="Divider 2 node B"/>
          <p:cNvSpPr/>
          <p:nvPr/>
        </p:nvSpPr>
        <p:spPr>
          <a:xfrm>
            <a:off x="7296912" y="941832"/>
            <a:ext cx="310896" cy="310896"/>
          </a:xfrm>
          <a:prstGeom prst="ellipse">
            <a:avLst/>
          </a:prstGeom>
          <a:solidFill>
            <a:schemeClr val="accent2"/>
          </a:solidFill>
          <a:ln/>
        </p:spPr>
      </p:sp>
      <p:sp>
        <p:nvSpPr>
          <p:cNvPr id="18" name="Divider 2 node C"/>
          <p:cNvSpPr/>
          <p:nvPr/>
        </p:nvSpPr>
        <p:spPr>
          <a:xfrm>
            <a:off x="6748272" y="1901952"/>
            <a:ext cx="402336" cy="402336"/>
          </a:xfrm>
          <a:prstGeom prst="ellipse">
            <a:avLst/>
          </a:prstGeom>
          <a:solidFill>
            <a:schemeClr val="accent2"/>
          </a:solidFill>
          <a:ln/>
        </p:spPr>
      </p:sp>
      <p:sp>
        <p:nvSpPr>
          <p:cNvPr id="19" name="Divider 2 node D"/>
          <p:cNvSpPr/>
          <p:nvPr/>
        </p:nvSpPr>
        <p:spPr>
          <a:xfrm>
            <a:off x="8138160" y="1737360"/>
            <a:ext cx="274320" cy="274320"/>
          </a:xfrm>
          <a:prstGeom prst="ellipse">
            <a:avLst/>
          </a:prstGeom>
          <a:solidFill>
            <a:schemeClr val="accent1"/>
          </a:solidFill>
          <a:ln/>
        </p:spPr>
      </p:sp>
      <p:sp>
        <p:nvSpPr>
          <p:cNvPr id="20" name="Divider 2 node E"/>
          <p:cNvSpPr/>
          <p:nvPr/>
        </p:nvSpPr>
        <p:spPr>
          <a:xfrm>
            <a:off x="7543800" y="2788920"/>
            <a:ext cx="365760" cy="365760"/>
          </a:xfrm>
          <a:prstGeom prst="ellipse">
            <a:avLst/>
          </a:prstGeom>
          <a:solidFill>
            <a:schemeClr val="accent2"/>
          </a:solidFill>
          <a:ln/>
        </p:spPr>
      </p:sp>
      <p:sp>
        <p:nvSpPr>
          <p:cNvPr id="21" name="Divider 2 node F"/>
          <p:cNvSpPr/>
          <p:nvPr/>
        </p:nvSpPr>
        <p:spPr>
          <a:xfrm>
            <a:off x="6318504" y="3026664"/>
            <a:ext cx="256032" cy="256032"/>
          </a:xfrm>
          <a:prstGeom prst="ellipse">
            <a:avLst/>
          </a:prstGeom>
          <a:solidFill>
            <a:schemeClr val="accent1"/>
          </a:solidFill>
          <a:ln/>
        </p:spPr>
      </p:sp>
      <p:sp>
        <p:nvSpPr>
          <p:cNvPr id="22" name="Divider 2 node G"/>
          <p:cNvSpPr/>
          <p:nvPr/>
        </p:nvSpPr>
        <p:spPr>
          <a:xfrm>
            <a:off x="8385048" y="3264408"/>
            <a:ext cx="329184" cy="329184"/>
          </a:xfrm>
          <a:prstGeom prst="ellipse">
            <a:avLst/>
          </a:prstGeom>
          <a:solidFill>
            <a:schemeClr val="accent2"/>
          </a:solidFill>
          <a:ln/>
        </p:spPr>
      </p:sp>
      <p:sp>
        <p:nvSpPr>
          <p:cNvPr id="23" name="Divider 2 node H"/>
          <p:cNvSpPr/>
          <p:nvPr/>
        </p:nvSpPr>
        <p:spPr>
          <a:xfrm>
            <a:off x="7022592" y="3822192"/>
            <a:ext cx="219456" cy="219456"/>
          </a:xfrm>
          <a:prstGeom prst="ellipse">
            <a:avLst/>
          </a:prstGeom>
          <a:solidFill>
            <a:schemeClr val="accent1"/>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400" b="1" dirty="0">
                <a:solidFill>
                  <a:schemeClr val="tx2"/>
                </a:solidFill>
              </a:rPr>
              <a:t>Databases speak different dialects</a:t>
            </a:r>
            <a:endParaRPr lang="en-US" sz="3400" dirty="0"/>
          </a:p>
        </p:txBody>
      </p:sp>
      <p:graphicFrame>
        <p:nvGraphicFramePr>
          <p:cNvPr id="10" name="Database tabl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463040"/>
                <a:gridCol w="1463040"/>
                <a:gridCol w="3108960"/>
                <a:gridCol w="2194560"/>
              </a:tblGrid>
              <a:tr h="384048">
                <a:tc>
                  <a:txBody>
                    <a:bodyPr/>
                    <a:lstStyle/>
                    <a:p>
                      <a:pPr indent="0" marL="0">
                        <a:buNone/>
                      </a:pPr>
                      <a:r>
                        <a:rPr lang="en-US" sz="1300" b="1" dirty="0">
                          <a:solidFill>
                            <a:schemeClr val="bg1"/>
                          </a:solidFill>
                        </a:rPr>
                        <a:t>Database</a:t>
                      </a:r>
                      <a:endParaRPr lang="en-US" sz="1300" dirty="0"/>
                    </a:p>
                  </a:txBody>
                  <a:tcPr marL="91440" marR="91440" marT="45720" marB="45720"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D-glucose is…</a:t>
                      </a:r>
                      <a:endParaRPr lang="en-US" sz="1300" dirty="0"/>
                    </a:p>
                  </a:txBody>
                  <a:tcPr marL="91440" marR="91440" marT="45720" marB="45720"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Strength</a:t>
                      </a:r>
                      <a:endParaRPr lang="en-US" sz="1300" dirty="0"/>
                    </a:p>
                  </a:txBody>
                  <a:tcPr marL="91440" marR="91440" marT="45720" marB="45720"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Used by</a:t>
                      </a:r>
                      <a:endParaRPr lang="en-US" sz="1300" dirty="0"/>
                    </a:p>
                  </a:txBody>
                  <a:tcPr marL="91440" marR="91440" marT="45720" marB="45720"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tx2"/>
                    </a:solidFill>
                  </a:tcPr>
                </a:tc>
              </a:tr>
              <a:tr h="384048">
                <a:tc>
                  <a:txBody>
                    <a:bodyPr/>
                    <a:lstStyle/>
                    <a:p>
                      <a:pPr indent="0" marL="0">
                        <a:buNone/>
                      </a:pPr>
                      <a:r>
                        <a:rPr lang="en-US" sz="1300" dirty="0">
                          <a:solidFill>
                            <a:schemeClr val="tx1"/>
                          </a:solidFill>
                        </a:rPr>
                        <a:t>BiGG</a:t>
                      </a:r>
                      <a:endParaRPr lang="en-US" sz="1300" dirty="0"/>
                    </a:p>
                  </a:txBody>
                  <a:tcPr marL="91440" marR="91440" marT="45720" marB="45720"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6"/>
                          </a:solidFill>
                          <a:latin typeface="Courier New" pitchFamily="34" charset="0"/>
                          <a:ea typeface="Courier New" pitchFamily="34" charset="-122"/>
                          <a:cs typeface="Courier New" pitchFamily="34" charset="-120"/>
                        </a:rPr>
                        <a:t>glc__D</a:t>
                      </a:r>
                      <a:endParaRPr lang="en-US" sz="1300" dirty="0">
                        <a:latin typeface="Courier New" charset="0"/>
                        <a:ea typeface="Courier New" charset="0"/>
                        <a:cs typeface="Courier New" charset="0"/>
                      </a:endParaRPr>
                    </a:p>
                  </a:txBody>
                  <a:tcPr marL="91440" marR="91440" marT="45720" marB="45720"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curated models, readable identifiers</a:t>
                      </a:r>
                      <a:endParaRPr lang="en-US" sz="1300" dirty="0"/>
                    </a:p>
                  </a:txBody>
                  <a:tcPr marL="91440" marR="91440" marT="45720" marB="45720"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CarveMe</a:t>
                      </a:r>
                      <a:endParaRPr lang="en-US" sz="1300" dirty="0"/>
                    </a:p>
                  </a:txBody>
                  <a:tcPr marL="91440" marR="91440" marT="45720" marB="45720"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r>
              <a:tr h="384048">
                <a:tc>
                  <a:txBody>
                    <a:bodyPr/>
                    <a:lstStyle/>
                    <a:p>
                      <a:pPr indent="0" marL="0">
                        <a:buNone/>
                      </a:pPr>
                      <a:r>
                        <a:rPr lang="en-US" sz="1300" dirty="0">
                          <a:solidFill>
                            <a:schemeClr val="tx1"/>
                          </a:solidFill>
                        </a:rPr>
                        <a:t>ModelSEED</a:t>
                      </a:r>
                      <a:endParaRPr lang="en-US" sz="1300" dirty="0"/>
                    </a:p>
                  </a:txBody>
                  <a:tcPr marL="91440" marR="91440" marT="45720" marB="45720"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indent="0" marL="0">
                        <a:buNone/>
                      </a:pPr>
                      <a:r>
                        <a:rPr lang="en-US" sz="1300" dirty="0">
                          <a:solidFill>
                            <a:schemeClr val="accent6"/>
                          </a:solidFill>
                          <a:latin typeface="Courier New" pitchFamily="34" charset="0"/>
                          <a:ea typeface="Courier New" pitchFamily="34" charset="-122"/>
                          <a:cs typeface="Courier New" pitchFamily="34" charset="-120"/>
                        </a:rPr>
                        <a:t>cpd00027</a:t>
                      </a:r>
                      <a:endParaRPr lang="en-US" sz="1300" dirty="0">
                        <a:latin typeface="Courier New" charset="0"/>
                        <a:ea typeface="Courier New" charset="0"/>
                        <a:cs typeface="Courier New" charset="0"/>
                      </a:endParaRPr>
                    </a:p>
                  </a:txBody>
                  <a:tcPr marL="91440" marR="91440" marT="45720" marB="45720"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large, internally consistent biochemistry</a:t>
                      </a:r>
                      <a:endParaRPr lang="en-US" sz="1300" dirty="0"/>
                    </a:p>
                  </a:txBody>
                  <a:tcPr marL="91440" marR="91440" marT="45720" marB="45720"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ModelSEED / KBase, gapseq</a:t>
                      </a:r>
                      <a:endParaRPr lang="en-US" sz="1300" dirty="0"/>
                    </a:p>
                  </a:txBody>
                  <a:tcPr marL="91440" marR="91440" marT="45720" marB="45720"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r>
              <a:tr h="384048">
                <a:tc>
                  <a:txBody>
                    <a:bodyPr/>
                    <a:lstStyle/>
                    <a:p>
                      <a:pPr indent="0" marL="0">
                        <a:buNone/>
                      </a:pPr>
                      <a:r>
                        <a:rPr lang="en-US" sz="1300" dirty="0">
                          <a:solidFill>
                            <a:schemeClr val="tx1"/>
                          </a:solidFill>
                        </a:rPr>
                        <a:t>KEGG</a:t>
                      </a:r>
                      <a:endParaRPr lang="en-US" sz="1300" dirty="0"/>
                    </a:p>
                  </a:txBody>
                  <a:tcPr marL="91440" marR="91440" marT="45720" marB="45720"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6"/>
                          </a:solidFill>
                          <a:latin typeface="Courier New" pitchFamily="34" charset="0"/>
                          <a:ea typeface="Courier New" pitchFamily="34" charset="-122"/>
                          <a:cs typeface="Courier New" pitchFamily="34" charset="-120"/>
                        </a:rPr>
                        <a:t>C00031</a:t>
                      </a:r>
                      <a:endParaRPr lang="en-US" sz="1300" dirty="0">
                        <a:latin typeface="Courier New" charset="0"/>
                        <a:ea typeface="Courier New" charset="0"/>
                        <a:cs typeface="Courier New" charset="0"/>
                      </a:endParaRPr>
                    </a:p>
                  </a:txBody>
                  <a:tcPr marL="91440" marR="91440" marT="45720" marB="45720"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pathway maps and orthologs (KO)</a:t>
                      </a:r>
                      <a:endParaRPr lang="en-US" sz="1300" dirty="0"/>
                    </a:p>
                  </a:txBody>
                  <a:tcPr marL="91440" marR="91440" marT="45720" marB="45720"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RAVEN, merlin</a:t>
                      </a:r>
                      <a:endParaRPr lang="en-US" sz="1300" dirty="0"/>
                    </a:p>
                  </a:txBody>
                  <a:tcPr marL="91440" marR="91440" marT="45720" marB="45720"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r>
              <a:tr h="384048">
                <a:tc>
                  <a:txBody>
                    <a:bodyPr/>
                    <a:lstStyle/>
                    <a:p>
                      <a:pPr indent="0" marL="0">
                        <a:buNone/>
                      </a:pPr>
                      <a:r>
                        <a:rPr lang="en-US" sz="1300" dirty="0">
                          <a:solidFill>
                            <a:schemeClr val="tx1"/>
                          </a:solidFill>
                        </a:rPr>
                        <a:t>MetaCyc</a:t>
                      </a:r>
                      <a:endParaRPr lang="en-US" sz="1300" dirty="0"/>
                    </a:p>
                  </a:txBody>
                  <a:tcPr marL="91440" marR="91440" marT="45720" marB="45720"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indent="0" marL="0">
                        <a:buNone/>
                      </a:pPr>
                      <a:r>
                        <a:rPr lang="en-US" sz="1300" dirty="0">
                          <a:solidFill>
                            <a:schemeClr val="accent6"/>
                          </a:solidFill>
                          <a:latin typeface="Courier New" pitchFamily="34" charset="0"/>
                          <a:ea typeface="Courier New" pitchFamily="34" charset="-122"/>
                          <a:cs typeface="Courier New" pitchFamily="34" charset="-120"/>
                        </a:rPr>
                        <a:t>–</a:t>
                      </a:r>
                      <a:endParaRPr lang="en-US" sz="1300" dirty="0">
                        <a:latin typeface="Courier New" charset="0"/>
                        <a:ea typeface="Courier New" charset="0"/>
                        <a:cs typeface="Courier New" charset="0"/>
                      </a:endParaRPr>
                    </a:p>
                  </a:txBody>
                  <a:tcPr marL="91440" marR="91440" marT="45720" marB="45720"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experimentally studied pathways</a:t>
                      </a:r>
                      <a:endParaRPr lang="en-US" sz="1300" dirty="0"/>
                    </a:p>
                  </a:txBody>
                  <a:tcPr marL="91440" marR="91440" marT="45720" marB="45720"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gapseq, Pathway Tools</a:t>
                      </a:r>
                      <a:endParaRPr lang="en-US" sz="1300" dirty="0"/>
                    </a:p>
                  </a:txBody>
                  <a:tcPr marL="91440" marR="91440" marT="45720" marB="45720"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r>
              <a:tr h="384048">
                <a:tc>
                  <a:txBody>
                    <a:bodyPr/>
                    <a:lstStyle/>
                    <a:p>
                      <a:pPr indent="0" marL="0">
                        <a:buNone/>
                      </a:pPr>
                      <a:r>
                        <a:rPr lang="en-US" sz="1300" dirty="0">
                          <a:solidFill>
                            <a:schemeClr val="tx1"/>
                          </a:solidFill>
                        </a:rPr>
                        <a:t>Rhea / ChEBI</a:t>
                      </a:r>
                      <a:endParaRPr lang="en-US" sz="1300" dirty="0"/>
                    </a:p>
                  </a:txBody>
                  <a:tcPr marL="91440" marR="91440" marT="45720" marB="45720"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6"/>
                          </a:solidFill>
                          <a:latin typeface="Courier New" pitchFamily="34" charset="0"/>
                          <a:ea typeface="Courier New" pitchFamily="34" charset="-122"/>
                          <a:cs typeface="Courier New" pitchFamily="34" charset="-120"/>
                        </a:rPr>
                        <a:t>CHEBI:17634</a:t>
                      </a:r>
                      <a:endParaRPr lang="en-US" sz="1300" dirty="0">
                        <a:latin typeface="Courier New" charset="0"/>
                        <a:ea typeface="Courier New" charset="0"/>
                        <a:cs typeface="Courier New" charset="0"/>
                      </a:endParaRPr>
                    </a:p>
                  </a:txBody>
                  <a:tcPr marL="91440" marR="91440" marT="45720" marB="45720"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expert-curated reactions, linked to UniProt</a:t>
                      </a:r>
                      <a:endParaRPr lang="en-US" sz="1300" dirty="0"/>
                    </a:p>
                  </a:txBody>
                  <a:tcPr marL="91440" marR="91440" marT="45720" marB="45720"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AlphaGEM (new reactions)</a:t>
                      </a:r>
                      <a:endParaRPr lang="en-US" sz="1300" dirty="0"/>
                    </a:p>
                  </a:txBody>
                  <a:tcPr marL="91440" marR="91440" marT="45720" marB="45720"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r>
            </a:tbl>
          </a:graphicData>
        </a:graphic>
      </p:graphicFrame>
      <p:sp>
        <p:nvSpPr>
          <p:cNvPr id="4" name="Namespace card"/>
          <p:cNvSpPr/>
          <p:nvPr/>
        </p:nvSpPr>
        <p:spPr>
          <a:xfrm>
            <a:off x="457200" y="3703320"/>
            <a:ext cx="8229600" cy="731520"/>
          </a:xfrm>
          <a:prstGeom prst="roundRect">
            <a:avLst>
              <a:gd name="adj" fmla="val 10000"/>
            </a:avLst>
          </a:prstGeom>
          <a:solidFill>
            <a:schemeClr val="bg2"/>
          </a:solidFill>
          <a:ln/>
        </p:spPr>
      </p:sp>
      <p:sp>
        <p:nvSpPr>
          <p:cNvPr id="5" name="Namespace node"/>
          <p:cNvSpPr/>
          <p:nvPr/>
        </p:nvSpPr>
        <p:spPr>
          <a:xfrm>
            <a:off x="658368" y="3840480"/>
            <a:ext cx="457200" cy="457200"/>
          </a:xfrm>
          <a:prstGeom prst="ellipse">
            <a:avLst/>
          </a:prstGeom>
          <a:solidFill>
            <a:schemeClr val="accent1"/>
          </a:solidFill>
          <a:ln/>
        </p:spPr>
      </p:sp>
      <p:pic>
        <p:nvPicPr>
          <p:cNvPr id="6" name="Namespace icon" descr="preencoded.png">    </p:cNvPr>
          <p:cNvPicPr>
            <a:picLocks noChangeAspect="1"/>
          </p:cNvPicPr>
          <p:nvPr/>
        </p:nvPicPr>
        <p:blipFill>
          <a:blip r:embed="rId1"/>
          <a:stretch>
            <a:fillRect/>
          </a:stretch>
        </p:blipFill>
        <p:spPr>
          <a:xfrm>
            <a:off x="772668" y="3954780"/>
            <a:ext cx="228600" cy="228600"/>
          </a:xfrm>
          <a:prstGeom prst="rect">
            <a:avLst/>
          </a:prstGeom>
        </p:spPr>
      </p:pic>
      <p:sp>
        <p:nvSpPr>
          <p:cNvPr id="7" name="Namespace text"/>
          <p:cNvSpPr txBox="1"/>
          <p:nvPr/>
        </p:nvSpPr>
        <p:spPr>
          <a:xfrm>
            <a:off x="1280160" y="3703320"/>
            <a:ext cx="7223760" cy="731520"/>
          </a:xfrm>
          <a:prstGeom prst="rect">
            <a:avLst/>
          </a:prstGeom>
          <a:noFill/>
          <a:ln/>
        </p:spPr>
        <p:txBody>
          <a:bodyPr wrap="square" lIns="0" tIns="0" rIns="0" bIns="0" rtlCol="0" anchor="ctr"/>
          <a:lstStyle/>
          <a:p>
            <a:pPr indent="0" marL="0">
              <a:buNone/>
            </a:pPr>
            <a:r>
              <a:rPr lang="en-US" sz="1500" b="1" dirty="0">
                <a:solidFill>
                  <a:schemeClr val="tx2"/>
                </a:solidFill>
              </a:rPr>
              <a:t>MetaNetX maps identifiers between namespaces, </a:t>
            </a:r>
            <a:pPr indent="0" marL="0">
              <a:buNone/>
            </a:pPr>
            <a:r>
              <a:rPr lang="en-US" sz="1500" dirty="0">
                <a:solidFill>
                  <a:schemeClr val="tx1"/>
                </a:solidFill>
              </a:rPr>
              <a:t>but mismatches remain a major source of errors when combining tools.</a:t>
            </a:r>
            <a:endParaRPr lang="en-US" sz="15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400" b="1" dirty="0">
                <a:solidFill>
                  <a:schemeClr val="tx2"/>
                </a:solidFill>
              </a:rPr>
              <a:t>Three ways to draft a network</a:t>
            </a:r>
            <a:endParaRPr lang="en-US" sz="3400" dirty="0"/>
          </a:p>
        </p:txBody>
      </p:sp>
      <p:sp>
        <p:nvSpPr>
          <p:cNvPr id="3" name="Strategy card 1"/>
          <p:cNvSpPr/>
          <p:nvPr/>
        </p:nvSpPr>
        <p:spPr>
          <a:xfrm>
            <a:off x="457200" y="1188720"/>
            <a:ext cx="2560320" cy="3291840"/>
          </a:xfrm>
          <a:prstGeom prst="roundRect">
            <a:avLst>
              <a:gd name="adj" fmla="val 2857"/>
            </a:avLst>
          </a:prstGeom>
          <a:solidFill>
            <a:schemeClr val="bg2"/>
          </a:solidFill>
          <a:ln/>
        </p:spPr>
      </p:sp>
      <p:sp>
        <p:nvSpPr>
          <p:cNvPr id="4" name="Strategy 1 node"/>
          <p:cNvSpPr/>
          <p:nvPr/>
        </p:nvSpPr>
        <p:spPr>
          <a:xfrm>
            <a:off x="640080" y="1344168"/>
            <a:ext cx="502920" cy="502920"/>
          </a:xfrm>
          <a:prstGeom prst="ellipse">
            <a:avLst/>
          </a:prstGeom>
          <a:solidFill>
            <a:schemeClr val="accent1"/>
          </a:solidFill>
          <a:ln/>
        </p:spPr>
      </p:sp>
      <p:pic>
        <p:nvPicPr>
          <p:cNvPr id="5" name="Strategy 1 icon" descr="preencoded.png">    </p:cNvPr>
          <p:cNvPicPr>
            <a:picLocks noChangeAspect="1"/>
          </p:cNvPicPr>
          <p:nvPr/>
        </p:nvPicPr>
        <p:blipFill>
          <a:blip r:embed="rId1"/>
          <a:stretch>
            <a:fillRect/>
          </a:stretch>
        </p:blipFill>
        <p:spPr>
          <a:xfrm>
            <a:off x="765810" y="1469898"/>
            <a:ext cx="251460" cy="251460"/>
          </a:xfrm>
          <a:prstGeom prst="rect">
            <a:avLst/>
          </a:prstGeom>
        </p:spPr>
      </p:pic>
      <p:sp>
        <p:nvSpPr>
          <p:cNvPr id="6" name="Strategy 1 heading"/>
          <p:cNvSpPr txBox="1"/>
          <p:nvPr/>
        </p:nvSpPr>
        <p:spPr>
          <a:xfrm>
            <a:off x="1280160" y="1344168"/>
            <a:ext cx="1645920" cy="502920"/>
          </a:xfrm>
          <a:prstGeom prst="rect">
            <a:avLst/>
          </a:prstGeom>
          <a:noFill/>
          <a:ln/>
        </p:spPr>
        <p:txBody>
          <a:bodyPr wrap="square" lIns="0" tIns="0" rIns="0" bIns="0" rtlCol="0" anchor="ctr"/>
          <a:lstStyle/>
          <a:p>
            <a:pPr indent="0" marL="0">
              <a:buNone/>
            </a:pPr>
            <a:r>
              <a:rPr lang="en-US" sz="1700" b="1" dirty="0">
                <a:solidFill>
                  <a:schemeClr val="tx2"/>
                </a:solidFill>
              </a:rPr>
              <a:t>Bottom-up</a:t>
            </a:r>
            <a:endParaRPr lang="en-US" sz="1700" dirty="0"/>
          </a:p>
        </p:txBody>
      </p:sp>
      <p:sp>
        <p:nvSpPr>
          <p:cNvPr id="7" name="Strategy 1 text"/>
          <p:cNvSpPr txBox="1"/>
          <p:nvPr/>
        </p:nvSpPr>
        <p:spPr>
          <a:xfrm>
            <a:off x="640080" y="1938528"/>
            <a:ext cx="2240280" cy="1097280"/>
          </a:xfrm>
          <a:prstGeom prst="rect">
            <a:avLst/>
          </a:prstGeom>
          <a:noFill/>
          <a:ln/>
        </p:spPr>
        <p:txBody>
          <a:bodyPr wrap="square" lIns="0" tIns="0" rIns="0" bIns="0" rtlCol="0" anchor="t"/>
          <a:lstStyle/>
          <a:p>
            <a:pPr indent="0" marL="0">
              <a:buNone/>
            </a:pPr>
            <a:r>
              <a:rPr lang="en-US" sz="1400" dirty="0">
                <a:solidFill>
                  <a:schemeClr val="tx1"/>
                </a:solidFill>
              </a:rPr>
              <a:t>Start from the genome's annotation and add only the reactions it supports.</a:t>
            </a:r>
            <a:endParaRPr lang="en-US" sz="1400" dirty="0"/>
          </a:p>
        </p:txBody>
      </p:sp>
      <p:sp>
        <p:nvSpPr>
          <p:cNvPr id="8" name="Strategy 1 tools"/>
          <p:cNvSpPr txBox="1"/>
          <p:nvPr/>
        </p:nvSpPr>
        <p:spPr>
          <a:xfrm>
            <a:off x="640080" y="3063240"/>
            <a:ext cx="2240280" cy="411480"/>
          </a:xfrm>
          <a:prstGeom prst="rect">
            <a:avLst/>
          </a:prstGeom>
          <a:noFill/>
          <a:ln/>
        </p:spPr>
        <p:txBody>
          <a:bodyPr wrap="square" lIns="0" tIns="0" rIns="0" bIns="0" rtlCol="0" anchor="t"/>
          <a:lstStyle/>
          <a:p>
            <a:pPr indent="0" marL="0">
              <a:buNone/>
            </a:pPr>
            <a:r>
              <a:rPr lang="en-US" sz="1300" b="1" dirty="0">
                <a:solidFill>
                  <a:schemeClr val="tx2"/>
                </a:solidFill>
              </a:rPr>
              <a:t>Tools: </a:t>
            </a:r>
            <a:pPr indent="0" marL="0">
              <a:buNone/>
            </a:pPr>
            <a:r>
              <a:rPr lang="en-US" sz="1300" dirty="0">
                <a:solidFill>
                  <a:schemeClr val="accent6"/>
                </a:solidFill>
              </a:rPr>
              <a:t>ModelSEED / KBase, gapseq, merlin</a:t>
            </a:r>
            <a:endParaRPr lang="en-US" sz="1300" dirty="0"/>
          </a:p>
        </p:txBody>
      </p:sp>
      <p:sp>
        <p:nvSpPr>
          <p:cNvPr id="9" name="Strategy 1 pros and cons"/>
          <p:cNvSpPr txBox="1"/>
          <p:nvPr/>
        </p:nvSpPr>
        <p:spPr>
          <a:xfrm>
            <a:off x="640080" y="3493008"/>
            <a:ext cx="2240280" cy="941832"/>
          </a:xfrm>
          <a:prstGeom prst="rect">
            <a:avLst/>
          </a:prstGeom>
          <a:noFill/>
          <a:ln/>
        </p:spPr>
        <p:txBody>
          <a:bodyPr wrap="square" lIns="0" tIns="0" rIns="0" bIns="0" rtlCol="0" anchor="t"/>
          <a:lstStyle/>
          <a:p>
            <a:pPr indent="0" marL="0">
              <a:spcAft>
                <a:spcPts val="200"/>
              </a:spcAft>
              <a:buNone/>
            </a:pPr>
            <a:r>
              <a:rPr lang="en-US" sz="1300" b="1" dirty="0">
                <a:solidFill>
                  <a:schemeClr val="accent1"/>
                </a:solidFill>
              </a:rPr>
              <a:t>+ </a:t>
            </a:r>
            <a:pPr indent="0" marL="0">
              <a:spcAft>
                <a:spcPts val="200"/>
              </a:spcAft>
              <a:buNone/>
            </a:pPr>
            <a:r>
              <a:rPr lang="en-US" sz="1300" dirty="0">
                <a:solidFill>
                  <a:schemeClr val="tx1"/>
                </a:solidFill>
              </a:rPr>
              <a:t>every reaction has genetic evidence</a:t>
            </a:r>
            <a:endParaRPr lang="en-US" sz="1300" dirty="0"/>
          </a:p>
          <a:p>
            <a:pPr indent="0" marL="0">
              <a:spcAft>
                <a:spcPts val="200"/>
              </a:spcAft>
              <a:buNone/>
            </a:pPr>
            <a:r>
              <a:rPr lang="en-US" sz="1300" b="1" dirty="0">
                <a:solidFill>
                  <a:schemeClr val="accent5"/>
                </a:solidFill>
              </a:rPr>
              <a:t>– </a:t>
            </a:r>
            <a:pPr indent="0" marL="0">
              <a:spcAft>
                <a:spcPts val="200"/>
              </a:spcAft>
              <a:buNone/>
            </a:pPr>
            <a:r>
              <a:rPr lang="en-US" sz="1300" dirty="0">
                <a:solidFill>
                  <a:schemeClr val="tx1"/>
                </a:solidFill>
              </a:rPr>
              <a:t>many gaps; only as good as the annotation</a:t>
            </a:r>
            <a:endParaRPr lang="en-US" sz="1300" dirty="0"/>
          </a:p>
        </p:txBody>
      </p:sp>
      <p:sp>
        <p:nvSpPr>
          <p:cNvPr id="10" name="Strategy card 2"/>
          <p:cNvSpPr/>
          <p:nvPr/>
        </p:nvSpPr>
        <p:spPr>
          <a:xfrm>
            <a:off x="3291840" y="1188720"/>
            <a:ext cx="2560320" cy="3291840"/>
          </a:xfrm>
          <a:prstGeom prst="roundRect">
            <a:avLst>
              <a:gd name="adj" fmla="val 2857"/>
            </a:avLst>
          </a:prstGeom>
          <a:solidFill>
            <a:schemeClr val="bg2"/>
          </a:solidFill>
          <a:ln/>
        </p:spPr>
      </p:sp>
      <p:sp>
        <p:nvSpPr>
          <p:cNvPr id="11" name="Strategy 2 node"/>
          <p:cNvSpPr/>
          <p:nvPr/>
        </p:nvSpPr>
        <p:spPr>
          <a:xfrm>
            <a:off x="3474720" y="1344168"/>
            <a:ext cx="502920" cy="502920"/>
          </a:xfrm>
          <a:prstGeom prst="ellipse">
            <a:avLst/>
          </a:prstGeom>
          <a:solidFill>
            <a:schemeClr val="accent1"/>
          </a:solidFill>
          <a:ln/>
        </p:spPr>
      </p:sp>
      <p:pic>
        <p:nvPicPr>
          <p:cNvPr id="12" name="Strategy 2 icon" descr="preencoded.png">    </p:cNvPr>
          <p:cNvPicPr>
            <a:picLocks noChangeAspect="1"/>
          </p:cNvPicPr>
          <p:nvPr/>
        </p:nvPicPr>
        <p:blipFill>
          <a:blip r:embed="rId2"/>
          <a:stretch>
            <a:fillRect/>
          </a:stretch>
        </p:blipFill>
        <p:spPr>
          <a:xfrm>
            <a:off x="3600450" y="1469898"/>
            <a:ext cx="251460" cy="251460"/>
          </a:xfrm>
          <a:prstGeom prst="rect">
            <a:avLst/>
          </a:prstGeom>
        </p:spPr>
      </p:pic>
      <p:sp>
        <p:nvSpPr>
          <p:cNvPr id="13" name="Strategy 2 heading"/>
          <p:cNvSpPr txBox="1"/>
          <p:nvPr/>
        </p:nvSpPr>
        <p:spPr>
          <a:xfrm>
            <a:off x="4114800" y="1344168"/>
            <a:ext cx="1645920" cy="502920"/>
          </a:xfrm>
          <a:prstGeom prst="rect">
            <a:avLst/>
          </a:prstGeom>
          <a:noFill/>
          <a:ln/>
        </p:spPr>
        <p:txBody>
          <a:bodyPr wrap="square" lIns="0" tIns="0" rIns="0" bIns="0" rtlCol="0" anchor="ctr"/>
          <a:lstStyle/>
          <a:p>
            <a:pPr indent="0" marL="0">
              <a:buNone/>
            </a:pPr>
            <a:r>
              <a:rPr lang="en-US" sz="1700" b="1" dirty="0">
                <a:solidFill>
                  <a:schemeClr val="tx2"/>
                </a:solidFill>
              </a:rPr>
              <a:t>Top-down</a:t>
            </a:r>
            <a:endParaRPr lang="en-US" sz="1700" dirty="0"/>
          </a:p>
        </p:txBody>
      </p:sp>
      <p:sp>
        <p:nvSpPr>
          <p:cNvPr id="14" name="Strategy 2 text"/>
          <p:cNvSpPr txBox="1"/>
          <p:nvPr/>
        </p:nvSpPr>
        <p:spPr>
          <a:xfrm>
            <a:off x="3474720" y="1938528"/>
            <a:ext cx="2240280" cy="1097280"/>
          </a:xfrm>
          <a:prstGeom prst="rect">
            <a:avLst/>
          </a:prstGeom>
          <a:noFill/>
          <a:ln/>
        </p:spPr>
        <p:txBody>
          <a:bodyPr wrap="square" lIns="0" tIns="0" rIns="0" bIns="0" rtlCol="0" anchor="t"/>
          <a:lstStyle/>
          <a:p>
            <a:pPr indent="0" marL="0">
              <a:buNone/>
            </a:pPr>
            <a:r>
              <a:rPr lang="en-US" sz="1400" dirty="0">
                <a:solidFill>
                  <a:schemeClr val="tx1"/>
                </a:solidFill>
              </a:rPr>
              <a:t>Start from a universal model of all known reactions; carve away what the genome doesn't support.</a:t>
            </a:r>
            <a:endParaRPr lang="en-US" sz="1400" dirty="0"/>
          </a:p>
        </p:txBody>
      </p:sp>
      <p:sp>
        <p:nvSpPr>
          <p:cNvPr id="15" name="Strategy 2 tools"/>
          <p:cNvSpPr txBox="1"/>
          <p:nvPr/>
        </p:nvSpPr>
        <p:spPr>
          <a:xfrm>
            <a:off x="3474720" y="3063240"/>
            <a:ext cx="2240280" cy="411480"/>
          </a:xfrm>
          <a:prstGeom prst="rect">
            <a:avLst/>
          </a:prstGeom>
          <a:noFill/>
          <a:ln/>
        </p:spPr>
        <p:txBody>
          <a:bodyPr wrap="square" lIns="0" tIns="0" rIns="0" bIns="0" rtlCol="0" anchor="t"/>
          <a:lstStyle/>
          <a:p>
            <a:pPr indent="0" marL="0">
              <a:buNone/>
            </a:pPr>
            <a:r>
              <a:rPr lang="en-US" sz="1300" b="1" dirty="0">
                <a:solidFill>
                  <a:schemeClr val="tx2"/>
                </a:solidFill>
              </a:rPr>
              <a:t>Tools: </a:t>
            </a:r>
            <a:pPr indent="0" marL="0">
              <a:buNone/>
            </a:pPr>
            <a:r>
              <a:rPr lang="en-US" sz="1300" dirty="0">
                <a:solidFill>
                  <a:schemeClr val="accent6"/>
                </a:solidFill>
              </a:rPr>
              <a:t>CarveMe</a:t>
            </a:r>
            <a:endParaRPr lang="en-US" sz="1300" dirty="0"/>
          </a:p>
        </p:txBody>
      </p:sp>
      <p:sp>
        <p:nvSpPr>
          <p:cNvPr id="16" name="Strategy 2 pros and cons"/>
          <p:cNvSpPr txBox="1"/>
          <p:nvPr/>
        </p:nvSpPr>
        <p:spPr>
          <a:xfrm>
            <a:off x="3474720" y="3493008"/>
            <a:ext cx="2240280" cy="941832"/>
          </a:xfrm>
          <a:prstGeom prst="rect">
            <a:avLst/>
          </a:prstGeom>
          <a:noFill/>
          <a:ln/>
        </p:spPr>
        <p:txBody>
          <a:bodyPr wrap="square" lIns="0" tIns="0" rIns="0" bIns="0" rtlCol="0" anchor="t"/>
          <a:lstStyle/>
          <a:p>
            <a:pPr indent="0" marL="0">
              <a:spcAft>
                <a:spcPts val="200"/>
              </a:spcAft>
              <a:buNone/>
            </a:pPr>
            <a:r>
              <a:rPr lang="en-US" sz="1300" b="1" dirty="0">
                <a:solidFill>
                  <a:schemeClr val="accent1"/>
                </a:solidFill>
              </a:rPr>
              <a:t>+ </a:t>
            </a:r>
            <a:pPr indent="0" marL="0">
              <a:spcAft>
                <a:spcPts val="200"/>
              </a:spcAft>
              <a:buNone/>
            </a:pPr>
            <a:r>
              <a:rPr lang="en-US" sz="1300" dirty="0">
                <a:solidFill>
                  <a:schemeClr val="tx1"/>
                </a:solidFill>
              </a:rPr>
              <a:t>fast, consistent, ready to simulate</a:t>
            </a:r>
            <a:endParaRPr lang="en-US" sz="1300" dirty="0"/>
          </a:p>
          <a:p>
            <a:pPr indent="0" marL="0">
              <a:spcAft>
                <a:spcPts val="200"/>
              </a:spcAft>
              <a:buNone/>
            </a:pPr>
            <a:r>
              <a:rPr lang="en-US" sz="1300" b="1" dirty="0">
                <a:solidFill>
                  <a:schemeClr val="accent5"/>
                </a:solidFill>
              </a:rPr>
              <a:t>– </a:t>
            </a:r>
            <a:pPr indent="0" marL="0">
              <a:spcAft>
                <a:spcPts val="200"/>
              </a:spcAft>
              <a:buNone/>
            </a:pPr>
            <a:r>
              <a:rPr lang="en-US" sz="1300" dirty="0">
                <a:solidFill>
                  <a:schemeClr val="tx1"/>
                </a:solidFill>
              </a:rPr>
              <a:t>nothing outside the universal model</a:t>
            </a:r>
            <a:endParaRPr lang="en-US" sz="1300" dirty="0"/>
          </a:p>
        </p:txBody>
      </p:sp>
      <p:sp>
        <p:nvSpPr>
          <p:cNvPr id="17" name="Strategy card 3"/>
          <p:cNvSpPr/>
          <p:nvPr/>
        </p:nvSpPr>
        <p:spPr>
          <a:xfrm>
            <a:off x="6126480" y="1188720"/>
            <a:ext cx="2560320" cy="3291840"/>
          </a:xfrm>
          <a:prstGeom prst="roundRect">
            <a:avLst>
              <a:gd name="adj" fmla="val 2857"/>
            </a:avLst>
          </a:prstGeom>
          <a:solidFill>
            <a:schemeClr val="bg2"/>
          </a:solidFill>
          <a:ln/>
        </p:spPr>
      </p:sp>
      <p:sp>
        <p:nvSpPr>
          <p:cNvPr id="18" name="Strategy 3 node"/>
          <p:cNvSpPr/>
          <p:nvPr/>
        </p:nvSpPr>
        <p:spPr>
          <a:xfrm>
            <a:off x="6309360" y="1344168"/>
            <a:ext cx="502920" cy="502920"/>
          </a:xfrm>
          <a:prstGeom prst="ellipse">
            <a:avLst/>
          </a:prstGeom>
          <a:solidFill>
            <a:schemeClr val="accent1"/>
          </a:solidFill>
          <a:ln/>
        </p:spPr>
      </p:sp>
      <p:pic>
        <p:nvPicPr>
          <p:cNvPr id="19" name="Strategy 3 icon" descr="preencoded.png">    </p:cNvPr>
          <p:cNvPicPr>
            <a:picLocks noChangeAspect="1"/>
          </p:cNvPicPr>
          <p:nvPr/>
        </p:nvPicPr>
        <p:blipFill>
          <a:blip r:embed="rId3"/>
          <a:stretch>
            <a:fillRect/>
          </a:stretch>
        </p:blipFill>
        <p:spPr>
          <a:xfrm>
            <a:off x="6435090" y="1469898"/>
            <a:ext cx="251460" cy="251460"/>
          </a:xfrm>
          <a:prstGeom prst="rect">
            <a:avLst/>
          </a:prstGeom>
        </p:spPr>
      </p:pic>
      <p:sp>
        <p:nvSpPr>
          <p:cNvPr id="20" name="Strategy 3 heading"/>
          <p:cNvSpPr txBox="1"/>
          <p:nvPr/>
        </p:nvSpPr>
        <p:spPr>
          <a:xfrm>
            <a:off x="6949440" y="1344168"/>
            <a:ext cx="1645920" cy="502920"/>
          </a:xfrm>
          <a:prstGeom prst="rect">
            <a:avLst/>
          </a:prstGeom>
          <a:noFill/>
          <a:ln/>
        </p:spPr>
        <p:txBody>
          <a:bodyPr wrap="square" lIns="0" tIns="0" rIns="0" bIns="0" rtlCol="0" anchor="ctr"/>
          <a:lstStyle/>
          <a:p>
            <a:pPr indent="0" marL="0">
              <a:buNone/>
            </a:pPr>
            <a:r>
              <a:rPr lang="en-US" sz="1700" b="1" dirty="0">
                <a:solidFill>
                  <a:schemeClr val="tx2"/>
                </a:solidFill>
              </a:rPr>
              <a:t>Template-based</a:t>
            </a:r>
            <a:endParaRPr lang="en-US" sz="1700" dirty="0"/>
          </a:p>
        </p:txBody>
      </p:sp>
      <p:sp>
        <p:nvSpPr>
          <p:cNvPr id="21" name="Strategy 3 text"/>
          <p:cNvSpPr txBox="1"/>
          <p:nvPr/>
        </p:nvSpPr>
        <p:spPr>
          <a:xfrm>
            <a:off x="6309360" y="1938528"/>
            <a:ext cx="2240280" cy="1097280"/>
          </a:xfrm>
          <a:prstGeom prst="rect">
            <a:avLst/>
          </a:prstGeom>
          <a:noFill/>
          <a:ln/>
        </p:spPr>
        <p:txBody>
          <a:bodyPr wrap="square" lIns="0" tIns="0" rIns="0" bIns="0" rtlCol="0" anchor="t"/>
          <a:lstStyle/>
          <a:p>
            <a:pPr indent="0" marL="0">
              <a:buNone/>
            </a:pPr>
            <a:r>
              <a:rPr lang="en-US" sz="1400" dirty="0">
                <a:solidFill>
                  <a:schemeClr val="tx1"/>
                </a:solidFill>
              </a:rPr>
              <a:t>Start from a curated model of a relative; keep the reactions whose genes have homologues.</a:t>
            </a:r>
            <a:endParaRPr lang="en-US" sz="1400" dirty="0"/>
          </a:p>
        </p:txBody>
      </p:sp>
      <p:sp>
        <p:nvSpPr>
          <p:cNvPr id="22" name="Strategy 3 tools"/>
          <p:cNvSpPr txBox="1"/>
          <p:nvPr/>
        </p:nvSpPr>
        <p:spPr>
          <a:xfrm>
            <a:off x="6309360" y="3063240"/>
            <a:ext cx="2240280" cy="411480"/>
          </a:xfrm>
          <a:prstGeom prst="rect">
            <a:avLst/>
          </a:prstGeom>
          <a:noFill/>
          <a:ln/>
        </p:spPr>
        <p:txBody>
          <a:bodyPr wrap="square" lIns="0" tIns="0" rIns="0" bIns="0" rtlCol="0" anchor="t"/>
          <a:lstStyle/>
          <a:p>
            <a:pPr indent="0" marL="0">
              <a:buNone/>
            </a:pPr>
            <a:r>
              <a:rPr lang="en-US" sz="1300" b="1" dirty="0">
                <a:solidFill>
                  <a:schemeClr val="tx2"/>
                </a:solidFill>
              </a:rPr>
              <a:t>Tools: </a:t>
            </a:r>
            <a:pPr indent="0" marL="0">
              <a:buNone/>
            </a:pPr>
            <a:r>
              <a:rPr lang="en-US" sz="1300" dirty="0">
                <a:solidFill>
                  <a:schemeClr val="accent6"/>
                </a:solidFill>
              </a:rPr>
              <a:t>RAVEN, AlphaGEM</a:t>
            </a:r>
            <a:endParaRPr lang="en-US" sz="1300" dirty="0"/>
          </a:p>
        </p:txBody>
      </p:sp>
      <p:sp>
        <p:nvSpPr>
          <p:cNvPr id="23" name="Strategy 3 pros and cons"/>
          <p:cNvSpPr txBox="1"/>
          <p:nvPr/>
        </p:nvSpPr>
        <p:spPr>
          <a:xfrm>
            <a:off x="6309360" y="3493008"/>
            <a:ext cx="2240280" cy="941832"/>
          </a:xfrm>
          <a:prstGeom prst="rect">
            <a:avLst/>
          </a:prstGeom>
          <a:noFill/>
          <a:ln/>
        </p:spPr>
        <p:txBody>
          <a:bodyPr wrap="square" lIns="0" tIns="0" rIns="0" bIns="0" rtlCol="0" anchor="t"/>
          <a:lstStyle/>
          <a:p>
            <a:pPr indent="0" marL="0">
              <a:spcAft>
                <a:spcPts val="200"/>
              </a:spcAft>
              <a:buNone/>
            </a:pPr>
            <a:r>
              <a:rPr lang="en-US" sz="1300" b="1" dirty="0">
                <a:solidFill>
                  <a:schemeClr val="accent1"/>
                </a:solidFill>
              </a:rPr>
              <a:t>+ </a:t>
            </a:r>
            <a:pPr indent="0" marL="0">
              <a:spcAft>
                <a:spcPts val="200"/>
              </a:spcAft>
              <a:buNone/>
            </a:pPr>
            <a:r>
              <a:rPr lang="en-US" sz="1300" dirty="0">
                <a:solidFill>
                  <a:schemeClr val="tx1"/>
                </a:solidFill>
              </a:rPr>
              <a:t>inherits curated gene rules, biomass, compartments</a:t>
            </a:r>
            <a:endParaRPr lang="en-US" sz="1300" dirty="0"/>
          </a:p>
          <a:p>
            <a:pPr indent="0" marL="0">
              <a:spcAft>
                <a:spcPts val="200"/>
              </a:spcAft>
              <a:buNone/>
            </a:pPr>
            <a:r>
              <a:rPr lang="en-US" sz="1300" b="1" dirty="0">
                <a:solidFill>
                  <a:schemeClr val="accent5"/>
                </a:solidFill>
              </a:rPr>
              <a:t>– </a:t>
            </a:r>
            <a:pPr indent="0" marL="0">
              <a:spcAft>
                <a:spcPts val="200"/>
              </a:spcAft>
              <a:buNone/>
            </a:pPr>
            <a:r>
              <a:rPr lang="en-US" sz="1300" dirty="0">
                <a:solidFill>
                  <a:schemeClr val="tx1"/>
                </a:solidFill>
              </a:rPr>
              <a:t>only as good, and as broad, as the template</a:t>
            </a:r>
            <a:endParaRPr lang="en-US" sz="13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400" b="1" dirty="0">
                <a:solidFill>
                  <a:schemeClr val="tx2"/>
                </a:solidFill>
              </a:rPr>
              <a:t>Gene rules decide knockouts</a:t>
            </a:r>
            <a:endParaRPr lang="en-US" sz="3400" dirty="0"/>
          </a:p>
        </p:txBody>
      </p:sp>
      <p:sp>
        <p:nvSpPr>
          <p:cNvPr id="3" name="GPR root"/>
          <p:cNvSpPr/>
          <p:nvPr/>
        </p:nvSpPr>
        <p:spPr>
          <a:xfrm>
            <a:off x="1600200" y="1234440"/>
            <a:ext cx="1828800" cy="411480"/>
          </a:xfrm>
          <a:prstGeom prst="roundRect">
            <a:avLst>
              <a:gd name="adj" fmla="val 22222"/>
            </a:avLst>
          </a:prstGeom>
          <a:solidFill>
            <a:schemeClr val="tx2"/>
          </a:solidFill>
          <a:ln/>
        </p:spPr>
      </p:sp>
      <p:sp>
        <p:nvSpPr>
          <p:cNvPr id="4" name="GPR root text"/>
          <p:cNvSpPr txBox="1"/>
          <p:nvPr/>
        </p:nvSpPr>
        <p:spPr>
          <a:xfrm>
            <a:off x="1600200" y="1234440"/>
            <a:ext cx="1828800" cy="411480"/>
          </a:xfrm>
          <a:prstGeom prst="rect">
            <a:avLst/>
          </a:prstGeom>
          <a:noFill/>
          <a:ln/>
        </p:spPr>
        <p:txBody>
          <a:bodyPr wrap="square" lIns="0" tIns="0" rIns="0" bIns="0" rtlCol="0" anchor="ctr"/>
          <a:lstStyle/>
          <a:p>
            <a:pPr algn="ctr" indent="0" marL="0">
              <a:buNone/>
            </a:pPr>
            <a:r>
              <a:rPr lang="en-US" sz="1400" b="1" dirty="0">
                <a:solidFill>
                  <a:schemeClr val="bg1"/>
                </a:solidFill>
              </a:rPr>
              <a:t>ACK reaction</a:t>
            </a:r>
            <a:endParaRPr lang="en-US" sz="1400" dirty="0"/>
          </a:p>
        </p:txBody>
      </p:sp>
      <p:sp>
        <p:nvSpPr>
          <p:cNvPr id="5" name="GPR line root-and"/>
          <p:cNvSpPr/>
          <p:nvPr/>
        </p:nvSpPr>
        <p:spPr>
          <a:xfrm>
            <a:off x="2514600" y="1645920"/>
            <a:ext cx="0" cy="246888"/>
          </a:xfrm>
          <a:prstGeom prst="line">
            <a:avLst/>
          </a:prstGeom>
          <a:noFill/>
          <a:ln w="19050">
            <a:solidFill>
              <a:schemeClr val="accent3"/>
            </a:solidFill>
            <a:prstDash val="solid"/>
          </a:ln>
        </p:spPr>
      </p:sp>
      <p:sp>
        <p:nvSpPr>
          <p:cNvPr id="6" name="GPR and"/>
          <p:cNvSpPr/>
          <p:nvPr/>
        </p:nvSpPr>
        <p:spPr>
          <a:xfrm>
            <a:off x="2212848" y="1892808"/>
            <a:ext cx="603504" cy="603504"/>
          </a:xfrm>
          <a:prstGeom prst="ellipse">
            <a:avLst/>
          </a:prstGeom>
          <a:solidFill>
            <a:schemeClr val="accent2"/>
          </a:solidFill>
          <a:ln/>
        </p:spPr>
      </p:sp>
      <p:sp>
        <p:nvSpPr>
          <p:cNvPr id="7" name="GPR and text"/>
          <p:cNvSpPr txBox="1"/>
          <p:nvPr/>
        </p:nvSpPr>
        <p:spPr>
          <a:xfrm>
            <a:off x="2212848" y="1892808"/>
            <a:ext cx="603504" cy="603504"/>
          </a:xfrm>
          <a:prstGeom prst="rect">
            <a:avLst/>
          </a:prstGeom>
          <a:noFill/>
          <a:ln/>
        </p:spPr>
        <p:txBody>
          <a:bodyPr wrap="square" lIns="0" tIns="0" rIns="0" bIns="0" rtlCol="0" anchor="ctr"/>
          <a:lstStyle/>
          <a:p>
            <a:pPr algn="ctr" indent="0" marL="0">
              <a:buNone/>
            </a:pPr>
            <a:r>
              <a:rPr lang="en-US" sz="1200" b="1" dirty="0">
                <a:solidFill>
                  <a:schemeClr val="tx2"/>
                </a:solidFill>
              </a:rPr>
              <a:t>AND</a:t>
            </a:r>
            <a:endParaRPr lang="en-US" sz="1200" dirty="0"/>
          </a:p>
        </p:txBody>
      </p:sp>
      <p:sp>
        <p:nvSpPr>
          <p:cNvPr id="8" name="GPR line and-pta"/>
          <p:cNvSpPr/>
          <p:nvPr/>
        </p:nvSpPr>
        <p:spPr>
          <a:xfrm flipH="1">
            <a:off x="1508760" y="2423160"/>
            <a:ext cx="777240" cy="548640"/>
          </a:xfrm>
          <a:prstGeom prst="line">
            <a:avLst/>
          </a:prstGeom>
          <a:noFill/>
          <a:ln w="19050">
            <a:solidFill>
              <a:schemeClr val="accent3"/>
            </a:solidFill>
            <a:prstDash val="solid"/>
          </a:ln>
        </p:spPr>
      </p:sp>
      <p:sp>
        <p:nvSpPr>
          <p:cNvPr id="9" name="GPR line and-or"/>
          <p:cNvSpPr/>
          <p:nvPr/>
        </p:nvSpPr>
        <p:spPr>
          <a:xfrm>
            <a:off x="2743200" y="2423160"/>
            <a:ext cx="685800" cy="384048"/>
          </a:xfrm>
          <a:prstGeom prst="line">
            <a:avLst/>
          </a:prstGeom>
          <a:noFill/>
          <a:ln w="19050">
            <a:solidFill>
              <a:schemeClr val="accent3"/>
            </a:solidFill>
            <a:prstDash val="solid"/>
          </a:ln>
        </p:spPr>
      </p:sp>
      <p:sp>
        <p:nvSpPr>
          <p:cNvPr id="10" name="GPR pta"/>
          <p:cNvSpPr/>
          <p:nvPr/>
        </p:nvSpPr>
        <p:spPr>
          <a:xfrm>
            <a:off x="960120" y="2971800"/>
            <a:ext cx="1097280" cy="411480"/>
          </a:xfrm>
          <a:prstGeom prst="roundRect">
            <a:avLst>
              <a:gd name="adj" fmla="val 22222"/>
            </a:avLst>
          </a:prstGeom>
          <a:solidFill>
            <a:schemeClr val="accent1"/>
          </a:solidFill>
          <a:ln/>
        </p:spPr>
      </p:sp>
      <p:sp>
        <p:nvSpPr>
          <p:cNvPr id="11" name="GPR pta text"/>
          <p:cNvSpPr txBox="1"/>
          <p:nvPr/>
        </p:nvSpPr>
        <p:spPr>
          <a:xfrm>
            <a:off x="960120" y="2971800"/>
            <a:ext cx="1097280" cy="411480"/>
          </a:xfrm>
          <a:prstGeom prst="rect">
            <a:avLst/>
          </a:prstGeom>
          <a:noFill/>
          <a:ln/>
        </p:spPr>
        <p:txBody>
          <a:bodyPr wrap="square" lIns="0" tIns="0" rIns="0" bIns="0" rtlCol="0" anchor="ctr"/>
          <a:lstStyle/>
          <a:p>
            <a:pPr algn="ctr" indent="0" marL="0">
              <a:buNone/>
            </a:pPr>
            <a:r>
              <a:rPr lang="en-US" sz="1400" b="1" dirty="0">
                <a:solidFill>
                  <a:schemeClr val="bg1"/>
                </a:solidFill>
              </a:rPr>
              <a:t>pta</a:t>
            </a:r>
            <a:endParaRPr lang="en-US" sz="1400" dirty="0"/>
          </a:p>
        </p:txBody>
      </p:sp>
      <p:sp>
        <p:nvSpPr>
          <p:cNvPr id="12" name="GPR or"/>
          <p:cNvSpPr/>
          <p:nvPr/>
        </p:nvSpPr>
        <p:spPr>
          <a:xfrm>
            <a:off x="3310128" y="2807208"/>
            <a:ext cx="603504" cy="603504"/>
          </a:xfrm>
          <a:prstGeom prst="ellipse">
            <a:avLst/>
          </a:prstGeom>
          <a:solidFill>
            <a:schemeClr val="accent2"/>
          </a:solidFill>
          <a:ln/>
        </p:spPr>
      </p:sp>
      <p:sp>
        <p:nvSpPr>
          <p:cNvPr id="13" name="GPR or text"/>
          <p:cNvSpPr txBox="1"/>
          <p:nvPr/>
        </p:nvSpPr>
        <p:spPr>
          <a:xfrm>
            <a:off x="3310128" y="2807208"/>
            <a:ext cx="603504" cy="603504"/>
          </a:xfrm>
          <a:prstGeom prst="rect">
            <a:avLst/>
          </a:prstGeom>
          <a:noFill/>
          <a:ln/>
        </p:spPr>
        <p:txBody>
          <a:bodyPr wrap="square" lIns="0" tIns="0" rIns="0" bIns="0" rtlCol="0" anchor="ctr"/>
          <a:lstStyle/>
          <a:p>
            <a:pPr algn="ctr" indent="0" marL="0">
              <a:buNone/>
            </a:pPr>
            <a:r>
              <a:rPr lang="en-US" sz="1200" b="1" dirty="0">
                <a:solidFill>
                  <a:schemeClr val="tx2"/>
                </a:solidFill>
              </a:rPr>
              <a:t>OR</a:t>
            </a:r>
            <a:endParaRPr lang="en-US" sz="1200" dirty="0"/>
          </a:p>
        </p:txBody>
      </p:sp>
      <p:sp>
        <p:nvSpPr>
          <p:cNvPr id="14" name="GPR line or-ackA"/>
          <p:cNvSpPr/>
          <p:nvPr/>
        </p:nvSpPr>
        <p:spPr>
          <a:xfrm flipH="1">
            <a:off x="3063240" y="3355848"/>
            <a:ext cx="365760" cy="438912"/>
          </a:xfrm>
          <a:prstGeom prst="line">
            <a:avLst/>
          </a:prstGeom>
          <a:noFill/>
          <a:ln w="19050">
            <a:solidFill>
              <a:schemeClr val="accent3"/>
            </a:solidFill>
            <a:prstDash val="solid"/>
          </a:ln>
        </p:spPr>
      </p:sp>
      <p:sp>
        <p:nvSpPr>
          <p:cNvPr id="15" name="GPR line or-ackB"/>
          <p:cNvSpPr/>
          <p:nvPr/>
        </p:nvSpPr>
        <p:spPr>
          <a:xfrm>
            <a:off x="3794760" y="3355848"/>
            <a:ext cx="365760" cy="438912"/>
          </a:xfrm>
          <a:prstGeom prst="line">
            <a:avLst/>
          </a:prstGeom>
          <a:noFill/>
          <a:ln w="19050">
            <a:solidFill>
              <a:schemeClr val="accent3"/>
            </a:solidFill>
            <a:prstDash val="solid"/>
          </a:ln>
        </p:spPr>
      </p:sp>
      <p:sp>
        <p:nvSpPr>
          <p:cNvPr id="16" name="GPR ackA"/>
          <p:cNvSpPr/>
          <p:nvPr/>
        </p:nvSpPr>
        <p:spPr>
          <a:xfrm>
            <a:off x="2514600" y="3794760"/>
            <a:ext cx="1005840" cy="411480"/>
          </a:xfrm>
          <a:prstGeom prst="roundRect">
            <a:avLst>
              <a:gd name="adj" fmla="val 22222"/>
            </a:avLst>
          </a:prstGeom>
          <a:solidFill>
            <a:schemeClr val="accent1"/>
          </a:solidFill>
          <a:ln/>
        </p:spPr>
      </p:sp>
      <p:sp>
        <p:nvSpPr>
          <p:cNvPr id="17" name="GPR ackA text"/>
          <p:cNvSpPr txBox="1"/>
          <p:nvPr/>
        </p:nvSpPr>
        <p:spPr>
          <a:xfrm>
            <a:off x="2514600" y="3794760"/>
            <a:ext cx="1005840" cy="411480"/>
          </a:xfrm>
          <a:prstGeom prst="rect">
            <a:avLst/>
          </a:prstGeom>
          <a:noFill/>
          <a:ln/>
        </p:spPr>
        <p:txBody>
          <a:bodyPr wrap="square" lIns="0" tIns="0" rIns="0" bIns="0" rtlCol="0" anchor="ctr"/>
          <a:lstStyle/>
          <a:p>
            <a:pPr algn="ctr" indent="0" marL="0">
              <a:buNone/>
            </a:pPr>
            <a:r>
              <a:rPr lang="en-US" sz="1400" b="1" dirty="0">
                <a:solidFill>
                  <a:schemeClr val="bg1"/>
                </a:solidFill>
              </a:rPr>
              <a:t>ackA</a:t>
            </a:r>
            <a:endParaRPr lang="en-US" sz="1400" dirty="0"/>
          </a:p>
        </p:txBody>
      </p:sp>
      <p:sp>
        <p:nvSpPr>
          <p:cNvPr id="18" name="GPR ackB"/>
          <p:cNvSpPr/>
          <p:nvPr/>
        </p:nvSpPr>
        <p:spPr>
          <a:xfrm>
            <a:off x="3703320" y="3794760"/>
            <a:ext cx="1005840" cy="411480"/>
          </a:xfrm>
          <a:prstGeom prst="roundRect">
            <a:avLst>
              <a:gd name="adj" fmla="val 22222"/>
            </a:avLst>
          </a:prstGeom>
          <a:solidFill>
            <a:schemeClr val="accent1"/>
          </a:solidFill>
          <a:ln/>
        </p:spPr>
      </p:sp>
      <p:sp>
        <p:nvSpPr>
          <p:cNvPr id="19" name="GPR ackB text"/>
          <p:cNvSpPr txBox="1"/>
          <p:nvPr/>
        </p:nvSpPr>
        <p:spPr>
          <a:xfrm>
            <a:off x="3703320" y="3794760"/>
            <a:ext cx="1005840" cy="411480"/>
          </a:xfrm>
          <a:prstGeom prst="rect">
            <a:avLst/>
          </a:prstGeom>
          <a:noFill/>
          <a:ln/>
        </p:spPr>
        <p:txBody>
          <a:bodyPr wrap="square" lIns="0" tIns="0" rIns="0" bIns="0" rtlCol="0" anchor="ctr"/>
          <a:lstStyle/>
          <a:p>
            <a:pPr algn="ctr" indent="0" marL="0">
              <a:buNone/>
            </a:pPr>
            <a:r>
              <a:rPr lang="en-US" sz="1400" b="1" dirty="0">
                <a:solidFill>
                  <a:schemeClr val="bg1"/>
                </a:solidFill>
              </a:rPr>
              <a:t>ackB</a:t>
            </a:r>
            <a:endParaRPr lang="en-US" sz="1400" dirty="0"/>
          </a:p>
        </p:txBody>
      </p:sp>
      <p:sp>
        <p:nvSpPr>
          <p:cNvPr id="20" name="Knockout card"/>
          <p:cNvSpPr/>
          <p:nvPr/>
        </p:nvSpPr>
        <p:spPr>
          <a:xfrm>
            <a:off x="5120640" y="1188720"/>
            <a:ext cx="3566160" cy="1828800"/>
          </a:xfrm>
          <a:prstGeom prst="roundRect">
            <a:avLst>
              <a:gd name="adj" fmla="val 4000"/>
            </a:avLst>
          </a:prstGeom>
          <a:solidFill>
            <a:schemeClr val="bg2"/>
          </a:solidFill>
          <a:ln/>
        </p:spPr>
      </p:sp>
      <p:sp>
        <p:nvSpPr>
          <p:cNvPr id="21" name="Knockout heading"/>
          <p:cNvSpPr txBox="1"/>
          <p:nvPr/>
        </p:nvSpPr>
        <p:spPr>
          <a:xfrm>
            <a:off x="5349240" y="1298448"/>
            <a:ext cx="3200400" cy="320040"/>
          </a:xfrm>
          <a:prstGeom prst="rect">
            <a:avLst/>
          </a:prstGeom>
          <a:noFill/>
          <a:ln/>
        </p:spPr>
        <p:txBody>
          <a:bodyPr wrap="square" lIns="0" tIns="0" rIns="0" bIns="0" rtlCol="0" anchor="t"/>
          <a:lstStyle/>
          <a:p>
            <a:pPr indent="0" marL="0">
              <a:buNone/>
            </a:pPr>
            <a:r>
              <a:rPr lang="en-US" sz="1500" b="1" dirty="0">
                <a:solidFill>
                  <a:schemeClr val="tx2"/>
                </a:solidFill>
              </a:rPr>
              <a:t>Knock out…</a:t>
            </a:r>
            <a:endParaRPr lang="en-US" sz="1500" dirty="0"/>
          </a:p>
        </p:txBody>
      </p:sp>
      <p:sp>
        <p:nvSpPr>
          <p:cNvPr id="22" name="Knockout 1 gene"/>
          <p:cNvSpPr txBox="1"/>
          <p:nvPr/>
        </p:nvSpPr>
        <p:spPr>
          <a:xfrm>
            <a:off x="5349240" y="1691640"/>
            <a:ext cx="1280160" cy="365760"/>
          </a:xfrm>
          <a:prstGeom prst="rect">
            <a:avLst/>
          </a:prstGeom>
          <a:noFill/>
          <a:ln/>
        </p:spPr>
        <p:txBody>
          <a:bodyPr wrap="square" lIns="0" tIns="0" rIns="0" bIns="0" rtlCol="0" anchor="ctr"/>
          <a:lstStyle/>
          <a:p>
            <a:pPr indent="0" marL="0">
              <a:buNone/>
            </a:pPr>
            <a:r>
              <a:rPr lang="en-US" sz="1400" b="1" dirty="0">
                <a:solidFill>
                  <a:schemeClr val="tx2"/>
                </a:solidFill>
                <a:latin typeface="Courier New" pitchFamily="34" charset="0"/>
                <a:ea typeface="Courier New" pitchFamily="34" charset="-122"/>
                <a:cs typeface="Courier New" pitchFamily="34" charset="-120"/>
              </a:rPr>
              <a:t>ackA</a:t>
            </a:r>
            <a:endParaRPr lang="en-US" sz="1400" dirty="0"/>
          </a:p>
        </p:txBody>
      </p:sp>
      <p:sp>
        <p:nvSpPr>
          <p:cNvPr id="23" name="Knockout 1 result"/>
          <p:cNvSpPr txBox="1"/>
          <p:nvPr/>
        </p:nvSpPr>
        <p:spPr>
          <a:xfrm>
            <a:off x="6675120" y="1691640"/>
            <a:ext cx="1920240" cy="365760"/>
          </a:xfrm>
          <a:prstGeom prst="rect">
            <a:avLst/>
          </a:prstGeom>
          <a:noFill/>
          <a:ln/>
        </p:spPr>
        <p:txBody>
          <a:bodyPr wrap="square" lIns="0" tIns="0" rIns="0" bIns="0" rtlCol="0" anchor="ctr"/>
          <a:lstStyle/>
          <a:p>
            <a:pPr indent="0" marL="0">
              <a:buNone/>
            </a:pPr>
            <a:r>
              <a:rPr lang="en-US" sz="1400" dirty="0">
                <a:solidFill>
                  <a:schemeClr val="accent1"/>
                </a:solidFill>
              </a:rPr>
              <a:t>reaction kept (ackB)</a:t>
            </a:r>
            <a:endParaRPr lang="en-US" sz="1400" dirty="0"/>
          </a:p>
        </p:txBody>
      </p:sp>
      <p:sp>
        <p:nvSpPr>
          <p:cNvPr id="24" name="Knockout 2 gene"/>
          <p:cNvSpPr txBox="1"/>
          <p:nvPr/>
        </p:nvSpPr>
        <p:spPr>
          <a:xfrm>
            <a:off x="5349240" y="2103120"/>
            <a:ext cx="1280160" cy="365760"/>
          </a:xfrm>
          <a:prstGeom prst="rect">
            <a:avLst/>
          </a:prstGeom>
          <a:noFill/>
          <a:ln/>
        </p:spPr>
        <p:txBody>
          <a:bodyPr wrap="square" lIns="0" tIns="0" rIns="0" bIns="0" rtlCol="0" anchor="ctr"/>
          <a:lstStyle/>
          <a:p>
            <a:pPr indent="0" marL="0">
              <a:buNone/>
            </a:pPr>
            <a:r>
              <a:rPr lang="en-US" sz="1400" b="1" dirty="0">
                <a:solidFill>
                  <a:schemeClr val="tx2"/>
                </a:solidFill>
                <a:latin typeface="Courier New" pitchFamily="34" charset="0"/>
                <a:ea typeface="Courier New" pitchFamily="34" charset="-122"/>
                <a:cs typeface="Courier New" pitchFamily="34" charset="-120"/>
              </a:rPr>
              <a:t>pta</a:t>
            </a:r>
            <a:endParaRPr lang="en-US" sz="1400" dirty="0"/>
          </a:p>
        </p:txBody>
      </p:sp>
      <p:sp>
        <p:nvSpPr>
          <p:cNvPr id="25" name="Knockout 2 result"/>
          <p:cNvSpPr txBox="1"/>
          <p:nvPr/>
        </p:nvSpPr>
        <p:spPr>
          <a:xfrm>
            <a:off x="6675120" y="2103120"/>
            <a:ext cx="1920240" cy="365760"/>
          </a:xfrm>
          <a:prstGeom prst="rect">
            <a:avLst/>
          </a:prstGeom>
          <a:noFill/>
          <a:ln/>
        </p:spPr>
        <p:txBody>
          <a:bodyPr wrap="square" lIns="0" tIns="0" rIns="0" bIns="0" rtlCol="0" anchor="ctr"/>
          <a:lstStyle/>
          <a:p>
            <a:pPr indent="0" marL="0">
              <a:buNone/>
            </a:pPr>
            <a:r>
              <a:rPr lang="en-US" sz="1400" dirty="0">
                <a:solidFill>
                  <a:schemeClr val="accent5"/>
                </a:solidFill>
              </a:rPr>
              <a:t>reaction lost</a:t>
            </a:r>
            <a:endParaRPr lang="en-US" sz="1400" dirty="0"/>
          </a:p>
        </p:txBody>
      </p:sp>
      <p:sp>
        <p:nvSpPr>
          <p:cNvPr id="26" name="Knockout 3 gene"/>
          <p:cNvSpPr txBox="1"/>
          <p:nvPr/>
        </p:nvSpPr>
        <p:spPr>
          <a:xfrm>
            <a:off x="5349240" y="2514600"/>
            <a:ext cx="1280160" cy="365760"/>
          </a:xfrm>
          <a:prstGeom prst="rect">
            <a:avLst/>
          </a:prstGeom>
          <a:noFill/>
          <a:ln/>
        </p:spPr>
        <p:txBody>
          <a:bodyPr wrap="square" lIns="0" tIns="0" rIns="0" bIns="0" rtlCol="0" anchor="ctr"/>
          <a:lstStyle/>
          <a:p>
            <a:pPr indent="0" marL="0">
              <a:buNone/>
            </a:pPr>
            <a:r>
              <a:rPr lang="en-US" sz="1400" b="1" dirty="0">
                <a:solidFill>
                  <a:schemeClr val="tx2"/>
                </a:solidFill>
                <a:latin typeface="Courier New" pitchFamily="34" charset="0"/>
                <a:ea typeface="Courier New" pitchFamily="34" charset="-122"/>
                <a:cs typeface="Courier New" pitchFamily="34" charset="-120"/>
              </a:rPr>
              <a:t>ackA + ackB</a:t>
            </a:r>
            <a:endParaRPr lang="en-US" sz="1400" dirty="0"/>
          </a:p>
        </p:txBody>
      </p:sp>
      <p:sp>
        <p:nvSpPr>
          <p:cNvPr id="27" name="Knockout 3 result"/>
          <p:cNvSpPr txBox="1"/>
          <p:nvPr/>
        </p:nvSpPr>
        <p:spPr>
          <a:xfrm>
            <a:off x="6675120" y="2514600"/>
            <a:ext cx="1920240" cy="365760"/>
          </a:xfrm>
          <a:prstGeom prst="rect">
            <a:avLst/>
          </a:prstGeom>
          <a:noFill/>
          <a:ln/>
        </p:spPr>
        <p:txBody>
          <a:bodyPr wrap="square" lIns="0" tIns="0" rIns="0" bIns="0" rtlCol="0" anchor="ctr"/>
          <a:lstStyle/>
          <a:p>
            <a:pPr indent="0" marL="0">
              <a:buNone/>
            </a:pPr>
            <a:r>
              <a:rPr lang="en-US" sz="1400" dirty="0">
                <a:solidFill>
                  <a:schemeClr val="accent5"/>
                </a:solidFill>
              </a:rPr>
              <a:t>reaction lost</a:t>
            </a:r>
            <a:endParaRPr lang="en-US" sz="1400" dirty="0"/>
          </a:p>
        </p:txBody>
      </p:sp>
      <p:sp>
        <p:nvSpPr>
          <p:cNvPr id="28" name="GPR source text"/>
          <p:cNvSpPr txBox="1"/>
          <p:nvPr/>
        </p:nvSpPr>
        <p:spPr>
          <a:xfrm>
            <a:off x="5120640" y="3200400"/>
            <a:ext cx="3566160" cy="1280160"/>
          </a:xfrm>
          <a:prstGeom prst="rect">
            <a:avLst/>
          </a:prstGeom>
          <a:noFill/>
          <a:ln/>
        </p:spPr>
        <p:txBody>
          <a:bodyPr wrap="square" lIns="0" tIns="0" rIns="0" bIns="0" rtlCol="0" anchor="t"/>
          <a:lstStyle/>
          <a:p>
            <a:pPr indent="0" marL="0">
              <a:buNone/>
            </a:pPr>
            <a:r>
              <a:rPr lang="en-US" sz="1400" b="1" dirty="0">
                <a:solidFill>
                  <a:schemeClr val="tx2"/>
                </a:solidFill>
              </a:rPr>
              <a:t>Where the rules come from: </a:t>
            </a:r>
            <a:pPr indent="0" marL="0">
              <a:buNone/>
            </a:pPr>
            <a:r>
              <a:rPr lang="en-US" sz="1400" dirty="0">
                <a:solidFill>
                  <a:schemeClr val="tx1"/>
                </a:solidFill>
              </a:rPr>
              <a:t>complexes stored in the database (bottom-up), the universal model's rules (top-down), or the template's own rules (template-based).</a:t>
            </a:r>
            <a:endParaRPr lang="en-US" sz="14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914400"/>
            <a:ext cx="2286000" cy="1188720"/>
          </a:xfrm>
          <a:prstGeom prst="rect">
            <a:avLst/>
          </a:prstGeom>
          <a:noFill/>
          <a:ln/>
        </p:spPr>
        <p:txBody>
          <a:bodyPr wrap="square" lIns="0" tIns="0" rIns="0" bIns="0" rtlCol="0" anchor="b"/>
          <a:lstStyle/>
          <a:p>
            <a:pPr indent="0" marL="0">
              <a:buNone/>
            </a:pPr>
            <a:r>
              <a:rPr lang="en-US" sz="8000" b="1" dirty="0">
                <a:solidFill>
                  <a:schemeClr val="accent2"/>
                </a:solidFill>
                <a:latin typeface="+mj-lt" pitchFamily="34" charset="0"/>
                <a:ea typeface="+mj-lt" pitchFamily="34" charset="-122"/>
                <a:cs typeface="+mj-lt" pitchFamily="34" charset="-120"/>
              </a:rPr>
              <a:t>3</a:t>
            </a:r>
            <a:endParaRPr lang="en-US" sz="8000" dirty="0"/>
          </a:p>
        </p:txBody>
      </p:sp>
      <p:sp>
        <p:nvSpPr>
          <p:cNvPr id="3" name="Text 0"/>
          <p:cNvSpPr/>
          <p:nvPr>
            <p:ph idx="101" type="title" hasCustomPrompt="1"/>
          </p:nvPr>
        </p:nvSpPr>
        <p:spPr>
          <a:xfrm>
            <a:off x="548640" y="2240280"/>
            <a:ext cx="5486400" cy="777240"/>
          </a:xfrm>
          <a:prstGeom prst="rect">
            <a:avLst/>
          </a:prstGeom>
          <a:noFill/>
          <a:ln/>
        </p:spPr>
        <p:txBody>
          <a:bodyPr wrap="square" lIns="0" tIns="0" rIns="0" bIns="0" rtlCol="0" anchor="t"/>
          <a:lstStyle/>
          <a:p>
            <a:pPr algn="l" indent="0" marL="0">
              <a:buNone/>
            </a:pPr>
            <a:r>
              <a:rPr lang="en-US" sz="3200" b="1" dirty="0">
                <a:solidFill>
                  <a:schemeClr val="bg1"/>
                </a:solidFill>
              </a:rPr>
              <a:t>Biomass and gap-filling</a:t>
            </a:r>
            <a:endParaRPr lang="en-US" sz="3200" dirty="0"/>
          </a:p>
        </p:txBody>
      </p:sp>
      <p:sp>
        <p:nvSpPr>
          <p:cNvPr id="4" name="Text 0"/>
          <p:cNvSpPr/>
          <p:nvPr>
            <p:ph idx="102" type="body" hasCustomPrompt="1"/>
          </p:nvPr>
        </p:nvSpPr>
        <p:spPr>
          <a:xfrm>
            <a:off x="548640" y="3063240"/>
            <a:ext cx="5394960" cy="548640"/>
          </a:xfrm>
          <a:prstGeom prst="rect">
            <a:avLst/>
          </a:prstGeom>
          <a:noFill/>
          <a:ln/>
        </p:spPr>
        <p:txBody>
          <a:bodyPr wrap="square" lIns="0" tIns="0" rIns="0" bIns="0" rtlCol="0" anchor="t"/>
          <a:lstStyle/>
          <a:p>
            <a:pPr indent="0" marL="0">
              <a:buNone/>
            </a:pPr>
            <a:r>
              <a:rPr lang="en-US" sz="2000" i="1" dirty="0">
                <a:solidFill>
                  <a:schemeClr val="accent4"/>
                </a:solidFill>
              </a:rPr>
              <a:t>Can it actually grow?</a:t>
            </a:r>
            <a:endParaRPr lang="en-US" sz="2000" dirty="0"/>
          </a:p>
        </p:txBody>
      </p:sp>
      <p:sp>
        <p:nvSpPr>
          <p:cNvPr id="5" name="Divider 3 edge AC"/>
          <p:cNvSpPr/>
          <p:nvPr/>
        </p:nvSpPr>
        <p:spPr>
          <a:xfrm>
            <a:off x="6455061" y="1456625"/>
            <a:ext cx="333297" cy="435850"/>
          </a:xfrm>
          <a:prstGeom prst="line">
            <a:avLst/>
          </a:prstGeom>
          <a:noFill/>
          <a:ln w="15875">
            <a:solidFill>
              <a:schemeClr val="accent4"/>
            </a:solidFill>
            <a:prstDash val="solid"/>
            <a:tailEnd type="triangle"/>
          </a:ln>
        </p:spPr>
      </p:sp>
      <p:sp>
        <p:nvSpPr>
          <p:cNvPr id="6" name="Divider 3 edge BD"/>
          <p:cNvSpPr/>
          <p:nvPr/>
        </p:nvSpPr>
        <p:spPr>
          <a:xfrm>
            <a:off x="7598612" y="1235407"/>
            <a:ext cx="530456" cy="500987"/>
          </a:xfrm>
          <a:prstGeom prst="line">
            <a:avLst/>
          </a:prstGeom>
          <a:noFill/>
          <a:ln w="15875">
            <a:solidFill>
              <a:schemeClr val="accent4"/>
            </a:solidFill>
            <a:prstDash val="solid"/>
            <a:tailEnd type="triangle"/>
          </a:ln>
        </p:spPr>
      </p:sp>
      <p:sp>
        <p:nvSpPr>
          <p:cNvPr id="7" name="Divider 3 edge CD"/>
          <p:cNvSpPr/>
          <p:nvPr/>
        </p:nvSpPr>
        <p:spPr>
          <a:xfrm flipV="1">
            <a:off x="7192738" y="1908700"/>
            <a:ext cx="884339" cy="152472"/>
          </a:xfrm>
          <a:prstGeom prst="line">
            <a:avLst/>
          </a:prstGeom>
          <a:noFill/>
          <a:ln w="15875">
            <a:solidFill>
              <a:schemeClr val="accent4"/>
            </a:solidFill>
            <a:prstDash val="solid"/>
            <a:tailEnd type="triangle"/>
          </a:ln>
        </p:spPr>
      </p:sp>
      <p:sp>
        <p:nvSpPr>
          <p:cNvPr id="8" name="Divider 3 edge DE"/>
          <p:cNvSpPr/>
          <p:nvPr/>
        </p:nvSpPr>
        <p:spPr>
          <a:xfrm flipH="1">
            <a:off x="7837092" y="2038093"/>
            <a:ext cx="356442" cy="712884"/>
          </a:xfrm>
          <a:prstGeom prst="line">
            <a:avLst/>
          </a:prstGeom>
          <a:noFill/>
          <a:ln w="15875">
            <a:solidFill>
              <a:schemeClr val="accent4"/>
            </a:solidFill>
            <a:prstDash val="solid"/>
            <a:tailEnd type="triangle"/>
          </a:ln>
        </p:spPr>
      </p:sp>
      <p:sp>
        <p:nvSpPr>
          <p:cNvPr id="9" name="Divider 3 edge CF"/>
          <p:cNvSpPr/>
          <p:nvPr/>
        </p:nvSpPr>
        <p:spPr>
          <a:xfrm flipH="1">
            <a:off x="6529370" y="2325846"/>
            <a:ext cx="313549" cy="655602"/>
          </a:xfrm>
          <a:prstGeom prst="line">
            <a:avLst/>
          </a:prstGeom>
          <a:noFill/>
          <a:ln w="15875">
            <a:solidFill>
              <a:schemeClr val="accent4"/>
            </a:solidFill>
            <a:prstDash val="solid"/>
            <a:tailEnd type="triangle"/>
          </a:ln>
        </p:spPr>
      </p:sp>
      <p:sp>
        <p:nvSpPr>
          <p:cNvPr id="10" name="Divider 3 edge FH"/>
          <p:cNvSpPr/>
          <p:nvPr/>
        </p:nvSpPr>
        <p:spPr>
          <a:xfrm>
            <a:off x="6561467" y="3284954"/>
            <a:ext cx="455905" cy="516692"/>
          </a:xfrm>
          <a:prstGeom prst="line">
            <a:avLst/>
          </a:prstGeom>
          <a:noFill/>
          <a:ln w="15875">
            <a:solidFill>
              <a:schemeClr val="accent4"/>
            </a:solidFill>
            <a:prstDash val="solid"/>
            <a:tailEnd type="triangle"/>
          </a:ln>
        </p:spPr>
      </p:sp>
      <p:sp>
        <p:nvSpPr>
          <p:cNvPr id="11" name="Divider 3 edge EH"/>
          <p:cNvSpPr/>
          <p:nvPr/>
        </p:nvSpPr>
        <p:spPr>
          <a:xfrm flipH="1">
            <a:off x="7223767" y="3166171"/>
            <a:ext cx="382589" cy="618028"/>
          </a:xfrm>
          <a:prstGeom prst="line">
            <a:avLst/>
          </a:prstGeom>
          <a:noFill/>
          <a:ln w="15875">
            <a:solidFill>
              <a:schemeClr val="accent4"/>
            </a:solidFill>
            <a:prstDash val="solid"/>
            <a:tailEnd type="triangle"/>
          </a:ln>
        </p:spPr>
      </p:sp>
      <p:sp>
        <p:nvSpPr>
          <p:cNvPr id="12" name="Divider 3 edge DG"/>
          <p:cNvSpPr/>
          <p:nvPr/>
        </p:nvSpPr>
        <p:spPr>
          <a:xfrm>
            <a:off x="8307102" y="2054617"/>
            <a:ext cx="202811" cy="1149261"/>
          </a:xfrm>
          <a:prstGeom prst="line">
            <a:avLst/>
          </a:prstGeom>
          <a:noFill/>
          <a:ln w="15875">
            <a:solidFill>
              <a:schemeClr val="accent4"/>
            </a:solidFill>
            <a:prstDash val="solid"/>
            <a:tailEnd type="triangle"/>
          </a:ln>
        </p:spPr>
      </p:sp>
      <p:sp>
        <p:nvSpPr>
          <p:cNvPr id="13" name="Divider 3 flux BC"/>
          <p:cNvSpPr/>
          <p:nvPr/>
        </p:nvSpPr>
        <p:spPr>
          <a:xfrm flipH="1">
            <a:off x="7068030" y="1277210"/>
            <a:ext cx="294365" cy="588729"/>
          </a:xfrm>
          <a:prstGeom prst="line">
            <a:avLst/>
          </a:prstGeom>
          <a:noFill/>
          <a:ln w="31750">
            <a:solidFill>
              <a:schemeClr val="accent2"/>
            </a:solidFill>
            <a:prstDash val="solid"/>
            <a:tailEnd type="triangle"/>
          </a:ln>
        </p:spPr>
      </p:sp>
      <p:sp>
        <p:nvSpPr>
          <p:cNvPr id="14" name="Divider 3 flux CE"/>
          <p:cNvSpPr/>
          <p:nvPr/>
        </p:nvSpPr>
        <p:spPr>
          <a:xfrm>
            <a:off x="7114064" y="2287111"/>
            <a:ext cx="447993" cy="500698"/>
          </a:xfrm>
          <a:prstGeom prst="line">
            <a:avLst/>
          </a:prstGeom>
          <a:noFill/>
          <a:ln w="31750">
            <a:solidFill>
              <a:schemeClr val="accent2"/>
            </a:solidFill>
            <a:prstDash val="solid"/>
            <a:tailEnd type="triangle"/>
          </a:ln>
        </p:spPr>
      </p:sp>
      <p:sp>
        <p:nvSpPr>
          <p:cNvPr id="15" name="Divider 3 flux EG"/>
          <p:cNvSpPr/>
          <p:nvPr/>
        </p:nvSpPr>
        <p:spPr>
          <a:xfrm>
            <a:off x="7926512" y="3082818"/>
            <a:ext cx="423295" cy="235164"/>
          </a:xfrm>
          <a:prstGeom prst="line">
            <a:avLst/>
          </a:prstGeom>
          <a:noFill/>
          <a:ln w="31750">
            <a:solidFill>
              <a:schemeClr val="accent2"/>
            </a:solidFill>
            <a:prstDash val="solid"/>
            <a:tailEnd type="triangle"/>
          </a:ln>
        </p:spPr>
      </p:sp>
      <p:sp>
        <p:nvSpPr>
          <p:cNvPr id="16" name="Divider 3 node A"/>
          <p:cNvSpPr/>
          <p:nvPr/>
        </p:nvSpPr>
        <p:spPr>
          <a:xfrm>
            <a:off x="6236208" y="1207008"/>
            <a:ext cx="237744" cy="237744"/>
          </a:xfrm>
          <a:prstGeom prst="ellipse">
            <a:avLst/>
          </a:prstGeom>
          <a:solidFill>
            <a:schemeClr val="accent1"/>
          </a:solidFill>
          <a:ln/>
        </p:spPr>
      </p:sp>
      <p:sp>
        <p:nvSpPr>
          <p:cNvPr id="17" name="Divider 3 node B"/>
          <p:cNvSpPr/>
          <p:nvPr/>
        </p:nvSpPr>
        <p:spPr>
          <a:xfrm>
            <a:off x="7296912" y="941832"/>
            <a:ext cx="310896" cy="310896"/>
          </a:xfrm>
          <a:prstGeom prst="ellipse">
            <a:avLst/>
          </a:prstGeom>
          <a:solidFill>
            <a:schemeClr val="accent2"/>
          </a:solidFill>
          <a:ln/>
        </p:spPr>
      </p:sp>
      <p:sp>
        <p:nvSpPr>
          <p:cNvPr id="18" name="Divider 3 node C"/>
          <p:cNvSpPr/>
          <p:nvPr/>
        </p:nvSpPr>
        <p:spPr>
          <a:xfrm>
            <a:off x="6748272" y="1901952"/>
            <a:ext cx="402336" cy="402336"/>
          </a:xfrm>
          <a:prstGeom prst="ellipse">
            <a:avLst/>
          </a:prstGeom>
          <a:solidFill>
            <a:schemeClr val="accent2"/>
          </a:solidFill>
          <a:ln/>
        </p:spPr>
      </p:sp>
      <p:sp>
        <p:nvSpPr>
          <p:cNvPr id="19" name="Divider 3 node D"/>
          <p:cNvSpPr/>
          <p:nvPr/>
        </p:nvSpPr>
        <p:spPr>
          <a:xfrm>
            <a:off x="8138160" y="1737360"/>
            <a:ext cx="274320" cy="274320"/>
          </a:xfrm>
          <a:prstGeom prst="ellipse">
            <a:avLst/>
          </a:prstGeom>
          <a:solidFill>
            <a:schemeClr val="accent1"/>
          </a:solidFill>
          <a:ln/>
        </p:spPr>
      </p:sp>
      <p:sp>
        <p:nvSpPr>
          <p:cNvPr id="20" name="Divider 3 node E"/>
          <p:cNvSpPr/>
          <p:nvPr/>
        </p:nvSpPr>
        <p:spPr>
          <a:xfrm>
            <a:off x="7543800" y="2788920"/>
            <a:ext cx="365760" cy="365760"/>
          </a:xfrm>
          <a:prstGeom prst="ellipse">
            <a:avLst/>
          </a:prstGeom>
          <a:solidFill>
            <a:schemeClr val="accent2"/>
          </a:solidFill>
          <a:ln/>
        </p:spPr>
      </p:sp>
      <p:sp>
        <p:nvSpPr>
          <p:cNvPr id="21" name="Divider 3 node F"/>
          <p:cNvSpPr/>
          <p:nvPr/>
        </p:nvSpPr>
        <p:spPr>
          <a:xfrm>
            <a:off x="6318504" y="3026664"/>
            <a:ext cx="256032" cy="256032"/>
          </a:xfrm>
          <a:prstGeom prst="ellipse">
            <a:avLst/>
          </a:prstGeom>
          <a:solidFill>
            <a:schemeClr val="accent1"/>
          </a:solidFill>
          <a:ln/>
        </p:spPr>
      </p:sp>
      <p:sp>
        <p:nvSpPr>
          <p:cNvPr id="22" name="Divider 3 node G"/>
          <p:cNvSpPr/>
          <p:nvPr/>
        </p:nvSpPr>
        <p:spPr>
          <a:xfrm>
            <a:off x="8385048" y="3264408"/>
            <a:ext cx="329184" cy="329184"/>
          </a:xfrm>
          <a:prstGeom prst="ellipse">
            <a:avLst/>
          </a:prstGeom>
          <a:solidFill>
            <a:schemeClr val="accent2"/>
          </a:solidFill>
          <a:ln/>
        </p:spPr>
      </p:sp>
      <p:sp>
        <p:nvSpPr>
          <p:cNvPr id="23" name="Divider 3 node H"/>
          <p:cNvSpPr/>
          <p:nvPr/>
        </p:nvSpPr>
        <p:spPr>
          <a:xfrm>
            <a:off x="7022592" y="3822192"/>
            <a:ext cx="219456" cy="219456"/>
          </a:xfrm>
          <a:prstGeom prst="ellipse">
            <a:avLst/>
          </a:prstGeom>
          <a:solidFill>
            <a:schemeClr val="accent1"/>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400" b="1" dirty="0">
                <a:solidFill>
                  <a:schemeClr val="tx2"/>
                </a:solidFill>
              </a:rPr>
              <a:t>Biomass: borrowed or measured</a:t>
            </a:r>
            <a:endParaRPr lang="en-US" sz="3400" dirty="0"/>
          </a:p>
        </p:txBody>
      </p:sp>
      <p:sp>
        <p:nvSpPr>
          <p:cNvPr id="3" name="Biomass card 1"/>
          <p:cNvSpPr/>
          <p:nvPr/>
        </p:nvSpPr>
        <p:spPr>
          <a:xfrm>
            <a:off x="457200" y="1188720"/>
            <a:ext cx="4023360" cy="2148840"/>
          </a:xfrm>
          <a:prstGeom prst="roundRect">
            <a:avLst>
              <a:gd name="adj" fmla="val 3404"/>
            </a:avLst>
          </a:prstGeom>
          <a:solidFill>
            <a:schemeClr val="bg2"/>
          </a:solidFill>
          <a:ln/>
        </p:spPr>
      </p:sp>
      <p:sp>
        <p:nvSpPr>
          <p:cNvPr id="4" name="Biomass 1 node"/>
          <p:cNvSpPr/>
          <p:nvPr/>
        </p:nvSpPr>
        <p:spPr>
          <a:xfrm>
            <a:off x="658368" y="1325880"/>
            <a:ext cx="457200" cy="457200"/>
          </a:xfrm>
          <a:prstGeom prst="ellipse">
            <a:avLst/>
          </a:prstGeom>
          <a:solidFill>
            <a:schemeClr val="accent1"/>
          </a:solidFill>
          <a:ln/>
        </p:spPr>
      </p:sp>
      <p:pic>
        <p:nvPicPr>
          <p:cNvPr id="5" name="Biomass 1 icon" descr="preencoded.png">    </p:cNvPr>
          <p:cNvPicPr>
            <a:picLocks noChangeAspect="1"/>
          </p:cNvPicPr>
          <p:nvPr/>
        </p:nvPicPr>
        <p:blipFill>
          <a:blip r:embed="rId1"/>
          <a:stretch>
            <a:fillRect/>
          </a:stretch>
        </p:blipFill>
        <p:spPr>
          <a:xfrm>
            <a:off x="772668" y="1440180"/>
            <a:ext cx="228600" cy="228600"/>
          </a:xfrm>
          <a:prstGeom prst="rect">
            <a:avLst/>
          </a:prstGeom>
        </p:spPr>
      </p:pic>
      <p:sp>
        <p:nvSpPr>
          <p:cNvPr id="6" name="Biomass 1 heading"/>
          <p:cNvSpPr txBox="1"/>
          <p:nvPr/>
        </p:nvSpPr>
        <p:spPr>
          <a:xfrm>
            <a:off x="1280160" y="1325880"/>
            <a:ext cx="3017520" cy="457200"/>
          </a:xfrm>
          <a:prstGeom prst="rect">
            <a:avLst/>
          </a:prstGeom>
          <a:noFill/>
          <a:ln/>
        </p:spPr>
        <p:txBody>
          <a:bodyPr wrap="square" lIns="0" tIns="0" rIns="0" bIns="0" rtlCol="0" anchor="ctr"/>
          <a:lstStyle/>
          <a:p>
            <a:pPr indent="0" marL="0">
              <a:buNone/>
            </a:pPr>
            <a:r>
              <a:rPr lang="en-US" sz="1700" b="1" dirty="0">
                <a:solidFill>
                  <a:schemeClr val="tx2"/>
                </a:solidFill>
              </a:rPr>
              <a:t>Borrowed</a:t>
            </a:r>
            <a:endParaRPr lang="en-US" sz="1700" dirty="0"/>
          </a:p>
        </p:txBody>
      </p:sp>
      <p:sp>
        <p:nvSpPr>
          <p:cNvPr id="7" name="Biomass 1 list"/>
          <p:cNvSpPr txBox="1"/>
          <p:nvPr/>
        </p:nvSpPr>
        <p:spPr>
          <a:xfrm>
            <a:off x="685800" y="1874520"/>
            <a:ext cx="3611880" cy="105156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Template biomass for Gram-negative or Gram-positive bacteria (CarveMe, ModelSEED)</a:t>
            </a:r>
            <a:endParaRPr lang="en-US" sz="1400" dirty="0"/>
          </a:p>
          <a:p>
            <a:pPr marL="177800" indent="-177800">
              <a:spcAft>
                <a:spcPts val="400"/>
              </a:spcAft>
              <a:buSzPct val="100000"/>
              <a:buChar char="•"/>
            </a:pPr>
            <a:r>
              <a:rPr lang="en-US" sz="1400" dirty="0">
                <a:solidFill>
                  <a:schemeClr val="tx1"/>
                </a:solidFill>
              </a:rPr>
              <a:t>Copied from the template model (RAVEN, AlphaGEM)</a:t>
            </a:r>
            <a:endParaRPr lang="en-US" sz="1400" dirty="0"/>
          </a:p>
        </p:txBody>
      </p:sp>
      <p:sp>
        <p:nvSpPr>
          <p:cNvPr id="8" name="Biomass 1 note"/>
          <p:cNvSpPr txBox="1"/>
          <p:nvPr/>
        </p:nvSpPr>
        <p:spPr>
          <a:xfrm>
            <a:off x="685800" y="2971800"/>
            <a:ext cx="3611880" cy="292608"/>
          </a:xfrm>
          <a:prstGeom prst="rect">
            <a:avLst/>
          </a:prstGeom>
          <a:noFill/>
          <a:ln/>
        </p:spPr>
        <p:txBody>
          <a:bodyPr wrap="square" lIns="0" tIns="0" rIns="0" bIns="0" rtlCol="0" anchor="t"/>
          <a:lstStyle/>
          <a:p>
            <a:pPr indent="0" marL="0">
              <a:buNone/>
            </a:pPr>
            <a:r>
              <a:rPr lang="en-US" sz="1300" i="1" dirty="0">
                <a:solidFill>
                  <a:schemeClr val="accent3"/>
                </a:solidFill>
              </a:rPr>
              <a:t>quick, but may not fit your organism</a:t>
            </a:r>
            <a:endParaRPr lang="en-US" sz="1300" dirty="0"/>
          </a:p>
        </p:txBody>
      </p:sp>
      <p:sp>
        <p:nvSpPr>
          <p:cNvPr id="9" name="Biomass card 2"/>
          <p:cNvSpPr/>
          <p:nvPr/>
        </p:nvSpPr>
        <p:spPr>
          <a:xfrm>
            <a:off x="4663440" y="1188720"/>
            <a:ext cx="4023360" cy="2148840"/>
          </a:xfrm>
          <a:prstGeom prst="roundRect">
            <a:avLst>
              <a:gd name="adj" fmla="val 3404"/>
            </a:avLst>
          </a:prstGeom>
          <a:solidFill>
            <a:schemeClr val="bg2"/>
          </a:solidFill>
          <a:ln/>
        </p:spPr>
      </p:sp>
      <p:sp>
        <p:nvSpPr>
          <p:cNvPr id="10" name="Biomass 2 node"/>
          <p:cNvSpPr/>
          <p:nvPr/>
        </p:nvSpPr>
        <p:spPr>
          <a:xfrm>
            <a:off x="4864608" y="1325880"/>
            <a:ext cx="457200" cy="457200"/>
          </a:xfrm>
          <a:prstGeom prst="ellipse">
            <a:avLst/>
          </a:prstGeom>
          <a:solidFill>
            <a:schemeClr val="accent1"/>
          </a:solidFill>
          <a:ln/>
        </p:spPr>
      </p:sp>
      <p:pic>
        <p:nvPicPr>
          <p:cNvPr id="11" name="Biomass 2 icon" descr="preencoded.png">    </p:cNvPr>
          <p:cNvPicPr>
            <a:picLocks noChangeAspect="1"/>
          </p:cNvPicPr>
          <p:nvPr/>
        </p:nvPicPr>
        <p:blipFill>
          <a:blip r:embed="rId2"/>
          <a:stretch>
            <a:fillRect/>
          </a:stretch>
        </p:blipFill>
        <p:spPr>
          <a:xfrm>
            <a:off x="4978908" y="1440180"/>
            <a:ext cx="228600" cy="228600"/>
          </a:xfrm>
          <a:prstGeom prst="rect">
            <a:avLst/>
          </a:prstGeom>
        </p:spPr>
      </p:pic>
      <p:sp>
        <p:nvSpPr>
          <p:cNvPr id="12" name="Biomass 2 heading"/>
          <p:cNvSpPr txBox="1"/>
          <p:nvPr/>
        </p:nvSpPr>
        <p:spPr>
          <a:xfrm>
            <a:off x="5486400" y="1325880"/>
            <a:ext cx="3017520" cy="457200"/>
          </a:xfrm>
          <a:prstGeom prst="rect">
            <a:avLst/>
          </a:prstGeom>
          <a:noFill/>
          <a:ln/>
        </p:spPr>
        <p:txBody>
          <a:bodyPr wrap="square" lIns="0" tIns="0" rIns="0" bIns="0" rtlCol="0" anchor="ctr"/>
          <a:lstStyle/>
          <a:p>
            <a:pPr indent="0" marL="0">
              <a:buNone/>
            </a:pPr>
            <a:r>
              <a:rPr lang="en-US" sz="1700" b="1" dirty="0">
                <a:solidFill>
                  <a:schemeClr val="tx2"/>
                </a:solidFill>
              </a:rPr>
              <a:t>Measured</a:t>
            </a:r>
            <a:endParaRPr lang="en-US" sz="1700" dirty="0"/>
          </a:p>
        </p:txBody>
      </p:sp>
      <p:sp>
        <p:nvSpPr>
          <p:cNvPr id="13" name="Biomass 2 list"/>
          <p:cNvSpPr txBox="1"/>
          <p:nvPr/>
        </p:nvSpPr>
        <p:spPr>
          <a:xfrm>
            <a:off x="4892040" y="1874520"/>
            <a:ext cx="3611880" cy="105156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Protein, DNA and RNA composition computed from the genome (e.g. merlin)</a:t>
            </a:r>
            <a:endParaRPr lang="en-US" sz="1400" dirty="0"/>
          </a:p>
          <a:p>
            <a:pPr marL="177800" indent="-177800">
              <a:spcAft>
                <a:spcPts val="400"/>
              </a:spcAft>
              <a:buSzPct val="100000"/>
              <a:buChar char="•"/>
            </a:pPr>
            <a:r>
              <a:rPr lang="en-US" sz="1400" dirty="0">
                <a:solidFill>
                  <a:schemeClr val="tx1"/>
                </a:solidFill>
              </a:rPr>
              <a:t>Lipids, cell wall and storage measured in the lab; ATP costs fitted to growth data</a:t>
            </a:r>
            <a:endParaRPr lang="en-US" sz="1400" dirty="0"/>
          </a:p>
        </p:txBody>
      </p:sp>
      <p:sp>
        <p:nvSpPr>
          <p:cNvPr id="14" name="Biomass 2 note"/>
          <p:cNvSpPr txBox="1"/>
          <p:nvPr/>
        </p:nvSpPr>
        <p:spPr>
          <a:xfrm>
            <a:off x="4892040" y="2971800"/>
            <a:ext cx="3611880" cy="292608"/>
          </a:xfrm>
          <a:prstGeom prst="rect">
            <a:avLst/>
          </a:prstGeom>
          <a:noFill/>
          <a:ln/>
        </p:spPr>
        <p:txBody>
          <a:bodyPr wrap="square" lIns="0" tIns="0" rIns="0" bIns="0" rtlCol="0" anchor="t"/>
          <a:lstStyle/>
          <a:p>
            <a:pPr indent="0" marL="0">
              <a:buNone/>
            </a:pPr>
            <a:r>
              <a:rPr lang="en-US" sz="1300" i="1" dirty="0">
                <a:solidFill>
                  <a:schemeClr val="accent3"/>
                </a:solidFill>
              </a:rPr>
              <a:t>organism-specific, but needs lab work</a:t>
            </a:r>
            <a:endParaRPr lang="en-US" sz="1300" dirty="0"/>
          </a:p>
        </p:txBody>
      </p:sp>
      <p:sp>
        <p:nvSpPr>
          <p:cNvPr id="15" name="Biomass stat ecoli"/>
          <p:cNvSpPr txBox="1"/>
          <p:nvPr/>
        </p:nvSpPr>
        <p:spPr>
          <a:xfrm>
            <a:off x="457200" y="3566160"/>
            <a:ext cx="868680" cy="548640"/>
          </a:xfrm>
          <a:prstGeom prst="rect">
            <a:avLst/>
          </a:prstGeom>
          <a:noFill/>
          <a:ln/>
        </p:spPr>
        <p:txBody>
          <a:bodyPr wrap="square" lIns="0" tIns="0" rIns="0" bIns="0" rtlCol="0" anchor="ctr"/>
          <a:lstStyle/>
          <a:p>
            <a:pPr indent="0" marL="0">
              <a:buNone/>
            </a:pPr>
            <a:r>
              <a:rPr lang="en-US" sz="3600" b="1" dirty="0">
                <a:solidFill>
                  <a:schemeClr val="accent1"/>
                </a:solidFill>
                <a:latin typeface="+mj-lt" pitchFamily="34" charset="0"/>
                <a:ea typeface="+mj-lt" pitchFamily="34" charset="-122"/>
                <a:cs typeface="+mj-lt" pitchFamily="34" charset="-120"/>
              </a:rPr>
              <a:t>68</a:t>
            </a:r>
            <a:endParaRPr lang="en-US" sz="3600" dirty="0"/>
          </a:p>
        </p:txBody>
      </p:sp>
      <p:sp>
        <p:nvSpPr>
          <p:cNvPr id="16" name="Biomass stat ecoli label"/>
          <p:cNvSpPr txBox="1"/>
          <p:nvPr/>
        </p:nvSpPr>
        <p:spPr>
          <a:xfrm>
            <a:off x="1325880" y="3566160"/>
            <a:ext cx="2194560" cy="548640"/>
          </a:xfrm>
          <a:prstGeom prst="rect">
            <a:avLst/>
          </a:prstGeom>
          <a:noFill/>
          <a:ln/>
        </p:spPr>
        <p:txBody>
          <a:bodyPr wrap="square" lIns="0" tIns="0" rIns="0" bIns="0" rtlCol="0" anchor="ctr"/>
          <a:lstStyle/>
          <a:p>
            <a:pPr indent="0" marL="0">
              <a:buNone/>
            </a:pPr>
            <a:r>
              <a:rPr lang="en-US" sz="1300" dirty="0">
                <a:solidFill>
                  <a:schemeClr val="tx1"/>
                </a:solidFill>
              </a:rPr>
              <a:t>components in iJO1366's core biomass reaction</a:t>
            </a:r>
            <a:endParaRPr lang="en-US" sz="1300" dirty="0"/>
          </a:p>
        </p:txBody>
      </p:sp>
      <p:sp>
        <p:nvSpPr>
          <p:cNvPr id="17" name="Biomass stat toy"/>
          <p:cNvSpPr txBox="1"/>
          <p:nvPr/>
        </p:nvSpPr>
        <p:spPr>
          <a:xfrm>
            <a:off x="3611880" y="3566160"/>
            <a:ext cx="411480" cy="548640"/>
          </a:xfrm>
          <a:prstGeom prst="rect">
            <a:avLst/>
          </a:prstGeom>
          <a:noFill/>
          <a:ln/>
        </p:spPr>
        <p:txBody>
          <a:bodyPr wrap="square" lIns="0" tIns="0" rIns="0" bIns="0" rtlCol="0" anchor="ctr"/>
          <a:lstStyle/>
          <a:p>
            <a:pPr indent="0" marL="0">
              <a:buNone/>
            </a:pPr>
            <a:r>
              <a:rPr lang="en-US" sz="3600" b="1" dirty="0">
                <a:solidFill>
                  <a:schemeClr val="accent5"/>
                </a:solidFill>
                <a:latin typeface="+mj-lt" pitchFamily="34" charset="0"/>
                <a:ea typeface="+mj-lt" pitchFamily="34" charset="-122"/>
                <a:cs typeface="+mj-lt" pitchFamily="34" charset="-120"/>
              </a:rPr>
              <a:t>3</a:t>
            </a:r>
            <a:endParaRPr lang="en-US" sz="3600" dirty="0"/>
          </a:p>
        </p:txBody>
      </p:sp>
      <p:sp>
        <p:nvSpPr>
          <p:cNvPr id="18" name="Biomass stat toy label"/>
          <p:cNvSpPr txBox="1"/>
          <p:nvPr/>
        </p:nvSpPr>
        <p:spPr>
          <a:xfrm>
            <a:off x="4069080" y="3566160"/>
            <a:ext cx="1188720" cy="548640"/>
          </a:xfrm>
          <a:prstGeom prst="rect">
            <a:avLst/>
          </a:prstGeom>
          <a:noFill/>
          <a:ln/>
        </p:spPr>
        <p:txBody>
          <a:bodyPr wrap="square" lIns="0" tIns="0" rIns="0" bIns="0" rtlCol="0" anchor="ctr"/>
          <a:lstStyle/>
          <a:p>
            <a:pPr indent="0" marL="0">
              <a:buNone/>
            </a:pPr>
            <a:r>
              <a:rPr lang="en-US" sz="1300" dirty="0">
                <a:solidFill>
                  <a:schemeClr val="tx1"/>
                </a:solidFill>
              </a:rPr>
              <a:t>in Toybacter's</a:t>
            </a:r>
            <a:endParaRPr lang="en-US" sz="1300" dirty="0"/>
          </a:p>
        </p:txBody>
      </p:sp>
      <p:sp>
        <p:nvSpPr>
          <p:cNvPr id="19" name="Biomass message"/>
          <p:cNvSpPr txBox="1"/>
          <p:nvPr/>
        </p:nvSpPr>
        <p:spPr>
          <a:xfrm>
            <a:off x="5349240" y="3520440"/>
            <a:ext cx="3337560" cy="914400"/>
          </a:xfrm>
          <a:prstGeom prst="rect">
            <a:avLst/>
          </a:prstGeom>
          <a:noFill/>
          <a:ln/>
        </p:spPr>
        <p:txBody>
          <a:bodyPr wrap="square" lIns="0" tIns="0" rIns="0" bIns="0" rtlCol="0" anchor="ctr"/>
          <a:lstStyle/>
          <a:p>
            <a:pPr indent="0" marL="0">
              <a:buNone/>
            </a:pPr>
            <a:r>
              <a:rPr lang="en-US" sz="1400" b="1" dirty="0">
                <a:solidFill>
                  <a:schemeClr val="tx2"/>
                </a:solidFill>
              </a:rPr>
              <a:t>Predicted growth moves with every coefficient: </a:t>
            </a:r>
            <a:pPr indent="0" marL="0">
              <a:buNone/>
            </a:pPr>
            <a:r>
              <a:rPr lang="en-US" sz="1400" dirty="0">
                <a:solidFill>
                  <a:schemeClr val="tx1"/>
                </a:solidFill>
              </a:rPr>
              <a:t>biomass is a modelling choice, not a fact of the genome.</a:t>
            </a:r>
            <a:endParaRPr lang="en-US" sz="14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400" b="1" dirty="0">
                <a:solidFill>
                  <a:schemeClr val="tx2"/>
                </a:solidFill>
              </a:rPr>
              <a:t>Gap-filling: the smallest fix</a:t>
            </a:r>
            <a:endParaRPr lang="en-US" sz="3400" dirty="0"/>
          </a:p>
        </p:txBody>
      </p:sp>
      <p:sp>
        <p:nvSpPr>
          <p:cNvPr id="3" name="Gapfill input 1"/>
          <p:cNvSpPr/>
          <p:nvPr/>
        </p:nvSpPr>
        <p:spPr>
          <a:xfrm>
            <a:off x="457200" y="1234440"/>
            <a:ext cx="2377440" cy="731520"/>
          </a:xfrm>
          <a:prstGeom prst="roundRect">
            <a:avLst>
              <a:gd name="adj" fmla="val 10000"/>
            </a:avLst>
          </a:prstGeom>
          <a:solidFill>
            <a:schemeClr val="bg2"/>
          </a:solidFill>
          <a:ln/>
        </p:spPr>
      </p:sp>
      <p:sp>
        <p:nvSpPr>
          <p:cNvPr id="4" name="Gapfill input 1 node"/>
          <p:cNvSpPr/>
          <p:nvPr/>
        </p:nvSpPr>
        <p:spPr>
          <a:xfrm>
            <a:off x="594360" y="1371600"/>
            <a:ext cx="457200" cy="457200"/>
          </a:xfrm>
          <a:prstGeom prst="ellipse">
            <a:avLst/>
          </a:prstGeom>
          <a:solidFill>
            <a:schemeClr val="accent1"/>
          </a:solidFill>
          <a:ln/>
        </p:spPr>
      </p:sp>
      <p:pic>
        <p:nvPicPr>
          <p:cNvPr id="5" name="Gapfill input 1 icon" descr="preencoded.png">    </p:cNvPr>
          <p:cNvPicPr>
            <a:picLocks noChangeAspect="1"/>
          </p:cNvPicPr>
          <p:nvPr/>
        </p:nvPicPr>
        <p:blipFill>
          <a:blip r:embed="rId1"/>
          <a:stretch>
            <a:fillRect/>
          </a:stretch>
        </p:blipFill>
        <p:spPr>
          <a:xfrm>
            <a:off x="708660" y="1485900"/>
            <a:ext cx="228600" cy="228600"/>
          </a:xfrm>
          <a:prstGeom prst="rect">
            <a:avLst/>
          </a:prstGeom>
        </p:spPr>
      </p:pic>
      <p:sp>
        <p:nvSpPr>
          <p:cNvPr id="6" name="Gapfill input 1 text"/>
          <p:cNvSpPr txBox="1"/>
          <p:nvPr/>
        </p:nvSpPr>
        <p:spPr>
          <a:xfrm>
            <a:off x="1143000" y="1234440"/>
            <a:ext cx="1645920" cy="731520"/>
          </a:xfrm>
          <a:prstGeom prst="rect">
            <a:avLst/>
          </a:prstGeom>
          <a:noFill/>
          <a:ln/>
        </p:spPr>
        <p:txBody>
          <a:bodyPr wrap="square" lIns="0" tIns="0" rIns="0" bIns="0" rtlCol="0" anchor="ctr"/>
          <a:lstStyle/>
          <a:p>
            <a:pPr indent="0" marL="0">
              <a:buNone/>
            </a:pPr>
            <a:r>
              <a:rPr lang="en-US" sz="1400" b="1" dirty="0">
                <a:solidFill>
                  <a:schemeClr val="tx2"/>
                </a:solidFill>
              </a:rPr>
              <a:t>Draft model</a:t>
            </a:r>
            <a:endParaRPr lang="en-US" sz="1400" dirty="0"/>
          </a:p>
          <a:p>
            <a:pPr indent="0" marL="0">
              <a:buNone/>
            </a:pPr>
            <a:r>
              <a:rPr lang="en-US" sz="1400" dirty="0">
                <a:solidFill>
                  <a:schemeClr val="accent3"/>
                </a:solidFill>
              </a:rPr>
              <a:t>cannot grow</a:t>
            </a:r>
            <a:endParaRPr lang="en-US" sz="1400" dirty="0"/>
          </a:p>
        </p:txBody>
      </p:sp>
      <p:sp>
        <p:nvSpPr>
          <p:cNvPr id="7" name="Gapfill input arrow 1"/>
          <p:cNvSpPr/>
          <p:nvPr/>
        </p:nvSpPr>
        <p:spPr>
          <a:xfrm>
            <a:off x="2880360" y="1600200"/>
            <a:ext cx="365760" cy="795528"/>
          </a:xfrm>
          <a:prstGeom prst="line">
            <a:avLst/>
          </a:prstGeom>
          <a:noFill/>
          <a:ln w="19050">
            <a:solidFill>
              <a:schemeClr val="accent3"/>
            </a:solidFill>
            <a:prstDash val="solid"/>
            <a:tailEnd type="triangle"/>
          </a:ln>
        </p:spPr>
      </p:sp>
      <p:sp>
        <p:nvSpPr>
          <p:cNvPr id="8" name="Gapfill input 2"/>
          <p:cNvSpPr/>
          <p:nvPr/>
        </p:nvSpPr>
        <p:spPr>
          <a:xfrm>
            <a:off x="457200" y="2103120"/>
            <a:ext cx="2377440" cy="731520"/>
          </a:xfrm>
          <a:prstGeom prst="roundRect">
            <a:avLst>
              <a:gd name="adj" fmla="val 10000"/>
            </a:avLst>
          </a:prstGeom>
          <a:solidFill>
            <a:schemeClr val="bg2"/>
          </a:solidFill>
          <a:ln/>
        </p:spPr>
      </p:sp>
      <p:sp>
        <p:nvSpPr>
          <p:cNvPr id="9" name="Gapfill input 2 node"/>
          <p:cNvSpPr/>
          <p:nvPr/>
        </p:nvSpPr>
        <p:spPr>
          <a:xfrm>
            <a:off x="594360" y="2240280"/>
            <a:ext cx="457200" cy="457200"/>
          </a:xfrm>
          <a:prstGeom prst="ellipse">
            <a:avLst/>
          </a:prstGeom>
          <a:solidFill>
            <a:schemeClr val="accent1"/>
          </a:solidFill>
          <a:ln/>
        </p:spPr>
      </p:sp>
      <p:pic>
        <p:nvPicPr>
          <p:cNvPr id="10" name="Gapfill input 2 icon" descr="preencoded.png">    </p:cNvPr>
          <p:cNvPicPr>
            <a:picLocks noChangeAspect="1"/>
          </p:cNvPicPr>
          <p:nvPr/>
        </p:nvPicPr>
        <p:blipFill>
          <a:blip r:embed="rId2"/>
          <a:stretch>
            <a:fillRect/>
          </a:stretch>
        </p:blipFill>
        <p:spPr>
          <a:xfrm>
            <a:off x="708660" y="2354580"/>
            <a:ext cx="228600" cy="228600"/>
          </a:xfrm>
          <a:prstGeom prst="rect">
            <a:avLst/>
          </a:prstGeom>
        </p:spPr>
      </p:pic>
      <p:sp>
        <p:nvSpPr>
          <p:cNvPr id="11" name="Gapfill input 2 text"/>
          <p:cNvSpPr txBox="1"/>
          <p:nvPr/>
        </p:nvSpPr>
        <p:spPr>
          <a:xfrm>
            <a:off x="1143000" y="2103120"/>
            <a:ext cx="1645920" cy="731520"/>
          </a:xfrm>
          <a:prstGeom prst="rect">
            <a:avLst/>
          </a:prstGeom>
          <a:noFill/>
          <a:ln/>
        </p:spPr>
        <p:txBody>
          <a:bodyPr wrap="square" lIns="0" tIns="0" rIns="0" bIns="0" rtlCol="0" anchor="ctr"/>
          <a:lstStyle/>
          <a:p>
            <a:pPr indent="0" marL="0">
              <a:buNone/>
            </a:pPr>
            <a:r>
              <a:rPr lang="en-US" sz="1400" b="1" dirty="0">
                <a:solidFill>
                  <a:schemeClr val="tx2"/>
                </a:solidFill>
              </a:rPr>
              <a:t>Universal database</a:t>
            </a:r>
            <a:endParaRPr lang="en-US" sz="1400" dirty="0"/>
          </a:p>
          <a:p>
            <a:pPr indent="0" marL="0">
              <a:buNone/>
            </a:pPr>
            <a:r>
              <a:rPr lang="en-US" sz="1400" dirty="0">
                <a:solidFill>
                  <a:schemeClr val="accent3"/>
                </a:solidFill>
              </a:rPr>
              <a:t>candidate reactions</a:t>
            </a:r>
            <a:endParaRPr lang="en-US" sz="1400" dirty="0"/>
          </a:p>
        </p:txBody>
      </p:sp>
      <p:sp>
        <p:nvSpPr>
          <p:cNvPr id="12" name="Gapfill input arrow 2"/>
          <p:cNvSpPr/>
          <p:nvPr/>
        </p:nvSpPr>
        <p:spPr>
          <a:xfrm flipV="1">
            <a:off x="2880360" y="2395728"/>
            <a:ext cx="365760" cy="73152"/>
          </a:xfrm>
          <a:prstGeom prst="line">
            <a:avLst/>
          </a:prstGeom>
          <a:noFill/>
          <a:ln w="19050">
            <a:solidFill>
              <a:schemeClr val="accent3"/>
            </a:solidFill>
            <a:prstDash val="solid"/>
            <a:tailEnd type="triangle"/>
          </a:ln>
        </p:spPr>
      </p:sp>
      <p:sp>
        <p:nvSpPr>
          <p:cNvPr id="13" name="Gapfill input 3"/>
          <p:cNvSpPr/>
          <p:nvPr/>
        </p:nvSpPr>
        <p:spPr>
          <a:xfrm>
            <a:off x="457200" y="2971800"/>
            <a:ext cx="2377440" cy="731520"/>
          </a:xfrm>
          <a:prstGeom prst="roundRect">
            <a:avLst>
              <a:gd name="adj" fmla="val 10000"/>
            </a:avLst>
          </a:prstGeom>
          <a:solidFill>
            <a:schemeClr val="bg2"/>
          </a:solidFill>
          <a:ln/>
        </p:spPr>
      </p:sp>
      <p:sp>
        <p:nvSpPr>
          <p:cNvPr id="14" name="Gapfill input 3 node"/>
          <p:cNvSpPr/>
          <p:nvPr/>
        </p:nvSpPr>
        <p:spPr>
          <a:xfrm>
            <a:off x="594360" y="3108960"/>
            <a:ext cx="457200" cy="457200"/>
          </a:xfrm>
          <a:prstGeom prst="ellipse">
            <a:avLst/>
          </a:prstGeom>
          <a:solidFill>
            <a:schemeClr val="accent1"/>
          </a:solidFill>
          <a:ln/>
        </p:spPr>
      </p:sp>
      <p:pic>
        <p:nvPicPr>
          <p:cNvPr id="15" name="Gapfill input 3 icon" descr="preencoded.png">    </p:cNvPr>
          <p:cNvPicPr>
            <a:picLocks noChangeAspect="1"/>
          </p:cNvPicPr>
          <p:nvPr/>
        </p:nvPicPr>
        <p:blipFill>
          <a:blip r:embed="rId3"/>
          <a:stretch>
            <a:fillRect/>
          </a:stretch>
        </p:blipFill>
        <p:spPr>
          <a:xfrm>
            <a:off x="708660" y="3223260"/>
            <a:ext cx="228600" cy="228600"/>
          </a:xfrm>
          <a:prstGeom prst="rect">
            <a:avLst/>
          </a:prstGeom>
        </p:spPr>
      </p:pic>
      <p:sp>
        <p:nvSpPr>
          <p:cNvPr id="16" name="Gapfill input 3 text"/>
          <p:cNvSpPr txBox="1"/>
          <p:nvPr/>
        </p:nvSpPr>
        <p:spPr>
          <a:xfrm>
            <a:off x="1143000" y="2971800"/>
            <a:ext cx="1645920" cy="731520"/>
          </a:xfrm>
          <a:prstGeom prst="rect">
            <a:avLst/>
          </a:prstGeom>
          <a:noFill/>
          <a:ln/>
        </p:spPr>
        <p:txBody>
          <a:bodyPr wrap="square" lIns="0" tIns="0" rIns="0" bIns="0" rtlCol="0" anchor="ctr"/>
          <a:lstStyle/>
          <a:p>
            <a:pPr indent="0" marL="0">
              <a:buNone/>
            </a:pPr>
            <a:r>
              <a:rPr lang="en-US" sz="1400" b="1" dirty="0">
                <a:solidFill>
                  <a:schemeClr val="tx2"/>
                </a:solidFill>
              </a:rPr>
              <a:t>Medium</a:t>
            </a:r>
            <a:endParaRPr lang="en-US" sz="1400" dirty="0"/>
          </a:p>
          <a:p>
            <a:pPr indent="0" marL="0">
              <a:buNone/>
            </a:pPr>
            <a:r>
              <a:rPr lang="en-US" sz="1400" dirty="0">
                <a:solidFill>
                  <a:schemeClr val="accent3"/>
                </a:solidFill>
              </a:rPr>
              <a:t>available nutrients</a:t>
            </a:r>
            <a:endParaRPr lang="en-US" sz="1400" dirty="0"/>
          </a:p>
        </p:txBody>
      </p:sp>
      <p:sp>
        <p:nvSpPr>
          <p:cNvPr id="17" name="Gapfill input arrow 3"/>
          <p:cNvSpPr/>
          <p:nvPr/>
        </p:nvSpPr>
        <p:spPr>
          <a:xfrm flipV="1">
            <a:off x="2880360" y="2395728"/>
            <a:ext cx="365760" cy="941832"/>
          </a:xfrm>
          <a:prstGeom prst="line">
            <a:avLst/>
          </a:prstGeom>
          <a:noFill/>
          <a:ln w="19050">
            <a:solidFill>
              <a:schemeClr val="accent3"/>
            </a:solidFill>
            <a:prstDash val="solid"/>
            <a:tailEnd type="triangle"/>
          </a:ln>
        </p:spPr>
      </p:sp>
      <p:sp>
        <p:nvSpPr>
          <p:cNvPr id="18" name="MILP card"/>
          <p:cNvSpPr/>
          <p:nvPr/>
        </p:nvSpPr>
        <p:spPr>
          <a:xfrm>
            <a:off x="3291840" y="1234440"/>
            <a:ext cx="3200400" cy="2468880"/>
          </a:xfrm>
          <a:prstGeom prst="roundRect">
            <a:avLst>
              <a:gd name="adj" fmla="val 2963"/>
            </a:avLst>
          </a:prstGeom>
          <a:solidFill>
            <a:schemeClr val="tx2"/>
          </a:solidFill>
          <a:ln/>
        </p:spPr>
      </p:sp>
      <p:sp>
        <p:nvSpPr>
          <p:cNvPr id="19" name="MILP label"/>
          <p:cNvSpPr txBox="1"/>
          <p:nvPr/>
        </p:nvSpPr>
        <p:spPr>
          <a:xfrm>
            <a:off x="3520440" y="1371600"/>
            <a:ext cx="2743200" cy="320040"/>
          </a:xfrm>
          <a:prstGeom prst="rect">
            <a:avLst/>
          </a:prstGeom>
          <a:noFill/>
          <a:ln/>
        </p:spPr>
        <p:txBody>
          <a:bodyPr wrap="square" lIns="0" tIns="0" rIns="0" bIns="0" rtlCol="0" anchor="t"/>
          <a:lstStyle/>
          <a:p>
            <a:pPr indent="0" marL="0">
              <a:buNone/>
            </a:pPr>
            <a:r>
              <a:rPr lang="en-US" sz="1300" b="1" dirty="0">
                <a:solidFill>
                  <a:schemeClr val="accent2"/>
                </a:solidFill>
              </a:rPr>
              <a:t>Mixed-integer linear program</a:t>
            </a:r>
            <a:endParaRPr lang="en-US" sz="1300" dirty="0"/>
          </a:p>
        </p:txBody>
      </p:sp>
      <p:sp>
        <p:nvSpPr>
          <p:cNvPr id="20" name="MILP formula"/>
          <p:cNvSpPr txBox="1"/>
          <p:nvPr/>
        </p:nvSpPr>
        <p:spPr>
          <a:xfrm>
            <a:off x="3520440" y="1783080"/>
            <a:ext cx="2834640" cy="1325880"/>
          </a:xfrm>
          <a:prstGeom prst="rect">
            <a:avLst/>
          </a:prstGeom>
          <a:noFill/>
          <a:ln/>
        </p:spPr>
        <p:txBody>
          <a:bodyPr wrap="square" lIns="0" tIns="0" rIns="0" bIns="0" rtlCol="0" anchor="t"/>
          <a:lstStyle/>
          <a:p>
            <a:pPr indent="0" marL="0">
              <a:lnSpc>
                <a:spcPts val="2600"/>
              </a:lnSpc>
              <a:buNone/>
            </a:pPr>
            <a:r>
              <a:rPr lang="en-US" sz="1600" dirty="0">
                <a:solidFill>
                  <a:schemeClr val="bg1"/>
                </a:solidFill>
                <a:latin typeface="+mj-lt" pitchFamily="34" charset="0"/>
                <a:ea typeface="+mj-lt" pitchFamily="34" charset="-122"/>
                <a:cs typeface="+mj-lt" pitchFamily="34" charset="-120"/>
              </a:rPr>
              <a:t>minimise  Σ w</a:t>
            </a:r>
            <a:pPr indent="0" marL="0">
              <a:lnSpc>
                <a:spcPts val="2600"/>
              </a:lnSpc>
              <a:buNone/>
            </a:pPr>
            <a:r>
              <a:rPr lang="en-US" sz="1600" baseline="-40000" dirty="0">
                <a:solidFill>
                  <a:schemeClr val="bg1"/>
                </a:solidFill>
                <a:latin typeface="+mj-lt" pitchFamily="34" charset="0"/>
                <a:ea typeface="+mj-lt" pitchFamily="34" charset="-122"/>
                <a:cs typeface="+mj-lt" pitchFamily="34" charset="-120"/>
              </a:rPr>
              <a:t>i</a:t>
            </a:r>
            <a:pPr indent="0" marL="0">
              <a:lnSpc>
                <a:spcPts val="2600"/>
              </a:lnSpc>
              <a:buNone/>
            </a:pPr>
            <a:r>
              <a:rPr lang="en-US" sz="1600" dirty="0">
                <a:solidFill>
                  <a:schemeClr val="bg1"/>
                </a:solidFill>
                <a:latin typeface="+mj-lt" pitchFamily="34" charset="0"/>
                <a:ea typeface="+mj-lt" pitchFamily="34" charset="-122"/>
                <a:cs typeface="+mj-lt" pitchFamily="34" charset="-120"/>
              </a:rPr>
              <a:t> y</a:t>
            </a:r>
            <a:pPr indent="0" marL="0">
              <a:lnSpc>
                <a:spcPts val="2600"/>
              </a:lnSpc>
              <a:buNone/>
            </a:pPr>
            <a:r>
              <a:rPr lang="en-US" sz="1600" baseline="-40000" dirty="0">
                <a:solidFill>
                  <a:schemeClr val="bg1"/>
                </a:solidFill>
                <a:latin typeface="+mj-lt" pitchFamily="34" charset="0"/>
                <a:ea typeface="+mj-lt" pitchFamily="34" charset="-122"/>
                <a:cs typeface="+mj-lt" pitchFamily="34" charset="-120"/>
              </a:rPr>
              <a:t>i</a:t>
            </a:r>
            <a:endParaRPr lang="en-US" sz="1600" dirty="0"/>
          </a:p>
          <a:p>
            <a:pPr indent="0" marL="0">
              <a:lnSpc>
                <a:spcPts val="2600"/>
              </a:lnSpc>
              <a:buNone/>
            </a:pPr>
            <a:r>
              <a:rPr lang="en-US" sz="1600" dirty="0">
                <a:solidFill>
                  <a:schemeClr val="bg1"/>
                </a:solidFill>
                <a:latin typeface="+mj-lt" pitchFamily="34" charset="0"/>
                <a:ea typeface="+mj-lt" pitchFamily="34" charset="-122"/>
                <a:cs typeface="+mj-lt" pitchFamily="34" charset="-120"/>
              </a:rPr>
              <a:t>subject to  S · v = 0</a:t>
            </a:r>
            <a:endParaRPr lang="en-US" sz="1600" dirty="0"/>
          </a:p>
          <a:p>
            <a:pPr indent="0" marL="0">
              <a:lnSpc>
                <a:spcPts val="2600"/>
              </a:lnSpc>
              <a:buNone/>
            </a:pPr>
            <a:r>
              <a:rPr lang="en-US" sz="1600" dirty="0">
                <a:solidFill>
                  <a:schemeClr val="bg1"/>
                </a:solidFill>
                <a:latin typeface="+mj-lt" pitchFamily="34" charset="0"/>
                <a:ea typeface="+mj-lt" pitchFamily="34" charset="-122"/>
                <a:cs typeface="+mj-lt" pitchFamily="34" charset="-120"/>
              </a:rPr>
              <a:t>growth ≥ μ</a:t>
            </a:r>
            <a:pPr indent="0" marL="0">
              <a:lnSpc>
                <a:spcPts val="2600"/>
              </a:lnSpc>
              <a:buNone/>
            </a:pPr>
            <a:r>
              <a:rPr lang="en-US" sz="1600" baseline="-40000" dirty="0">
                <a:solidFill>
                  <a:schemeClr val="bg1"/>
                </a:solidFill>
                <a:latin typeface="+mj-lt" pitchFamily="34" charset="0"/>
                <a:ea typeface="+mj-lt" pitchFamily="34" charset="-122"/>
                <a:cs typeface="+mj-lt" pitchFamily="34" charset="-120"/>
              </a:rPr>
              <a:t>min</a:t>
            </a:r>
            <a:endParaRPr lang="en-US" sz="1600" dirty="0"/>
          </a:p>
          <a:p>
            <a:pPr indent="0" marL="0">
              <a:lnSpc>
                <a:spcPts val="2600"/>
              </a:lnSpc>
              <a:buNone/>
            </a:pPr>
            <a:r>
              <a:rPr lang="en-US" sz="1600" dirty="0">
                <a:solidFill>
                  <a:schemeClr val="bg1"/>
                </a:solidFill>
                <a:latin typeface="+mj-lt" pitchFamily="34" charset="0"/>
                <a:ea typeface="+mj-lt" pitchFamily="34" charset="-122"/>
                <a:cs typeface="+mj-lt" pitchFamily="34" charset="-120"/>
              </a:rPr>
              <a:t>v</a:t>
            </a:r>
            <a:pPr indent="0" marL="0">
              <a:lnSpc>
                <a:spcPts val="2600"/>
              </a:lnSpc>
              <a:buNone/>
            </a:pPr>
            <a:r>
              <a:rPr lang="en-US" sz="1600" baseline="-40000" dirty="0">
                <a:solidFill>
                  <a:schemeClr val="bg1"/>
                </a:solidFill>
                <a:latin typeface="+mj-lt" pitchFamily="34" charset="0"/>
                <a:ea typeface="+mj-lt" pitchFamily="34" charset="-122"/>
                <a:cs typeface="+mj-lt" pitchFamily="34" charset="-120"/>
              </a:rPr>
              <a:t>i</a:t>
            </a:r>
            <a:pPr indent="0" marL="0">
              <a:lnSpc>
                <a:spcPts val="2600"/>
              </a:lnSpc>
              <a:buNone/>
            </a:pPr>
            <a:r>
              <a:rPr lang="en-US" sz="1600" dirty="0">
                <a:solidFill>
                  <a:schemeClr val="bg1"/>
                </a:solidFill>
                <a:latin typeface="+mj-lt" pitchFamily="34" charset="0"/>
                <a:ea typeface="+mj-lt" pitchFamily="34" charset="-122"/>
                <a:cs typeface="+mj-lt" pitchFamily="34" charset="-120"/>
              </a:rPr>
              <a:t> = 0 unless y</a:t>
            </a:r>
            <a:pPr indent="0" marL="0">
              <a:lnSpc>
                <a:spcPts val="2600"/>
              </a:lnSpc>
              <a:buNone/>
            </a:pPr>
            <a:r>
              <a:rPr lang="en-US" sz="1600" baseline="-40000" dirty="0">
                <a:solidFill>
                  <a:schemeClr val="bg1"/>
                </a:solidFill>
                <a:latin typeface="+mj-lt" pitchFamily="34" charset="0"/>
                <a:ea typeface="+mj-lt" pitchFamily="34" charset="-122"/>
                <a:cs typeface="+mj-lt" pitchFamily="34" charset="-120"/>
              </a:rPr>
              <a:t>i</a:t>
            </a:r>
            <a:pPr indent="0" marL="0">
              <a:lnSpc>
                <a:spcPts val="2600"/>
              </a:lnSpc>
              <a:buNone/>
            </a:pPr>
            <a:r>
              <a:rPr lang="en-US" sz="1600" dirty="0">
                <a:solidFill>
                  <a:schemeClr val="bg1"/>
                </a:solidFill>
                <a:latin typeface="+mj-lt" pitchFamily="34" charset="0"/>
                <a:ea typeface="+mj-lt" pitchFamily="34" charset="-122"/>
                <a:cs typeface="+mj-lt" pitchFamily="34" charset="-120"/>
              </a:rPr>
              <a:t> = 1</a:t>
            </a:r>
            <a:endParaRPr lang="en-US" sz="1600" dirty="0"/>
          </a:p>
        </p:txBody>
      </p:sp>
      <p:sp>
        <p:nvSpPr>
          <p:cNvPr id="21" name="MILP note"/>
          <p:cNvSpPr txBox="1"/>
          <p:nvPr/>
        </p:nvSpPr>
        <p:spPr>
          <a:xfrm>
            <a:off x="3520440" y="3200400"/>
            <a:ext cx="2834640" cy="365760"/>
          </a:xfrm>
          <a:prstGeom prst="rect">
            <a:avLst/>
          </a:prstGeom>
          <a:noFill/>
          <a:ln/>
        </p:spPr>
        <p:txBody>
          <a:bodyPr wrap="square" lIns="0" tIns="0" rIns="0" bIns="0" rtlCol="0" anchor="t"/>
          <a:lstStyle/>
          <a:p>
            <a:pPr indent="0" marL="0">
              <a:buNone/>
            </a:pPr>
            <a:r>
              <a:rPr lang="en-US" sz="1300" i="1" dirty="0">
                <a:solidFill>
                  <a:schemeClr val="accent4"/>
                </a:solidFill>
              </a:rPr>
              <a:t>y</a:t>
            </a:r>
            <a:pPr indent="0" marL="0">
              <a:buNone/>
            </a:pPr>
            <a:r>
              <a:rPr lang="en-US" sz="1300" i="1" baseline="-40000" dirty="0">
                <a:solidFill>
                  <a:schemeClr val="accent4"/>
                </a:solidFill>
              </a:rPr>
              <a:t>i</a:t>
            </a:r>
            <a:pPr indent="0" marL="0">
              <a:buNone/>
            </a:pPr>
            <a:r>
              <a:rPr lang="en-US" sz="1300" i="1" dirty="0">
                <a:solidFill>
                  <a:schemeClr val="accent4"/>
                </a:solidFill>
              </a:rPr>
              <a:t> = 1 adds candidate i; w</a:t>
            </a:r>
            <a:pPr indent="0" marL="0">
              <a:buNone/>
            </a:pPr>
            <a:r>
              <a:rPr lang="en-US" sz="1300" i="1" baseline="-40000" dirty="0">
                <a:solidFill>
                  <a:schemeClr val="accent4"/>
                </a:solidFill>
              </a:rPr>
              <a:t>i</a:t>
            </a:r>
            <a:pPr indent="0" marL="0">
              <a:buNone/>
            </a:pPr>
            <a:r>
              <a:rPr lang="en-US" sz="1300" i="1" dirty="0">
                <a:solidFill>
                  <a:schemeClr val="accent4"/>
                </a:solidFill>
              </a:rPr>
              <a:t> is its cost</a:t>
            </a:r>
            <a:endParaRPr lang="en-US" sz="1300" dirty="0"/>
          </a:p>
        </p:txBody>
      </p:sp>
      <p:sp>
        <p:nvSpPr>
          <p:cNvPr id="22" name="MILP output arrow"/>
          <p:cNvSpPr/>
          <p:nvPr/>
        </p:nvSpPr>
        <p:spPr>
          <a:xfrm>
            <a:off x="6537960" y="2468880"/>
            <a:ext cx="274320" cy="0"/>
          </a:xfrm>
          <a:prstGeom prst="line">
            <a:avLst/>
          </a:prstGeom>
          <a:noFill/>
          <a:ln w="31750">
            <a:solidFill>
              <a:schemeClr val="accent2"/>
            </a:solidFill>
            <a:prstDash val="solid"/>
            <a:tailEnd type="triangle"/>
          </a:ln>
        </p:spPr>
      </p:sp>
      <p:sp>
        <p:nvSpPr>
          <p:cNvPr id="23" name="Gapfill output"/>
          <p:cNvSpPr/>
          <p:nvPr/>
        </p:nvSpPr>
        <p:spPr>
          <a:xfrm>
            <a:off x="6858000" y="1234440"/>
            <a:ext cx="1828800" cy="2468880"/>
          </a:xfrm>
          <a:prstGeom prst="roundRect">
            <a:avLst>
              <a:gd name="adj" fmla="val 4000"/>
            </a:avLst>
          </a:prstGeom>
          <a:solidFill>
            <a:schemeClr val="bg2"/>
          </a:solidFill>
          <a:ln/>
        </p:spPr>
      </p:sp>
      <p:sp>
        <p:nvSpPr>
          <p:cNvPr id="24" name="Gapfill output node"/>
          <p:cNvSpPr/>
          <p:nvPr/>
        </p:nvSpPr>
        <p:spPr>
          <a:xfrm>
            <a:off x="7498080" y="1417320"/>
            <a:ext cx="548640" cy="548640"/>
          </a:xfrm>
          <a:prstGeom prst="ellipse">
            <a:avLst/>
          </a:prstGeom>
          <a:solidFill>
            <a:schemeClr val="accent2"/>
          </a:solidFill>
          <a:ln/>
        </p:spPr>
      </p:sp>
      <p:pic>
        <p:nvPicPr>
          <p:cNvPr id="25" name="Gapfill output icon" descr="preencoded.png">    </p:cNvPr>
          <p:cNvPicPr>
            <a:picLocks noChangeAspect="1"/>
          </p:cNvPicPr>
          <p:nvPr/>
        </p:nvPicPr>
        <p:blipFill>
          <a:blip r:embed="rId4"/>
          <a:stretch>
            <a:fillRect/>
          </a:stretch>
        </p:blipFill>
        <p:spPr>
          <a:xfrm>
            <a:off x="7635240" y="1554480"/>
            <a:ext cx="274320" cy="274320"/>
          </a:xfrm>
          <a:prstGeom prst="rect">
            <a:avLst/>
          </a:prstGeom>
        </p:spPr>
      </p:pic>
      <p:sp>
        <p:nvSpPr>
          <p:cNvPr id="26" name="Gapfill output text"/>
          <p:cNvSpPr txBox="1"/>
          <p:nvPr/>
        </p:nvSpPr>
        <p:spPr>
          <a:xfrm>
            <a:off x="6995160" y="2103120"/>
            <a:ext cx="1554480" cy="1463040"/>
          </a:xfrm>
          <a:prstGeom prst="rect">
            <a:avLst/>
          </a:prstGeom>
          <a:noFill/>
          <a:ln/>
        </p:spPr>
        <p:txBody>
          <a:bodyPr wrap="square" lIns="0" tIns="0" rIns="0" bIns="0" rtlCol="0" anchor="t"/>
          <a:lstStyle/>
          <a:p>
            <a:pPr algn="ctr" indent="0" marL="0">
              <a:buNone/>
            </a:pPr>
            <a:r>
              <a:rPr lang="en-US" sz="1400" dirty="0">
                <a:solidFill>
                  <a:schemeClr val="tx1"/>
                </a:solidFill>
              </a:rPr>
              <a:t>the fewest, cheapest reactions that let the model grow</a:t>
            </a:r>
            <a:endParaRPr lang="en-US" sz="1400" dirty="0"/>
          </a:p>
        </p:txBody>
      </p:sp>
      <p:sp>
        <p:nvSpPr>
          <p:cNvPr id="27" name="Gapfill callback card"/>
          <p:cNvSpPr/>
          <p:nvPr/>
        </p:nvSpPr>
        <p:spPr>
          <a:xfrm>
            <a:off x="457200" y="3931920"/>
            <a:ext cx="8229600" cy="548640"/>
          </a:xfrm>
          <a:prstGeom prst="roundRect">
            <a:avLst>
              <a:gd name="adj" fmla="val 13333"/>
            </a:avLst>
          </a:prstGeom>
          <a:solidFill>
            <a:schemeClr val="bg2"/>
          </a:solidFill>
          <a:ln/>
        </p:spPr>
      </p:sp>
      <p:sp>
        <p:nvSpPr>
          <p:cNvPr id="28" name="Gapfill callback text"/>
          <p:cNvSpPr txBox="1"/>
          <p:nvPr/>
        </p:nvSpPr>
        <p:spPr>
          <a:xfrm>
            <a:off x="685800" y="3931920"/>
            <a:ext cx="7863840" cy="548640"/>
          </a:xfrm>
          <a:prstGeom prst="rect">
            <a:avLst/>
          </a:prstGeom>
          <a:noFill/>
          <a:ln/>
        </p:spPr>
        <p:txBody>
          <a:bodyPr wrap="square" lIns="0" tIns="0" rIns="0" bIns="0" rtlCol="0" anchor="ctr"/>
          <a:lstStyle/>
          <a:p>
            <a:pPr indent="0" marL="0">
              <a:buNone/>
            </a:pPr>
            <a:r>
              <a:rPr lang="en-US" sz="1500" b="1" dirty="0">
                <a:solidFill>
                  <a:schemeClr val="tx2"/>
                </a:solidFill>
              </a:rPr>
              <a:t>This morning: </a:t>
            </a:r>
            <a:pPr indent="0" marL="0">
              <a:buNone/>
            </a:pPr>
            <a:r>
              <a:rPr lang="en-US" sz="1500" dirty="0">
                <a:solidFill>
                  <a:schemeClr val="tx1"/>
                </a:solidFill>
              </a:rPr>
              <a:t>4 candidates, answer ALAD. Real tools: thousands of candidates, with costs w</a:t>
            </a:r>
            <a:pPr indent="0" marL="0">
              <a:buNone/>
            </a:pPr>
            <a:r>
              <a:rPr lang="en-US" sz="1500" baseline="-40000" dirty="0">
                <a:solidFill>
                  <a:schemeClr val="tx1"/>
                </a:solidFill>
              </a:rPr>
              <a:t>i</a:t>
            </a:r>
            <a:pPr indent="0" marL="0">
              <a:buNone/>
            </a:pPr>
            <a:r>
              <a:rPr lang="en-US" sz="1500" dirty="0">
                <a:solidFill>
                  <a:schemeClr val="tx1"/>
                </a:solidFill>
              </a:rPr>
              <a:t> from sequence evidence.</a:t>
            </a:r>
            <a:endParaRPr lang="en-US" sz="15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400" b="1" dirty="0">
                <a:solidFill>
                  <a:schemeClr val="tx2"/>
                </a:solidFill>
              </a:rPr>
              <a:t>Gap-filling can mislead</a:t>
            </a:r>
            <a:endParaRPr lang="en-US" sz="3400" dirty="0"/>
          </a:p>
        </p:txBody>
      </p:sp>
      <p:sp>
        <p:nvSpPr>
          <p:cNvPr id="3" name="Risk 1 node"/>
          <p:cNvSpPr/>
          <p:nvPr/>
        </p:nvSpPr>
        <p:spPr>
          <a:xfrm>
            <a:off x="457200" y="1280160"/>
            <a:ext cx="457200" cy="457200"/>
          </a:xfrm>
          <a:prstGeom prst="ellipse">
            <a:avLst/>
          </a:prstGeom>
          <a:solidFill>
            <a:schemeClr val="accent5"/>
          </a:solidFill>
          <a:ln/>
        </p:spPr>
      </p:sp>
      <p:pic>
        <p:nvPicPr>
          <p:cNvPr id="4" name="Risk 1 icon" descr="preencoded.png">    </p:cNvPr>
          <p:cNvPicPr>
            <a:picLocks noChangeAspect="1"/>
          </p:cNvPicPr>
          <p:nvPr/>
        </p:nvPicPr>
        <p:blipFill>
          <a:blip r:embed="rId1"/>
          <a:stretch>
            <a:fillRect/>
          </a:stretch>
        </p:blipFill>
        <p:spPr>
          <a:xfrm>
            <a:off x="571500" y="1394460"/>
            <a:ext cx="228600" cy="228600"/>
          </a:xfrm>
          <a:prstGeom prst="rect">
            <a:avLst/>
          </a:prstGeom>
        </p:spPr>
      </p:pic>
      <p:sp>
        <p:nvSpPr>
          <p:cNvPr id="5" name="Risk 1 text"/>
          <p:cNvSpPr txBox="1"/>
          <p:nvPr/>
        </p:nvSpPr>
        <p:spPr>
          <a:xfrm>
            <a:off x="1051560" y="1207008"/>
            <a:ext cx="3520440" cy="731520"/>
          </a:xfrm>
          <a:prstGeom prst="rect">
            <a:avLst/>
          </a:prstGeom>
          <a:noFill/>
          <a:ln/>
        </p:spPr>
        <p:txBody>
          <a:bodyPr wrap="square" lIns="0" tIns="0" rIns="0" bIns="0" rtlCol="0" anchor="ctr"/>
          <a:lstStyle/>
          <a:p>
            <a:pPr indent="0" marL="0">
              <a:buNone/>
            </a:pPr>
            <a:r>
              <a:rPr lang="en-US" sz="1400" b="1" dirty="0">
                <a:solidFill>
                  <a:schemeClr val="tx2"/>
                </a:solidFill>
              </a:rPr>
              <a:t>It fills for the medium you chose</a:t>
            </a:r>
            <a:endParaRPr lang="en-US" sz="1400" dirty="0"/>
          </a:p>
          <a:p>
            <a:pPr indent="0" marL="0">
              <a:buNone/>
            </a:pPr>
            <a:r>
              <a:rPr lang="en-US" sz="1400" dirty="0">
                <a:solidFill>
                  <a:schemeClr val="tx1"/>
                </a:solidFill>
              </a:rPr>
              <a:t>fill on a rich medium and real auxotrophies vanish</a:t>
            </a:r>
            <a:endParaRPr lang="en-US" sz="1400" dirty="0"/>
          </a:p>
        </p:txBody>
      </p:sp>
      <p:sp>
        <p:nvSpPr>
          <p:cNvPr id="6" name="Risk 2 node"/>
          <p:cNvSpPr/>
          <p:nvPr/>
        </p:nvSpPr>
        <p:spPr>
          <a:xfrm>
            <a:off x="457200" y="2103120"/>
            <a:ext cx="457200" cy="457200"/>
          </a:xfrm>
          <a:prstGeom prst="ellipse">
            <a:avLst/>
          </a:prstGeom>
          <a:solidFill>
            <a:schemeClr val="accent5"/>
          </a:solidFill>
          <a:ln/>
        </p:spPr>
      </p:sp>
      <p:pic>
        <p:nvPicPr>
          <p:cNvPr id="7" name="Risk 2 icon" descr="preencoded.png">    </p:cNvPr>
          <p:cNvPicPr>
            <a:picLocks noChangeAspect="1"/>
          </p:cNvPicPr>
          <p:nvPr/>
        </p:nvPicPr>
        <p:blipFill>
          <a:blip r:embed="rId2"/>
          <a:stretch>
            <a:fillRect/>
          </a:stretch>
        </p:blipFill>
        <p:spPr>
          <a:xfrm>
            <a:off x="571500" y="2217420"/>
            <a:ext cx="228600" cy="228600"/>
          </a:xfrm>
          <a:prstGeom prst="rect">
            <a:avLst/>
          </a:prstGeom>
        </p:spPr>
      </p:pic>
      <p:sp>
        <p:nvSpPr>
          <p:cNvPr id="8" name="Risk 2 text"/>
          <p:cNvSpPr txBox="1"/>
          <p:nvPr/>
        </p:nvSpPr>
        <p:spPr>
          <a:xfrm>
            <a:off x="1051560" y="2029968"/>
            <a:ext cx="3520440" cy="731520"/>
          </a:xfrm>
          <a:prstGeom prst="rect">
            <a:avLst/>
          </a:prstGeom>
          <a:noFill/>
          <a:ln/>
        </p:spPr>
        <p:txBody>
          <a:bodyPr wrap="square" lIns="0" tIns="0" rIns="0" bIns="0" rtlCol="0" anchor="ctr"/>
          <a:lstStyle/>
          <a:p>
            <a:pPr indent="0" marL="0">
              <a:buNone/>
            </a:pPr>
            <a:r>
              <a:rPr lang="en-US" sz="1400" b="1" dirty="0">
                <a:solidFill>
                  <a:schemeClr val="tx2"/>
                </a:solidFill>
              </a:rPr>
              <a:t>It picks the cheapest fix</a:t>
            </a:r>
            <a:endParaRPr lang="en-US" sz="1400" dirty="0"/>
          </a:p>
          <a:p>
            <a:pPr indent="0" marL="0">
              <a:buNone/>
            </a:pPr>
            <a:r>
              <a:rPr lang="en-US" sz="1400" dirty="0">
                <a:solidFill>
                  <a:schemeClr val="tx1"/>
                </a:solidFill>
              </a:rPr>
              <a:t>not necessarily the one the organism uses</a:t>
            </a:r>
            <a:endParaRPr lang="en-US" sz="1400" dirty="0"/>
          </a:p>
        </p:txBody>
      </p:sp>
      <p:sp>
        <p:nvSpPr>
          <p:cNvPr id="9" name="Risk 3 node"/>
          <p:cNvSpPr/>
          <p:nvPr/>
        </p:nvSpPr>
        <p:spPr>
          <a:xfrm>
            <a:off x="457200" y="2926080"/>
            <a:ext cx="457200" cy="457200"/>
          </a:xfrm>
          <a:prstGeom prst="ellipse">
            <a:avLst/>
          </a:prstGeom>
          <a:solidFill>
            <a:schemeClr val="accent5"/>
          </a:solidFill>
          <a:ln/>
        </p:spPr>
      </p:sp>
      <p:pic>
        <p:nvPicPr>
          <p:cNvPr id="10" name="Risk 3 icon" descr="preencoded.png">    </p:cNvPr>
          <p:cNvPicPr>
            <a:picLocks noChangeAspect="1"/>
          </p:cNvPicPr>
          <p:nvPr/>
        </p:nvPicPr>
        <p:blipFill>
          <a:blip r:embed="rId3"/>
          <a:stretch>
            <a:fillRect/>
          </a:stretch>
        </p:blipFill>
        <p:spPr>
          <a:xfrm>
            <a:off x="571500" y="3040380"/>
            <a:ext cx="228600" cy="228600"/>
          </a:xfrm>
          <a:prstGeom prst="rect">
            <a:avLst/>
          </a:prstGeom>
        </p:spPr>
      </p:pic>
      <p:sp>
        <p:nvSpPr>
          <p:cNvPr id="11" name="Risk 3 text"/>
          <p:cNvSpPr txBox="1"/>
          <p:nvPr/>
        </p:nvSpPr>
        <p:spPr>
          <a:xfrm>
            <a:off x="1051560" y="2852928"/>
            <a:ext cx="3520440" cy="731520"/>
          </a:xfrm>
          <a:prstGeom prst="rect">
            <a:avLst/>
          </a:prstGeom>
          <a:noFill/>
          <a:ln/>
        </p:spPr>
        <p:txBody>
          <a:bodyPr wrap="square" lIns="0" tIns="0" rIns="0" bIns="0" rtlCol="0" anchor="ctr"/>
          <a:lstStyle/>
          <a:p>
            <a:pPr indent="0" marL="0">
              <a:buNone/>
            </a:pPr>
            <a:r>
              <a:rPr lang="en-US" sz="1400" b="1" dirty="0">
                <a:solidFill>
                  <a:schemeClr val="tx2"/>
                </a:solidFill>
              </a:rPr>
              <a:t>It adds reactions without genes</a:t>
            </a:r>
            <a:endParaRPr lang="en-US" sz="1400" dirty="0"/>
          </a:p>
          <a:p>
            <a:pPr indent="0" marL="0">
              <a:buNone/>
            </a:pPr>
            <a:r>
              <a:rPr lang="en-US" sz="1400" dirty="0">
                <a:solidFill>
                  <a:schemeClr val="tx1"/>
                </a:solidFill>
              </a:rPr>
              <a:t>each one is a hypothesis, not a finding</a:t>
            </a:r>
            <a:endParaRPr lang="en-US" sz="1400" dirty="0"/>
          </a:p>
        </p:txBody>
      </p:sp>
      <p:sp>
        <p:nvSpPr>
          <p:cNvPr id="12" name="Risk 4 node"/>
          <p:cNvSpPr/>
          <p:nvPr/>
        </p:nvSpPr>
        <p:spPr>
          <a:xfrm>
            <a:off x="457200" y="3749040"/>
            <a:ext cx="457200" cy="457200"/>
          </a:xfrm>
          <a:prstGeom prst="ellipse">
            <a:avLst/>
          </a:prstGeom>
          <a:solidFill>
            <a:schemeClr val="accent5"/>
          </a:solidFill>
          <a:ln/>
        </p:spPr>
      </p:sp>
      <p:pic>
        <p:nvPicPr>
          <p:cNvPr id="13" name="Risk 4 icon" descr="preencoded.png">    </p:cNvPr>
          <p:cNvPicPr>
            <a:picLocks noChangeAspect="1"/>
          </p:cNvPicPr>
          <p:nvPr/>
        </p:nvPicPr>
        <p:blipFill>
          <a:blip r:embed="rId4"/>
          <a:stretch>
            <a:fillRect/>
          </a:stretch>
        </p:blipFill>
        <p:spPr>
          <a:xfrm>
            <a:off x="571500" y="3863340"/>
            <a:ext cx="228600" cy="228600"/>
          </a:xfrm>
          <a:prstGeom prst="rect">
            <a:avLst/>
          </a:prstGeom>
        </p:spPr>
      </p:pic>
      <p:sp>
        <p:nvSpPr>
          <p:cNvPr id="14" name="Risk 4 text"/>
          <p:cNvSpPr txBox="1"/>
          <p:nvPr/>
        </p:nvSpPr>
        <p:spPr>
          <a:xfrm>
            <a:off x="1051560" y="3675888"/>
            <a:ext cx="3520440" cy="731520"/>
          </a:xfrm>
          <a:prstGeom prst="rect">
            <a:avLst/>
          </a:prstGeom>
          <a:noFill/>
          <a:ln/>
        </p:spPr>
        <p:txBody>
          <a:bodyPr wrap="square" lIns="0" tIns="0" rIns="0" bIns="0" rtlCol="0" anchor="ctr"/>
          <a:lstStyle/>
          <a:p>
            <a:pPr indent="0" marL="0">
              <a:buNone/>
            </a:pPr>
            <a:r>
              <a:rPr lang="en-US" sz="1400" b="1" dirty="0">
                <a:solidFill>
                  <a:schemeClr val="tx2"/>
                </a:solidFill>
              </a:rPr>
              <a:t>It inherits database errors</a:t>
            </a:r>
            <a:endParaRPr lang="en-US" sz="1400" dirty="0"/>
          </a:p>
          <a:p>
            <a:pPr indent="0" marL="0">
              <a:buNone/>
            </a:pPr>
            <a:r>
              <a:rPr lang="en-US" sz="1400" dirty="0">
                <a:solidFill>
                  <a:schemeClr val="tx1"/>
                </a:solidFill>
              </a:rPr>
              <a:t>unbalanced or wrongly directed reactions come along too</a:t>
            </a:r>
            <a:endParaRPr lang="en-US" sz="1400" dirty="0"/>
          </a:p>
        </p:txBody>
      </p:sp>
      <p:sp>
        <p:nvSpPr>
          <p:cNvPr id="15" name="Good practice card"/>
          <p:cNvSpPr/>
          <p:nvPr/>
        </p:nvSpPr>
        <p:spPr>
          <a:xfrm>
            <a:off x="4846320" y="1188720"/>
            <a:ext cx="3840480" cy="3291840"/>
          </a:xfrm>
          <a:prstGeom prst="roundRect">
            <a:avLst>
              <a:gd name="adj" fmla="val 2222"/>
            </a:avLst>
          </a:prstGeom>
          <a:solidFill>
            <a:schemeClr val="tx2"/>
          </a:solidFill>
          <a:ln/>
        </p:spPr>
      </p:sp>
      <p:sp>
        <p:nvSpPr>
          <p:cNvPr id="16" name="Good practice heading"/>
          <p:cNvSpPr txBox="1"/>
          <p:nvPr/>
        </p:nvSpPr>
        <p:spPr>
          <a:xfrm>
            <a:off x="5074920" y="1325880"/>
            <a:ext cx="3383280" cy="365760"/>
          </a:xfrm>
          <a:prstGeom prst="rect">
            <a:avLst/>
          </a:prstGeom>
          <a:noFill/>
          <a:ln/>
        </p:spPr>
        <p:txBody>
          <a:bodyPr wrap="square" lIns="0" tIns="0" rIns="0" bIns="0" rtlCol="0" anchor="ctr"/>
          <a:lstStyle/>
          <a:p>
            <a:pPr indent="0" marL="0">
              <a:buNone/>
            </a:pPr>
            <a:r>
              <a:rPr lang="en-US" sz="1600" b="1" dirty="0">
                <a:solidFill>
                  <a:schemeClr val="accent2"/>
                </a:solidFill>
              </a:rPr>
              <a:t>Good practice</a:t>
            </a:r>
            <a:endParaRPr lang="en-US" sz="1600" dirty="0"/>
          </a:p>
        </p:txBody>
      </p:sp>
      <p:sp>
        <p:nvSpPr>
          <p:cNvPr id="17" name="Good practice list"/>
          <p:cNvSpPr txBox="1"/>
          <p:nvPr/>
        </p:nvSpPr>
        <p:spPr>
          <a:xfrm>
            <a:off x="5074920" y="1783080"/>
            <a:ext cx="3429000" cy="260604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bg1"/>
                </a:solidFill>
              </a:rPr>
              <a:t>Weight candidates by sequence evidence (gapseq; CarveMe's scores)</a:t>
            </a:r>
            <a:endParaRPr lang="en-US" sz="1400" dirty="0"/>
          </a:p>
          <a:p>
            <a:pPr marL="177800" indent="-177800">
              <a:spcAft>
                <a:spcPts val="400"/>
              </a:spcAft>
              <a:buSzPct val="100000"/>
              <a:buChar char="•"/>
            </a:pPr>
            <a:r>
              <a:rPr lang="en-US" sz="1400" dirty="0">
                <a:solidFill>
                  <a:schemeClr val="bg1"/>
                </a:solidFill>
              </a:rPr>
              <a:t>Gap-fill on media you have growth data for</a:t>
            </a:r>
            <a:endParaRPr lang="en-US" sz="1400" dirty="0"/>
          </a:p>
          <a:p>
            <a:pPr marL="177800" indent="-177800">
              <a:spcAft>
                <a:spcPts val="400"/>
              </a:spcAft>
              <a:buSzPct val="100000"/>
              <a:buChar char="•"/>
            </a:pPr>
            <a:r>
              <a:rPr lang="en-US" sz="1400" dirty="0">
                <a:solidFill>
                  <a:schemeClr val="bg1"/>
                </a:solidFill>
              </a:rPr>
              <a:t>Then search the genome for the missing gene, as you did for TF_0018</a:t>
            </a:r>
            <a:endParaRPr lang="en-US" sz="1400" dirty="0"/>
          </a:p>
          <a:p>
            <a:pPr marL="177800" indent="-177800">
              <a:spcAft>
                <a:spcPts val="400"/>
              </a:spcAft>
              <a:buSzPct val="100000"/>
              <a:buChar char="•"/>
            </a:pPr>
            <a:r>
              <a:rPr lang="en-US" sz="1400" dirty="0">
                <a:solidFill>
                  <a:schemeClr val="bg1"/>
                </a:solidFill>
              </a:rPr>
              <a:t>Label gap-filled reactions so others can see them</a:t>
            </a:r>
            <a:endParaRPr lang="en-US" sz="14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914400"/>
            <a:ext cx="2286000" cy="1188720"/>
          </a:xfrm>
          <a:prstGeom prst="rect">
            <a:avLst/>
          </a:prstGeom>
          <a:noFill/>
          <a:ln/>
        </p:spPr>
        <p:txBody>
          <a:bodyPr wrap="square" lIns="0" tIns="0" rIns="0" bIns="0" rtlCol="0" anchor="b"/>
          <a:lstStyle/>
          <a:p>
            <a:pPr indent="0" marL="0">
              <a:buNone/>
            </a:pPr>
            <a:r>
              <a:rPr lang="en-US" sz="8000" b="1" dirty="0">
                <a:solidFill>
                  <a:schemeClr val="accent2"/>
                </a:solidFill>
                <a:latin typeface="+mj-lt" pitchFamily="34" charset="0"/>
                <a:ea typeface="+mj-lt" pitchFamily="34" charset="-122"/>
                <a:cs typeface="+mj-lt" pitchFamily="34" charset="-120"/>
              </a:rPr>
              <a:t>4</a:t>
            </a:r>
            <a:endParaRPr lang="en-US" sz="8000" dirty="0"/>
          </a:p>
        </p:txBody>
      </p:sp>
      <p:sp>
        <p:nvSpPr>
          <p:cNvPr id="3" name="Text 0"/>
          <p:cNvSpPr/>
          <p:nvPr>
            <p:ph idx="101" type="title" hasCustomPrompt="1"/>
          </p:nvPr>
        </p:nvSpPr>
        <p:spPr>
          <a:xfrm>
            <a:off x="548640" y="2240280"/>
            <a:ext cx="5486400" cy="777240"/>
          </a:xfrm>
          <a:prstGeom prst="rect">
            <a:avLst/>
          </a:prstGeom>
          <a:noFill/>
          <a:ln/>
        </p:spPr>
        <p:txBody>
          <a:bodyPr wrap="square" lIns="0" tIns="0" rIns="0" bIns="0" rtlCol="0" anchor="t"/>
          <a:lstStyle/>
          <a:p>
            <a:pPr algn="l" indent="0" marL="0">
              <a:buNone/>
            </a:pPr>
            <a:r>
              <a:rPr lang="en-US" sz="3200" b="1" dirty="0">
                <a:solidFill>
                  <a:schemeClr val="bg1"/>
                </a:solidFill>
              </a:rPr>
              <a:t>Curation and validation</a:t>
            </a:r>
            <a:endParaRPr lang="en-US" sz="3200" dirty="0"/>
          </a:p>
        </p:txBody>
      </p:sp>
      <p:sp>
        <p:nvSpPr>
          <p:cNvPr id="4" name="Text 0"/>
          <p:cNvSpPr/>
          <p:nvPr>
            <p:ph idx="102" type="body" hasCustomPrompt="1"/>
          </p:nvPr>
        </p:nvSpPr>
        <p:spPr>
          <a:xfrm>
            <a:off x="548640" y="3063240"/>
            <a:ext cx="5394960" cy="548640"/>
          </a:xfrm>
          <a:prstGeom prst="rect">
            <a:avLst/>
          </a:prstGeom>
          <a:noFill/>
          <a:ln/>
        </p:spPr>
        <p:txBody>
          <a:bodyPr wrap="square" lIns="0" tIns="0" rIns="0" bIns="0" rtlCol="0" anchor="t"/>
          <a:lstStyle/>
          <a:p>
            <a:pPr indent="0" marL="0">
              <a:buNone/>
            </a:pPr>
            <a:r>
              <a:rPr lang="en-US" sz="2000" i="1" dirty="0">
                <a:solidFill>
                  <a:schemeClr val="accent4"/>
                </a:solidFill>
              </a:rPr>
              <a:t>Can we trust it?</a:t>
            </a:r>
            <a:endParaRPr lang="en-US" sz="2000" dirty="0"/>
          </a:p>
        </p:txBody>
      </p:sp>
      <p:sp>
        <p:nvSpPr>
          <p:cNvPr id="5" name="Divider 4 edge AC"/>
          <p:cNvSpPr/>
          <p:nvPr/>
        </p:nvSpPr>
        <p:spPr>
          <a:xfrm>
            <a:off x="6455061" y="1456625"/>
            <a:ext cx="333297" cy="435850"/>
          </a:xfrm>
          <a:prstGeom prst="line">
            <a:avLst/>
          </a:prstGeom>
          <a:noFill/>
          <a:ln w="15875">
            <a:solidFill>
              <a:schemeClr val="accent4"/>
            </a:solidFill>
            <a:prstDash val="solid"/>
            <a:tailEnd type="triangle"/>
          </a:ln>
        </p:spPr>
      </p:sp>
      <p:sp>
        <p:nvSpPr>
          <p:cNvPr id="6" name="Divider 4 edge BD"/>
          <p:cNvSpPr/>
          <p:nvPr/>
        </p:nvSpPr>
        <p:spPr>
          <a:xfrm>
            <a:off x="7598612" y="1235407"/>
            <a:ext cx="530456" cy="500987"/>
          </a:xfrm>
          <a:prstGeom prst="line">
            <a:avLst/>
          </a:prstGeom>
          <a:noFill/>
          <a:ln w="15875">
            <a:solidFill>
              <a:schemeClr val="accent4"/>
            </a:solidFill>
            <a:prstDash val="solid"/>
            <a:tailEnd type="triangle"/>
          </a:ln>
        </p:spPr>
      </p:sp>
      <p:sp>
        <p:nvSpPr>
          <p:cNvPr id="7" name="Divider 4 edge CD"/>
          <p:cNvSpPr/>
          <p:nvPr/>
        </p:nvSpPr>
        <p:spPr>
          <a:xfrm flipV="1">
            <a:off x="7192738" y="1908700"/>
            <a:ext cx="884339" cy="152472"/>
          </a:xfrm>
          <a:prstGeom prst="line">
            <a:avLst/>
          </a:prstGeom>
          <a:noFill/>
          <a:ln w="15875">
            <a:solidFill>
              <a:schemeClr val="accent4"/>
            </a:solidFill>
            <a:prstDash val="solid"/>
            <a:tailEnd type="triangle"/>
          </a:ln>
        </p:spPr>
      </p:sp>
      <p:sp>
        <p:nvSpPr>
          <p:cNvPr id="8" name="Divider 4 edge DE"/>
          <p:cNvSpPr/>
          <p:nvPr/>
        </p:nvSpPr>
        <p:spPr>
          <a:xfrm flipH="1">
            <a:off x="7837092" y="2038093"/>
            <a:ext cx="356442" cy="712884"/>
          </a:xfrm>
          <a:prstGeom prst="line">
            <a:avLst/>
          </a:prstGeom>
          <a:noFill/>
          <a:ln w="15875">
            <a:solidFill>
              <a:schemeClr val="accent4"/>
            </a:solidFill>
            <a:prstDash val="solid"/>
            <a:tailEnd type="triangle"/>
          </a:ln>
        </p:spPr>
      </p:sp>
      <p:sp>
        <p:nvSpPr>
          <p:cNvPr id="9" name="Divider 4 edge CF"/>
          <p:cNvSpPr/>
          <p:nvPr/>
        </p:nvSpPr>
        <p:spPr>
          <a:xfrm flipH="1">
            <a:off x="6529370" y="2325846"/>
            <a:ext cx="313549" cy="655602"/>
          </a:xfrm>
          <a:prstGeom prst="line">
            <a:avLst/>
          </a:prstGeom>
          <a:noFill/>
          <a:ln w="15875">
            <a:solidFill>
              <a:schemeClr val="accent4"/>
            </a:solidFill>
            <a:prstDash val="solid"/>
            <a:tailEnd type="triangle"/>
          </a:ln>
        </p:spPr>
      </p:sp>
      <p:sp>
        <p:nvSpPr>
          <p:cNvPr id="10" name="Divider 4 edge FH"/>
          <p:cNvSpPr/>
          <p:nvPr/>
        </p:nvSpPr>
        <p:spPr>
          <a:xfrm>
            <a:off x="6561467" y="3284954"/>
            <a:ext cx="455905" cy="516692"/>
          </a:xfrm>
          <a:prstGeom prst="line">
            <a:avLst/>
          </a:prstGeom>
          <a:noFill/>
          <a:ln w="15875">
            <a:solidFill>
              <a:schemeClr val="accent4"/>
            </a:solidFill>
            <a:prstDash val="solid"/>
            <a:tailEnd type="triangle"/>
          </a:ln>
        </p:spPr>
      </p:sp>
      <p:sp>
        <p:nvSpPr>
          <p:cNvPr id="11" name="Divider 4 edge EH"/>
          <p:cNvSpPr/>
          <p:nvPr/>
        </p:nvSpPr>
        <p:spPr>
          <a:xfrm flipH="1">
            <a:off x="7223767" y="3166171"/>
            <a:ext cx="382589" cy="618028"/>
          </a:xfrm>
          <a:prstGeom prst="line">
            <a:avLst/>
          </a:prstGeom>
          <a:noFill/>
          <a:ln w="15875">
            <a:solidFill>
              <a:schemeClr val="accent4"/>
            </a:solidFill>
            <a:prstDash val="solid"/>
            <a:tailEnd type="triangle"/>
          </a:ln>
        </p:spPr>
      </p:sp>
      <p:sp>
        <p:nvSpPr>
          <p:cNvPr id="12" name="Divider 4 edge DG"/>
          <p:cNvSpPr/>
          <p:nvPr/>
        </p:nvSpPr>
        <p:spPr>
          <a:xfrm>
            <a:off x="8307102" y="2054617"/>
            <a:ext cx="202811" cy="1149261"/>
          </a:xfrm>
          <a:prstGeom prst="line">
            <a:avLst/>
          </a:prstGeom>
          <a:noFill/>
          <a:ln w="15875">
            <a:solidFill>
              <a:schemeClr val="accent4"/>
            </a:solidFill>
            <a:prstDash val="solid"/>
            <a:tailEnd type="triangle"/>
          </a:ln>
        </p:spPr>
      </p:sp>
      <p:sp>
        <p:nvSpPr>
          <p:cNvPr id="13" name="Divider 4 flux BC"/>
          <p:cNvSpPr/>
          <p:nvPr/>
        </p:nvSpPr>
        <p:spPr>
          <a:xfrm flipH="1">
            <a:off x="7068030" y="1277210"/>
            <a:ext cx="294365" cy="588729"/>
          </a:xfrm>
          <a:prstGeom prst="line">
            <a:avLst/>
          </a:prstGeom>
          <a:noFill/>
          <a:ln w="31750">
            <a:solidFill>
              <a:schemeClr val="accent2"/>
            </a:solidFill>
            <a:prstDash val="solid"/>
            <a:tailEnd type="triangle"/>
          </a:ln>
        </p:spPr>
      </p:sp>
      <p:sp>
        <p:nvSpPr>
          <p:cNvPr id="14" name="Divider 4 flux CE"/>
          <p:cNvSpPr/>
          <p:nvPr/>
        </p:nvSpPr>
        <p:spPr>
          <a:xfrm>
            <a:off x="7114064" y="2287111"/>
            <a:ext cx="447993" cy="500698"/>
          </a:xfrm>
          <a:prstGeom prst="line">
            <a:avLst/>
          </a:prstGeom>
          <a:noFill/>
          <a:ln w="31750">
            <a:solidFill>
              <a:schemeClr val="accent2"/>
            </a:solidFill>
            <a:prstDash val="solid"/>
            <a:tailEnd type="triangle"/>
          </a:ln>
        </p:spPr>
      </p:sp>
      <p:sp>
        <p:nvSpPr>
          <p:cNvPr id="15" name="Divider 4 flux EG"/>
          <p:cNvSpPr/>
          <p:nvPr/>
        </p:nvSpPr>
        <p:spPr>
          <a:xfrm>
            <a:off x="7926512" y="3082818"/>
            <a:ext cx="423295" cy="235164"/>
          </a:xfrm>
          <a:prstGeom prst="line">
            <a:avLst/>
          </a:prstGeom>
          <a:noFill/>
          <a:ln w="31750">
            <a:solidFill>
              <a:schemeClr val="accent2"/>
            </a:solidFill>
            <a:prstDash val="solid"/>
            <a:tailEnd type="triangle"/>
          </a:ln>
        </p:spPr>
      </p:sp>
      <p:sp>
        <p:nvSpPr>
          <p:cNvPr id="16" name="Divider 4 node A"/>
          <p:cNvSpPr/>
          <p:nvPr/>
        </p:nvSpPr>
        <p:spPr>
          <a:xfrm>
            <a:off x="6236208" y="1207008"/>
            <a:ext cx="237744" cy="237744"/>
          </a:xfrm>
          <a:prstGeom prst="ellipse">
            <a:avLst/>
          </a:prstGeom>
          <a:solidFill>
            <a:schemeClr val="accent1"/>
          </a:solidFill>
          <a:ln/>
        </p:spPr>
      </p:sp>
      <p:sp>
        <p:nvSpPr>
          <p:cNvPr id="17" name="Divider 4 node B"/>
          <p:cNvSpPr/>
          <p:nvPr/>
        </p:nvSpPr>
        <p:spPr>
          <a:xfrm>
            <a:off x="7296912" y="941832"/>
            <a:ext cx="310896" cy="310896"/>
          </a:xfrm>
          <a:prstGeom prst="ellipse">
            <a:avLst/>
          </a:prstGeom>
          <a:solidFill>
            <a:schemeClr val="accent2"/>
          </a:solidFill>
          <a:ln/>
        </p:spPr>
      </p:sp>
      <p:sp>
        <p:nvSpPr>
          <p:cNvPr id="18" name="Divider 4 node C"/>
          <p:cNvSpPr/>
          <p:nvPr/>
        </p:nvSpPr>
        <p:spPr>
          <a:xfrm>
            <a:off x="6748272" y="1901952"/>
            <a:ext cx="402336" cy="402336"/>
          </a:xfrm>
          <a:prstGeom prst="ellipse">
            <a:avLst/>
          </a:prstGeom>
          <a:solidFill>
            <a:schemeClr val="accent2"/>
          </a:solidFill>
          <a:ln/>
        </p:spPr>
      </p:sp>
      <p:sp>
        <p:nvSpPr>
          <p:cNvPr id="19" name="Divider 4 node D"/>
          <p:cNvSpPr/>
          <p:nvPr/>
        </p:nvSpPr>
        <p:spPr>
          <a:xfrm>
            <a:off x="8138160" y="1737360"/>
            <a:ext cx="274320" cy="274320"/>
          </a:xfrm>
          <a:prstGeom prst="ellipse">
            <a:avLst/>
          </a:prstGeom>
          <a:solidFill>
            <a:schemeClr val="accent1"/>
          </a:solidFill>
          <a:ln/>
        </p:spPr>
      </p:sp>
      <p:sp>
        <p:nvSpPr>
          <p:cNvPr id="20" name="Divider 4 node E"/>
          <p:cNvSpPr/>
          <p:nvPr/>
        </p:nvSpPr>
        <p:spPr>
          <a:xfrm>
            <a:off x="7543800" y="2788920"/>
            <a:ext cx="365760" cy="365760"/>
          </a:xfrm>
          <a:prstGeom prst="ellipse">
            <a:avLst/>
          </a:prstGeom>
          <a:solidFill>
            <a:schemeClr val="accent2"/>
          </a:solidFill>
          <a:ln/>
        </p:spPr>
      </p:sp>
      <p:sp>
        <p:nvSpPr>
          <p:cNvPr id="21" name="Divider 4 node F"/>
          <p:cNvSpPr/>
          <p:nvPr/>
        </p:nvSpPr>
        <p:spPr>
          <a:xfrm>
            <a:off x="6318504" y="3026664"/>
            <a:ext cx="256032" cy="256032"/>
          </a:xfrm>
          <a:prstGeom prst="ellipse">
            <a:avLst/>
          </a:prstGeom>
          <a:solidFill>
            <a:schemeClr val="accent1"/>
          </a:solidFill>
          <a:ln/>
        </p:spPr>
      </p:sp>
      <p:sp>
        <p:nvSpPr>
          <p:cNvPr id="22" name="Divider 4 node G"/>
          <p:cNvSpPr/>
          <p:nvPr/>
        </p:nvSpPr>
        <p:spPr>
          <a:xfrm>
            <a:off x="8385048" y="3264408"/>
            <a:ext cx="329184" cy="329184"/>
          </a:xfrm>
          <a:prstGeom prst="ellipse">
            <a:avLst/>
          </a:prstGeom>
          <a:solidFill>
            <a:schemeClr val="accent2"/>
          </a:solidFill>
          <a:ln/>
        </p:spPr>
      </p:sp>
      <p:sp>
        <p:nvSpPr>
          <p:cNvPr id="23" name="Divider 4 node H"/>
          <p:cNvSpPr/>
          <p:nvPr/>
        </p:nvSpPr>
        <p:spPr>
          <a:xfrm>
            <a:off x="7022592" y="3822192"/>
            <a:ext cx="219456" cy="219456"/>
          </a:xfrm>
          <a:prstGeom prst="ellipse">
            <a:avLst/>
          </a:prstGeom>
          <a:solidFill>
            <a:schemeClr val="accent1"/>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400" b="1" dirty="0">
                <a:solidFill>
                  <a:schemeClr val="tx2"/>
                </a:solidFill>
              </a:rPr>
              <a:t>What curators check</a:t>
            </a:r>
            <a:endParaRPr lang="en-US" sz="3400" dirty="0"/>
          </a:p>
        </p:txBody>
      </p:sp>
      <p:sp>
        <p:nvSpPr>
          <p:cNvPr id="3" name="Check card 1"/>
          <p:cNvSpPr/>
          <p:nvPr/>
        </p:nvSpPr>
        <p:spPr>
          <a:xfrm>
            <a:off x="457200" y="1188720"/>
            <a:ext cx="2560320" cy="1463040"/>
          </a:xfrm>
          <a:prstGeom prst="roundRect">
            <a:avLst>
              <a:gd name="adj" fmla="val 5000"/>
            </a:avLst>
          </a:prstGeom>
          <a:solidFill>
            <a:schemeClr val="bg2"/>
          </a:solidFill>
          <a:ln/>
        </p:spPr>
      </p:sp>
      <p:sp>
        <p:nvSpPr>
          <p:cNvPr id="4" name="Check 1 node"/>
          <p:cNvSpPr/>
          <p:nvPr/>
        </p:nvSpPr>
        <p:spPr>
          <a:xfrm>
            <a:off x="640080" y="1335024"/>
            <a:ext cx="457200" cy="457200"/>
          </a:xfrm>
          <a:prstGeom prst="ellipse">
            <a:avLst/>
          </a:prstGeom>
          <a:solidFill>
            <a:schemeClr val="accent1"/>
          </a:solidFill>
          <a:ln/>
        </p:spPr>
      </p:sp>
      <p:pic>
        <p:nvPicPr>
          <p:cNvPr id="5" name="Check 1 icon" descr="preencoded.png">    </p:cNvPr>
          <p:cNvPicPr>
            <a:picLocks noChangeAspect="1"/>
          </p:cNvPicPr>
          <p:nvPr/>
        </p:nvPicPr>
        <p:blipFill>
          <a:blip r:embed="rId1"/>
          <a:stretch>
            <a:fillRect/>
          </a:stretch>
        </p:blipFill>
        <p:spPr>
          <a:xfrm>
            <a:off x="754380" y="1449324"/>
            <a:ext cx="228600" cy="228600"/>
          </a:xfrm>
          <a:prstGeom prst="rect">
            <a:avLst/>
          </a:prstGeom>
        </p:spPr>
      </p:pic>
      <p:sp>
        <p:nvSpPr>
          <p:cNvPr id="6" name="Check 1 heading"/>
          <p:cNvSpPr txBox="1"/>
          <p:nvPr/>
        </p:nvSpPr>
        <p:spPr>
          <a:xfrm>
            <a:off x="1234440" y="1307592"/>
            <a:ext cx="1691640" cy="548640"/>
          </a:xfrm>
          <a:prstGeom prst="rect">
            <a:avLst/>
          </a:prstGeom>
          <a:noFill/>
          <a:ln/>
        </p:spPr>
        <p:txBody>
          <a:bodyPr wrap="square" lIns="0" tIns="0" rIns="0" bIns="0" rtlCol="0" anchor="ctr"/>
          <a:lstStyle/>
          <a:p>
            <a:pPr indent="0" marL="0">
              <a:buNone/>
            </a:pPr>
            <a:r>
              <a:rPr lang="en-US" sz="1500" b="1" dirty="0">
                <a:solidFill>
                  <a:schemeClr val="tx2"/>
                </a:solidFill>
              </a:rPr>
              <a:t>Mass and charge balance</a:t>
            </a:r>
            <a:endParaRPr lang="en-US" sz="1500" dirty="0"/>
          </a:p>
        </p:txBody>
      </p:sp>
      <p:sp>
        <p:nvSpPr>
          <p:cNvPr id="7" name="Check 1 text"/>
          <p:cNvSpPr txBox="1"/>
          <p:nvPr/>
        </p:nvSpPr>
        <p:spPr>
          <a:xfrm>
            <a:off x="640080" y="1901952"/>
            <a:ext cx="2240280" cy="704088"/>
          </a:xfrm>
          <a:prstGeom prst="rect">
            <a:avLst/>
          </a:prstGeom>
          <a:noFill/>
          <a:ln/>
        </p:spPr>
        <p:txBody>
          <a:bodyPr wrap="square" lIns="0" tIns="0" rIns="0" bIns="0" rtlCol="0" anchor="t"/>
          <a:lstStyle/>
          <a:p>
            <a:pPr indent="0" marL="0">
              <a:buNone/>
            </a:pPr>
            <a:r>
              <a:rPr lang="en-US" sz="1400" dirty="0">
                <a:solidFill>
                  <a:schemeClr val="tx1"/>
                </a:solidFill>
              </a:rPr>
              <a:t>every element and charge (GLYC and ADH this morning)</a:t>
            </a:r>
            <a:endParaRPr lang="en-US" sz="1400" dirty="0"/>
          </a:p>
        </p:txBody>
      </p:sp>
      <p:sp>
        <p:nvSpPr>
          <p:cNvPr id="8" name="Check card 2"/>
          <p:cNvSpPr/>
          <p:nvPr/>
        </p:nvSpPr>
        <p:spPr>
          <a:xfrm>
            <a:off x="3291840" y="1188720"/>
            <a:ext cx="2560320" cy="1463040"/>
          </a:xfrm>
          <a:prstGeom prst="roundRect">
            <a:avLst>
              <a:gd name="adj" fmla="val 5000"/>
            </a:avLst>
          </a:prstGeom>
          <a:solidFill>
            <a:schemeClr val="bg2"/>
          </a:solidFill>
          <a:ln/>
        </p:spPr>
      </p:sp>
      <p:sp>
        <p:nvSpPr>
          <p:cNvPr id="9" name="Check 2 node"/>
          <p:cNvSpPr/>
          <p:nvPr/>
        </p:nvSpPr>
        <p:spPr>
          <a:xfrm>
            <a:off x="3474720" y="1335024"/>
            <a:ext cx="457200" cy="457200"/>
          </a:xfrm>
          <a:prstGeom prst="ellipse">
            <a:avLst/>
          </a:prstGeom>
          <a:solidFill>
            <a:schemeClr val="accent1"/>
          </a:solidFill>
          <a:ln/>
        </p:spPr>
      </p:sp>
      <p:pic>
        <p:nvPicPr>
          <p:cNvPr id="10" name="Check 2 icon" descr="preencoded.png">    </p:cNvPr>
          <p:cNvPicPr>
            <a:picLocks noChangeAspect="1"/>
          </p:cNvPicPr>
          <p:nvPr/>
        </p:nvPicPr>
        <p:blipFill>
          <a:blip r:embed="rId2"/>
          <a:stretch>
            <a:fillRect/>
          </a:stretch>
        </p:blipFill>
        <p:spPr>
          <a:xfrm>
            <a:off x="3589020" y="1449324"/>
            <a:ext cx="228600" cy="228600"/>
          </a:xfrm>
          <a:prstGeom prst="rect">
            <a:avLst/>
          </a:prstGeom>
        </p:spPr>
      </p:pic>
      <p:sp>
        <p:nvSpPr>
          <p:cNvPr id="11" name="Check 2 heading"/>
          <p:cNvSpPr txBox="1"/>
          <p:nvPr/>
        </p:nvSpPr>
        <p:spPr>
          <a:xfrm>
            <a:off x="4069080" y="1307592"/>
            <a:ext cx="1691640" cy="548640"/>
          </a:xfrm>
          <a:prstGeom prst="rect">
            <a:avLst/>
          </a:prstGeom>
          <a:noFill/>
          <a:ln/>
        </p:spPr>
        <p:txBody>
          <a:bodyPr wrap="square" lIns="0" tIns="0" rIns="0" bIns="0" rtlCol="0" anchor="ctr"/>
          <a:lstStyle/>
          <a:p>
            <a:pPr indent="0" marL="0">
              <a:buNone/>
            </a:pPr>
            <a:r>
              <a:rPr lang="en-US" sz="1500" b="1" dirty="0">
                <a:solidFill>
                  <a:schemeClr val="tx2"/>
                </a:solidFill>
              </a:rPr>
              <a:t>Reaction direction</a:t>
            </a:r>
            <a:endParaRPr lang="en-US" sz="1500" dirty="0"/>
          </a:p>
        </p:txBody>
      </p:sp>
      <p:sp>
        <p:nvSpPr>
          <p:cNvPr id="12" name="Check 2 text"/>
          <p:cNvSpPr txBox="1"/>
          <p:nvPr/>
        </p:nvSpPr>
        <p:spPr>
          <a:xfrm>
            <a:off x="3474720" y="1901952"/>
            <a:ext cx="2240280" cy="704088"/>
          </a:xfrm>
          <a:prstGeom prst="rect">
            <a:avLst/>
          </a:prstGeom>
          <a:noFill/>
          <a:ln/>
        </p:spPr>
        <p:txBody>
          <a:bodyPr wrap="square" lIns="0" tIns="0" rIns="0" bIns="0" rtlCol="0" anchor="t"/>
          <a:lstStyle/>
          <a:p>
            <a:pPr indent="0" marL="0">
              <a:buNone/>
            </a:pPr>
            <a:r>
              <a:rPr lang="en-US" sz="1400" dirty="0">
                <a:solidFill>
                  <a:schemeClr val="tx1"/>
                </a:solidFill>
              </a:rPr>
              <a:t>thermodynamics and data (LDH; eQuilibrator)</a:t>
            </a:r>
            <a:endParaRPr lang="en-US" sz="1400" dirty="0"/>
          </a:p>
        </p:txBody>
      </p:sp>
      <p:sp>
        <p:nvSpPr>
          <p:cNvPr id="13" name="Check card 3"/>
          <p:cNvSpPr/>
          <p:nvPr/>
        </p:nvSpPr>
        <p:spPr>
          <a:xfrm>
            <a:off x="6126480" y="1188720"/>
            <a:ext cx="2560320" cy="1463040"/>
          </a:xfrm>
          <a:prstGeom prst="roundRect">
            <a:avLst>
              <a:gd name="adj" fmla="val 5000"/>
            </a:avLst>
          </a:prstGeom>
          <a:solidFill>
            <a:schemeClr val="bg2"/>
          </a:solidFill>
          <a:ln/>
        </p:spPr>
      </p:sp>
      <p:sp>
        <p:nvSpPr>
          <p:cNvPr id="14" name="Check 3 node"/>
          <p:cNvSpPr/>
          <p:nvPr/>
        </p:nvSpPr>
        <p:spPr>
          <a:xfrm>
            <a:off x="6309360" y="1335024"/>
            <a:ext cx="457200" cy="457200"/>
          </a:xfrm>
          <a:prstGeom prst="ellipse">
            <a:avLst/>
          </a:prstGeom>
          <a:solidFill>
            <a:schemeClr val="accent1"/>
          </a:solidFill>
          <a:ln/>
        </p:spPr>
      </p:sp>
      <p:pic>
        <p:nvPicPr>
          <p:cNvPr id="15" name="Check 3 icon" descr="preencoded.png">    </p:cNvPr>
          <p:cNvPicPr>
            <a:picLocks noChangeAspect="1"/>
          </p:cNvPicPr>
          <p:nvPr/>
        </p:nvPicPr>
        <p:blipFill>
          <a:blip r:embed="rId3"/>
          <a:stretch>
            <a:fillRect/>
          </a:stretch>
        </p:blipFill>
        <p:spPr>
          <a:xfrm>
            <a:off x="6423660" y="1449324"/>
            <a:ext cx="228600" cy="228600"/>
          </a:xfrm>
          <a:prstGeom prst="rect">
            <a:avLst/>
          </a:prstGeom>
        </p:spPr>
      </p:pic>
      <p:sp>
        <p:nvSpPr>
          <p:cNvPr id="16" name="Check 3 heading"/>
          <p:cNvSpPr txBox="1"/>
          <p:nvPr/>
        </p:nvSpPr>
        <p:spPr>
          <a:xfrm>
            <a:off x="6903720" y="1307592"/>
            <a:ext cx="1691640" cy="548640"/>
          </a:xfrm>
          <a:prstGeom prst="rect">
            <a:avLst/>
          </a:prstGeom>
          <a:noFill/>
          <a:ln/>
        </p:spPr>
        <p:txBody>
          <a:bodyPr wrap="square" lIns="0" tIns="0" rIns="0" bIns="0" rtlCol="0" anchor="ctr"/>
          <a:lstStyle/>
          <a:p>
            <a:pPr indent="0" marL="0">
              <a:buNone/>
            </a:pPr>
            <a:r>
              <a:rPr lang="en-US" sz="1500" b="1" dirty="0">
                <a:solidFill>
                  <a:schemeClr val="tx2"/>
                </a:solidFill>
              </a:rPr>
              <a:t>Dead ends, blocked reactions</a:t>
            </a:r>
            <a:endParaRPr lang="en-US" sz="1500" dirty="0"/>
          </a:p>
        </p:txBody>
      </p:sp>
      <p:sp>
        <p:nvSpPr>
          <p:cNvPr id="17" name="Check 3 text"/>
          <p:cNvSpPr txBox="1"/>
          <p:nvPr/>
        </p:nvSpPr>
        <p:spPr>
          <a:xfrm>
            <a:off x="6309360" y="1901952"/>
            <a:ext cx="2240280" cy="704088"/>
          </a:xfrm>
          <a:prstGeom prst="rect">
            <a:avLst/>
          </a:prstGeom>
          <a:noFill/>
          <a:ln/>
        </p:spPr>
        <p:txBody>
          <a:bodyPr wrap="square" lIns="0" tIns="0" rIns="0" bIns="0" rtlCol="0" anchor="t"/>
          <a:lstStyle/>
          <a:p>
            <a:pPr indent="0" marL="0">
              <a:buNone/>
            </a:pPr>
            <a:r>
              <a:rPr lang="en-US" sz="1400" dirty="0">
                <a:solidFill>
                  <a:schemeClr val="tx1"/>
                </a:solidFill>
              </a:rPr>
              <a:t>metabolites that can't be made or used</a:t>
            </a:r>
            <a:endParaRPr lang="en-US" sz="1400" dirty="0"/>
          </a:p>
        </p:txBody>
      </p:sp>
      <p:sp>
        <p:nvSpPr>
          <p:cNvPr id="18" name="Check card 4"/>
          <p:cNvSpPr/>
          <p:nvPr/>
        </p:nvSpPr>
        <p:spPr>
          <a:xfrm>
            <a:off x="457200" y="2880360"/>
            <a:ext cx="2560320" cy="1463040"/>
          </a:xfrm>
          <a:prstGeom prst="roundRect">
            <a:avLst>
              <a:gd name="adj" fmla="val 5000"/>
            </a:avLst>
          </a:prstGeom>
          <a:solidFill>
            <a:schemeClr val="bg2"/>
          </a:solidFill>
          <a:ln/>
        </p:spPr>
      </p:sp>
      <p:sp>
        <p:nvSpPr>
          <p:cNvPr id="19" name="Check 4 node"/>
          <p:cNvSpPr/>
          <p:nvPr/>
        </p:nvSpPr>
        <p:spPr>
          <a:xfrm>
            <a:off x="640080" y="3026664"/>
            <a:ext cx="457200" cy="457200"/>
          </a:xfrm>
          <a:prstGeom prst="ellipse">
            <a:avLst/>
          </a:prstGeom>
          <a:solidFill>
            <a:schemeClr val="accent1"/>
          </a:solidFill>
          <a:ln/>
        </p:spPr>
      </p:sp>
      <p:pic>
        <p:nvPicPr>
          <p:cNvPr id="20" name="Check 4 icon" descr="preencoded.png">    </p:cNvPr>
          <p:cNvPicPr>
            <a:picLocks noChangeAspect="1"/>
          </p:cNvPicPr>
          <p:nvPr/>
        </p:nvPicPr>
        <p:blipFill>
          <a:blip r:embed="rId4"/>
          <a:stretch>
            <a:fillRect/>
          </a:stretch>
        </p:blipFill>
        <p:spPr>
          <a:xfrm>
            <a:off x="754380" y="3140964"/>
            <a:ext cx="228600" cy="228600"/>
          </a:xfrm>
          <a:prstGeom prst="rect">
            <a:avLst/>
          </a:prstGeom>
        </p:spPr>
      </p:pic>
      <p:sp>
        <p:nvSpPr>
          <p:cNvPr id="21" name="Check 4 heading"/>
          <p:cNvSpPr txBox="1"/>
          <p:nvPr/>
        </p:nvSpPr>
        <p:spPr>
          <a:xfrm>
            <a:off x="1234440" y="2999232"/>
            <a:ext cx="1691640" cy="548640"/>
          </a:xfrm>
          <a:prstGeom prst="rect">
            <a:avLst/>
          </a:prstGeom>
          <a:noFill/>
          <a:ln/>
        </p:spPr>
        <p:txBody>
          <a:bodyPr wrap="square" lIns="0" tIns="0" rIns="0" bIns="0" rtlCol="0" anchor="ctr"/>
          <a:lstStyle/>
          <a:p>
            <a:pPr indent="0" marL="0">
              <a:buNone/>
            </a:pPr>
            <a:r>
              <a:rPr lang="en-US" sz="1500" b="1" dirty="0">
                <a:solidFill>
                  <a:schemeClr val="tx2"/>
                </a:solidFill>
              </a:rPr>
              <a:t>Transport and diffusion</a:t>
            </a:r>
            <a:endParaRPr lang="en-US" sz="1500" dirty="0"/>
          </a:p>
        </p:txBody>
      </p:sp>
      <p:sp>
        <p:nvSpPr>
          <p:cNvPr id="22" name="Check 4 text"/>
          <p:cNvSpPr txBox="1"/>
          <p:nvPr/>
        </p:nvSpPr>
        <p:spPr>
          <a:xfrm>
            <a:off x="640080" y="3593592"/>
            <a:ext cx="2240280" cy="704088"/>
          </a:xfrm>
          <a:prstGeom prst="rect">
            <a:avLst/>
          </a:prstGeom>
          <a:noFill/>
          <a:ln/>
        </p:spPr>
        <p:txBody>
          <a:bodyPr wrap="square" lIns="0" tIns="0" rIns="0" bIns="0" rtlCol="0" anchor="t"/>
          <a:lstStyle/>
          <a:p>
            <a:pPr indent="0" marL="0">
              <a:buNone/>
            </a:pPr>
            <a:r>
              <a:rPr lang="en-US" sz="1400" dirty="0">
                <a:solidFill>
                  <a:schemeClr val="tx1"/>
                </a:solidFill>
              </a:rPr>
              <a:t>no gene, still needed (water, ethanol)</a:t>
            </a:r>
            <a:endParaRPr lang="en-US" sz="1400" dirty="0"/>
          </a:p>
        </p:txBody>
      </p:sp>
      <p:sp>
        <p:nvSpPr>
          <p:cNvPr id="23" name="Check card 5"/>
          <p:cNvSpPr/>
          <p:nvPr/>
        </p:nvSpPr>
        <p:spPr>
          <a:xfrm>
            <a:off x="3291840" y="2880360"/>
            <a:ext cx="2560320" cy="1463040"/>
          </a:xfrm>
          <a:prstGeom prst="roundRect">
            <a:avLst>
              <a:gd name="adj" fmla="val 5000"/>
            </a:avLst>
          </a:prstGeom>
          <a:solidFill>
            <a:schemeClr val="bg2"/>
          </a:solidFill>
          <a:ln/>
        </p:spPr>
      </p:sp>
      <p:sp>
        <p:nvSpPr>
          <p:cNvPr id="24" name="Check 5 node"/>
          <p:cNvSpPr/>
          <p:nvPr/>
        </p:nvSpPr>
        <p:spPr>
          <a:xfrm>
            <a:off x="3474720" y="3026664"/>
            <a:ext cx="457200" cy="457200"/>
          </a:xfrm>
          <a:prstGeom prst="ellipse">
            <a:avLst/>
          </a:prstGeom>
          <a:solidFill>
            <a:schemeClr val="accent1"/>
          </a:solidFill>
          <a:ln/>
        </p:spPr>
      </p:sp>
      <p:pic>
        <p:nvPicPr>
          <p:cNvPr id="25" name="Check 5 icon" descr="preencoded.png">    </p:cNvPr>
          <p:cNvPicPr>
            <a:picLocks noChangeAspect="1"/>
          </p:cNvPicPr>
          <p:nvPr/>
        </p:nvPicPr>
        <p:blipFill>
          <a:blip r:embed="rId5"/>
          <a:stretch>
            <a:fillRect/>
          </a:stretch>
        </p:blipFill>
        <p:spPr>
          <a:xfrm>
            <a:off x="3589020" y="3140964"/>
            <a:ext cx="228600" cy="228600"/>
          </a:xfrm>
          <a:prstGeom prst="rect">
            <a:avLst/>
          </a:prstGeom>
        </p:spPr>
      </p:pic>
      <p:sp>
        <p:nvSpPr>
          <p:cNvPr id="26" name="Check 5 heading"/>
          <p:cNvSpPr txBox="1"/>
          <p:nvPr/>
        </p:nvSpPr>
        <p:spPr>
          <a:xfrm>
            <a:off x="4069080" y="2999232"/>
            <a:ext cx="1691640" cy="548640"/>
          </a:xfrm>
          <a:prstGeom prst="rect">
            <a:avLst/>
          </a:prstGeom>
          <a:noFill/>
          <a:ln/>
        </p:spPr>
        <p:txBody>
          <a:bodyPr wrap="square" lIns="0" tIns="0" rIns="0" bIns="0" rtlCol="0" anchor="ctr"/>
          <a:lstStyle/>
          <a:p>
            <a:pPr indent="0" marL="0">
              <a:buNone/>
            </a:pPr>
            <a:r>
              <a:rPr lang="en-US" sz="1500" b="1" dirty="0">
                <a:solidFill>
                  <a:schemeClr val="tx2"/>
                </a:solidFill>
              </a:rPr>
              <a:t>Gene rules</a:t>
            </a:r>
            <a:endParaRPr lang="en-US" sz="1500" dirty="0"/>
          </a:p>
        </p:txBody>
      </p:sp>
      <p:sp>
        <p:nvSpPr>
          <p:cNvPr id="27" name="Check 5 text"/>
          <p:cNvSpPr txBox="1"/>
          <p:nvPr/>
        </p:nvSpPr>
        <p:spPr>
          <a:xfrm>
            <a:off x="3474720" y="3593592"/>
            <a:ext cx="2240280" cy="704088"/>
          </a:xfrm>
          <a:prstGeom prst="rect">
            <a:avLst/>
          </a:prstGeom>
          <a:noFill/>
          <a:ln/>
        </p:spPr>
        <p:txBody>
          <a:bodyPr wrap="square" lIns="0" tIns="0" rIns="0" bIns="0" rtlCol="0" anchor="t"/>
          <a:lstStyle/>
          <a:p>
            <a:pPr indent="0" marL="0">
              <a:buNone/>
            </a:pPr>
            <a:r>
              <a:rPr lang="en-US" sz="1400" dirty="0">
                <a:solidFill>
                  <a:schemeClr val="tx1"/>
                </a:solidFill>
              </a:rPr>
              <a:t>complexes versus isozymes (ATP synthase)</a:t>
            </a:r>
            <a:endParaRPr lang="en-US" sz="1400" dirty="0"/>
          </a:p>
        </p:txBody>
      </p:sp>
      <p:sp>
        <p:nvSpPr>
          <p:cNvPr id="28" name="Check card 6"/>
          <p:cNvSpPr/>
          <p:nvPr/>
        </p:nvSpPr>
        <p:spPr>
          <a:xfrm>
            <a:off x="6126480" y="2880360"/>
            <a:ext cx="2560320" cy="1463040"/>
          </a:xfrm>
          <a:prstGeom prst="roundRect">
            <a:avLst>
              <a:gd name="adj" fmla="val 5000"/>
            </a:avLst>
          </a:prstGeom>
          <a:solidFill>
            <a:schemeClr val="bg2"/>
          </a:solidFill>
          <a:ln/>
        </p:spPr>
      </p:sp>
      <p:sp>
        <p:nvSpPr>
          <p:cNvPr id="29" name="Check 6 node"/>
          <p:cNvSpPr/>
          <p:nvPr/>
        </p:nvSpPr>
        <p:spPr>
          <a:xfrm>
            <a:off x="6309360" y="3026664"/>
            <a:ext cx="457200" cy="457200"/>
          </a:xfrm>
          <a:prstGeom prst="ellipse">
            <a:avLst/>
          </a:prstGeom>
          <a:solidFill>
            <a:schemeClr val="accent5"/>
          </a:solidFill>
          <a:ln/>
        </p:spPr>
      </p:sp>
      <p:pic>
        <p:nvPicPr>
          <p:cNvPr id="30" name="Check 6 icon" descr="preencoded.png">    </p:cNvPr>
          <p:cNvPicPr>
            <a:picLocks noChangeAspect="1"/>
          </p:cNvPicPr>
          <p:nvPr/>
        </p:nvPicPr>
        <p:blipFill>
          <a:blip r:embed="rId6"/>
          <a:stretch>
            <a:fillRect/>
          </a:stretch>
        </p:blipFill>
        <p:spPr>
          <a:xfrm>
            <a:off x="6423660" y="3140964"/>
            <a:ext cx="228600" cy="228600"/>
          </a:xfrm>
          <a:prstGeom prst="rect">
            <a:avLst/>
          </a:prstGeom>
        </p:spPr>
      </p:pic>
      <p:sp>
        <p:nvSpPr>
          <p:cNvPr id="31" name="Check 6 heading"/>
          <p:cNvSpPr txBox="1"/>
          <p:nvPr/>
        </p:nvSpPr>
        <p:spPr>
          <a:xfrm>
            <a:off x="6903720" y="2999232"/>
            <a:ext cx="1691640" cy="548640"/>
          </a:xfrm>
          <a:prstGeom prst="rect">
            <a:avLst/>
          </a:prstGeom>
          <a:noFill/>
          <a:ln/>
        </p:spPr>
        <p:txBody>
          <a:bodyPr wrap="square" lIns="0" tIns="0" rIns="0" bIns="0" rtlCol="0" anchor="ctr"/>
          <a:lstStyle/>
          <a:p>
            <a:pPr indent="0" marL="0">
              <a:buNone/>
            </a:pPr>
            <a:r>
              <a:rPr lang="en-US" sz="1500" b="1" dirty="0">
                <a:solidFill>
                  <a:schemeClr val="tx2"/>
                </a:solidFill>
              </a:rPr>
              <a:t>Energy from nothing</a:t>
            </a:r>
            <a:endParaRPr lang="en-US" sz="1500" dirty="0"/>
          </a:p>
        </p:txBody>
      </p:sp>
      <p:sp>
        <p:nvSpPr>
          <p:cNvPr id="32" name="Check 6 text"/>
          <p:cNvSpPr txBox="1"/>
          <p:nvPr/>
        </p:nvSpPr>
        <p:spPr>
          <a:xfrm>
            <a:off x="6309360" y="3593592"/>
            <a:ext cx="2240280" cy="704088"/>
          </a:xfrm>
          <a:prstGeom prst="rect">
            <a:avLst/>
          </a:prstGeom>
          <a:noFill/>
          <a:ln/>
        </p:spPr>
        <p:txBody>
          <a:bodyPr wrap="square" lIns="0" tIns="0" rIns="0" bIns="0" rtlCol="0" anchor="t"/>
          <a:lstStyle/>
          <a:p>
            <a:pPr indent="0" marL="0">
              <a:buNone/>
            </a:pPr>
            <a:r>
              <a:rPr lang="en-US" sz="1400" dirty="0">
                <a:solidFill>
                  <a:schemeClr val="tx1"/>
                </a:solidFill>
              </a:rPr>
              <a:t>cycles that make ATP with no input</a:t>
            </a:r>
            <a:endParaRPr lang="en-US" sz="14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400" b="1" dirty="0">
                <a:solidFill>
                  <a:schemeClr val="tx2"/>
                </a:solidFill>
              </a:rPr>
              <a:t>Free ATP is a red flag</a:t>
            </a:r>
            <a:endParaRPr lang="en-US" sz="3400" dirty="0"/>
          </a:p>
        </p:txBody>
      </p:sp>
      <p:sp>
        <p:nvSpPr>
          <p:cNvPr id="3" name="EGC text"/>
          <p:cNvSpPr txBox="1"/>
          <p:nvPr/>
        </p:nvSpPr>
        <p:spPr>
          <a:xfrm>
            <a:off x="457200" y="1234440"/>
            <a:ext cx="3840480" cy="2194560"/>
          </a:xfrm>
          <a:prstGeom prst="rect">
            <a:avLst/>
          </a:prstGeom>
          <a:noFill/>
          <a:ln/>
        </p:spPr>
        <p:txBody>
          <a:bodyPr wrap="square" lIns="0" tIns="0" rIns="0" bIns="0" rtlCol="0" anchor="t"/>
          <a:lstStyle/>
          <a:p>
            <a:pPr indent="0" marL="0">
              <a:buNone/>
            </a:pPr>
            <a:r>
              <a:rPr lang="en-US" sz="1500" b="1" dirty="0">
                <a:solidFill>
                  <a:schemeClr val="tx2"/>
                </a:solidFill>
              </a:rPr>
              <a:t>An energy-generating cycle </a:t>
            </a:r>
            <a:pPr indent="0" marL="0">
              <a:buNone/>
            </a:pPr>
            <a:r>
              <a:rPr lang="en-US" sz="1500" dirty="0">
                <a:solidFill>
                  <a:schemeClr val="tx1"/>
                </a:solidFill>
              </a:rPr>
              <a:t>makes ATP, or NADH, or a proton gradient, from nothing. It inflates predicted growth and yields.</a:t>
            </a:r>
            <a:endParaRPr lang="en-US" sz="1500" dirty="0"/>
          </a:p>
          <a:p>
            <a:pPr indent="0" marL="0">
              <a:buNone/>
            </a:pPr>
            <a:r>
              <a:rPr lang="en-US" sz="1500" dirty="0">
                <a:solidFill>
                  <a:schemeClr val="tx1"/>
                </a:solidFill>
              </a:rPr>
              <a:t> </a:t>
            </a:r>
            <a:endParaRPr lang="en-US" sz="1500" dirty="0"/>
          </a:p>
          <a:p>
            <a:pPr indent="0" marL="0">
              <a:buNone/>
            </a:pPr>
            <a:r>
              <a:rPr lang="en-US" sz="1500" b="1" dirty="0">
                <a:solidFill>
                  <a:schemeClr val="tx2"/>
                </a:solidFill>
              </a:rPr>
              <a:t>Such cycles are common in automatically built models </a:t>
            </a:r>
            <a:pPr indent="0" marL="0">
              <a:buNone/>
            </a:pPr>
            <a:r>
              <a:rPr lang="en-US" sz="1500" dirty="0">
                <a:solidFill>
                  <a:schemeClr val="tx1"/>
                </a:solidFill>
              </a:rPr>
              <a:t>(Fritzemeier et al., PLoS Comput. Biol. 2017), often from a reversible reaction that should not be.</a:t>
            </a:r>
            <a:endParaRPr lang="en-US" sz="1500" dirty="0"/>
          </a:p>
        </p:txBody>
      </p:sp>
      <p:sp>
        <p:nvSpPr>
          <p:cNvPr id="4" name="EGC result card"/>
          <p:cNvSpPr/>
          <p:nvPr/>
        </p:nvSpPr>
        <p:spPr>
          <a:xfrm>
            <a:off x="457200" y="3566160"/>
            <a:ext cx="3840480" cy="868680"/>
          </a:xfrm>
          <a:prstGeom prst="roundRect">
            <a:avLst>
              <a:gd name="adj" fmla="val 8421"/>
            </a:avLst>
          </a:prstGeom>
          <a:solidFill>
            <a:schemeClr val="bg2"/>
          </a:solidFill>
          <a:ln/>
        </p:spPr>
      </p:sp>
      <p:sp>
        <p:nvSpPr>
          <p:cNvPr id="5" name="EGC result node"/>
          <p:cNvSpPr/>
          <p:nvPr/>
        </p:nvSpPr>
        <p:spPr>
          <a:xfrm>
            <a:off x="640080" y="3749040"/>
            <a:ext cx="502920" cy="502920"/>
          </a:xfrm>
          <a:prstGeom prst="ellipse">
            <a:avLst/>
          </a:prstGeom>
          <a:solidFill>
            <a:schemeClr val="accent1"/>
          </a:solidFill>
          <a:ln/>
        </p:spPr>
      </p:sp>
      <p:pic>
        <p:nvPicPr>
          <p:cNvPr id="6" name="EGC result icon" descr="preencoded.png">    </p:cNvPr>
          <p:cNvPicPr>
            <a:picLocks noChangeAspect="1"/>
          </p:cNvPicPr>
          <p:nvPr/>
        </p:nvPicPr>
        <p:blipFill>
          <a:blip r:embed="rId1"/>
          <a:stretch>
            <a:fillRect/>
          </a:stretch>
        </p:blipFill>
        <p:spPr>
          <a:xfrm>
            <a:off x="765810" y="3874770"/>
            <a:ext cx="251460" cy="251460"/>
          </a:xfrm>
          <a:prstGeom prst="rect">
            <a:avLst/>
          </a:prstGeom>
        </p:spPr>
      </p:pic>
      <p:sp>
        <p:nvSpPr>
          <p:cNvPr id="7" name="EGC result text"/>
          <p:cNvSpPr txBox="1"/>
          <p:nvPr/>
        </p:nvSpPr>
        <p:spPr>
          <a:xfrm>
            <a:off x="1280160" y="3566160"/>
            <a:ext cx="2926080" cy="868680"/>
          </a:xfrm>
          <a:prstGeom prst="rect">
            <a:avLst/>
          </a:prstGeom>
          <a:noFill/>
          <a:ln/>
        </p:spPr>
        <p:txBody>
          <a:bodyPr wrap="square" lIns="0" tIns="0" rIns="0" bIns="0" rtlCol="0" anchor="ctr"/>
          <a:lstStyle/>
          <a:p>
            <a:pPr indent="0" marL="0">
              <a:buNone/>
            </a:pPr>
            <a:r>
              <a:rPr lang="en-US" sz="1600" b="1" dirty="0">
                <a:solidFill>
                  <a:schemeClr val="tx2"/>
                </a:solidFill>
              </a:rPr>
              <a:t>Toybacter passes: </a:t>
            </a:r>
            <a:pPr indent="0" marL="0">
              <a:buNone/>
            </a:pPr>
            <a:r>
              <a:rPr lang="en-US" sz="1600" dirty="0">
                <a:solidFill>
                  <a:schemeClr val="tx1"/>
                </a:solidFill>
              </a:rPr>
              <a:t>0.0</a:t>
            </a:r>
            <a:endParaRPr lang="en-US" sz="1600" dirty="0"/>
          </a:p>
        </p:txBody>
      </p:sp>
      <p:sp>
        <p:nvSpPr>
          <p:cNvPr id="8" name="EGC code card"/>
          <p:cNvSpPr/>
          <p:nvPr/>
        </p:nvSpPr>
        <p:spPr>
          <a:xfrm>
            <a:off x="4572000" y="1188720"/>
            <a:ext cx="4114800" cy="3246120"/>
          </a:xfrm>
          <a:prstGeom prst="roundRect">
            <a:avLst>
              <a:gd name="adj" fmla="val 2254"/>
            </a:avLst>
          </a:prstGeom>
          <a:solidFill>
            <a:schemeClr val="tx2"/>
          </a:solidFill>
          <a:ln/>
        </p:spPr>
      </p:sp>
      <p:sp>
        <p:nvSpPr>
          <p:cNvPr id="9" name="EGC code label"/>
          <p:cNvSpPr txBox="1"/>
          <p:nvPr/>
        </p:nvSpPr>
        <p:spPr>
          <a:xfrm>
            <a:off x="4800600" y="1353312"/>
            <a:ext cx="3657600" cy="274320"/>
          </a:xfrm>
          <a:prstGeom prst="rect">
            <a:avLst/>
          </a:prstGeom>
          <a:noFill/>
          <a:ln/>
        </p:spPr>
        <p:txBody>
          <a:bodyPr wrap="square" lIns="0" tIns="0" rIns="0" bIns="0" rtlCol="0" anchor="t"/>
          <a:lstStyle/>
          <a:p>
            <a:pPr indent="0" marL="0">
              <a:buNone/>
            </a:pPr>
            <a:r>
              <a:rPr lang="en-US" sz="1200" b="1" dirty="0">
                <a:solidFill>
                  <a:schemeClr val="accent2"/>
                </a:solidFill>
              </a:rPr>
              <a:t>Test: close every input, maximise ATP use</a:t>
            </a:r>
            <a:endParaRPr lang="en-US" sz="1200" dirty="0"/>
          </a:p>
        </p:txBody>
      </p:sp>
      <p:sp>
        <p:nvSpPr>
          <p:cNvPr id="10" name="EGC code code"/>
          <p:cNvSpPr txBox="1"/>
          <p:nvPr/>
        </p:nvSpPr>
        <p:spPr>
          <a:xfrm>
            <a:off x="4800600" y="1691640"/>
            <a:ext cx="3657600" cy="2606040"/>
          </a:xfrm>
          <a:prstGeom prst="rect">
            <a:avLst/>
          </a:prstGeom>
          <a:noFill/>
          <a:ln/>
        </p:spPr>
        <p:txBody>
          <a:bodyPr wrap="square" lIns="0" tIns="0" rIns="0" bIns="0" rtlCol="0" anchor="t"/>
          <a:lstStyle/>
          <a:p>
            <a:pPr indent="0" marL="0">
              <a:buNone/>
            </a:pPr>
            <a:r>
              <a:rPr lang="en-US" sz="1100" dirty="0">
                <a:solidFill>
                  <a:schemeClr val="accent4"/>
                </a:solidFill>
                <a:latin typeface="Courier New" pitchFamily="34" charset="0"/>
                <a:ea typeface="Courier New" pitchFamily="34" charset="-122"/>
                <a:cs typeface="Courier New" pitchFamily="34" charset="-120"/>
              </a:rPr>
              <a:t>with model:</a:t>
            </a:r>
            <a:endParaRPr lang="en-US" sz="1100" dirty="0"/>
          </a:p>
          <a:p>
            <a:pPr indent="0" marL="0">
              <a:buNone/>
            </a:pPr>
            <a:r>
              <a:rPr lang="en-US" sz="1100" dirty="0">
                <a:solidFill>
                  <a:schemeClr val="accent4"/>
                </a:solidFill>
                <a:latin typeface="Courier New" pitchFamily="34" charset="0"/>
                <a:ea typeface="Courier New" pitchFamily="34" charset="-122"/>
                <a:cs typeface="Courier New" pitchFamily="34" charset="-120"/>
              </a:rPr>
              <a:t>    for ex in model.exchanges:</a:t>
            </a:r>
            <a:endParaRPr lang="en-US" sz="1100" dirty="0"/>
          </a:p>
          <a:p>
            <a:pPr indent="0" marL="0">
              <a:buNone/>
            </a:pPr>
            <a:r>
              <a:rPr lang="en-US" sz="1100" dirty="0">
                <a:solidFill>
                  <a:schemeClr val="accent4"/>
                </a:solidFill>
                <a:latin typeface="Courier New" pitchFamily="34" charset="0"/>
                <a:ea typeface="Courier New" pitchFamily="34" charset="-122"/>
                <a:cs typeface="Courier New" pitchFamily="34" charset="-120"/>
              </a:rPr>
              <a:t>        ex.lower_bound = 0  # no input</a:t>
            </a:r>
            <a:endParaRPr lang="en-US" sz="1100" dirty="0"/>
          </a:p>
          <a:p>
            <a:pPr indent="0" marL="0">
              <a:buNone/>
            </a:pPr>
            <a:r>
              <a:rPr lang="en-US" sz="1100" dirty="0">
                <a:solidFill>
                  <a:schemeClr val="accent4"/>
                </a:solidFill>
                <a:latin typeface="Courier New" pitchFamily="34" charset="0"/>
                <a:ea typeface="Courier New" pitchFamily="34" charset="-122"/>
                <a:cs typeface="Courier New" pitchFamily="34" charset="-120"/>
              </a:rPr>
              <a:t>    atpm = model.reactions.ATPM</a:t>
            </a:r>
            <a:endParaRPr lang="en-US" sz="1100" dirty="0"/>
          </a:p>
          <a:p>
            <a:pPr indent="0" marL="0">
              <a:buNone/>
            </a:pPr>
            <a:r>
              <a:rPr lang="en-US" sz="1100" dirty="0">
                <a:solidFill>
                  <a:schemeClr val="accent4"/>
                </a:solidFill>
                <a:latin typeface="Courier New" pitchFamily="34" charset="0"/>
                <a:ea typeface="Courier New" pitchFamily="34" charset="-122"/>
                <a:cs typeface="Courier New" pitchFamily="34" charset="-120"/>
              </a:rPr>
              <a:t>    atpm.lower_bound = 0</a:t>
            </a:r>
            <a:endParaRPr lang="en-US" sz="1100" dirty="0"/>
          </a:p>
          <a:p>
            <a:pPr indent="0" marL="0">
              <a:buNone/>
            </a:pPr>
            <a:r>
              <a:rPr lang="en-US" sz="1100" dirty="0">
                <a:solidFill>
                  <a:schemeClr val="accent4"/>
                </a:solidFill>
                <a:latin typeface="Courier New" pitchFamily="34" charset="0"/>
                <a:ea typeface="Courier New" pitchFamily="34" charset="-122"/>
                <a:cs typeface="Courier New" pitchFamily="34" charset="-120"/>
              </a:rPr>
              <a:t>    model.objective = "ATPM"</a:t>
            </a:r>
            <a:endParaRPr lang="en-US" sz="1100" dirty="0"/>
          </a:p>
          <a:p>
            <a:pPr indent="0" marL="0">
              <a:buNone/>
            </a:pPr>
            <a:r>
              <a:rPr lang="en-US" sz="1100" dirty="0">
                <a:solidFill>
                  <a:schemeClr val="accent4"/>
                </a:solidFill>
                <a:latin typeface="Courier New" pitchFamily="34" charset="0"/>
                <a:ea typeface="Courier New" pitchFamily="34" charset="-122"/>
                <a:cs typeface="Courier New" pitchFamily="34" charset="-120"/>
              </a:rPr>
              <a:t>    print(model.slim_optimize())</a:t>
            </a:r>
            <a:endParaRPr lang="en-US" sz="1100" dirty="0"/>
          </a:p>
          <a:p>
            <a:pPr indent="0" marL="0">
              <a:buNone/>
            </a:pPr>
            <a:endParaRPr lang="en-US" sz="1100" dirty="0"/>
          </a:p>
          <a:p>
            <a:pPr indent="0" marL="0">
              <a:buNone/>
            </a:pPr>
            <a:r>
              <a:rPr lang="en-US" sz="1100" dirty="0">
                <a:solidFill>
                  <a:schemeClr val="accent4"/>
                </a:solidFill>
                <a:latin typeface="Courier New" pitchFamily="34" charset="0"/>
                <a:ea typeface="Courier New" pitchFamily="34" charset="-122"/>
                <a:cs typeface="Courier New" pitchFamily="34" charset="-120"/>
              </a:rPr>
              <a:t># anything above 0: ATP from nothing</a:t>
            </a:r>
            <a:endParaRPr lang="en-US" sz="11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400" b="1" dirty="0">
                <a:solidFill>
                  <a:schemeClr val="tx2"/>
                </a:solidFill>
              </a:rPr>
              <a:t>MEMOTE: one report for every model</a:t>
            </a:r>
            <a:endParaRPr lang="en-US" sz="3400" dirty="0"/>
          </a:p>
        </p:txBody>
      </p:sp>
      <p:sp>
        <p:nvSpPr>
          <p:cNvPr id="3" name="Memote card 1"/>
          <p:cNvSpPr/>
          <p:nvPr/>
        </p:nvSpPr>
        <p:spPr>
          <a:xfrm>
            <a:off x="457200" y="1188720"/>
            <a:ext cx="1920240" cy="1828800"/>
          </a:xfrm>
          <a:prstGeom prst="roundRect">
            <a:avLst>
              <a:gd name="adj" fmla="val 4000"/>
            </a:avLst>
          </a:prstGeom>
          <a:solidFill>
            <a:schemeClr val="bg2"/>
          </a:solidFill>
          <a:ln/>
        </p:spPr>
      </p:sp>
      <p:sp>
        <p:nvSpPr>
          <p:cNvPr id="4" name="Memote 1 node"/>
          <p:cNvSpPr/>
          <p:nvPr/>
        </p:nvSpPr>
        <p:spPr>
          <a:xfrm>
            <a:off x="640080" y="1325880"/>
            <a:ext cx="457200" cy="457200"/>
          </a:xfrm>
          <a:prstGeom prst="ellipse">
            <a:avLst/>
          </a:prstGeom>
          <a:solidFill>
            <a:schemeClr val="accent1"/>
          </a:solidFill>
          <a:ln/>
        </p:spPr>
      </p:sp>
      <p:pic>
        <p:nvPicPr>
          <p:cNvPr id="5" name="Memote 1 icon" descr="preencoded.png">    </p:cNvPr>
          <p:cNvPicPr>
            <a:picLocks noChangeAspect="1"/>
          </p:cNvPicPr>
          <p:nvPr/>
        </p:nvPicPr>
        <p:blipFill>
          <a:blip r:embed="rId1"/>
          <a:stretch>
            <a:fillRect/>
          </a:stretch>
        </p:blipFill>
        <p:spPr>
          <a:xfrm>
            <a:off x="754380" y="1440180"/>
            <a:ext cx="228600" cy="228600"/>
          </a:xfrm>
          <a:prstGeom prst="rect">
            <a:avLst/>
          </a:prstGeom>
        </p:spPr>
      </p:pic>
      <p:sp>
        <p:nvSpPr>
          <p:cNvPr id="6" name="Memote 1 heading"/>
          <p:cNvSpPr txBox="1"/>
          <p:nvPr/>
        </p:nvSpPr>
        <p:spPr>
          <a:xfrm>
            <a:off x="640080" y="1874520"/>
            <a:ext cx="1645920" cy="320040"/>
          </a:xfrm>
          <a:prstGeom prst="rect">
            <a:avLst/>
          </a:prstGeom>
          <a:noFill/>
          <a:ln/>
        </p:spPr>
        <p:txBody>
          <a:bodyPr wrap="square" lIns="0" tIns="0" rIns="0" bIns="0" rtlCol="0" anchor="t"/>
          <a:lstStyle/>
          <a:p>
            <a:pPr indent="0" marL="0">
              <a:buNone/>
            </a:pPr>
            <a:r>
              <a:rPr lang="en-US" sz="1500" b="1" dirty="0">
                <a:solidFill>
                  <a:schemeClr val="tx2"/>
                </a:solidFill>
              </a:rPr>
              <a:t>Consistency</a:t>
            </a:r>
            <a:endParaRPr lang="en-US" sz="1500" dirty="0"/>
          </a:p>
        </p:txBody>
      </p:sp>
      <p:sp>
        <p:nvSpPr>
          <p:cNvPr id="7" name="Memote 1 text"/>
          <p:cNvSpPr txBox="1"/>
          <p:nvPr/>
        </p:nvSpPr>
        <p:spPr>
          <a:xfrm>
            <a:off x="640080" y="2212848"/>
            <a:ext cx="1600200" cy="777240"/>
          </a:xfrm>
          <a:prstGeom prst="rect">
            <a:avLst/>
          </a:prstGeom>
          <a:noFill/>
          <a:ln/>
        </p:spPr>
        <p:txBody>
          <a:bodyPr wrap="square" lIns="0" tIns="0" rIns="0" bIns="0" rtlCol="0" anchor="t"/>
          <a:lstStyle/>
          <a:p>
            <a:pPr indent="0" marL="0">
              <a:buNone/>
            </a:pPr>
            <a:r>
              <a:rPr lang="en-US" sz="1300" dirty="0">
                <a:solidFill>
                  <a:schemeClr val="tx1"/>
                </a:solidFill>
              </a:rPr>
              <a:t>stoichiometry, mass and charge balance, unbounded fluxes</a:t>
            </a:r>
            <a:endParaRPr lang="en-US" sz="1300" dirty="0"/>
          </a:p>
        </p:txBody>
      </p:sp>
      <p:sp>
        <p:nvSpPr>
          <p:cNvPr id="8" name="Memote card 2"/>
          <p:cNvSpPr/>
          <p:nvPr/>
        </p:nvSpPr>
        <p:spPr>
          <a:xfrm>
            <a:off x="2560320" y="1188720"/>
            <a:ext cx="1920240" cy="1828800"/>
          </a:xfrm>
          <a:prstGeom prst="roundRect">
            <a:avLst>
              <a:gd name="adj" fmla="val 4000"/>
            </a:avLst>
          </a:prstGeom>
          <a:solidFill>
            <a:schemeClr val="bg2"/>
          </a:solidFill>
          <a:ln/>
        </p:spPr>
      </p:sp>
      <p:sp>
        <p:nvSpPr>
          <p:cNvPr id="9" name="Memote 2 node"/>
          <p:cNvSpPr/>
          <p:nvPr/>
        </p:nvSpPr>
        <p:spPr>
          <a:xfrm>
            <a:off x="2743200" y="1325880"/>
            <a:ext cx="457200" cy="457200"/>
          </a:xfrm>
          <a:prstGeom prst="ellipse">
            <a:avLst/>
          </a:prstGeom>
          <a:solidFill>
            <a:schemeClr val="accent1"/>
          </a:solidFill>
          <a:ln/>
        </p:spPr>
      </p:sp>
      <p:pic>
        <p:nvPicPr>
          <p:cNvPr id="10" name="Memote 2 icon" descr="preencoded.png">    </p:cNvPr>
          <p:cNvPicPr>
            <a:picLocks noChangeAspect="1"/>
          </p:cNvPicPr>
          <p:nvPr/>
        </p:nvPicPr>
        <p:blipFill>
          <a:blip r:embed="rId2"/>
          <a:stretch>
            <a:fillRect/>
          </a:stretch>
        </p:blipFill>
        <p:spPr>
          <a:xfrm>
            <a:off x="2857500" y="1440180"/>
            <a:ext cx="228600" cy="228600"/>
          </a:xfrm>
          <a:prstGeom prst="rect">
            <a:avLst/>
          </a:prstGeom>
        </p:spPr>
      </p:pic>
      <p:sp>
        <p:nvSpPr>
          <p:cNvPr id="11" name="Memote 2 heading"/>
          <p:cNvSpPr txBox="1"/>
          <p:nvPr/>
        </p:nvSpPr>
        <p:spPr>
          <a:xfrm>
            <a:off x="2743200" y="1874520"/>
            <a:ext cx="1645920" cy="320040"/>
          </a:xfrm>
          <a:prstGeom prst="rect">
            <a:avLst/>
          </a:prstGeom>
          <a:noFill/>
          <a:ln/>
        </p:spPr>
        <p:txBody>
          <a:bodyPr wrap="square" lIns="0" tIns="0" rIns="0" bIns="0" rtlCol="0" anchor="t"/>
          <a:lstStyle/>
          <a:p>
            <a:pPr indent="0" marL="0">
              <a:buNone/>
            </a:pPr>
            <a:r>
              <a:rPr lang="en-US" sz="1500" b="1" dirty="0">
                <a:solidFill>
                  <a:schemeClr val="tx2"/>
                </a:solidFill>
              </a:rPr>
              <a:t>Annotation</a:t>
            </a:r>
            <a:endParaRPr lang="en-US" sz="1500" dirty="0"/>
          </a:p>
        </p:txBody>
      </p:sp>
      <p:sp>
        <p:nvSpPr>
          <p:cNvPr id="12" name="Memote 2 text"/>
          <p:cNvSpPr txBox="1"/>
          <p:nvPr/>
        </p:nvSpPr>
        <p:spPr>
          <a:xfrm>
            <a:off x="2743200" y="2212848"/>
            <a:ext cx="1600200" cy="777240"/>
          </a:xfrm>
          <a:prstGeom prst="rect">
            <a:avLst/>
          </a:prstGeom>
          <a:noFill/>
          <a:ln/>
        </p:spPr>
        <p:txBody>
          <a:bodyPr wrap="square" lIns="0" tIns="0" rIns="0" bIns="0" rtlCol="0" anchor="t"/>
          <a:lstStyle/>
          <a:p>
            <a:pPr indent="0" marL="0">
              <a:buNone/>
            </a:pPr>
            <a:r>
              <a:rPr lang="en-US" sz="1300" dirty="0">
                <a:solidFill>
                  <a:schemeClr val="tx1"/>
                </a:solidFill>
              </a:rPr>
              <a:t>database IDs on metabolites, reactions and genes</a:t>
            </a:r>
            <a:endParaRPr lang="en-US" sz="1300" dirty="0"/>
          </a:p>
        </p:txBody>
      </p:sp>
      <p:sp>
        <p:nvSpPr>
          <p:cNvPr id="13" name="Memote card 3"/>
          <p:cNvSpPr/>
          <p:nvPr/>
        </p:nvSpPr>
        <p:spPr>
          <a:xfrm>
            <a:off x="4663440" y="1188720"/>
            <a:ext cx="1920240" cy="1828800"/>
          </a:xfrm>
          <a:prstGeom prst="roundRect">
            <a:avLst>
              <a:gd name="adj" fmla="val 4000"/>
            </a:avLst>
          </a:prstGeom>
          <a:solidFill>
            <a:schemeClr val="bg2"/>
          </a:solidFill>
          <a:ln/>
        </p:spPr>
      </p:sp>
      <p:sp>
        <p:nvSpPr>
          <p:cNvPr id="14" name="Memote 3 node"/>
          <p:cNvSpPr/>
          <p:nvPr/>
        </p:nvSpPr>
        <p:spPr>
          <a:xfrm>
            <a:off x="4846320" y="1325880"/>
            <a:ext cx="457200" cy="457200"/>
          </a:xfrm>
          <a:prstGeom prst="ellipse">
            <a:avLst/>
          </a:prstGeom>
          <a:solidFill>
            <a:schemeClr val="accent1"/>
          </a:solidFill>
          <a:ln/>
        </p:spPr>
      </p:sp>
      <p:pic>
        <p:nvPicPr>
          <p:cNvPr id="15" name="Memote 3 icon" descr="preencoded.png">    </p:cNvPr>
          <p:cNvPicPr>
            <a:picLocks noChangeAspect="1"/>
          </p:cNvPicPr>
          <p:nvPr/>
        </p:nvPicPr>
        <p:blipFill>
          <a:blip r:embed="rId3"/>
          <a:stretch>
            <a:fillRect/>
          </a:stretch>
        </p:blipFill>
        <p:spPr>
          <a:xfrm>
            <a:off x="4960620" y="1440180"/>
            <a:ext cx="228600" cy="228600"/>
          </a:xfrm>
          <a:prstGeom prst="rect">
            <a:avLst/>
          </a:prstGeom>
        </p:spPr>
      </p:pic>
      <p:sp>
        <p:nvSpPr>
          <p:cNvPr id="16" name="Memote 3 heading"/>
          <p:cNvSpPr txBox="1"/>
          <p:nvPr/>
        </p:nvSpPr>
        <p:spPr>
          <a:xfrm>
            <a:off x="4846320" y="1874520"/>
            <a:ext cx="1645920" cy="320040"/>
          </a:xfrm>
          <a:prstGeom prst="rect">
            <a:avLst/>
          </a:prstGeom>
          <a:noFill/>
          <a:ln/>
        </p:spPr>
        <p:txBody>
          <a:bodyPr wrap="square" lIns="0" tIns="0" rIns="0" bIns="0" rtlCol="0" anchor="t"/>
          <a:lstStyle/>
          <a:p>
            <a:pPr indent="0" marL="0">
              <a:buNone/>
            </a:pPr>
            <a:r>
              <a:rPr lang="en-US" sz="1500" b="1" dirty="0">
                <a:solidFill>
                  <a:schemeClr val="tx2"/>
                </a:solidFill>
              </a:rPr>
              <a:t>Biomass</a:t>
            </a:r>
            <a:endParaRPr lang="en-US" sz="1500" dirty="0"/>
          </a:p>
        </p:txBody>
      </p:sp>
      <p:sp>
        <p:nvSpPr>
          <p:cNvPr id="17" name="Memote 3 text"/>
          <p:cNvSpPr txBox="1"/>
          <p:nvPr/>
        </p:nvSpPr>
        <p:spPr>
          <a:xfrm>
            <a:off x="4846320" y="2212848"/>
            <a:ext cx="1600200" cy="777240"/>
          </a:xfrm>
          <a:prstGeom prst="rect">
            <a:avLst/>
          </a:prstGeom>
          <a:noFill/>
          <a:ln/>
        </p:spPr>
        <p:txBody>
          <a:bodyPr wrap="square" lIns="0" tIns="0" rIns="0" bIns="0" rtlCol="0" anchor="t"/>
          <a:lstStyle/>
          <a:p>
            <a:pPr indent="0" marL="0">
              <a:buNone/>
            </a:pPr>
            <a:r>
              <a:rPr lang="en-US" sz="1300" dirty="0">
                <a:solidFill>
                  <a:schemeClr val="tx1"/>
                </a:solidFill>
              </a:rPr>
              <a:t>can the model make every precursor?</a:t>
            </a:r>
            <a:endParaRPr lang="en-US" sz="1300" dirty="0"/>
          </a:p>
        </p:txBody>
      </p:sp>
      <p:sp>
        <p:nvSpPr>
          <p:cNvPr id="18" name="Memote card 4"/>
          <p:cNvSpPr/>
          <p:nvPr/>
        </p:nvSpPr>
        <p:spPr>
          <a:xfrm>
            <a:off x="6766560" y="1188720"/>
            <a:ext cx="1920240" cy="1828800"/>
          </a:xfrm>
          <a:prstGeom prst="roundRect">
            <a:avLst>
              <a:gd name="adj" fmla="val 4000"/>
            </a:avLst>
          </a:prstGeom>
          <a:solidFill>
            <a:schemeClr val="bg2"/>
          </a:solidFill>
          <a:ln/>
        </p:spPr>
      </p:sp>
      <p:sp>
        <p:nvSpPr>
          <p:cNvPr id="19" name="Memote 4 node"/>
          <p:cNvSpPr/>
          <p:nvPr/>
        </p:nvSpPr>
        <p:spPr>
          <a:xfrm>
            <a:off x="6949440" y="1325880"/>
            <a:ext cx="457200" cy="457200"/>
          </a:xfrm>
          <a:prstGeom prst="ellipse">
            <a:avLst/>
          </a:prstGeom>
          <a:solidFill>
            <a:schemeClr val="accent1"/>
          </a:solidFill>
          <a:ln/>
        </p:spPr>
      </p:sp>
      <p:pic>
        <p:nvPicPr>
          <p:cNvPr id="20" name="Memote 4 icon" descr="preencoded.png">    </p:cNvPr>
          <p:cNvPicPr>
            <a:picLocks noChangeAspect="1"/>
          </p:cNvPicPr>
          <p:nvPr/>
        </p:nvPicPr>
        <p:blipFill>
          <a:blip r:embed="rId4"/>
          <a:stretch>
            <a:fillRect/>
          </a:stretch>
        </p:blipFill>
        <p:spPr>
          <a:xfrm>
            <a:off x="7063740" y="1440180"/>
            <a:ext cx="228600" cy="228600"/>
          </a:xfrm>
          <a:prstGeom prst="rect">
            <a:avLst/>
          </a:prstGeom>
        </p:spPr>
      </p:pic>
      <p:sp>
        <p:nvSpPr>
          <p:cNvPr id="21" name="Memote 4 heading"/>
          <p:cNvSpPr txBox="1"/>
          <p:nvPr/>
        </p:nvSpPr>
        <p:spPr>
          <a:xfrm>
            <a:off x="6949440" y="1874520"/>
            <a:ext cx="1645920" cy="320040"/>
          </a:xfrm>
          <a:prstGeom prst="rect">
            <a:avLst/>
          </a:prstGeom>
          <a:noFill/>
          <a:ln/>
        </p:spPr>
        <p:txBody>
          <a:bodyPr wrap="square" lIns="0" tIns="0" rIns="0" bIns="0" rtlCol="0" anchor="t"/>
          <a:lstStyle/>
          <a:p>
            <a:pPr indent="0" marL="0">
              <a:buNone/>
            </a:pPr>
            <a:r>
              <a:rPr lang="en-US" sz="1500" b="1" dirty="0">
                <a:solidFill>
                  <a:schemeClr val="tx2"/>
                </a:solidFill>
              </a:rPr>
              <a:t>SBO terms</a:t>
            </a:r>
            <a:endParaRPr lang="en-US" sz="1500" dirty="0"/>
          </a:p>
        </p:txBody>
      </p:sp>
      <p:sp>
        <p:nvSpPr>
          <p:cNvPr id="22" name="Memote 4 text"/>
          <p:cNvSpPr txBox="1"/>
          <p:nvPr/>
        </p:nvSpPr>
        <p:spPr>
          <a:xfrm>
            <a:off x="6949440" y="2212848"/>
            <a:ext cx="1600200" cy="777240"/>
          </a:xfrm>
          <a:prstGeom prst="rect">
            <a:avLst/>
          </a:prstGeom>
          <a:noFill/>
          <a:ln/>
        </p:spPr>
        <p:txBody>
          <a:bodyPr wrap="square" lIns="0" tIns="0" rIns="0" bIns="0" rtlCol="0" anchor="t"/>
          <a:lstStyle/>
          <a:p>
            <a:pPr indent="0" marL="0">
              <a:buNone/>
            </a:pPr>
            <a:r>
              <a:rPr lang="en-US" sz="1300" dirty="0">
                <a:solidFill>
                  <a:schemeClr val="tx1"/>
                </a:solidFill>
              </a:rPr>
              <a:t>is each reaction's role labelled?</a:t>
            </a:r>
            <a:endParaRPr lang="en-US" sz="1300" dirty="0"/>
          </a:p>
        </p:txBody>
      </p:sp>
      <p:sp>
        <p:nvSpPr>
          <p:cNvPr id="23" name="Memote code card"/>
          <p:cNvSpPr/>
          <p:nvPr/>
        </p:nvSpPr>
        <p:spPr>
          <a:xfrm>
            <a:off x="457200" y="3200400"/>
            <a:ext cx="4572000" cy="1234440"/>
          </a:xfrm>
          <a:prstGeom prst="roundRect">
            <a:avLst>
              <a:gd name="adj" fmla="val 5926"/>
            </a:avLst>
          </a:prstGeom>
          <a:solidFill>
            <a:schemeClr val="tx2"/>
          </a:solidFill>
          <a:ln/>
        </p:spPr>
      </p:sp>
      <p:sp>
        <p:nvSpPr>
          <p:cNvPr id="24" name="Memote code label"/>
          <p:cNvSpPr txBox="1"/>
          <p:nvPr/>
        </p:nvSpPr>
        <p:spPr>
          <a:xfrm>
            <a:off x="685800" y="3364992"/>
            <a:ext cx="4114800" cy="274320"/>
          </a:xfrm>
          <a:prstGeom prst="rect">
            <a:avLst/>
          </a:prstGeom>
          <a:noFill/>
          <a:ln/>
        </p:spPr>
        <p:txBody>
          <a:bodyPr wrap="square" lIns="0" tIns="0" rIns="0" bIns="0" rtlCol="0" anchor="t"/>
          <a:lstStyle/>
          <a:p>
            <a:pPr indent="0" marL="0">
              <a:buNone/>
            </a:pPr>
            <a:r>
              <a:rPr lang="en-US" sz="1200" b="1" dirty="0">
                <a:solidFill>
                  <a:schemeClr val="accent2"/>
                </a:solidFill>
              </a:rPr>
              <a:t>Run it</a:t>
            </a:r>
            <a:endParaRPr lang="en-US" sz="1200" dirty="0"/>
          </a:p>
        </p:txBody>
      </p:sp>
      <p:sp>
        <p:nvSpPr>
          <p:cNvPr id="25" name="Memote code code"/>
          <p:cNvSpPr txBox="1"/>
          <p:nvPr/>
        </p:nvSpPr>
        <p:spPr>
          <a:xfrm>
            <a:off x="685800" y="3703320"/>
            <a:ext cx="4114800" cy="594360"/>
          </a:xfrm>
          <a:prstGeom prst="rect">
            <a:avLst/>
          </a:prstGeom>
          <a:noFill/>
          <a:ln/>
        </p:spPr>
        <p:txBody>
          <a:bodyPr wrap="square" lIns="0" tIns="0" rIns="0" bIns="0" rtlCol="0" anchor="t"/>
          <a:lstStyle/>
          <a:p>
            <a:pPr indent="0" marL="0">
              <a:buNone/>
            </a:pPr>
            <a:r>
              <a:rPr lang="en-US" sz="1100" dirty="0">
                <a:solidFill>
                  <a:schemeClr val="accent4"/>
                </a:solidFill>
                <a:latin typeface="Courier New" pitchFamily="34" charset="0"/>
                <a:ea typeface="Courier New" pitchFamily="34" charset="-122"/>
                <a:cs typeface="Courier New" pitchFamily="34" charset="-120"/>
              </a:rPr>
              <a:t>memote report snapshot \</a:t>
            </a:r>
            <a:endParaRPr lang="en-US" sz="1100" dirty="0"/>
          </a:p>
          <a:p>
            <a:pPr indent="0" marL="0">
              <a:buNone/>
            </a:pPr>
            <a:r>
              <a:rPr lang="en-US" sz="1100" dirty="0">
                <a:solidFill>
                  <a:schemeClr val="accent4"/>
                </a:solidFill>
                <a:latin typeface="Courier New" pitchFamily="34" charset="0"/>
                <a:ea typeface="Courier New" pitchFamily="34" charset="-122"/>
                <a:cs typeface="Courier New" pitchFamily="34" charset="-120"/>
              </a:rPr>
              <a:t>    --filename report.html model.xml</a:t>
            </a:r>
            <a:endParaRPr lang="en-US" sz="1100" dirty="0"/>
          </a:p>
        </p:txBody>
      </p:sp>
      <p:sp>
        <p:nvSpPr>
          <p:cNvPr id="26" name="Memote caveat"/>
          <p:cNvSpPr/>
          <p:nvPr/>
        </p:nvSpPr>
        <p:spPr>
          <a:xfrm>
            <a:off x="5257800" y="3200400"/>
            <a:ext cx="3429000" cy="1234440"/>
          </a:xfrm>
          <a:prstGeom prst="roundRect">
            <a:avLst>
              <a:gd name="adj" fmla="val 5926"/>
            </a:avLst>
          </a:prstGeom>
          <a:solidFill>
            <a:schemeClr val="bg2"/>
          </a:solidFill>
          <a:ln/>
        </p:spPr>
      </p:sp>
      <p:sp>
        <p:nvSpPr>
          <p:cNvPr id="27" name="Memote caveat text"/>
          <p:cNvSpPr txBox="1"/>
          <p:nvPr/>
        </p:nvSpPr>
        <p:spPr>
          <a:xfrm>
            <a:off x="5440680" y="3200400"/>
            <a:ext cx="3108960" cy="1234440"/>
          </a:xfrm>
          <a:prstGeom prst="rect">
            <a:avLst/>
          </a:prstGeom>
          <a:noFill/>
          <a:ln/>
        </p:spPr>
        <p:txBody>
          <a:bodyPr wrap="square" lIns="0" tIns="0" rIns="0" bIns="0" rtlCol="0" anchor="ctr"/>
          <a:lstStyle/>
          <a:p>
            <a:pPr indent="0" marL="0">
              <a:buNone/>
            </a:pPr>
            <a:r>
              <a:rPr lang="en-US" sz="1500" b="1" dirty="0">
                <a:solidFill>
                  <a:schemeClr val="accent5"/>
                </a:solidFill>
              </a:rPr>
              <a:t>A high score means a tidy model, </a:t>
            </a:r>
            <a:pPr indent="0" marL="0">
              <a:buNone/>
            </a:pPr>
            <a:r>
              <a:rPr lang="en-US" sz="1500" dirty="0">
                <a:solidFill>
                  <a:schemeClr val="tx1"/>
                </a:solidFill>
              </a:rPr>
              <a:t>not a correct one. Only data can tell you that.</a:t>
            </a:r>
            <a:endParaRPr lang="en-US" sz="15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400" b="1" dirty="0">
                <a:solidFill>
                  <a:schemeClr val="tx2"/>
                </a:solidFill>
              </a:rPr>
              <a:t>Validate with data it never saw</a:t>
            </a:r>
            <a:endParaRPr lang="en-US" sz="3400" dirty="0"/>
          </a:p>
        </p:txBody>
      </p:sp>
      <p:sp>
        <p:nvSpPr>
          <p:cNvPr id="3" name="Data 1 node"/>
          <p:cNvSpPr/>
          <p:nvPr/>
        </p:nvSpPr>
        <p:spPr>
          <a:xfrm>
            <a:off x="457200" y="1280160"/>
            <a:ext cx="457200" cy="457200"/>
          </a:xfrm>
          <a:prstGeom prst="ellipse">
            <a:avLst/>
          </a:prstGeom>
          <a:solidFill>
            <a:schemeClr val="accent1"/>
          </a:solidFill>
          <a:ln/>
        </p:spPr>
      </p:sp>
      <p:pic>
        <p:nvPicPr>
          <p:cNvPr id="4" name="Data 1 icon" descr="preencoded.png">    </p:cNvPr>
          <p:cNvPicPr>
            <a:picLocks noChangeAspect="1"/>
          </p:cNvPicPr>
          <p:nvPr/>
        </p:nvPicPr>
        <p:blipFill>
          <a:blip r:embed="rId1"/>
          <a:stretch>
            <a:fillRect/>
          </a:stretch>
        </p:blipFill>
        <p:spPr>
          <a:xfrm>
            <a:off x="571500" y="1394460"/>
            <a:ext cx="228600" cy="228600"/>
          </a:xfrm>
          <a:prstGeom prst="rect">
            <a:avLst/>
          </a:prstGeom>
        </p:spPr>
      </p:pic>
      <p:sp>
        <p:nvSpPr>
          <p:cNvPr id="5" name="Data 1 text"/>
          <p:cNvSpPr txBox="1"/>
          <p:nvPr/>
        </p:nvSpPr>
        <p:spPr>
          <a:xfrm>
            <a:off x="1051560" y="1207008"/>
            <a:ext cx="3566160" cy="731520"/>
          </a:xfrm>
          <a:prstGeom prst="rect">
            <a:avLst/>
          </a:prstGeom>
          <a:noFill/>
          <a:ln/>
        </p:spPr>
        <p:txBody>
          <a:bodyPr wrap="square" lIns="0" tIns="0" rIns="0" bIns="0" rtlCol="0" anchor="ctr"/>
          <a:lstStyle/>
          <a:p>
            <a:pPr indent="0" marL="0">
              <a:buNone/>
            </a:pPr>
            <a:r>
              <a:rPr lang="en-US" sz="1400" b="1" dirty="0">
                <a:solidFill>
                  <a:schemeClr val="tx2"/>
                </a:solidFill>
              </a:rPr>
              <a:t>Growth phenotypes</a:t>
            </a:r>
            <a:endParaRPr lang="en-US" sz="1400" dirty="0"/>
          </a:p>
          <a:p>
            <a:pPr indent="0" marL="0">
              <a:buNone/>
            </a:pPr>
            <a:r>
              <a:rPr lang="en-US" sz="1400" dirty="0">
                <a:solidFill>
                  <a:schemeClr val="tx1"/>
                </a:solidFill>
              </a:rPr>
              <a:t>which carbon and nitrogen sources support growth (e.g. Biolog plates)</a:t>
            </a:r>
            <a:endParaRPr lang="en-US" sz="1400" dirty="0"/>
          </a:p>
        </p:txBody>
      </p:sp>
      <p:sp>
        <p:nvSpPr>
          <p:cNvPr id="6" name="Data 2 node"/>
          <p:cNvSpPr/>
          <p:nvPr/>
        </p:nvSpPr>
        <p:spPr>
          <a:xfrm>
            <a:off x="457200" y="2103120"/>
            <a:ext cx="457200" cy="457200"/>
          </a:xfrm>
          <a:prstGeom prst="ellipse">
            <a:avLst/>
          </a:prstGeom>
          <a:solidFill>
            <a:schemeClr val="accent1"/>
          </a:solidFill>
          <a:ln/>
        </p:spPr>
      </p:sp>
      <p:pic>
        <p:nvPicPr>
          <p:cNvPr id="7" name="Data 2 icon" descr="preencoded.png">    </p:cNvPr>
          <p:cNvPicPr>
            <a:picLocks noChangeAspect="1"/>
          </p:cNvPicPr>
          <p:nvPr/>
        </p:nvPicPr>
        <p:blipFill>
          <a:blip r:embed="rId2"/>
          <a:stretch>
            <a:fillRect/>
          </a:stretch>
        </p:blipFill>
        <p:spPr>
          <a:xfrm>
            <a:off x="571500" y="2217420"/>
            <a:ext cx="228600" cy="228600"/>
          </a:xfrm>
          <a:prstGeom prst="rect">
            <a:avLst/>
          </a:prstGeom>
        </p:spPr>
      </p:pic>
      <p:sp>
        <p:nvSpPr>
          <p:cNvPr id="8" name="Data 2 text"/>
          <p:cNvSpPr txBox="1"/>
          <p:nvPr/>
        </p:nvSpPr>
        <p:spPr>
          <a:xfrm>
            <a:off x="1051560" y="2029968"/>
            <a:ext cx="3566160" cy="731520"/>
          </a:xfrm>
          <a:prstGeom prst="rect">
            <a:avLst/>
          </a:prstGeom>
          <a:noFill/>
          <a:ln/>
        </p:spPr>
        <p:txBody>
          <a:bodyPr wrap="square" lIns="0" tIns="0" rIns="0" bIns="0" rtlCol="0" anchor="ctr"/>
          <a:lstStyle/>
          <a:p>
            <a:pPr indent="0" marL="0">
              <a:buNone/>
            </a:pPr>
            <a:r>
              <a:rPr lang="en-US" sz="1400" b="1" dirty="0">
                <a:solidFill>
                  <a:schemeClr val="tx2"/>
                </a:solidFill>
              </a:rPr>
              <a:t>Gene essentiality</a:t>
            </a:r>
            <a:endParaRPr lang="en-US" sz="1400" dirty="0"/>
          </a:p>
          <a:p>
            <a:pPr indent="0" marL="0">
              <a:buNone/>
            </a:pPr>
            <a:r>
              <a:rPr lang="en-US" sz="1400" dirty="0">
                <a:solidFill>
                  <a:schemeClr val="tx1"/>
                </a:solidFill>
              </a:rPr>
              <a:t>transposon sequencing, knockout collections</a:t>
            </a:r>
            <a:endParaRPr lang="en-US" sz="1400" dirty="0"/>
          </a:p>
        </p:txBody>
      </p:sp>
      <p:sp>
        <p:nvSpPr>
          <p:cNvPr id="9" name="Data 3 node"/>
          <p:cNvSpPr/>
          <p:nvPr/>
        </p:nvSpPr>
        <p:spPr>
          <a:xfrm>
            <a:off x="457200" y="2926080"/>
            <a:ext cx="457200" cy="457200"/>
          </a:xfrm>
          <a:prstGeom prst="ellipse">
            <a:avLst/>
          </a:prstGeom>
          <a:solidFill>
            <a:schemeClr val="accent1"/>
          </a:solidFill>
          <a:ln/>
        </p:spPr>
      </p:sp>
      <p:pic>
        <p:nvPicPr>
          <p:cNvPr id="10" name="Data 3 icon" descr="preencoded.png">    </p:cNvPr>
          <p:cNvPicPr>
            <a:picLocks noChangeAspect="1"/>
          </p:cNvPicPr>
          <p:nvPr/>
        </p:nvPicPr>
        <p:blipFill>
          <a:blip r:embed="rId3"/>
          <a:stretch>
            <a:fillRect/>
          </a:stretch>
        </p:blipFill>
        <p:spPr>
          <a:xfrm>
            <a:off x="571500" y="3040380"/>
            <a:ext cx="228600" cy="228600"/>
          </a:xfrm>
          <a:prstGeom prst="rect">
            <a:avLst/>
          </a:prstGeom>
        </p:spPr>
      </p:pic>
      <p:sp>
        <p:nvSpPr>
          <p:cNvPr id="11" name="Data 3 text"/>
          <p:cNvSpPr txBox="1"/>
          <p:nvPr/>
        </p:nvSpPr>
        <p:spPr>
          <a:xfrm>
            <a:off x="1051560" y="2852928"/>
            <a:ext cx="3566160" cy="731520"/>
          </a:xfrm>
          <a:prstGeom prst="rect">
            <a:avLst/>
          </a:prstGeom>
          <a:noFill/>
          <a:ln/>
        </p:spPr>
        <p:txBody>
          <a:bodyPr wrap="square" lIns="0" tIns="0" rIns="0" bIns="0" rtlCol="0" anchor="ctr"/>
          <a:lstStyle/>
          <a:p>
            <a:pPr indent="0" marL="0">
              <a:buNone/>
            </a:pPr>
            <a:r>
              <a:rPr lang="en-US" sz="1400" b="1" dirty="0">
                <a:solidFill>
                  <a:schemeClr val="tx2"/>
                </a:solidFill>
              </a:rPr>
              <a:t>Secretion and yields</a:t>
            </a:r>
            <a:endParaRPr lang="en-US" sz="1400" dirty="0"/>
          </a:p>
          <a:p>
            <a:pPr indent="0" marL="0">
              <a:buNone/>
            </a:pPr>
            <a:r>
              <a:rPr lang="en-US" sz="1400" dirty="0">
                <a:solidFill>
                  <a:schemeClr val="tx1"/>
                </a:solidFill>
              </a:rPr>
              <a:t>fermentation products, growth rates</a:t>
            </a:r>
            <a:endParaRPr lang="en-US" sz="1400" dirty="0"/>
          </a:p>
        </p:txBody>
      </p:sp>
      <p:sp>
        <p:nvSpPr>
          <p:cNvPr id="12" name="Data 4 node"/>
          <p:cNvSpPr/>
          <p:nvPr/>
        </p:nvSpPr>
        <p:spPr>
          <a:xfrm>
            <a:off x="457200" y="3749040"/>
            <a:ext cx="457200" cy="457200"/>
          </a:xfrm>
          <a:prstGeom prst="ellipse">
            <a:avLst/>
          </a:prstGeom>
          <a:solidFill>
            <a:schemeClr val="accent1"/>
          </a:solidFill>
          <a:ln/>
        </p:spPr>
      </p:sp>
      <p:pic>
        <p:nvPicPr>
          <p:cNvPr id="13" name="Data 4 icon" descr="preencoded.png">    </p:cNvPr>
          <p:cNvPicPr>
            <a:picLocks noChangeAspect="1"/>
          </p:cNvPicPr>
          <p:nvPr/>
        </p:nvPicPr>
        <p:blipFill>
          <a:blip r:embed="rId4"/>
          <a:stretch>
            <a:fillRect/>
          </a:stretch>
        </p:blipFill>
        <p:spPr>
          <a:xfrm>
            <a:off x="571500" y="3863340"/>
            <a:ext cx="228600" cy="228600"/>
          </a:xfrm>
          <a:prstGeom prst="rect">
            <a:avLst/>
          </a:prstGeom>
        </p:spPr>
      </p:pic>
      <p:sp>
        <p:nvSpPr>
          <p:cNvPr id="14" name="Data 4 text"/>
          <p:cNvSpPr txBox="1"/>
          <p:nvPr/>
        </p:nvSpPr>
        <p:spPr>
          <a:xfrm>
            <a:off x="1051560" y="3675888"/>
            <a:ext cx="3566160" cy="731520"/>
          </a:xfrm>
          <a:prstGeom prst="rect">
            <a:avLst/>
          </a:prstGeom>
          <a:noFill/>
          <a:ln/>
        </p:spPr>
        <p:txBody>
          <a:bodyPr wrap="square" lIns="0" tIns="0" rIns="0" bIns="0" rtlCol="0" anchor="ctr"/>
          <a:lstStyle/>
          <a:p>
            <a:pPr indent="0" marL="0">
              <a:buNone/>
            </a:pPr>
            <a:r>
              <a:rPr lang="en-US" sz="1400" b="1" dirty="0">
                <a:solidFill>
                  <a:schemeClr val="tx2"/>
                </a:solidFill>
              </a:rPr>
              <a:t>Intracellular fluxes</a:t>
            </a:r>
            <a:endParaRPr lang="en-US" sz="1400" dirty="0"/>
          </a:p>
          <a:p>
            <a:pPr indent="0" marL="0">
              <a:buNone/>
            </a:pPr>
            <a:r>
              <a:rPr lang="en-US" sz="1400" dirty="0">
                <a:solidFill>
                  <a:schemeClr val="tx1"/>
                </a:solidFill>
              </a:rPr>
              <a:t>13C labelling experiments</a:t>
            </a:r>
            <a:endParaRPr lang="en-US" sz="1400" dirty="0"/>
          </a:p>
        </p:txBody>
      </p:sp>
      <p:sp>
        <p:nvSpPr>
          <p:cNvPr id="15" name="Matrix heading"/>
          <p:cNvSpPr txBox="1"/>
          <p:nvPr/>
        </p:nvSpPr>
        <p:spPr>
          <a:xfrm>
            <a:off x="4937760" y="1188720"/>
            <a:ext cx="3749040" cy="320040"/>
          </a:xfrm>
          <a:prstGeom prst="rect">
            <a:avLst/>
          </a:prstGeom>
          <a:noFill/>
          <a:ln/>
        </p:spPr>
        <p:txBody>
          <a:bodyPr wrap="square" lIns="0" tIns="0" rIns="0" bIns="0" rtlCol="0" anchor="t"/>
          <a:lstStyle/>
          <a:p>
            <a:pPr indent="0" marL="0">
              <a:buNone/>
            </a:pPr>
            <a:r>
              <a:rPr lang="en-US" sz="1500" b="1" dirty="0">
                <a:solidFill>
                  <a:schemeClr val="tx2"/>
                </a:solidFill>
              </a:rPr>
              <a:t>This morning: 7 knockouts</a:t>
            </a:r>
            <a:endParaRPr lang="en-US" sz="1500" dirty="0"/>
          </a:p>
        </p:txBody>
      </p:sp>
      <p:sp>
        <p:nvSpPr>
          <p:cNvPr id="16" name="Matrix col 1"/>
          <p:cNvSpPr txBox="1"/>
          <p:nvPr/>
        </p:nvSpPr>
        <p:spPr>
          <a:xfrm>
            <a:off x="6035040" y="1554480"/>
            <a:ext cx="1280160" cy="274320"/>
          </a:xfrm>
          <a:prstGeom prst="rect">
            <a:avLst/>
          </a:prstGeom>
          <a:noFill/>
          <a:ln/>
        </p:spPr>
        <p:txBody>
          <a:bodyPr wrap="square" lIns="0" tIns="0" rIns="0" bIns="0" rtlCol="0" anchor="t"/>
          <a:lstStyle/>
          <a:p>
            <a:pPr algn="ctr" indent="0" marL="0">
              <a:buNone/>
            </a:pPr>
            <a:r>
              <a:rPr lang="en-US" sz="1200" dirty="0">
                <a:solidFill>
                  <a:schemeClr val="accent3"/>
                </a:solidFill>
              </a:rPr>
              <a:t>model: essential</a:t>
            </a:r>
            <a:endParaRPr lang="en-US" sz="1200" dirty="0"/>
          </a:p>
        </p:txBody>
      </p:sp>
      <p:sp>
        <p:nvSpPr>
          <p:cNvPr id="17" name="Matrix col 2"/>
          <p:cNvSpPr txBox="1"/>
          <p:nvPr/>
        </p:nvSpPr>
        <p:spPr>
          <a:xfrm>
            <a:off x="7360920" y="1554480"/>
            <a:ext cx="1280160" cy="274320"/>
          </a:xfrm>
          <a:prstGeom prst="rect">
            <a:avLst/>
          </a:prstGeom>
          <a:noFill/>
          <a:ln/>
        </p:spPr>
        <p:txBody>
          <a:bodyPr wrap="square" lIns="0" tIns="0" rIns="0" bIns="0" rtlCol="0" anchor="t"/>
          <a:lstStyle/>
          <a:p>
            <a:pPr algn="ctr" indent="0" marL="0">
              <a:buNone/>
            </a:pPr>
            <a:r>
              <a:rPr lang="en-US" sz="1200" dirty="0">
                <a:solidFill>
                  <a:schemeClr val="accent3"/>
                </a:solidFill>
              </a:rPr>
              <a:t>model: viable</a:t>
            </a:r>
            <a:endParaRPr lang="en-US" sz="1200" dirty="0"/>
          </a:p>
        </p:txBody>
      </p:sp>
      <p:sp>
        <p:nvSpPr>
          <p:cNvPr id="18" name="Matrix row 1"/>
          <p:cNvSpPr txBox="1"/>
          <p:nvPr/>
        </p:nvSpPr>
        <p:spPr>
          <a:xfrm>
            <a:off x="4846320" y="1874520"/>
            <a:ext cx="1143000" cy="914400"/>
          </a:xfrm>
          <a:prstGeom prst="rect">
            <a:avLst/>
          </a:prstGeom>
          <a:noFill/>
          <a:ln/>
        </p:spPr>
        <p:txBody>
          <a:bodyPr wrap="square" lIns="0" tIns="0" rIns="0" bIns="0" rtlCol="0" anchor="ctr"/>
          <a:lstStyle/>
          <a:p>
            <a:pPr algn="r" indent="0" marL="0">
              <a:buNone/>
            </a:pPr>
            <a:r>
              <a:rPr lang="en-US" sz="1200" dirty="0">
                <a:solidFill>
                  <a:schemeClr val="accent3"/>
                </a:solidFill>
              </a:rPr>
              <a:t>lab: essential</a:t>
            </a:r>
            <a:endParaRPr lang="en-US" sz="1200" dirty="0"/>
          </a:p>
        </p:txBody>
      </p:sp>
      <p:sp>
        <p:nvSpPr>
          <p:cNvPr id="19" name="Matrix row 2"/>
          <p:cNvSpPr txBox="1"/>
          <p:nvPr/>
        </p:nvSpPr>
        <p:spPr>
          <a:xfrm>
            <a:off x="4846320" y="2834640"/>
            <a:ext cx="1143000" cy="914400"/>
          </a:xfrm>
          <a:prstGeom prst="rect">
            <a:avLst/>
          </a:prstGeom>
          <a:noFill/>
          <a:ln/>
        </p:spPr>
        <p:txBody>
          <a:bodyPr wrap="square" lIns="0" tIns="0" rIns="0" bIns="0" rtlCol="0" anchor="ctr"/>
          <a:lstStyle/>
          <a:p>
            <a:pPr algn="r" indent="0" marL="0">
              <a:buNone/>
            </a:pPr>
            <a:r>
              <a:rPr lang="en-US" sz="1200" dirty="0">
                <a:solidFill>
                  <a:schemeClr val="accent3"/>
                </a:solidFill>
              </a:rPr>
              <a:t>lab: viable</a:t>
            </a:r>
            <a:endParaRPr lang="en-US" sz="1200" dirty="0"/>
          </a:p>
        </p:txBody>
      </p:sp>
      <p:sp>
        <p:nvSpPr>
          <p:cNvPr id="20" name="Matrix cell 1"/>
          <p:cNvSpPr/>
          <p:nvPr/>
        </p:nvSpPr>
        <p:spPr>
          <a:xfrm>
            <a:off x="6035040" y="1874520"/>
            <a:ext cx="1280160" cy="914400"/>
          </a:xfrm>
          <a:prstGeom prst="rect">
            <a:avLst/>
          </a:prstGeom>
          <a:solidFill>
            <a:schemeClr val="accent1"/>
          </a:solidFill>
          <a:ln w="25400">
            <a:solidFill>
              <a:schemeClr val="bg1"/>
            </a:solidFill>
            <a:prstDash val="solid"/>
          </a:ln>
        </p:spPr>
      </p:sp>
      <p:sp>
        <p:nvSpPr>
          <p:cNvPr id="21" name="Matrix cell 1 text"/>
          <p:cNvSpPr txBox="1"/>
          <p:nvPr/>
        </p:nvSpPr>
        <p:spPr>
          <a:xfrm>
            <a:off x="6035040" y="1874520"/>
            <a:ext cx="1280160" cy="914400"/>
          </a:xfrm>
          <a:prstGeom prst="rect">
            <a:avLst/>
          </a:prstGeom>
          <a:noFill/>
          <a:ln/>
        </p:spPr>
        <p:txBody>
          <a:bodyPr wrap="square" lIns="0" tIns="0" rIns="0" bIns="0" rtlCol="0" anchor="ctr"/>
          <a:lstStyle/>
          <a:p>
            <a:pPr algn="ctr" indent="0" marL="0">
              <a:buNone/>
            </a:pPr>
            <a:r>
              <a:rPr lang="en-US" sz="2600" b="1" dirty="0">
                <a:solidFill>
                  <a:schemeClr val="bg1"/>
                </a:solidFill>
                <a:latin typeface="+mj-lt" pitchFamily="34" charset="0"/>
                <a:ea typeface="+mj-lt" pitchFamily="34" charset="-122"/>
                <a:cs typeface="+mj-lt" pitchFamily="34" charset="-120"/>
              </a:rPr>
              <a:t>4</a:t>
            </a:r>
            <a:endParaRPr lang="en-US" sz="1400" dirty="0"/>
          </a:p>
          <a:p>
            <a:pPr algn="ctr" indent="0" marL="0">
              <a:buNone/>
            </a:pPr>
            <a:r>
              <a:rPr lang="en-US" sz="1200" dirty="0">
                <a:solidFill>
                  <a:schemeClr val="bg1"/>
                </a:solidFill>
              </a:rPr>
              <a:t>agree</a:t>
            </a:r>
            <a:endParaRPr lang="en-US" sz="1400" dirty="0"/>
          </a:p>
        </p:txBody>
      </p:sp>
      <p:sp>
        <p:nvSpPr>
          <p:cNvPr id="22" name="Matrix cell 2"/>
          <p:cNvSpPr/>
          <p:nvPr/>
        </p:nvSpPr>
        <p:spPr>
          <a:xfrm>
            <a:off x="7360920" y="1874520"/>
            <a:ext cx="1280160" cy="914400"/>
          </a:xfrm>
          <a:prstGeom prst="rect">
            <a:avLst/>
          </a:prstGeom>
          <a:solidFill>
            <a:schemeClr val="bg2"/>
          </a:solidFill>
          <a:ln w="25400">
            <a:solidFill>
              <a:schemeClr val="bg1"/>
            </a:solidFill>
            <a:prstDash val="solid"/>
          </a:ln>
        </p:spPr>
      </p:sp>
      <p:sp>
        <p:nvSpPr>
          <p:cNvPr id="23" name="Matrix cell 2 text"/>
          <p:cNvSpPr txBox="1"/>
          <p:nvPr/>
        </p:nvSpPr>
        <p:spPr>
          <a:xfrm>
            <a:off x="7360920" y="1874520"/>
            <a:ext cx="1280160" cy="914400"/>
          </a:xfrm>
          <a:prstGeom prst="rect">
            <a:avLst/>
          </a:prstGeom>
          <a:noFill/>
          <a:ln/>
        </p:spPr>
        <p:txBody>
          <a:bodyPr wrap="square" lIns="0" tIns="0" rIns="0" bIns="0" rtlCol="0" anchor="ctr"/>
          <a:lstStyle/>
          <a:p>
            <a:pPr algn="ctr" indent="0" marL="0">
              <a:buNone/>
            </a:pPr>
            <a:r>
              <a:rPr lang="en-US" sz="2600" b="1" dirty="0">
                <a:solidFill>
                  <a:schemeClr val="tx2"/>
                </a:solidFill>
                <a:latin typeface="+mj-lt" pitchFamily="34" charset="0"/>
                <a:ea typeface="+mj-lt" pitchFamily="34" charset="-122"/>
                <a:cs typeface="+mj-lt" pitchFamily="34" charset="-120"/>
              </a:rPr>
              <a:t>0</a:t>
            </a:r>
            <a:endParaRPr lang="en-US" sz="1400" dirty="0"/>
          </a:p>
          <a:p>
            <a:pPr algn="ctr" indent="0" marL="0">
              <a:buNone/>
            </a:pPr>
            <a:r>
              <a:rPr lang="en-US" sz="1200" dirty="0">
                <a:solidFill>
                  <a:schemeClr val="tx2"/>
                </a:solidFill>
              </a:rPr>
              <a:t>missed</a:t>
            </a:r>
            <a:endParaRPr lang="en-US" sz="1400" dirty="0"/>
          </a:p>
        </p:txBody>
      </p:sp>
      <p:sp>
        <p:nvSpPr>
          <p:cNvPr id="24" name="Matrix cell 3"/>
          <p:cNvSpPr/>
          <p:nvPr/>
        </p:nvSpPr>
        <p:spPr>
          <a:xfrm>
            <a:off x="6035040" y="2834640"/>
            <a:ext cx="1280160" cy="914400"/>
          </a:xfrm>
          <a:prstGeom prst="rect">
            <a:avLst/>
          </a:prstGeom>
          <a:solidFill>
            <a:schemeClr val="accent2"/>
          </a:solidFill>
          <a:ln w="25400">
            <a:solidFill>
              <a:schemeClr val="bg1"/>
            </a:solidFill>
            <a:prstDash val="solid"/>
          </a:ln>
        </p:spPr>
      </p:sp>
      <p:sp>
        <p:nvSpPr>
          <p:cNvPr id="25" name="Matrix cell 3 text"/>
          <p:cNvSpPr txBox="1"/>
          <p:nvPr/>
        </p:nvSpPr>
        <p:spPr>
          <a:xfrm>
            <a:off x="6035040" y="2834640"/>
            <a:ext cx="1280160" cy="914400"/>
          </a:xfrm>
          <a:prstGeom prst="rect">
            <a:avLst/>
          </a:prstGeom>
          <a:noFill/>
          <a:ln/>
        </p:spPr>
        <p:txBody>
          <a:bodyPr wrap="square" lIns="0" tIns="0" rIns="0" bIns="0" rtlCol="0" anchor="ctr"/>
          <a:lstStyle/>
          <a:p>
            <a:pPr algn="ctr" indent="0" marL="0">
              <a:buNone/>
            </a:pPr>
            <a:r>
              <a:rPr lang="en-US" sz="2600" b="1" dirty="0">
                <a:solidFill>
                  <a:schemeClr val="tx2"/>
                </a:solidFill>
                <a:latin typeface="+mj-lt" pitchFamily="34" charset="0"/>
                <a:ea typeface="+mj-lt" pitchFamily="34" charset="-122"/>
                <a:cs typeface="+mj-lt" pitchFamily="34" charset="-120"/>
              </a:rPr>
              <a:t>1</a:t>
            </a:r>
            <a:endParaRPr lang="en-US" sz="1400" dirty="0"/>
          </a:p>
          <a:p>
            <a:pPr algn="ctr" indent="0" marL="0">
              <a:buNone/>
            </a:pPr>
            <a:r>
              <a:rPr lang="en-US" sz="1200" dirty="0">
                <a:solidFill>
                  <a:schemeClr val="tx2"/>
                </a:solidFill>
              </a:rPr>
              <a:t>glcP</a:t>
            </a:r>
            <a:endParaRPr lang="en-US" sz="1400" dirty="0"/>
          </a:p>
        </p:txBody>
      </p:sp>
      <p:sp>
        <p:nvSpPr>
          <p:cNvPr id="26" name="Matrix cell 4"/>
          <p:cNvSpPr/>
          <p:nvPr/>
        </p:nvSpPr>
        <p:spPr>
          <a:xfrm>
            <a:off x="7360920" y="2834640"/>
            <a:ext cx="1280160" cy="914400"/>
          </a:xfrm>
          <a:prstGeom prst="rect">
            <a:avLst/>
          </a:prstGeom>
          <a:solidFill>
            <a:schemeClr val="accent1"/>
          </a:solidFill>
          <a:ln w="25400">
            <a:solidFill>
              <a:schemeClr val="bg1"/>
            </a:solidFill>
            <a:prstDash val="solid"/>
          </a:ln>
        </p:spPr>
      </p:sp>
      <p:sp>
        <p:nvSpPr>
          <p:cNvPr id="27" name="Matrix cell 4 text"/>
          <p:cNvSpPr txBox="1"/>
          <p:nvPr/>
        </p:nvSpPr>
        <p:spPr>
          <a:xfrm>
            <a:off x="7360920" y="2834640"/>
            <a:ext cx="1280160" cy="914400"/>
          </a:xfrm>
          <a:prstGeom prst="rect">
            <a:avLst/>
          </a:prstGeom>
          <a:noFill/>
          <a:ln/>
        </p:spPr>
        <p:txBody>
          <a:bodyPr wrap="square" lIns="0" tIns="0" rIns="0" bIns="0" rtlCol="0" anchor="ctr"/>
          <a:lstStyle/>
          <a:p>
            <a:pPr algn="ctr" indent="0" marL="0">
              <a:buNone/>
            </a:pPr>
            <a:r>
              <a:rPr lang="en-US" sz="2600" b="1" dirty="0">
                <a:solidFill>
                  <a:schemeClr val="bg1"/>
                </a:solidFill>
                <a:latin typeface="+mj-lt" pitchFamily="34" charset="0"/>
                <a:ea typeface="+mj-lt" pitchFamily="34" charset="-122"/>
                <a:cs typeface="+mj-lt" pitchFamily="34" charset="-120"/>
              </a:rPr>
              <a:t>2</a:t>
            </a:r>
            <a:endParaRPr lang="en-US" sz="1400" dirty="0"/>
          </a:p>
          <a:p>
            <a:pPr algn="ctr" indent="0" marL="0">
              <a:buNone/>
            </a:pPr>
            <a:r>
              <a:rPr lang="en-US" sz="1200" dirty="0">
                <a:solidFill>
                  <a:schemeClr val="bg1"/>
                </a:solidFill>
              </a:rPr>
              <a:t>agree</a:t>
            </a:r>
            <a:endParaRPr lang="en-US" sz="1400" dirty="0"/>
          </a:p>
        </p:txBody>
      </p:sp>
      <p:sp>
        <p:nvSpPr>
          <p:cNvPr id="28" name="Matrix note"/>
          <p:cNvSpPr txBox="1"/>
          <p:nvPr/>
        </p:nvSpPr>
        <p:spPr>
          <a:xfrm>
            <a:off x="4937760" y="3840480"/>
            <a:ext cx="3749040" cy="594360"/>
          </a:xfrm>
          <a:prstGeom prst="rect">
            <a:avLst/>
          </a:prstGeom>
          <a:noFill/>
          <a:ln/>
        </p:spPr>
        <p:txBody>
          <a:bodyPr wrap="square" lIns="0" tIns="0" rIns="0" bIns="0" rtlCol="0" anchor="t"/>
          <a:lstStyle/>
          <a:p>
            <a:pPr indent="0" marL="0">
              <a:buNone/>
            </a:pPr>
            <a:r>
              <a:rPr lang="en-US" sz="1300" i="1" dirty="0">
                <a:solidFill>
                  <a:schemeClr val="accent3"/>
                </a:solidFill>
              </a:rPr>
              <a:t>Accuracy 6/7. With unbalanced classes, also report sensitivity, specificity or MCC.</a:t>
            </a:r>
            <a:endParaRPr lang="en-US" sz="13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914400"/>
            <a:ext cx="2286000" cy="1188720"/>
          </a:xfrm>
          <a:prstGeom prst="rect">
            <a:avLst/>
          </a:prstGeom>
          <a:noFill/>
          <a:ln/>
        </p:spPr>
        <p:txBody>
          <a:bodyPr wrap="square" lIns="0" tIns="0" rIns="0" bIns="0" rtlCol="0" anchor="b"/>
          <a:lstStyle/>
          <a:p>
            <a:pPr indent="0" marL="0">
              <a:buNone/>
            </a:pPr>
            <a:r>
              <a:rPr lang="en-US" sz="8000" b="1" dirty="0">
                <a:solidFill>
                  <a:schemeClr val="accent2"/>
                </a:solidFill>
                <a:latin typeface="+mj-lt" pitchFamily="34" charset="0"/>
                <a:ea typeface="+mj-lt" pitchFamily="34" charset="-122"/>
                <a:cs typeface="+mj-lt" pitchFamily="34" charset="-120"/>
              </a:rPr>
              <a:t>5</a:t>
            </a:r>
            <a:endParaRPr lang="en-US" sz="8000" dirty="0"/>
          </a:p>
        </p:txBody>
      </p:sp>
      <p:sp>
        <p:nvSpPr>
          <p:cNvPr id="3" name="Text 0"/>
          <p:cNvSpPr/>
          <p:nvPr>
            <p:ph idx="101" type="title" hasCustomPrompt="1"/>
          </p:nvPr>
        </p:nvSpPr>
        <p:spPr>
          <a:xfrm>
            <a:off x="548640" y="2240280"/>
            <a:ext cx="5486400" cy="777240"/>
          </a:xfrm>
          <a:prstGeom prst="rect">
            <a:avLst/>
          </a:prstGeom>
          <a:noFill/>
          <a:ln/>
        </p:spPr>
        <p:txBody>
          <a:bodyPr wrap="square" lIns="0" tIns="0" rIns="0" bIns="0" rtlCol="0" anchor="t"/>
          <a:lstStyle/>
          <a:p>
            <a:pPr algn="l" indent="0" marL="0">
              <a:buNone/>
            </a:pPr>
            <a:r>
              <a:rPr lang="en-US" sz="3200" b="1" dirty="0">
                <a:solidFill>
                  <a:schemeClr val="bg1"/>
                </a:solidFill>
              </a:rPr>
              <a:t>The tool landscape</a:t>
            </a:r>
            <a:endParaRPr lang="en-US" sz="3200" dirty="0"/>
          </a:p>
        </p:txBody>
      </p:sp>
      <p:sp>
        <p:nvSpPr>
          <p:cNvPr id="4" name="Text 0"/>
          <p:cNvSpPr/>
          <p:nvPr>
            <p:ph idx="102" type="body" hasCustomPrompt="1"/>
          </p:nvPr>
        </p:nvSpPr>
        <p:spPr>
          <a:xfrm>
            <a:off x="548640" y="3063240"/>
            <a:ext cx="5394960" cy="548640"/>
          </a:xfrm>
          <a:prstGeom prst="rect">
            <a:avLst/>
          </a:prstGeom>
          <a:noFill/>
          <a:ln/>
        </p:spPr>
        <p:txBody>
          <a:bodyPr wrap="square" lIns="0" tIns="0" rIns="0" bIns="0" rtlCol="0" anchor="t"/>
          <a:lstStyle/>
          <a:p>
            <a:pPr indent="0" marL="0">
              <a:buNone/>
            </a:pPr>
            <a:r>
              <a:rPr lang="en-US" sz="2000" i="1" dirty="0">
                <a:solidFill>
                  <a:schemeClr val="accent4"/>
                </a:solidFill>
              </a:rPr>
              <a:t>Which pipeline, for what?</a:t>
            </a:r>
            <a:endParaRPr lang="en-US" sz="2000" dirty="0"/>
          </a:p>
        </p:txBody>
      </p:sp>
      <p:sp>
        <p:nvSpPr>
          <p:cNvPr id="5" name="Divider 5 edge AC"/>
          <p:cNvSpPr/>
          <p:nvPr/>
        </p:nvSpPr>
        <p:spPr>
          <a:xfrm>
            <a:off x="6455061" y="1456625"/>
            <a:ext cx="333297" cy="435850"/>
          </a:xfrm>
          <a:prstGeom prst="line">
            <a:avLst/>
          </a:prstGeom>
          <a:noFill/>
          <a:ln w="15875">
            <a:solidFill>
              <a:schemeClr val="accent4"/>
            </a:solidFill>
            <a:prstDash val="solid"/>
            <a:tailEnd type="triangle"/>
          </a:ln>
        </p:spPr>
      </p:sp>
      <p:sp>
        <p:nvSpPr>
          <p:cNvPr id="6" name="Divider 5 edge BD"/>
          <p:cNvSpPr/>
          <p:nvPr/>
        </p:nvSpPr>
        <p:spPr>
          <a:xfrm>
            <a:off x="7598612" y="1235407"/>
            <a:ext cx="530456" cy="500987"/>
          </a:xfrm>
          <a:prstGeom prst="line">
            <a:avLst/>
          </a:prstGeom>
          <a:noFill/>
          <a:ln w="15875">
            <a:solidFill>
              <a:schemeClr val="accent4"/>
            </a:solidFill>
            <a:prstDash val="solid"/>
            <a:tailEnd type="triangle"/>
          </a:ln>
        </p:spPr>
      </p:sp>
      <p:sp>
        <p:nvSpPr>
          <p:cNvPr id="7" name="Divider 5 edge CD"/>
          <p:cNvSpPr/>
          <p:nvPr/>
        </p:nvSpPr>
        <p:spPr>
          <a:xfrm flipV="1">
            <a:off x="7192738" y="1908700"/>
            <a:ext cx="884339" cy="152472"/>
          </a:xfrm>
          <a:prstGeom prst="line">
            <a:avLst/>
          </a:prstGeom>
          <a:noFill/>
          <a:ln w="15875">
            <a:solidFill>
              <a:schemeClr val="accent4"/>
            </a:solidFill>
            <a:prstDash val="solid"/>
            <a:tailEnd type="triangle"/>
          </a:ln>
        </p:spPr>
      </p:sp>
      <p:sp>
        <p:nvSpPr>
          <p:cNvPr id="8" name="Divider 5 edge DE"/>
          <p:cNvSpPr/>
          <p:nvPr/>
        </p:nvSpPr>
        <p:spPr>
          <a:xfrm flipH="1">
            <a:off x="7837092" y="2038093"/>
            <a:ext cx="356442" cy="712884"/>
          </a:xfrm>
          <a:prstGeom prst="line">
            <a:avLst/>
          </a:prstGeom>
          <a:noFill/>
          <a:ln w="15875">
            <a:solidFill>
              <a:schemeClr val="accent4"/>
            </a:solidFill>
            <a:prstDash val="solid"/>
            <a:tailEnd type="triangle"/>
          </a:ln>
        </p:spPr>
      </p:sp>
      <p:sp>
        <p:nvSpPr>
          <p:cNvPr id="9" name="Divider 5 edge CF"/>
          <p:cNvSpPr/>
          <p:nvPr/>
        </p:nvSpPr>
        <p:spPr>
          <a:xfrm flipH="1">
            <a:off x="6529370" y="2325846"/>
            <a:ext cx="313549" cy="655602"/>
          </a:xfrm>
          <a:prstGeom prst="line">
            <a:avLst/>
          </a:prstGeom>
          <a:noFill/>
          <a:ln w="15875">
            <a:solidFill>
              <a:schemeClr val="accent4"/>
            </a:solidFill>
            <a:prstDash val="solid"/>
            <a:tailEnd type="triangle"/>
          </a:ln>
        </p:spPr>
      </p:sp>
      <p:sp>
        <p:nvSpPr>
          <p:cNvPr id="10" name="Divider 5 edge FH"/>
          <p:cNvSpPr/>
          <p:nvPr/>
        </p:nvSpPr>
        <p:spPr>
          <a:xfrm>
            <a:off x="6561467" y="3284954"/>
            <a:ext cx="455905" cy="516692"/>
          </a:xfrm>
          <a:prstGeom prst="line">
            <a:avLst/>
          </a:prstGeom>
          <a:noFill/>
          <a:ln w="15875">
            <a:solidFill>
              <a:schemeClr val="accent4"/>
            </a:solidFill>
            <a:prstDash val="solid"/>
            <a:tailEnd type="triangle"/>
          </a:ln>
        </p:spPr>
      </p:sp>
      <p:sp>
        <p:nvSpPr>
          <p:cNvPr id="11" name="Divider 5 edge EH"/>
          <p:cNvSpPr/>
          <p:nvPr/>
        </p:nvSpPr>
        <p:spPr>
          <a:xfrm flipH="1">
            <a:off x="7223767" y="3166171"/>
            <a:ext cx="382589" cy="618028"/>
          </a:xfrm>
          <a:prstGeom prst="line">
            <a:avLst/>
          </a:prstGeom>
          <a:noFill/>
          <a:ln w="15875">
            <a:solidFill>
              <a:schemeClr val="accent4"/>
            </a:solidFill>
            <a:prstDash val="solid"/>
            <a:tailEnd type="triangle"/>
          </a:ln>
        </p:spPr>
      </p:sp>
      <p:sp>
        <p:nvSpPr>
          <p:cNvPr id="12" name="Divider 5 edge DG"/>
          <p:cNvSpPr/>
          <p:nvPr/>
        </p:nvSpPr>
        <p:spPr>
          <a:xfrm>
            <a:off x="8307102" y="2054617"/>
            <a:ext cx="202811" cy="1149261"/>
          </a:xfrm>
          <a:prstGeom prst="line">
            <a:avLst/>
          </a:prstGeom>
          <a:noFill/>
          <a:ln w="15875">
            <a:solidFill>
              <a:schemeClr val="accent4"/>
            </a:solidFill>
            <a:prstDash val="solid"/>
            <a:tailEnd type="triangle"/>
          </a:ln>
        </p:spPr>
      </p:sp>
      <p:sp>
        <p:nvSpPr>
          <p:cNvPr id="13" name="Divider 5 flux BC"/>
          <p:cNvSpPr/>
          <p:nvPr/>
        </p:nvSpPr>
        <p:spPr>
          <a:xfrm flipH="1">
            <a:off x="7068030" y="1277210"/>
            <a:ext cx="294365" cy="588729"/>
          </a:xfrm>
          <a:prstGeom prst="line">
            <a:avLst/>
          </a:prstGeom>
          <a:noFill/>
          <a:ln w="31750">
            <a:solidFill>
              <a:schemeClr val="accent2"/>
            </a:solidFill>
            <a:prstDash val="solid"/>
            <a:tailEnd type="triangle"/>
          </a:ln>
        </p:spPr>
      </p:sp>
      <p:sp>
        <p:nvSpPr>
          <p:cNvPr id="14" name="Divider 5 flux CE"/>
          <p:cNvSpPr/>
          <p:nvPr/>
        </p:nvSpPr>
        <p:spPr>
          <a:xfrm>
            <a:off x="7114064" y="2287111"/>
            <a:ext cx="447993" cy="500698"/>
          </a:xfrm>
          <a:prstGeom prst="line">
            <a:avLst/>
          </a:prstGeom>
          <a:noFill/>
          <a:ln w="31750">
            <a:solidFill>
              <a:schemeClr val="accent2"/>
            </a:solidFill>
            <a:prstDash val="solid"/>
            <a:tailEnd type="triangle"/>
          </a:ln>
        </p:spPr>
      </p:sp>
      <p:sp>
        <p:nvSpPr>
          <p:cNvPr id="15" name="Divider 5 flux EG"/>
          <p:cNvSpPr/>
          <p:nvPr/>
        </p:nvSpPr>
        <p:spPr>
          <a:xfrm>
            <a:off x="7926512" y="3082818"/>
            <a:ext cx="423295" cy="235164"/>
          </a:xfrm>
          <a:prstGeom prst="line">
            <a:avLst/>
          </a:prstGeom>
          <a:noFill/>
          <a:ln w="31750">
            <a:solidFill>
              <a:schemeClr val="accent2"/>
            </a:solidFill>
            <a:prstDash val="solid"/>
            <a:tailEnd type="triangle"/>
          </a:ln>
        </p:spPr>
      </p:sp>
      <p:sp>
        <p:nvSpPr>
          <p:cNvPr id="16" name="Divider 5 node A"/>
          <p:cNvSpPr/>
          <p:nvPr/>
        </p:nvSpPr>
        <p:spPr>
          <a:xfrm>
            <a:off x="6236208" y="1207008"/>
            <a:ext cx="237744" cy="237744"/>
          </a:xfrm>
          <a:prstGeom prst="ellipse">
            <a:avLst/>
          </a:prstGeom>
          <a:solidFill>
            <a:schemeClr val="accent1"/>
          </a:solidFill>
          <a:ln/>
        </p:spPr>
      </p:sp>
      <p:sp>
        <p:nvSpPr>
          <p:cNvPr id="17" name="Divider 5 node B"/>
          <p:cNvSpPr/>
          <p:nvPr/>
        </p:nvSpPr>
        <p:spPr>
          <a:xfrm>
            <a:off x="7296912" y="941832"/>
            <a:ext cx="310896" cy="310896"/>
          </a:xfrm>
          <a:prstGeom prst="ellipse">
            <a:avLst/>
          </a:prstGeom>
          <a:solidFill>
            <a:schemeClr val="accent2"/>
          </a:solidFill>
          <a:ln/>
        </p:spPr>
      </p:sp>
      <p:sp>
        <p:nvSpPr>
          <p:cNvPr id="18" name="Divider 5 node C"/>
          <p:cNvSpPr/>
          <p:nvPr/>
        </p:nvSpPr>
        <p:spPr>
          <a:xfrm>
            <a:off x="6748272" y="1901952"/>
            <a:ext cx="402336" cy="402336"/>
          </a:xfrm>
          <a:prstGeom prst="ellipse">
            <a:avLst/>
          </a:prstGeom>
          <a:solidFill>
            <a:schemeClr val="accent2"/>
          </a:solidFill>
          <a:ln/>
        </p:spPr>
      </p:sp>
      <p:sp>
        <p:nvSpPr>
          <p:cNvPr id="19" name="Divider 5 node D"/>
          <p:cNvSpPr/>
          <p:nvPr/>
        </p:nvSpPr>
        <p:spPr>
          <a:xfrm>
            <a:off x="8138160" y="1737360"/>
            <a:ext cx="274320" cy="274320"/>
          </a:xfrm>
          <a:prstGeom prst="ellipse">
            <a:avLst/>
          </a:prstGeom>
          <a:solidFill>
            <a:schemeClr val="accent1"/>
          </a:solidFill>
          <a:ln/>
        </p:spPr>
      </p:sp>
      <p:sp>
        <p:nvSpPr>
          <p:cNvPr id="20" name="Divider 5 node E"/>
          <p:cNvSpPr/>
          <p:nvPr/>
        </p:nvSpPr>
        <p:spPr>
          <a:xfrm>
            <a:off x="7543800" y="2788920"/>
            <a:ext cx="365760" cy="365760"/>
          </a:xfrm>
          <a:prstGeom prst="ellipse">
            <a:avLst/>
          </a:prstGeom>
          <a:solidFill>
            <a:schemeClr val="accent2"/>
          </a:solidFill>
          <a:ln/>
        </p:spPr>
      </p:sp>
      <p:sp>
        <p:nvSpPr>
          <p:cNvPr id="21" name="Divider 5 node F"/>
          <p:cNvSpPr/>
          <p:nvPr/>
        </p:nvSpPr>
        <p:spPr>
          <a:xfrm>
            <a:off x="6318504" y="3026664"/>
            <a:ext cx="256032" cy="256032"/>
          </a:xfrm>
          <a:prstGeom prst="ellipse">
            <a:avLst/>
          </a:prstGeom>
          <a:solidFill>
            <a:schemeClr val="accent1"/>
          </a:solidFill>
          <a:ln/>
        </p:spPr>
      </p:sp>
      <p:sp>
        <p:nvSpPr>
          <p:cNvPr id="22" name="Divider 5 node G"/>
          <p:cNvSpPr/>
          <p:nvPr/>
        </p:nvSpPr>
        <p:spPr>
          <a:xfrm>
            <a:off x="8385048" y="3264408"/>
            <a:ext cx="329184" cy="329184"/>
          </a:xfrm>
          <a:prstGeom prst="ellipse">
            <a:avLst/>
          </a:prstGeom>
          <a:solidFill>
            <a:schemeClr val="accent2"/>
          </a:solidFill>
          <a:ln/>
        </p:spPr>
      </p:sp>
      <p:sp>
        <p:nvSpPr>
          <p:cNvPr id="23" name="Divider 5 node H"/>
          <p:cNvSpPr/>
          <p:nvPr/>
        </p:nvSpPr>
        <p:spPr>
          <a:xfrm>
            <a:off x="7022592" y="3822192"/>
            <a:ext cx="219456" cy="219456"/>
          </a:xfrm>
          <a:prstGeom prst="ellipse">
            <a:avLst/>
          </a:prstGeom>
          <a:solidFill>
            <a:schemeClr val="accent1"/>
          </a:solidFill>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400" b="1" dirty="0">
                <a:solidFill>
                  <a:schemeClr val="tx2"/>
                </a:solidFill>
              </a:rPr>
              <a:t>Six pipelines at a glance</a:t>
            </a:r>
            <a:endParaRPr lang="en-US" sz="3400" dirty="0"/>
          </a:p>
        </p:txBody>
      </p:sp>
      <p:graphicFrame>
        <p:nvGraphicFramePr>
          <p:cNvPr id="23" name="Tool tabl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417320"/>
                <a:gridCol w="1783080"/>
                <a:gridCol w="1828800"/>
                <a:gridCol w="1554480"/>
                <a:gridCol w="1645920"/>
              </a:tblGrid>
              <a:tr h="438912">
                <a:tc>
                  <a:txBody>
                    <a:bodyPr/>
                    <a:lstStyle/>
                    <a:p>
                      <a:pPr indent="0" marL="0">
                        <a:buNone/>
                      </a:pPr>
                      <a:r>
                        <a:rPr lang="en-US" sz="1200" b="1" dirty="0">
                          <a:solidFill>
                            <a:schemeClr val="bg1"/>
                          </a:solidFill>
                        </a:rPr>
                        <a:t>Tool</a:t>
                      </a:r>
                      <a:endParaRPr lang="en-US" sz="1200" dirty="0"/>
                    </a:p>
                  </a:txBody>
                  <a:tcPr marL="73152" marR="73152" marT="36576" marB="36576"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Strategy</a:t>
                      </a:r>
                      <a:endParaRPr lang="en-US" sz="1200" dirty="0"/>
                    </a:p>
                  </a:txBody>
                  <a:tcPr marL="73152" marR="73152" marT="36576" marB="36576"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Database</a:t>
                      </a:r>
                      <a:endParaRPr lang="en-US" sz="1200" dirty="0"/>
                    </a:p>
                  </a:txBody>
                  <a:tcPr marL="73152" marR="73152" marT="36576" marB="36576"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Input</a:t>
                      </a:r>
                      <a:endParaRPr lang="en-US" sz="1200" dirty="0"/>
                    </a:p>
                  </a:txBody>
                  <a:tcPr marL="73152" marR="73152" marT="36576" marB="36576"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Runs as</a:t>
                      </a:r>
                      <a:endParaRPr lang="en-US" sz="1200" dirty="0"/>
                    </a:p>
                  </a:txBody>
                  <a:tcPr marL="73152" marR="73152" marT="36576" marB="36576"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tx2"/>
                    </a:solidFill>
                  </a:tcPr>
                </a:tc>
              </a:tr>
              <a:tr h="438912">
                <a:tc>
                  <a:txBody>
                    <a:bodyPr/>
                    <a:lstStyle/>
                    <a:p>
                      <a:pPr indent="0" marL="0">
                        <a:buNone/>
                      </a:pPr>
                      <a:r>
                        <a:rPr lang="en-US" sz="1200" b="1" dirty="0">
                          <a:solidFill>
                            <a:schemeClr val="tx2"/>
                          </a:solidFill>
                        </a:rPr>
                        <a:t>CarveMe</a:t>
                      </a:r>
                      <a:endParaRPr lang="en-US" sz="1200" dirty="0"/>
                    </a:p>
                  </a:txBody>
                  <a:tcPr marL="73152" marR="73152" marT="36576" marB="36576"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top-down carving</a:t>
                      </a:r>
                      <a:endParaRPr lang="en-US" sz="1200" dirty="0"/>
                    </a:p>
                  </a:txBody>
                  <a:tcPr marL="73152" marR="73152" marT="36576" marB="36576"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BiGG universal model</a:t>
                      </a:r>
                      <a:endParaRPr lang="en-US" sz="1200" dirty="0"/>
                    </a:p>
                  </a:txBody>
                  <a:tcPr marL="73152" marR="73152" marT="36576" marB="36576"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proteome / RefSeq ID</a:t>
                      </a:r>
                      <a:endParaRPr lang="en-US" sz="1200" dirty="0"/>
                    </a:p>
                  </a:txBody>
                  <a:tcPr marL="73152" marR="73152" marT="36576" marB="36576"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Python command line</a:t>
                      </a:r>
                      <a:endParaRPr lang="en-US" sz="1200" dirty="0"/>
                    </a:p>
                  </a:txBody>
                  <a:tcPr marL="73152" marR="73152" marT="36576" marB="36576"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r>
              <a:tr h="438912">
                <a:tc>
                  <a:txBody>
                    <a:bodyPr/>
                    <a:lstStyle/>
                    <a:p>
                      <a:pPr indent="0" marL="0">
                        <a:buNone/>
                      </a:pPr>
                      <a:r>
                        <a:rPr lang="en-US" sz="1200" b="1" dirty="0">
                          <a:solidFill>
                            <a:schemeClr val="tx2"/>
                          </a:solidFill>
                        </a:rPr>
                        <a:t>ModelSEED / KBase</a:t>
                      </a:r>
                      <a:endParaRPr lang="en-US" sz="1200" dirty="0"/>
                    </a:p>
                  </a:txBody>
                  <a:tcPr marL="73152" marR="73152" marT="36576" marB="36576"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bottom-up, templates</a:t>
                      </a:r>
                      <a:endParaRPr lang="en-US" sz="1200" dirty="0"/>
                    </a:p>
                  </a:txBody>
                  <a:tcPr marL="73152" marR="73152" marT="36576" marB="36576"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ModelSEED biochemistry</a:t>
                      </a:r>
                      <a:endParaRPr lang="en-US" sz="1200" dirty="0"/>
                    </a:p>
                  </a:txBody>
                  <a:tcPr marL="73152" marR="73152" marT="36576" marB="36576"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RAST annotation</a:t>
                      </a:r>
                      <a:endParaRPr lang="en-US" sz="1200" dirty="0"/>
                    </a:p>
                  </a:txBody>
                  <a:tcPr marL="73152" marR="73152" marT="36576" marB="36576"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web (KBase), ModelSEEDpy</a:t>
                      </a:r>
                      <a:endParaRPr lang="en-US" sz="1200" dirty="0"/>
                    </a:p>
                  </a:txBody>
                  <a:tcPr marL="73152" marR="73152" marT="36576" marB="36576"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r>
              <a:tr h="438912">
                <a:tc>
                  <a:txBody>
                    <a:bodyPr/>
                    <a:lstStyle/>
                    <a:p>
                      <a:pPr indent="0" marL="0">
                        <a:buNone/>
                      </a:pPr>
                      <a:r>
                        <a:rPr lang="en-US" sz="1200" b="1" dirty="0">
                          <a:solidFill>
                            <a:schemeClr val="tx2"/>
                          </a:solidFill>
                        </a:rPr>
                        <a:t>gapseq</a:t>
                      </a:r>
                      <a:endParaRPr lang="en-US" sz="1200" dirty="0"/>
                    </a:p>
                  </a:txBody>
                  <a:tcPr marL="73152" marR="73152" marT="36576" marB="36576"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bottom-up, pathway-based</a:t>
                      </a:r>
                      <a:endParaRPr lang="en-US" sz="1200" dirty="0"/>
                    </a:p>
                  </a:txBody>
                  <a:tcPr marL="73152" marR="73152" marT="36576" marB="36576"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ModelSEED + MetaCyc, KEGG</a:t>
                      </a:r>
                      <a:endParaRPr lang="en-US" sz="1200" dirty="0"/>
                    </a:p>
                  </a:txBody>
                  <a:tcPr marL="73152" marR="73152" marT="36576" marB="36576"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genome FASTA</a:t>
                      </a:r>
                      <a:endParaRPr lang="en-US" sz="1200" dirty="0"/>
                    </a:p>
                  </a:txBody>
                  <a:tcPr marL="73152" marR="73152" marT="36576" marB="36576"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command line (R, shell)</a:t>
                      </a:r>
                      <a:endParaRPr lang="en-US" sz="1200" dirty="0"/>
                    </a:p>
                  </a:txBody>
                  <a:tcPr marL="73152" marR="73152" marT="36576" marB="36576"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r>
              <a:tr h="438912">
                <a:tc>
                  <a:txBody>
                    <a:bodyPr/>
                    <a:lstStyle/>
                    <a:p>
                      <a:pPr indent="0" marL="0">
                        <a:buNone/>
                      </a:pPr>
                      <a:r>
                        <a:rPr lang="en-US" sz="1200" b="1" dirty="0">
                          <a:solidFill>
                            <a:schemeClr val="tx2"/>
                          </a:solidFill>
                        </a:rPr>
                        <a:t>merlin</a:t>
                      </a:r>
                      <a:endParaRPr lang="en-US" sz="1200" dirty="0"/>
                    </a:p>
                  </a:txBody>
                  <a:tcPr marL="73152" marR="73152" marT="36576" marB="36576"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bottom-up, user-guided</a:t>
                      </a:r>
                      <a:endParaRPr lang="en-US" sz="1200" dirty="0"/>
                    </a:p>
                  </a:txBody>
                  <a:tcPr marL="73152" marR="73152" marT="36576" marB="36576"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KEGG, TranSyT</a:t>
                      </a:r>
                      <a:endParaRPr lang="en-US" sz="1200" dirty="0"/>
                    </a:p>
                  </a:txBody>
                  <a:tcPr marL="73152" marR="73152" marT="36576" marB="36576"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genome</a:t>
                      </a:r>
                      <a:endParaRPr lang="en-US" sz="1200" dirty="0"/>
                    </a:p>
                  </a:txBody>
                  <a:tcPr marL="73152" marR="73152" marT="36576" marB="36576"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desktop application</a:t>
                      </a:r>
                      <a:endParaRPr lang="en-US" sz="1200" dirty="0"/>
                    </a:p>
                  </a:txBody>
                  <a:tcPr marL="73152" marR="73152" marT="36576" marB="36576"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r>
              <a:tr h="438912">
                <a:tc>
                  <a:txBody>
                    <a:bodyPr/>
                    <a:lstStyle/>
                    <a:p>
                      <a:pPr indent="0" marL="0">
                        <a:buNone/>
                      </a:pPr>
                      <a:r>
                        <a:rPr lang="en-US" sz="1200" b="1" dirty="0">
                          <a:solidFill>
                            <a:schemeClr val="tx2"/>
                          </a:solidFill>
                        </a:rPr>
                        <a:t>RAVEN</a:t>
                      </a:r>
                      <a:endParaRPr lang="en-US" sz="1200" dirty="0"/>
                    </a:p>
                  </a:txBody>
                  <a:tcPr marL="73152" marR="73152" marT="36576" marB="36576"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template + de novo</a:t>
                      </a:r>
                      <a:endParaRPr lang="en-US" sz="1200" dirty="0"/>
                    </a:p>
                  </a:txBody>
                  <a:tcPr marL="73152" marR="73152" marT="36576" marB="36576"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template GEMs, KEGG, MetaCyc</a:t>
                      </a:r>
                      <a:endParaRPr lang="en-US" sz="1200" dirty="0"/>
                    </a:p>
                  </a:txBody>
                  <a:tcPr marL="73152" marR="73152" marT="36576" marB="36576"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proteome</a:t>
                      </a:r>
                      <a:endParaRPr lang="en-US" sz="1200" dirty="0"/>
                    </a:p>
                  </a:txBody>
                  <a:tcPr marL="73152" marR="73152" marT="36576" marB="36576"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MATLAB toolbox</a:t>
                      </a:r>
                      <a:endParaRPr lang="en-US" sz="1200" dirty="0"/>
                    </a:p>
                  </a:txBody>
                  <a:tcPr marL="73152" marR="73152" marT="36576" marB="36576"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r>
              <a:tr h="438912">
                <a:tc>
                  <a:txBody>
                    <a:bodyPr/>
                    <a:lstStyle/>
                    <a:p>
                      <a:pPr indent="0" marL="0">
                        <a:buNone/>
                      </a:pPr>
                      <a:r>
                        <a:rPr lang="en-US" sz="1200" b="1" dirty="0">
                          <a:solidFill>
                            <a:schemeClr val="tx2"/>
                          </a:solidFill>
                        </a:rPr>
                        <a:t>AlphaGEM</a:t>
                      </a:r>
                      <a:endParaRPr lang="en-US" sz="1200" dirty="0"/>
                    </a:p>
                  </a:txBody>
                  <a:tcPr marL="73152" marR="73152" marT="36576" marB="36576"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template + structure + deep learning</a:t>
                      </a:r>
                      <a:endParaRPr lang="en-US" sz="1200" dirty="0"/>
                    </a:p>
                  </a:txBody>
                  <a:tcPr marL="73152" marR="73152" marT="36576" marB="36576"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template GEMs, Rhea</a:t>
                      </a:r>
                      <a:endParaRPr lang="en-US" sz="1200" dirty="0"/>
                    </a:p>
                  </a:txBody>
                  <a:tcPr marL="73152" marR="73152" marT="36576" marB="36576"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proteome (+ structures)</a:t>
                      </a:r>
                      <a:endParaRPr lang="en-US" sz="1200" dirty="0"/>
                    </a:p>
                  </a:txBody>
                  <a:tcPr marL="73152" marR="73152" marT="36576" marB="36576"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Python, Linux + GPU</a:t>
                      </a:r>
                      <a:endParaRPr lang="en-US" sz="1200" dirty="0"/>
                    </a:p>
                  </a:txBody>
                  <a:tcPr marL="73152" marR="73152" marT="36576" marB="36576"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accent4"/>
                    </a:solidFill>
                  </a:tcPr>
                </a:tc>
              </a:tr>
            </a:tbl>
          </a:graphicData>
        </a:graphic>
      </p:graphicFrame>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400" b="1" dirty="0">
                <a:solidFill>
                  <a:schemeClr val="tx2"/>
                </a:solidFill>
              </a:rPr>
              <a:t>CarveMe: carve, don't build</a:t>
            </a:r>
            <a:endParaRPr lang="en-US" sz="3400" dirty="0"/>
          </a:p>
        </p:txBody>
      </p:sp>
      <p:sp>
        <p:nvSpPr>
          <p:cNvPr id="3" name="CarveMe link 1"/>
          <p:cNvSpPr/>
          <p:nvPr/>
        </p:nvSpPr>
        <p:spPr>
          <a:xfrm>
            <a:off x="649224" y="1636776"/>
            <a:ext cx="0" cy="356616"/>
          </a:xfrm>
          <a:prstGeom prst="line">
            <a:avLst/>
          </a:prstGeom>
          <a:noFill/>
          <a:ln w="19050">
            <a:solidFill>
              <a:schemeClr val="accent4"/>
            </a:solidFill>
            <a:prstDash val="solid"/>
          </a:ln>
        </p:spPr>
      </p:sp>
      <p:sp>
        <p:nvSpPr>
          <p:cNvPr id="4" name="CarveMe step 1 node"/>
          <p:cNvSpPr/>
          <p:nvPr/>
        </p:nvSpPr>
        <p:spPr>
          <a:xfrm>
            <a:off x="457200" y="1234440"/>
            <a:ext cx="384048" cy="384048"/>
          </a:xfrm>
          <a:prstGeom prst="ellipse">
            <a:avLst/>
          </a:prstGeom>
          <a:solidFill>
            <a:schemeClr val="accent1"/>
          </a:solidFill>
          <a:ln/>
        </p:spPr>
      </p:sp>
      <p:sp>
        <p:nvSpPr>
          <p:cNvPr id="5" name="CarveMe step 1 number"/>
          <p:cNvSpPr txBox="1"/>
          <p:nvPr/>
        </p:nvSpPr>
        <p:spPr>
          <a:xfrm>
            <a:off x="457200" y="12344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CarveMe step 1 text"/>
          <p:cNvSpPr txBox="1"/>
          <p:nvPr/>
        </p:nvSpPr>
        <p:spPr>
          <a:xfrm>
            <a:off x="1024128" y="1216152"/>
            <a:ext cx="3639312" cy="731520"/>
          </a:xfrm>
          <a:prstGeom prst="rect">
            <a:avLst/>
          </a:prstGeom>
          <a:noFill/>
          <a:ln/>
        </p:spPr>
        <p:txBody>
          <a:bodyPr wrap="square" lIns="0" tIns="0" rIns="0" bIns="0" rtlCol="0" anchor="t"/>
          <a:lstStyle/>
          <a:p>
            <a:pPr indent="0" marL="0">
              <a:buNone/>
            </a:pPr>
            <a:r>
              <a:rPr lang="en-US" sz="1400" dirty="0">
                <a:solidFill>
                  <a:schemeClr val="tx1"/>
                </a:solidFill>
              </a:rPr>
              <a:t>Align the proteome to BiGG genes (DIAMOND), giving each reaction a score</a:t>
            </a:r>
            <a:endParaRPr lang="en-US" sz="1400" dirty="0"/>
          </a:p>
        </p:txBody>
      </p:sp>
      <p:sp>
        <p:nvSpPr>
          <p:cNvPr id="7" name="CarveMe link 2"/>
          <p:cNvSpPr/>
          <p:nvPr/>
        </p:nvSpPr>
        <p:spPr>
          <a:xfrm>
            <a:off x="649224" y="2414016"/>
            <a:ext cx="0" cy="356616"/>
          </a:xfrm>
          <a:prstGeom prst="line">
            <a:avLst/>
          </a:prstGeom>
          <a:noFill/>
          <a:ln w="19050">
            <a:solidFill>
              <a:schemeClr val="accent4"/>
            </a:solidFill>
            <a:prstDash val="solid"/>
          </a:ln>
        </p:spPr>
      </p:sp>
      <p:sp>
        <p:nvSpPr>
          <p:cNvPr id="8" name="CarveMe step 2 node"/>
          <p:cNvSpPr/>
          <p:nvPr/>
        </p:nvSpPr>
        <p:spPr>
          <a:xfrm>
            <a:off x="457200" y="2011680"/>
            <a:ext cx="384048" cy="384048"/>
          </a:xfrm>
          <a:prstGeom prst="ellipse">
            <a:avLst/>
          </a:prstGeom>
          <a:solidFill>
            <a:schemeClr val="accent1"/>
          </a:solidFill>
          <a:ln/>
        </p:spPr>
      </p:sp>
      <p:sp>
        <p:nvSpPr>
          <p:cNvPr id="9" name="CarveMe step 2 number"/>
          <p:cNvSpPr txBox="1"/>
          <p:nvPr/>
        </p:nvSpPr>
        <p:spPr>
          <a:xfrm>
            <a:off x="457200" y="20116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CarveMe step 2 text"/>
          <p:cNvSpPr txBox="1"/>
          <p:nvPr/>
        </p:nvSpPr>
        <p:spPr>
          <a:xfrm>
            <a:off x="1024128" y="1993392"/>
            <a:ext cx="3639312" cy="731520"/>
          </a:xfrm>
          <a:prstGeom prst="rect">
            <a:avLst/>
          </a:prstGeom>
          <a:noFill/>
          <a:ln/>
        </p:spPr>
        <p:txBody>
          <a:bodyPr wrap="square" lIns="0" tIns="0" rIns="0" bIns="0" rtlCol="0" anchor="t"/>
          <a:lstStyle/>
          <a:p>
            <a:pPr indent="0" marL="0">
              <a:buNone/>
            </a:pPr>
            <a:r>
              <a:rPr lang="en-US" sz="1400" dirty="0">
                <a:solidFill>
                  <a:schemeClr val="tx1"/>
                </a:solidFill>
              </a:rPr>
              <a:t>An MILP keeps well-supported reactions while the network stays connected and makes biomass</a:t>
            </a:r>
            <a:endParaRPr lang="en-US" sz="1400" dirty="0"/>
          </a:p>
        </p:txBody>
      </p:sp>
      <p:sp>
        <p:nvSpPr>
          <p:cNvPr id="11" name="CarveMe link 3"/>
          <p:cNvSpPr/>
          <p:nvPr/>
        </p:nvSpPr>
        <p:spPr>
          <a:xfrm>
            <a:off x="649224" y="3191256"/>
            <a:ext cx="0" cy="356616"/>
          </a:xfrm>
          <a:prstGeom prst="line">
            <a:avLst/>
          </a:prstGeom>
          <a:noFill/>
          <a:ln w="19050">
            <a:solidFill>
              <a:schemeClr val="accent4"/>
            </a:solidFill>
            <a:prstDash val="solid"/>
          </a:ln>
        </p:spPr>
      </p:sp>
      <p:sp>
        <p:nvSpPr>
          <p:cNvPr id="12" name="CarveMe step 3 node"/>
          <p:cNvSpPr/>
          <p:nvPr/>
        </p:nvSpPr>
        <p:spPr>
          <a:xfrm>
            <a:off x="457200" y="2788920"/>
            <a:ext cx="384048" cy="384048"/>
          </a:xfrm>
          <a:prstGeom prst="ellipse">
            <a:avLst/>
          </a:prstGeom>
          <a:solidFill>
            <a:schemeClr val="accent1"/>
          </a:solidFill>
          <a:ln/>
        </p:spPr>
      </p:sp>
      <p:sp>
        <p:nvSpPr>
          <p:cNvPr id="13" name="CarveMe step 3 number"/>
          <p:cNvSpPr txBox="1"/>
          <p:nvPr/>
        </p:nvSpPr>
        <p:spPr>
          <a:xfrm>
            <a:off x="457200" y="27889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CarveMe step 3 text"/>
          <p:cNvSpPr txBox="1"/>
          <p:nvPr/>
        </p:nvSpPr>
        <p:spPr>
          <a:xfrm>
            <a:off x="1024128" y="2770632"/>
            <a:ext cx="3639312" cy="731520"/>
          </a:xfrm>
          <a:prstGeom prst="rect">
            <a:avLst/>
          </a:prstGeom>
          <a:noFill/>
          <a:ln/>
        </p:spPr>
        <p:txBody>
          <a:bodyPr wrap="square" lIns="0" tIns="0" rIns="0" bIns="0" rtlCol="0" anchor="t"/>
          <a:lstStyle/>
          <a:p>
            <a:pPr indent="0" marL="0">
              <a:buNone/>
            </a:pPr>
            <a:r>
              <a:rPr lang="en-US" sz="1400" dirty="0">
                <a:solidFill>
                  <a:schemeClr val="tx1"/>
                </a:solidFill>
              </a:rPr>
              <a:t>Optionally gap-fill for the media you choose</a:t>
            </a:r>
            <a:endParaRPr lang="en-US" sz="1400" dirty="0"/>
          </a:p>
        </p:txBody>
      </p:sp>
      <p:sp>
        <p:nvSpPr>
          <p:cNvPr id="15" name="CarveMe step 4 node"/>
          <p:cNvSpPr/>
          <p:nvPr/>
        </p:nvSpPr>
        <p:spPr>
          <a:xfrm>
            <a:off x="457200" y="3566160"/>
            <a:ext cx="384048" cy="384048"/>
          </a:xfrm>
          <a:prstGeom prst="ellipse">
            <a:avLst/>
          </a:prstGeom>
          <a:solidFill>
            <a:schemeClr val="accent1"/>
          </a:solidFill>
          <a:ln/>
        </p:spPr>
      </p:sp>
      <p:sp>
        <p:nvSpPr>
          <p:cNvPr id="16" name="CarveMe step 4 number"/>
          <p:cNvSpPr txBox="1"/>
          <p:nvPr/>
        </p:nvSpPr>
        <p:spPr>
          <a:xfrm>
            <a:off x="457200" y="35661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7" name="CarveMe step 4 text"/>
          <p:cNvSpPr txBox="1"/>
          <p:nvPr/>
        </p:nvSpPr>
        <p:spPr>
          <a:xfrm>
            <a:off x="1024128" y="3547872"/>
            <a:ext cx="3639312" cy="731520"/>
          </a:xfrm>
          <a:prstGeom prst="rect">
            <a:avLst/>
          </a:prstGeom>
          <a:noFill/>
          <a:ln/>
        </p:spPr>
        <p:txBody>
          <a:bodyPr wrap="square" lIns="0" tIns="0" rIns="0" bIns="0" rtlCol="0" anchor="t"/>
          <a:lstStyle/>
          <a:p>
            <a:pPr indent="0" marL="0">
              <a:buNone/>
            </a:pPr>
            <a:r>
              <a:rPr lang="en-US" sz="1400" dirty="0">
                <a:solidFill>
                  <a:schemeClr val="tx1"/>
                </a:solidFill>
              </a:rPr>
              <a:t>Output: an SBML model, ready to simulate</a:t>
            </a:r>
            <a:endParaRPr lang="en-US" sz="1400" dirty="0"/>
          </a:p>
        </p:txBody>
      </p:sp>
      <p:sp>
        <p:nvSpPr>
          <p:cNvPr id="18" name="CarveMe code card"/>
          <p:cNvSpPr/>
          <p:nvPr/>
        </p:nvSpPr>
        <p:spPr>
          <a:xfrm>
            <a:off x="4892040" y="1188720"/>
            <a:ext cx="3794760" cy="1874520"/>
          </a:xfrm>
          <a:prstGeom prst="roundRect">
            <a:avLst>
              <a:gd name="adj" fmla="val 3902"/>
            </a:avLst>
          </a:prstGeom>
          <a:solidFill>
            <a:schemeClr val="tx2"/>
          </a:solidFill>
          <a:ln/>
        </p:spPr>
      </p:sp>
      <p:sp>
        <p:nvSpPr>
          <p:cNvPr id="19" name="CarveMe code label"/>
          <p:cNvSpPr txBox="1"/>
          <p:nvPr/>
        </p:nvSpPr>
        <p:spPr>
          <a:xfrm>
            <a:off x="5120640" y="1353312"/>
            <a:ext cx="3337560" cy="274320"/>
          </a:xfrm>
          <a:prstGeom prst="rect">
            <a:avLst/>
          </a:prstGeom>
          <a:noFill/>
          <a:ln/>
        </p:spPr>
        <p:txBody>
          <a:bodyPr wrap="square" lIns="0" tIns="0" rIns="0" bIns="0" rtlCol="0" anchor="t"/>
          <a:lstStyle/>
          <a:p>
            <a:pPr indent="0" marL="0">
              <a:buNone/>
            </a:pPr>
            <a:r>
              <a:rPr lang="en-US" sz="1200" b="1" dirty="0">
                <a:solidFill>
                  <a:schemeClr val="accent2"/>
                </a:solidFill>
              </a:rPr>
              <a:t>Usage</a:t>
            </a:r>
            <a:endParaRPr lang="en-US" sz="1200" dirty="0"/>
          </a:p>
        </p:txBody>
      </p:sp>
      <p:sp>
        <p:nvSpPr>
          <p:cNvPr id="20" name="CarveMe code code"/>
          <p:cNvSpPr txBox="1"/>
          <p:nvPr/>
        </p:nvSpPr>
        <p:spPr>
          <a:xfrm>
            <a:off x="5120640" y="1691640"/>
            <a:ext cx="3337560" cy="1234440"/>
          </a:xfrm>
          <a:prstGeom prst="rect">
            <a:avLst/>
          </a:prstGeom>
          <a:noFill/>
          <a:ln/>
        </p:spPr>
        <p:txBody>
          <a:bodyPr wrap="square" lIns="0" tIns="0" rIns="0" bIns="0" rtlCol="0" anchor="t"/>
          <a:lstStyle/>
          <a:p>
            <a:pPr indent="0" marL="0">
              <a:buNone/>
            </a:pPr>
            <a:r>
              <a:rPr lang="en-US" sz="1100" dirty="0">
                <a:solidFill>
                  <a:schemeClr val="accent4"/>
                </a:solidFill>
                <a:latin typeface="Courier New" pitchFamily="34" charset="0"/>
                <a:ea typeface="Courier New" pitchFamily="34" charset="-122"/>
                <a:cs typeface="Courier New" pitchFamily="34" charset="-120"/>
              </a:rPr>
              <a:t>carve --refseq GCF_000005845.2 \</a:t>
            </a:r>
            <a:endParaRPr lang="en-US" sz="1100" dirty="0"/>
          </a:p>
          <a:p>
            <a:pPr indent="0" marL="0">
              <a:buNone/>
            </a:pPr>
            <a:r>
              <a:rPr lang="en-US" sz="1100" dirty="0">
                <a:solidFill>
                  <a:schemeClr val="accent4"/>
                </a:solidFill>
                <a:latin typeface="Courier New" pitchFamily="34" charset="0"/>
                <a:ea typeface="Courier New" pitchFamily="34" charset="-122"/>
                <a:cs typeface="Courier New" pitchFamily="34" charset="-120"/>
              </a:rPr>
              <a:t>      -o ecoli.xml</a:t>
            </a:r>
            <a:endParaRPr lang="en-US" sz="1100" dirty="0"/>
          </a:p>
          <a:p>
            <a:pPr indent="0" marL="0">
              <a:buNone/>
            </a:pPr>
            <a:endParaRPr lang="en-US" sz="1100" dirty="0"/>
          </a:p>
          <a:p>
            <a:pPr indent="0" marL="0">
              <a:buNone/>
            </a:pPr>
            <a:r>
              <a:rPr lang="en-US" sz="1100" dirty="0">
                <a:solidFill>
                  <a:schemeClr val="accent4"/>
                </a:solidFill>
                <a:latin typeface="Courier New" pitchFamily="34" charset="0"/>
                <a:ea typeface="Courier New" pitchFamily="34" charset="-122"/>
                <a:cs typeface="Courier New" pitchFamily="34" charset="-120"/>
              </a:rPr>
              <a:t>carve proteome.faa -g M9 \</a:t>
            </a:r>
            <a:endParaRPr lang="en-US" sz="1100" dirty="0"/>
          </a:p>
          <a:p>
            <a:pPr indent="0" marL="0">
              <a:buNone/>
            </a:pPr>
            <a:r>
              <a:rPr lang="en-US" sz="1100" dirty="0">
                <a:solidFill>
                  <a:schemeClr val="accent4"/>
                </a:solidFill>
                <a:latin typeface="Courier New" pitchFamily="34" charset="0"/>
                <a:ea typeface="Courier New" pitchFamily="34" charset="-122"/>
                <a:cs typeface="Courier New" pitchFamily="34" charset="-120"/>
              </a:rPr>
              <a:t>      -o model.xml</a:t>
            </a:r>
            <a:endParaRPr lang="en-US" sz="1100" dirty="0"/>
          </a:p>
        </p:txBody>
      </p:sp>
      <p:sp>
        <p:nvSpPr>
          <p:cNvPr id="21" name="CarveMe pros cons"/>
          <p:cNvSpPr txBox="1"/>
          <p:nvPr/>
        </p:nvSpPr>
        <p:spPr>
          <a:xfrm>
            <a:off x="4892040" y="3200400"/>
            <a:ext cx="3794760" cy="868680"/>
          </a:xfrm>
          <a:prstGeom prst="rect">
            <a:avLst/>
          </a:prstGeom>
          <a:noFill/>
          <a:ln/>
        </p:spPr>
        <p:txBody>
          <a:bodyPr wrap="square" lIns="0" tIns="0" rIns="0" bIns="0" rtlCol="0" anchor="t"/>
          <a:lstStyle/>
          <a:p>
            <a:pPr indent="0" marL="0">
              <a:spcAft>
                <a:spcPts val="400"/>
              </a:spcAft>
              <a:buNone/>
            </a:pPr>
            <a:r>
              <a:rPr lang="en-US" sz="1400" b="1" dirty="0">
                <a:solidFill>
                  <a:schemeClr val="accent1"/>
                </a:solidFill>
              </a:rPr>
              <a:t>+ </a:t>
            </a:r>
            <a:pPr indent="0" marL="0">
              <a:spcAft>
                <a:spcPts val="400"/>
              </a:spcAft>
              <a:buNone/>
            </a:pPr>
            <a:r>
              <a:rPr lang="en-US" sz="1400" dirty="0">
                <a:solidFill>
                  <a:schemeClr val="tx1"/>
                </a:solidFill>
              </a:rPr>
              <a:t>minutes per genome; community models</a:t>
            </a:r>
            <a:endParaRPr lang="en-US" sz="1400" dirty="0"/>
          </a:p>
          <a:p>
            <a:pPr indent="0" marL="0">
              <a:spcAft>
                <a:spcPts val="400"/>
              </a:spcAft>
              <a:buNone/>
            </a:pPr>
            <a:r>
              <a:rPr lang="en-US" sz="1400" b="1" dirty="0">
                <a:solidFill>
                  <a:schemeClr val="accent5"/>
                </a:solidFill>
              </a:rPr>
              <a:t>– </a:t>
            </a:r>
            <a:pPr indent="0" marL="0">
              <a:spcAft>
                <a:spcPts val="400"/>
              </a:spcAft>
              <a:buNone/>
            </a:pPr>
            <a:r>
              <a:rPr lang="en-US" sz="1400" dirty="0">
                <a:solidFill>
                  <a:schemeClr val="tx1"/>
                </a:solidFill>
              </a:rPr>
              <a:t>bacteria and archaea; only universal-model reactions</a:t>
            </a:r>
            <a:endParaRPr lang="en-US" sz="1400" dirty="0"/>
          </a:p>
        </p:txBody>
      </p:sp>
      <p:sp>
        <p:nvSpPr>
          <p:cNvPr id="22" name="CarveMe ref"/>
          <p:cNvSpPr txBox="1"/>
          <p:nvPr/>
        </p:nvSpPr>
        <p:spPr>
          <a:xfrm>
            <a:off x="4892040" y="4114800"/>
            <a:ext cx="3794760" cy="274320"/>
          </a:xfrm>
          <a:prstGeom prst="rect">
            <a:avLst/>
          </a:prstGeom>
          <a:noFill/>
          <a:ln/>
        </p:spPr>
        <p:txBody>
          <a:bodyPr wrap="square" lIns="0" tIns="0" rIns="0" bIns="0" rtlCol="0" anchor="t"/>
          <a:lstStyle/>
          <a:p>
            <a:pPr indent="0" marL="0">
              <a:buNone/>
            </a:pPr>
            <a:r>
              <a:rPr lang="en-US" sz="1100" dirty="0">
                <a:solidFill>
                  <a:schemeClr val="accent3"/>
                </a:solidFill>
              </a:rPr>
              <a:t>Machado et al., Nucleic Acids Res. 2018</a:t>
            </a:r>
            <a:endParaRPr lang="en-US" sz="11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400" b="1" dirty="0">
                <a:solidFill>
                  <a:schemeClr val="tx2"/>
                </a:solidFill>
              </a:rPr>
              <a:t>ModelSEED and KBase</a:t>
            </a:r>
            <a:endParaRPr lang="en-US" sz="3400" dirty="0"/>
          </a:p>
        </p:txBody>
      </p:sp>
      <p:sp>
        <p:nvSpPr>
          <p:cNvPr id="3" name="ModelSEED next chip"/>
          <p:cNvSpPr/>
          <p:nvPr/>
        </p:nvSpPr>
        <p:spPr>
          <a:xfrm>
            <a:off x="6400800" y="457200"/>
            <a:ext cx="2286000" cy="365760"/>
          </a:xfrm>
          <a:prstGeom prst="roundRect">
            <a:avLst>
              <a:gd name="adj" fmla="val 50000"/>
            </a:avLst>
          </a:prstGeom>
          <a:solidFill>
            <a:schemeClr val="accent2"/>
          </a:solidFill>
          <a:ln/>
        </p:spPr>
      </p:sp>
      <p:sp>
        <p:nvSpPr>
          <p:cNvPr id="4" name="ModelSEED next chip text"/>
          <p:cNvSpPr txBox="1"/>
          <p:nvPr/>
        </p:nvSpPr>
        <p:spPr>
          <a:xfrm>
            <a:off x="6400800" y="457200"/>
            <a:ext cx="2286000" cy="365760"/>
          </a:xfrm>
          <a:prstGeom prst="rect">
            <a:avLst/>
          </a:prstGeom>
          <a:noFill/>
          <a:ln/>
        </p:spPr>
        <p:txBody>
          <a:bodyPr wrap="square" lIns="0" tIns="0" rIns="0" bIns="0" rtlCol="0" anchor="ctr"/>
          <a:lstStyle/>
          <a:p>
            <a:pPr algn="ctr" indent="0" marL="0">
              <a:buNone/>
            </a:pPr>
            <a:r>
              <a:rPr lang="en-US" sz="1300" b="1" dirty="0">
                <a:solidFill>
                  <a:schemeClr val="bg1"/>
                </a:solidFill>
              </a:rPr>
              <a:t>Your hands-on at 14:00</a:t>
            </a:r>
            <a:endParaRPr lang="en-US" sz="1300" dirty="0"/>
          </a:p>
        </p:txBody>
      </p:sp>
      <p:sp>
        <p:nvSpPr>
          <p:cNvPr id="5" name="ModelSEED link 1"/>
          <p:cNvSpPr/>
          <p:nvPr/>
        </p:nvSpPr>
        <p:spPr>
          <a:xfrm>
            <a:off x="649224" y="1636776"/>
            <a:ext cx="0" cy="356616"/>
          </a:xfrm>
          <a:prstGeom prst="line">
            <a:avLst/>
          </a:prstGeom>
          <a:noFill/>
          <a:ln w="19050">
            <a:solidFill>
              <a:schemeClr val="accent4"/>
            </a:solidFill>
            <a:prstDash val="solid"/>
          </a:ln>
        </p:spPr>
      </p:sp>
      <p:sp>
        <p:nvSpPr>
          <p:cNvPr id="6" name="ModelSEED step 1 node"/>
          <p:cNvSpPr/>
          <p:nvPr/>
        </p:nvSpPr>
        <p:spPr>
          <a:xfrm>
            <a:off x="457200" y="1234440"/>
            <a:ext cx="384048" cy="384048"/>
          </a:xfrm>
          <a:prstGeom prst="ellipse">
            <a:avLst/>
          </a:prstGeom>
          <a:solidFill>
            <a:schemeClr val="accent1"/>
          </a:solidFill>
          <a:ln/>
        </p:spPr>
      </p:sp>
      <p:sp>
        <p:nvSpPr>
          <p:cNvPr id="7" name="ModelSEED step 1 number"/>
          <p:cNvSpPr txBox="1"/>
          <p:nvPr/>
        </p:nvSpPr>
        <p:spPr>
          <a:xfrm>
            <a:off x="457200" y="12344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ModelSEED step 1 text"/>
          <p:cNvSpPr txBox="1"/>
          <p:nvPr/>
        </p:nvSpPr>
        <p:spPr>
          <a:xfrm>
            <a:off x="1024128" y="1216152"/>
            <a:ext cx="3639312" cy="731520"/>
          </a:xfrm>
          <a:prstGeom prst="rect">
            <a:avLst/>
          </a:prstGeom>
          <a:noFill/>
          <a:ln/>
        </p:spPr>
        <p:txBody>
          <a:bodyPr wrap="square" lIns="0" tIns="0" rIns="0" bIns="0" rtlCol="0" anchor="t"/>
          <a:lstStyle/>
          <a:p>
            <a:pPr indent="0" marL="0">
              <a:buNone/>
            </a:pPr>
            <a:r>
              <a:rPr lang="en-US" sz="1400" dirty="0">
                <a:solidFill>
                  <a:schemeClr val="tx1"/>
                </a:solidFill>
              </a:rPr>
              <a:t>Annotate the genome with RAST (functional roles)</a:t>
            </a:r>
            <a:endParaRPr lang="en-US" sz="1400" dirty="0"/>
          </a:p>
        </p:txBody>
      </p:sp>
      <p:sp>
        <p:nvSpPr>
          <p:cNvPr id="9" name="ModelSEED link 2"/>
          <p:cNvSpPr/>
          <p:nvPr/>
        </p:nvSpPr>
        <p:spPr>
          <a:xfrm>
            <a:off x="649224" y="2414016"/>
            <a:ext cx="0" cy="356616"/>
          </a:xfrm>
          <a:prstGeom prst="line">
            <a:avLst/>
          </a:prstGeom>
          <a:noFill/>
          <a:ln w="19050">
            <a:solidFill>
              <a:schemeClr val="accent4"/>
            </a:solidFill>
            <a:prstDash val="solid"/>
          </a:ln>
        </p:spPr>
      </p:sp>
      <p:sp>
        <p:nvSpPr>
          <p:cNvPr id="10" name="ModelSEED step 2 node"/>
          <p:cNvSpPr/>
          <p:nvPr/>
        </p:nvSpPr>
        <p:spPr>
          <a:xfrm>
            <a:off x="457200" y="2011680"/>
            <a:ext cx="384048" cy="384048"/>
          </a:xfrm>
          <a:prstGeom prst="ellipse">
            <a:avLst/>
          </a:prstGeom>
          <a:solidFill>
            <a:schemeClr val="accent1"/>
          </a:solidFill>
          <a:ln/>
        </p:spPr>
      </p:sp>
      <p:sp>
        <p:nvSpPr>
          <p:cNvPr id="11" name="ModelSEED step 2 number"/>
          <p:cNvSpPr txBox="1"/>
          <p:nvPr/>
        </p:nvSpPr>
        <p:spPr>
          <a:xfrm>
            <a:off x="457200" y="20116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ModelSEED step 2 text"/>
          <p:cNvSpPr txBox="1"/>
          <p:nvPr/>
        </p:nvSpPr>
        <p:spPr>
          <a:xfrm>
            <a:off x="1024128" y="1993392"/>
            <a:ext cx="3639312" cy="731520"/>
          </a:xfrm>
          <a:prstGeom prst="rect">
            <a:avLst/>
          </a:prstGeom>
          <a:noFill/>
          <a:ln/>
        </p:spPr>
        <p:txBody>
          <a:bodyPr wrap="square" lIns="0" tIns="0" rIns="0" bIns="0" rtlCol="0" anchor="t"/>
          <a:lstStyle/>
          <a:p>
            <a:pPr indent="0" marL="0">
              <a:buNone/>
            </a:pPr>
            <a:r>
              <a:rPr lang="en-US" sz="1400" dirty="0">
                <a:solidFill>
                  <a:schemeClr val="tx1"/>
                </a:solidFill>
              </a:rPr>
              <a:t>Map roles to reactions through a template (Gram-negative, Gram-positive…)</a:t>
            </a:r>
            <a:endParaRPr lang="en-US" sz="1400" dirty="0"/>
          </a:p>
        </p:txBody>
      </p:sp>
      <p:sp>
        <p:nvSpPr>
          <p:cNvPr id="13" name="ModelSEED link 3"/>
          <p:cNvSpPr/>
          <p:nvPr/>
        </p:nvSpPr>
        <p:spPr>
          <a:xfrm>
            <a:off x="649224" y="3191256"/>
            <a:ext cx="0" cy="356616"/>
          </a:xfrm>
          <a:prstGeom prst="line">
            <a:avLst/>
          </a:prstGeom>
          <a:noFill/>
          <a:ln w="19050">
            <a:solidFill>
              <a:schemeClr val="accent4"/>
            </a:solidFill>
            <a:prstDash val="solid"/>
          </a:ln>
        </p:spPr>
      </p:sp>
      <p:sp>
        <p:nvSpPr>
          <p:cNvPr id="14" name="ModelSEED step 3 node"/>
          <p:cNvSpPr/>
          <p:nvPr/>
        </p:nvSpPr>
        <p:spPr>
          <a:xfrm>
            <a:off x="457200" y="2788920"/>
            <a:ext cx="384048" cy="384048"/>
          </a:xfrm>
          <a:prstGeom prst="ellipse">
            <a:avLst/>
          </a:prstGeom>
          <a:solidFill>
            <a:schemeClr val="accent1"/>
          </a:solidFill>
          <a:ln/>
        </p:spPr>
      </p:sp>
      <p:sp>
        <p:nvSpPr>
          <p:cNvPr id="15" name="ModelSEED step 3 number"/>
          <p:cNvSpPr txBox="1"/>
          <p:nvPr/>
        </p:nvSpPr>
        <p:spPr>
          <a:xfrm>
            <a:off x="457200" y="27889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ModelSEED step 3 text"/>
          <p:cNvSpPr txBox="1"/>
          <p:nvPr/>
        </p:nvSpPr>
        <p:spPr>
          <a:xfrm>
            <a:off x="1024128" y="2770632"/>
            <a:ext cx="3639312" cy="731520"/>
          </a:xfrm>
          <a:prstGeom prst="rect">
            <a:avLst/>
          </a:prstGeom>
          <a:noFill/>
          <a:ln/>
        </p:spPr>
        <p:txBody>
          <a:bodyPr wrap="square" lIns="0" tIns="0" rIns="0" bIns="0" rtlCol="0" anchor="t"/>
          <a:lstStyle/>
          <a:p>
            <a:pPr indent="0" marL="0">
              <a:buNone/>
            </a:pPr>
            <a:r>
              <a:rPr lang="en-US" sz="1400" dirty="0">
                <a:solidFill>
                  <a:schemeClr val="tx1"/>
                </a:solidFill>
              </a:rPr>
              <a:t>Add the template biomass, then gap-fill on a chosen medium</a:t>
            </a:r>
            <a:endParaRPr lang="en-US" sz="1400" dirty="0"/>
          </a:p>
        </p:txBody>
      </p:sp>
      <p:sp>
        <p:nvSpPr>
          <p:cNvPr id="17" name="ModelSEED step 4 node"/>
          <p:cNvSpPr/>
          <p:nvPr/>
        </p:nvSpPr>
        <p:spPr>
          <a:xfrm>
            <a:off x="457200" y="3566160"/>
            <a:ext cx="384048" cy="384048"/>
          </a:xfrm>
          <a:prstGeom prst="ellipse">
            <a:avLst/>
          </a:prstGeom>
          <a:solidFill>
            <a:schemeClr val="accent1"/>
          </a:solidFill>
          <a:ln/>
        </p:spPr>
      </p:sp>
      <p:sp>
        <p:nvSpPr>
          <p:cNvPr id="18" name="ModelSEED step 4 number"/>
          <p:cNvSpPr txBox="1"/>
          <p:nvPr/>
        </p:nvSpPr>
        <p:spPr>
          <a:xfrm>
            <a:off x="457200" y="35661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ModelSEED step 4 text"/>
          <p:cNvSpPr txBox="1"/>
          <p:nvPr/>
        </p:nvSpPr>
        <p:spPr>
          <a:xfrm>
            <a:off x="1024128" y="3547872"/>
            <a:ext cx="3639312" cy="731520"/>
          </a:xfrm>
          <a:prstGeom prst="rect">
            <a:avLst/>
          </a:prstGeom>
          <a:noFill/>
          <a:ln/>
        </p:spPr>
        <p:txBody>
          <a:bodyPr wrap="square" lIns="0" tIns="0" rIns="0" bIns="0" rtlCol="0" anchor="t"/>
          <a:lstStyle/>
          <a:p>
            <a:pPr indent="0" marL="0">
              <a:buNone/>
            </a:pPr>
            <a:r>
              <a:rPr lang="en-US" sz="1400" dirty="0">
                <a:solidFill>
                  <a:schemeClr val="tx1"/>
                </a:solidFill>
              </a:rPr>
              <a:t>Analyse in a KBase Narrative: FBA, comparisons, sharing</a:t>
            </a:r>
            <a:endParaRPr lang="en-US" sz="1400" dirty="0"/>
          </a:p>
        </p:txBody>
      </p:sp>
      <p:sp>
        <p:nvSpPr>
          <p:cNvPr id="20" name="ModelSEED features"/>
          <p:cNvSpPr/>
          <p:nvPr/>
        </p:nvSpPr>
        <p:spPr>
          <a:xfrm>
            <a:off x="4892040" y="1188720"/>
            <a:ext cx="3794760" cy="1874520"/>
          </a:xfrm>
          <a:prstGeom prst="roundRect">
            <a:avLst>
              <a:gd name="adj" fmla="val 3902"/>
            </a:avLst>
          </a:prstGeom>
          <a:solidFill>
            <a:schemeClr val="bg2"/>
          </a:solidFill>
          <a:ln/>
        </p:spPr>
      </p:sp>
      <p:sp>
        <p:nvSpPr>
          <p:cNvPr id="21" name="KBase node"/>
          <p:cNvSpPr/>
          <p:nvPr/>
        </p:nvSpPr>
        <p:spPr>
          <a:xfrm>
            <a:off x="5074920" y="1325880"/>
            <a:ext cx="457200" cy="457200"/>
          </a:xfrm>
          <a:prstGeom prst="ellipse">
            <a:avLst/>
          </a:prstGeom>
          <a:solidFill>
            <a:schemeClr val="accent1"/>
          </a:solidFill>
          <a:ln/>
        </p:spPr>
      </p:sp>
      <p:pic>
        <p:nvPicPr>
          <p:cNvPr id="22" name="KBase icon" descr="preencoded.png">    </p:cNvPr>
          <p:cNvPicPr>
            <a:picLocks noChangeAspect="1"/>
          </p:cNvPicPr>
          <p:nvPr/>
        </p:nvPicPr>
        <p:blipFill>
          <a:blip r:embed="rId1"/>
          <a:stretch>
            <a:fillRect/>
          </a:stretch>
        </p:blipFill>
        <p:spPr>
          <a:xfrm>
            <a:off x="5189220" y="1440180"/>
            <a:ext cx="228600" cy="228600"/>
          </a:xfrm>
          <a:prstGeom prst="rect">
            <a:avLst/>
          </a:prstGeom>
        </p:spPr>
      </p:pic>
      <p:sp>
        <p:nvSpPr>
          <p:cNvPr id="23" name="KBase heading"/>
          <p:cNvSpPr txBox="1"/>
          <p:nvPr/>
        </p:nvSpPr>
        <p:spPr>
          <a:xfrm>
            <a:off x="5669280" y="1325880"/>
            <a:ext cx="2926080" cy="457200"/>
          </a:xfrm>
          <a:prstGeom prst="rect">
            <a:avLst/>
          </a:prstGeom>
          <a:noFill/>
          <a:ln/>
        </p:spPr>
        <p:txBody>
          <a:bodyPr wrap="square" lIns="0" tIns="0" rIns="0" bIns="0" rtlCol="0" anchor="ctr"/>
          <a:lstStyle/>
          <a:p>
            <a:pPr indent="0" marL="0">
              <a:buNone/>
            </a:pPr>
            <a:r>
              <a:rPr lang="en-US" sz="1500" b="1" dirty="0">
                <a:solidFill>
                  <a:schemeClr val="tx2"/>
                </a:solidFill>
              </a:rPr>
              <a:t>Point-and-click in the browser</a:t>
            </a:r>
            <a:endParaRPr lang="en-US" sz="1500" dirty="0"/>
          </a:p>
        </p:txBody>
      </p:sp>
      <p:sp>
        <p:nvSpPr>
          <p:cNvPr id="24" name="KBase text"/>
          <p:cNvSpPr txBox="1"/>
          <p:nvPr/>
        </p:nvSpPr>
        <p:spPr>
          <a:xfrm>
            <a:off x="5074920" y="1874520"/>
            <a:ext cx="3474720" cy="1143000"/>
          </a:xfrm>
          <a:prstGeom prst="rect">
            <a:avLst/>
          </a:prstGeom>
          <a:noFill/>
          <a:ln/>
        </p:spPr>
        <p:txBody>
          <a:bodyPr wrap="square" lIns="0" tIns="0" rIns="0" bIns="0" rtlCol="0" anchor="t"/>
          <a:lstStyle/>
          <a:p>
            <a:pPr indent="0" marL="0">
              <a:buNone/>
            </a:pPr>
            <a:r>
              <a:rPr lang="en-US" sz="1400" dirty="0">
                <a:solidFill>
                  <a:schemeClr val="tx1"/>
                </a:solidFill>
              </a:rPr>
              <a:t>No installation: annotation, reconstruction, gap-filling and FBA are apps in a shareable Narrative. ModelSEEDpy does the same from Python.</a:t>
            </a:r>
            <a:endParaRPr lang="en-US" sz="1400" dirty="0"/>
          </a:p>
        </p:txBody>
      </p:sp>
      <p:sp>
        <p:nvSpPr>
          <p:cNvPr id="25" name="ModelSEED pros cons"/>
          <p:cNvSpPr txBox="1"/>
          <p:nvPr/>
        </p:nvSpPr>
        <p:spPr>
          <a:xfrm>
            <a:off x="4892040" y="3200400"/>
            <a:ext cx="3794760" cy="868680"/>
          </a:xfrm>
          <a:prstGeom prst="rect">
            <a:avLst/>
          </a:prstGeom>
          <a:noFill/>
          <a:ln/>
        </p:spPr>
        <p:txBody>
          <a:bodyPr wrap="square" lIns="0" tIns="0" rIns="0" bIns="0" rtlCol="0" anchor="t"/>
          <a:lstStyle/>
          <a:p>
            <a:pPr indent="0" marL="0">
              <a:spcAft>
                <a:spcPts val="400"/>
              </a:spcAft>
              <a:buNone/>
            </a:pPr>
            <a:r>
              <a:rPr lang="en-US" sz="1400" b="1" dirty="0">
                <a:solidFill>
                  <a:schemeClr val="accent1"/>
                </a:solidFill>
              </a:rPr>
              <a:t>+ </a:t>
            </a:r>
            <a:pPr indent="0" marL="0">
              <a:spcAft>
                <a:spcPts val="400"/>
              </a:spcAft>
              <a:buNone/>
            </a:pPr>
            <a:r>
              <a:rPr lang="en-US" sz="1400" dirty="0">
                <a:solidFill>
                  <a:schemeClr val="tx1"/>
                </a:solidFill>
              </a:rPr>
              <a:t>huge, consistent biochemistry; easy to start</a:t>
            </a:r>
            <a:endParaRPr lang="en-US" sz="1400" dirty="0"/>
          </a:p>
          <a:p>
            <a:pPr indent="0" marL="0">
              <a:spcAft>
                <a:spcPts val="400"/>
              </a:spcAft>
              <a:buNone/>
            </a:pPr>
            <a:r>
              <a:rPr lang="en-US" sz="1400" b="1" dirty="0">
                <a:solidFill>
                  <a:schemeClr val="accent5"/>
                </a:solidFill>
              </a:rPr>
              <a:t>– </a:t>
            </a:r>
            <a:pPr indent="0" marL="0">
              <a:spcAft>
                <a:spcPts val="400"/>
              </a:spcAft>
              <a:buNone/>
            </a:pPr>
            <a:r>
              <a:rPr lang="en-US" sz="1400" dirty="0">
                <a:solidFill>
                  <a:schemeClr val="tx1"/>
                </a:solidFill>
              </a:rPr>
              <a:t>only as good as RAST's roles; gap-filling can add many reactions</a:t>
            </a:r>
            <a:endParaRPr lang="en-US" sz="1400" dirty="0"/>
          </a:p>
        </p:txBody>
      </p:sp>
      <p:sp>
        <p:nvSpPr>
          <p:cNvPr id="26" name="ModelSEED ref"/>
          <p:cNvSpPr txBox="1"/>
          <p:nvPr/>
        </p:nvSpPr>
        <p:spPr>
          <a:xfrm>
            <a:off x="4892040" y="4114800"/>
            <a:ext cx="3794760" cy="320040"/>
          </a:xfrm>
          <a:prstGeom prst="rect">
            <a:avLst/>
          </a:prstGeom>
          <a:noFill/>
          <a:ln/>
        </p:spPr>
        <p:txBody>
          <a:bodyPr wrap="square" lIns="0" tIns="0" rIns="0" bIns="0" rtlCol="0" anchor="t"/>
          <a:lstStyle/>
          <a:p>
            <a:pPr indent="0" marL="0">
              <a:buNone/>
            </a:pPr>
            <a:r>
              <a:rPr lang="en-US" sz="1100" dirty="0">
                <a:solidFill>
                  <a:schemeClr val="accent3"/>
                </a:solidFill>
              </a:rPr>
              <a:t>Henry et al., Nat. Biotechnol. 2010 · Seaver et al., NAR 2021 · Arkin et al., Nat. Biotechnol. 2018</a:t>
            </a:r>
            <a:endParaRPr lang="en-US" sz="11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400" b="1" dirty="0">
                <a:solidFill>
                  <a:schemeClr val="tx2"/>
                </a:solidFill>
              </a:rPr>
              <a:t>gapseq: pathways first</a:t>
            </a:r>
            <a:endParaRPr lang="en-US" sz="3400" dirty="0"/>
          </a:p>
        </p:txBody>
      </p:sp>
      <p:sp>
        <p:nvSpPr>
          <p:cNvPr id="3" name="gapseq link 1"/>
          <p:cNvSpPr/>
          <p:nvPr/>
        </p:nvSpPr>
        <p:spPr>
          <a:xfrm>
            <a:off x="649224" y="1636776"/>
            <a:ext cx="0" cy="356616"/>
          </a:xfrm>
          <a:prstGeom prst="line">
            <a:avLst/>
          </a:prstGeom>
          <a:noFill/>
          <a:ln w="19050">
            <a:solidFill>
              <a:schemeClr val="accent4"/>
            </a:solidFill>
            <a:prstDash val="solid"/>
          </a:ln>
        </p:spPr>
      </p:sp>
      <p:sp>
        <p:nvSpPr>
          <p:cNvPr id="4" name="gapseq step 1 node"/>
          <p:cNvSpPr/>
          <p:nvPr/>
        </p:nvSpPr>
        <p:spPr>
          <a:xfrm>
            <a:off x="457200" y="1234440"/>
            <a:ext cx="384048" cy="384048"/>
          </a:xfrm>
          <a:prstGeom prst="ellipse">
            <a:avLst/>
          </a:prstGeom>
          <a:solidFill>
            <a:schemeClr val="accent1"/>
          </a:solidFill>
          <a:ln/>
        </p:spPr>
      </p:sp>
      <p:sp>
        <p:nvSpPr>
          <p:cNvPr id="5" name="gapseq step 1 number"/>
          <p:cNvSpPr txBox="1"/>
          <p:nvPr/>
        </p:nvSpPr>
        <p:spPr>
          <a:xfrm>
            <a:off x="457200" y="12344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gapseq step 1 text"/>
          <p:cNvSpPr txBox="1"/>
          <p:nvPr/>
        </p:nvSpPr>
        <p:spPr>
          <a:xfrm>
            <a:off x="1024128" y="1216152"/>
            <a:ext cx="3639312" cy="731520"/>
          </a:xfrm>
          <a:prstGeom prst="rect">
            <a:avLst/>
          </a:prstGeom>
          <a:noFill/>
          <a:ln/>
        </p:spPr>
        <p:txBody>
          <a:bodyPr wrap="square" lIns="0" tIns="0" rIns="0" bIns="0" rtlCol="0" anchor="t"/>
          <a:lstStyle/>
          <a:p>
            <a:pPr indent="0" marL="0">
              <a:buNone/>
            </a:pPr>
            <a:r>
              <a:rPr lang="en-US" sz="1400" dirty="0">
                <a:solidFill>
                  <a:schemeClr val="tx1"/>
                </a:solidFill>
              </a:rPr>
              <a:t>Read the genome directly: no annotation step needed</a:t>
            </a:r>
            <a:endParaRPr lang="en-US" sz="1400" dirty="0"/>
          </a:p>
        </p:txBody>
      </p:sp>
      <p:sp>
        <p:nvSpPr>
          <p:cNvPr id="7" name="gapseq link 2"/>
          <p:cNvSpPr/>
          <p:nvPr/>
        </p:nvSpPr>
        <p:spPr>
          <a:xfrm>
            <a:off x="649224" y="2414016"/>
            <a:ext cx="0" cy="356616"/>
          </a:xfrm>
          <a:prstGeom prst="line">
            <a:avLst/>
          </a:prstGeom>
          <a:noFill/>
          <a:ln w="19050">
            <a:solidFill>
              <a:schemeClr val="accent4"/>
            </a:solidFill>
            <a:prstDash val="solid"/>
          </a:ln>
        </p:spPr>
      </p:sp>
      <p:sp>
        <p:nvSpPr>
          <p:cNvPr id="8" name="gapseq step 2 node"/>
          <p:cNvSpPr/>
          <p:nvPr/>
        </p:nvSpPr>
        <p:spPr>
          <a:xfrm>
            <a:off x="457200" y="2011680"/>
            <a:ext cx="384048" cy="384048"/>
          </a:xfrm>
          <a:prstGeom prst="ellipse">
            <a:avLst/>
          </a:prstGeom>
          <a:solidFill>
            <a:schemeClr val="accent1"/>
          </a:solidFill>
          <a:ln/>
        </p:spPr>
      </p:sp>
      <p:sp>
        <p:nvSpPr>
          <p:cNvPr id="9" name="gapseq step 2 number"/>
          <p:cNvSpPr txBox="1"/>
          <p:nvPr/>
        </p:nvSpPr>
        <p:spPr>
          <a:xfrm>
            <a:off x="457200" y="20116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gapseq step 2 text"/>
          <p:cNvSpPr txBox="1"/>
          <p:nvPr/>
        </p:nvSpPr>
        <p:spPr>
          <a:xfrm>
            <a:off x="1024128" y="1993392"/>
            <a:ext cx="3639312" cy="731520"/>
          </a:xfrm>
          <a:prstGeom prst="rect">
            <a:avLst/>
          </a:prstGeom>
          <a:noFill/>
          <a:ln/>
        </p:spPr>
        <p:txBody>
          <a:bodyPr wrap="square" lIns="0" tIns="0" rIns="0" bIns="0" rtlCol="0" anchor="t"/>
          <a:lstStyle/>
          <a:p>
            <a:pPr indent="0" marL="0">
              <a:buNone/>
            </a:pPr>
            <a:r>
              <a:rPr lang="en-US" sz="1400" dirty="0">
                <a:solidFill>
                  <a:schemeClr val="tx1"/>
                </a:solidFill>
              </a:rPr>
              <a:t>Search reference proteins (UniProt, TCDB) for MetaCyc and KEGG pathways and transporters</a:t>
            </a:r>
            <a:endParaRPr lang="en-US" sz="1400" dirty="0"/>
          </a:p>
        </p:txBody>
      </p:sp>
      <p:sp>
        <p:nvSpPr>
          <p:cNvPr id="11" name="gapseq link 3"/>
          <p:cNvSpPr/>
          <p:nvPr/>
        </p:nvSpPr>
        <p:spPr>
          <a:xfrm>
            <a:off x="649224" y="3191256"/>
            <a:ext cx="0" cy="356616"/>
          </a:xfrm>
          <a:prstGeom prst="line">
            <a:avLst/>
          </a:prstGeom>
          <a:noFill/>
          <a:ln w="19050">
            <a:solidFill>
              <a:schemeClr val="accent4"/>
            </a:solidFill>
            <a:prstDash val="solid"/>
          </a:ln>
        </p:spPr>
      </p:sp>
      <p:sp>
        <p:nvSpPr>
          <p:cNvPr id="12" name="gapseq step 3 node"/>
          <p:cNvSpPr/>
          <p:nvPr/>
        </p:nvSpPr>
        <p:spPr>
          <a:xfrm>
            <a:off x="457200" y="2788920"/>
            <a:ext cx="384048" cy="384048"/>
          </a:xfrm>
          <a:prstGeom prst="ellipse">
            <a:avLst/>
          </a:prstGeom>
          <a:solidFill>
            <a:schemeClr val="accent1"/>
          </a:solidFill>
          <a:ln/>
        </p:spPr>
      </p:sp>
      <p:sp>
        <p:nvSpPr>
          <p:cNvPr id="13" name="gapseq step 3 number"/>
          <p:cNvSpPr txBox="1"/>
          <p:nvPr/>
        </p:nvSpPr>
        <p:spPr>
          <a:xfrm>
            <a:off x="457200" y="27889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gapseq step 3 text"/>
          <p:cNvSpPr txBox="1"/>
          <p:nvPr/>
        </p:nvSpPr>
        <p:spPr>
          <a:xfrm>
            <a:off x="1024128" y="2770632"/>
            <a:ext cx="3639312" cy="731520"/>
          </a:xfrm>
          <a:prstGeom prst="rect">
            <a:avLst/>
          </a:prstGeom>
          <a:noFill/>
          <a:ln/>
        </p:spPr>
        <p:txBody>
          <a:bodyPr wrap="square" lIns="0" tIns="0" rIns="0" bIns="0" rtlCol="0" anchor="t"/>
          <a:lstStyle/>
          <a:p>
            <a:pPr indent="0" marL="0">
              <a:buNone/>
            </a:pPr>
            <a:r>
              <a:rPr lang="en-US" sz="1400" dirty="0">
                <a:solidFill>
                  <a:schemeClr val="tx1"/>
                </a:solidFill>
              </a:rPr>
              <a:t>Draft in the ModelSEED namespace</a:t>
            </a:r>
            <a:endParaRPr lang="en-US" sz="1400" dirty="0"/>
          </a:p>
        </p:txBody>
      </p:sp>
      <p:sp>
        <p:nvSpPr>
          <p:cNvPr id="15" name="gapseq step 4 node"/>
          <p:cNvSpPr/>
          <p:nvPr/>
        </p:nvSpPr>
        <p:spPr>
          <a:xfrm>
            <a:off x="457200" y="3566160"/>
            <a:ext cx="384048" cy="384048"/>
          </a:xfrm>
          <a:prstGeom prst="ellipse">
            <a:avLst/>
          </a:prstGeom>
          <a:solidFill>
            <a:schemeClr val="accent1"/>
          </a:solidFill>
          <a:ln/>
        </p:spPr>
      </p:sp>
      <p:sp>
        <p:nvSpPr>
          <p:cNvPr id="16" name="gapseq step 4 number"/>
          <p:cNvSpPr txBox="1"/>
          <p:nvPr/>
        </p:nvSpPr>
        <p:spPr>
          <a:xfrm>
            <a:off x="457200" y="35661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7" name="gapseq step 4 text"/>
          <p:cNvSpPr txBox="1"/>
          <p:nvPr/>
        </p:nvSpPr>
        <p:spPr>
          <a:xfrm>
            <a:off x="1024128" y="3547872"/>
            <a:ext cx="3639312" cy="731520"/>
          </a:xfrm>
          <a:prstGeom prst="rect">
            <a:avLst/>
          </a:prstGeom>
          <a:noFill/>
          <a:ln/>
        </p:spPr>
        <p:txBody>
          <a:bodyPr wrap="square" lIns="0" tIns="0" rIns="0" bIns="0" rtlCol="0" anchor="t"/>
          <a:lstStyle/>
          <a:p>
            <a:pPr indent="0" marL="0">
              <a:buNone/>
            </a:pPr>
            <a:r>
              <a:rPr lang="en-US" sz="1400" dirty="0">
                <a:solidFill>
                  <a:schemeClr val="tx1"/>
                </a:solidFill>
              </a:rPr>
              <a:t>Gap-fill with an LP that prefers reactions with sequence evidence</a:t>
            </a:r>
            <a:endParaRPr lang="en-US" sz="1400" dirty="0"/>
          </a:p>
        </p:txBody>
      </p:sp>
      <p:sp>
        <p:nvSpPr>
          <p:cNvPr id="18" name="gapseq stat card"/>
          <p:cNvSpPr/>
          <p:nvPr/>
        </p:nvSpPr>
        <p:spPr>
          <a:xfrm>
            <a:off x="4892040" y="1188720"/>
            <a:ext cx="3794760" cy="1874520"/>
          </a:xfrm>
          <a:prstGeom prst="roundRect">
            <a:avLst>
              <a:gd name="adj" fmla="val 3902"/>
            </a:avLst>
          </a:prstGeom>
          <a:solidFill>
            <a:schemeClr val="tx2"/>
          </a:solidFill>
          <a:ln/>
        </p:spPr>
      </p:sp>
      <p:sp>
        <p:nvSpPr>
          <p:cNvPr id="19" name="gapseq stat"/>
          <p:cNvSpPr txBox="1"/>
          <p:nvPr/>
        </p:nvSpPr>
        <p:spPr>
          <a:xfrm>
            <a:off x="5120640" y="1325880"/>
            <a:ext cx="3383280" cy="685800"/>
          </a:xfrm>
          <a:prstGeom prst="rect">
            <a:avLst/>
          </a:prstGeom>
          <a:noFill/>
          <a:ln/>
        </p:spPr>
        <p:txBody>
          <a:bodyPr wrap="square" lIns="0" tIns="0" rIns="0" bIns="0" rtlCol="0" anchor="ctr"/>
          <a:lstStyle/>
          <a:p>
            <a:pPr indent="0" marL="0">
              <a:buNone/>
            </a:pPr>
            <a:r>
              <a:rPr lang="en-US" sz="4000" b="1" dirty="0">
                <a:solidFill>
                  <a:schemeClr val="accent2"/>
                </a:solidFill>
                <a:latin typeface="+mj-lt" pitchFamily="34" charset="0"/>
                <a:ea typeface="+mj-lt" pitchFamily="34" charset="-122"/>
                <a:cs typeface="+mj-lt" pitchFamily="34" charset="-120"/>
              </a:rPr>
              <a:t>81 %</a:t>
            </a:r>
            <a:endParaRPr lang="en-US" sz="4000" dirty="0"/>
          </a:p>
        </p:txBody>
      </p:sp>
      <p:sp>
        <p:nvSpPr>
          <p:cNvPr id="20" name="gapseq stat label"/>
          <p:cNvSpPr txBox="1"/>
          <p:nvPr/>
        </p:nvSpPr>
        <p:spPr>
          <a:xfrm>
            <a:off x="5120640" y="2011680"/>
            <a:ext cx="3383280" cy="1005840"/>
          </a:xfrm>
          <a:prstGeom prst="rect">
            <a:avLst/>
          </a:prstGeom>
          <a:noFill/>
          <a:ln/>
        </p:spPr>
        <p:txBody>
          <a:bodyPr wrap="square" lIns="0" tIns="0" rIns="0" bIns="0" rtlCol="0" anchor="t"/>
          <a:lstStyle/>
          <a:p>
            <a:pPr indent="0" marL="0">
              <a:buNone/>
            </a:pPr>
            <a:r>
              <a:rPr lang="en-US" sz="1300" dirty="0">
                <a:solidFill>
                  <a:schemeClr val="accent4"/>
                </a:solidFill>
              </a:rPr>
              <a:t>accuracy over 14,895 phenotypes (enzyme activities, carbon sources, fermentation products, essential genes) of more than 3,000 bacteria, in the authors' benchmark</a:t>
            </a:r>
            <a:endParaRPr lang="en-US" sz="1300" dirty="0"/>
          </a:p>
        </p:txBody>
      </p:sp>
      <p:sp>
        <p:nvSpPr>
          <p:cNvPr id="21" name="gapseq pros cons"/>
          <p:cNvSpPr txBox="1"/>
          <p:nvPr/>
        </p:nvSpPr>
        <p:spPr>
          <a:xfrm>
            <a:off x="4892040" y="3200400"/>
            <a:ext cx="3794760" cy="868680"/>
          </a:xfrm>
          <a:prstGeom prst="rect">
            <a:avLst/>
          </a:prstGeom>
          <a:noFill/>
          <a:ln/>
        </p:spPr>
        <p:txBody>
          <a:bodyPr wrap="square" lIns="0" tIns="0" rIns="0" bIns="0" rtlCol="0" anchor="t"/>
          <a:lstStyle/>
          <a:p>
            <a:pPr indent="0" marL="0">
              <a:spcAft>
                <a:spcPts val="400"/>
              </a:spcAft>
              <a:buNone/>
            </a:pPr>
            <a:r>
              <a:rPr lang="en-US" sz="1400" b="1" dirty="0">
                <a:solidFill>
                  <a:schemeClr val="accent1"/>
                </a:solidFill>
              </a:rPr>
              <a:t>+ </a:t>
            </a:r>
            <a:pPr indent="0" marL="0">
              <a:spcAft>
                <a:spcPts val="400"/>
              </a:spcAft>
              <a:buNone/>
            </a:pPr>
            <a:r>
              <a:rPr lang="en-US" sz="1400" dirty="0">
                <a:solidFill>
                  <a:schemeClr val="tx1"/>
                </a:solidFill>
              </a:rPr>
              <a:t>strong phenotype predictions; evidence-weighted gaps</a:t>
            </a:r>
            <a:endParaRPr lang="en-US" sz="1400" dirty="0"/>
          </a:p>
          <a:p>
            <a:pPr indent="0" marL="0">
              <a:spcAft>
                <a:spcPts val="400"/>
              </a:spcAft>
              <a:buNone/>
            </a:pPr>
            <a:r>
              <a:rPr lang="en-US" sz="1400" b="1" dirty="0">
                <a:solidFill>
                  <a:schemeClr val="accent5"/>
                </a:solidFill>
              </a:rPr>
              <a:t>– </a:t>
            </a:r>
            <a:pPr indent="0" marL="0">
              <a:spcAft>
                <a:spcPts val="400"/>
              </a:spcAft>
              <a:buNone/>
            </a:pPr>
            <a:r>
              <a:rPr lang="en-US" sz="1400" dirty="0">
                <a:solidFill>
                  <a:schemeClr val="tx1"/>
                </a:solidFill>
              </a:rPr>
              <a:t>slower (hours per genome); built for bacteria</a:t>
            </a:r>
            <a:endParaRPr lang="en-US" sz="1400" dirty="0"/>
          </a:p>
        </p:txBody>
      </p:sp>
      <p:sp>
        <p:nvSpPr>
          <p:cNvPr id="22" name="gapseq ref"/>
          <p:cNvSpPr txBox="1"/>
          <p:nvPr/>
        </p:nvSpPr>
        <p:spPr>
          <a:xfrm>
            <a:off x="4892040" y="4114800"/>
            <a:ext cx="3794760" cy="274320"/>
          </a:xfrm>
          <a:prstGeom prst="rect">
            <a:avLst/>
          </a:prstGeom>
          <a:noFill/>
          <a:ln/>
        </p:spPr>
        <p:txBody>
          <a:bodyPr wrap="square" lIns="0" tIns="0" rIns="0" bIns="0" rtlCol="0" anchor="t"/>
          <a:lstStyle/>
          <a:p>
            <a:pPr indent="0" marL="0">
              <a:buNone/>
            </a:pPr>
            <a:r>
              <a:rPr lang="en-US" sz="1100" dirty="0">
                <a:solidFill>
                  <a:schemeClr val="accent3"/>
                </a:solidFill>
              </a:rPr>
              <a:t>Zimmermann, Kaleta &amp; Waschina, Genome Biol. 2021</a:t>
            </a:r>
            <a:endParaRPr lang="en-US" sz="11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400" b="1" dirty="0">
                <a:solidFill>
                  <a:schemeClr val="tx2"/>
                </a:solidFill>
              </a:rPr>
              <a:t>AlphaGEM: homology by structure</a:t>
            </a:r>
            <a:endParaRPr lang="en-US" sz="3400" dirty="0"/>
          </a:p>
        </p:txBody>
      </p:sp>
      <p:sp>
        <p:nvSpPr>
          <p:cNvPr id="3" name="AlphaGEM card 1"/>
          <p:cNvSpPr/>
          <p:nvPr/>
        </p:nvSpPr>
        <p:spPr>
          <a:xfrm>
            <a:off x="457200" y="1188720"/>
            <a:ext cx="1920240" cy="2606040"/>
          </a:xfrm>
          <a:prstGeom prst="roundRect">
            <a:avLst>
              <a:gd name="adj" fmla="val 3810"/>
            </a:avLst>
          </a:prstGeom>
          <a:solidFill>
            <a:schemeClr val="bg2"/>
          </a:solidFill>
          <a:ln/>
        </p:spPr>
      </p:sp>
      <p:sp>
        <p:nvSpPr>
          <p:cNvPr id="4" name="AlphaGEM 1 node"/>
          <p:cNvSpPr/>
          <p:nvPr/>
        </p:nvSpPr>
        <p:spPr>
          <a:xfrm>
            <a:off x="640080" y="1325880"/>
            <a:ext cx="457200" cy="457200"/>
          </a:xfrm>
          <a:prstGeom prst="ellipse">
            <a:avLst/>
          </a:prstGeom>
          <a:solidFill>
            <a:schemeClr val="accent1"/>
          </a:solidFill>
          <a:ln/>
        </p:spPr>
      </p:sp>
      <p:pic>
        <p:nvPicPr>
          <p:cNvPr id="5" name="AlphaGEM 1 icon" descr="preencoded.png">    </p:cNvPr>
          <p:cNvPicPr>
            <a:picLocks noChangeAspect="1"/>
          </p:cNvPicPr>
          <p:nvPr/>
        </p:nvPicPr>
        <p:blipFill>
          <a:blip r:embed="rId1"/>
          <a:stretch>
            <a:fillRect/>
          </a:stretch>
        </p:blipFill>
        <p:spPr>
          <a:xfrm>
            <a:off x="754380" y="1440180"/>
            <a:ext cx="228600" cy="228600"/>
          </a:xfrm>
          <a:prstGeom prst="rect">
            <a:avLst/>
          </a:prstGeom>
        </p:spPr>
      </p:pic>
      <p:sp>
        <p:nvSpPr>
          <p:cNvPr id="6" name="AlphaGEM 1 heading"/>
          <p:cNvSpPr txBox="1"/>
          <p:nvPr/>
        </p:nvSpPr>
        <p:spPr>
          <a:xfrm>
            <a:off x="640080" y="1856232"/>
            <a:ext cx="1645920" cy="320040"/>
          </a:xfrm>
          <a:prstGeom prst="rect">
            <a:avLst/>
          </a:prstGeom>
          <a:noFill/>
          <a:ln/>
        </p:spPr>
        <p:txBody>
          <a:bodyPr wrap="square" lIns="0" tIns="0" rIns="0" bIns="0" rtlCol="0" anchor="t"/>
          <a:lstStyle/>
          <a:p>
            <a:pPr indent="0" marL="0">
              <a:buNone/>
            </a:pPr>
            <a:r>
              <a:rPr lang="en-US" sz="1500" b="1" dirty="0">
                <a:solidFill>
                  <a:schemeClr val="tx2"/>
                </a:solidFill>
              </a:rPr>
              <a:t>1 · Template</a:t>
            </a:r>
            <a:endParaRPr lang="en-US" sz="1500" dirty="0"/>
          </a:p>
        </p:txBody>
      </p:sp>
      <p:sp>
        <p:nvSpPr>
          <p:cNvPr id="7" name="AlphaGEM 1 text"/>
          <p:cNvSpPr txBox="1"/>
          <p:nvPr/>
        </p:nvSpPr>
        <p:spPr>
          <a:xfrm>
            <a:off x="640080" y="2212848"/>
            <a:ext cx="1600200" cy="1554480"/>
          </a:xfrm>
          <a:prstGeom prst="rect">
            <a:avLst/>
          </a:prstGeom>
          <a:noFill/>
          <a:ln/>
        </p:spPr>
        <p:txBody>
          <a:bodyPr wrap="square" lIns="0" tIns="0" rIns="0" bIns="0" rtlCol="0" anchor="t"/>
          <a:lstStyle/>
          <a:p>
            <a:pPr indent="0" marL="0">
              <a:buNone/>
            </a:pPr>
            <a:r>
              <a:rPr lang="en-US" sz="1300" dirty="0">
                <a:solidFill>
                  <a:schemeClr val="tx1"/>
                </a:solidFill>
              </a:rPr>
              <a:t>Pick a curated reference model: iML1515 (bacteria), Yeast9 (fungi), Human1 (mammals) and others</a:t>
            </a:r>
            <a:endParaRPr lang="en-US" sz="1300" dirty="0"/>
          </a:p>
        </p:txBody>
      </p:sp>
      <p:sp>
        <p:nvSpPr>
          <p:cNvPr id="8" name="AlphaGEM arrow 1"/>
          <p:cNvSpPr/>
          <p:nvPr/>
        </p:nvSpPr>
        <p:spPr>
          <a:xfrm>
            <a:off x="2386584" y="1828800"/>
            <a:ext cx="164592" cy="0"/>
          </a:xfrm>
          <a:prstGeom prst="line">
            <a:avLst/>
          </a:prstGeom>
          <a:noFill/>
          <a:ln w="25400">
            <a:solidFill>
              <a:schemeClr val="accent2"/>
            </a:solidFill>
            <a:prstDash val="solid"/>
            <a:tailEnd type="triangle"/>
          </a:ln>
        </p:spPr>
      </p:sp>
      <p:sp>
        <p:nvSpPr>
          <p:cNvPr id="9" name="AlphaGEM card 2"/>
          <p:cNvSpPr/>
          <p:nvPr/>
        </p:nvSpPr>
        <p:spPr>
          <a:xfrm>
            <a:off x="2560320" y="1188720"/>
            <a:ext cx="1920240" cy="2606040"/>
          </a:xfrm>
          <a:prstGeom prst="roundRect">
            <a:avLst>
              <a:gd name="adj" fmla="val 3810"/>
            </a:avLst>
          </a:prstGeom>
          <a:solidFill>
            <a:schemeClr val="bg2"/>
          </a:solidFill>
          <a:ln/>
        </p:spPr>
      </p:sp>
      <p:sp>
        <p:nvSpPr>
          <p:cNvPr id="10" name="AlphaGEM 2 node"/>
          <p:cNvSpPr/>
          <p:nvPr/>
        </p:nvSpPr>
        <p:spPr>
          <a:xfrm>
            <a:off x="2743200" y="1325880"/>
            <a:ext cx="457200" cy="457200"/>
          </a:xfrm>
          <a:prstGeom prst="ellipse">
            <a:avLst/>
          </a:prstGeom>
          <a:solidFill>
            <a:schemeClr val="accent1"/>
          </a:solidFill>
          <a:ln/>
        </p:spPr>
      </p:sp>
      <p:pic>
        <p:nvPicPr>
          <p:cNvPr id="11" name="AlphaGEM 2 icon" descr="preencoded.png">    </p:cNvPr>
          <p:cNvPicPr>
            <a:picLocks noChangeAspect="1"/>
          </p:cNvPicPr>
          <p:nvPr/>
        </p:nvPicPr>
        <p:blipFill>
          <a:blip r:embed="rId2"/>
          <a:stretch>
            <a:fillRect/>
          </a:stretch>
        </p:blipFill>
        <p:spPr>
          <a:xfrm>
            <a:off x="2857500" y="1440180"/>
            <a:ext cx="228600" cy="228600"/>
          </a:xfrm>
          <a:prstGeom prst="rect">
            <a:avLst/>
          </a:prstGeom>
        </p:spPr>
      </p:pic>
      <p:sp>
        <p:nvSpPr>
          <p:cNvPr id="12" name="AlphaGEM 2 heading"/>
          <p:cNvSpPr txBox="1"/>
          <p:nvPr/>
        </p:nvSpPr>
        <p:spPr>
          <a:xfrm>
            <a:off x="2743200" y="1856232"/>
            <a:ext cx="1645920" cy="320040"/>
          </a:xfrm>
          <a:prstGeom prst="rect">
            <a:avLst/>
          </a:prstGeom>
          <a:noFill/>
          <a:ln/>
        </p:spPr>
        <p:txBody>
          <a:bodyPr wrap="square" lIns="0" tIns="0" rIns="0" bIns="0" rtlCol="0" anchor="t"/>
          <a:lstStyle/>
          <a:p>
            <a:pPr indent="0" marL="0">
              <a:buNone/>
            </a:pPr>
            <a:r>
              <a:rPr lang="en-US" sz="1500" b="1" dirty="0">
                <a:solidFill>
                  <a:schemeClr val="tx2"/>
                </a:solidFill>
              </a:rPr>
              <a:t>2 · Homologues</a:t>
            </a:r>
            <a:endParaRPr lang="en-US" sz="1500" dirty="0"/>
          </a:p>
        </p:txBody>
      </p:sp>
      <p:sp>
        <p:nvSpPr>
          <p:cNvPr id="13" name="AlphaGEM 2 text"/>
          <p:cNvSpPr txBox="1"/>
          <p:nvPr/>
        </p:nvSpPr>
        <p:spPr>
          <a:xfrm>
            <a:off x="2743200" y="2212848"/>
            <a:ext cx="1600200" cy="1554480"/>
          </a:xfrm>
          <a:prstGeom prst="rect">
            <a:avLst/>
          </a:prstGeom>
          <a:noFill/>
          <a:ln/>
        </p:spPr>
        <p:txBody>
          <a:bodyPr wrap="square" lIns="0" tIns="0" rIns="0" bIns="0" rtlCol="0" anchor="t"/>
          <a:lstStyle/>
          <a:p>
            <a:pPr indent="0" marL="0">
              <a:buNone/>
            </a:pPr>
            <a:r>
              <a:rPr lang="en-US" sz="1300" dirty="0">
                <a:solidFill>
                  <a:schemeClr val="tx1"/>
                </a:solidFill>
              </a:rPr>
              <a:t>Sequence plus structure alignment (OrthoFinder, US-align, Foldseek), or a protein language model (PLMSearch)</a:t>
            </a:r>
            <a:endParaRPr lang="en-US" sz="1300" dirty="0"/>
          </a:p>
        </p:txBody>
      </p:sp>
      <p:sp>
        <p:nvSpPr>
          <p:cNvPr id="14" name="AlphaGEM arrow 2"/>
          <p:cNvSpPr/>
          <p:nvPr/>
        </p:nvSpPr>
        <p:spPr>
          <a:xfrm>
            <a:off x="4489704" y="1828800"/>
            <a:ext cx="164592" cy="0"/>
          </a:xfrm>
          <a:prstGeom prst="line">
            <a:avLst/>
          </a:prstGeom>
          <a:noFill/>
          <a:ln w="25400">
            <a:solidFill>
              <a:schemeClr val="accent2"/>
            </a:solidFill>
            <a:prstDash val="solid"/>
            <a:tailEnd type="triangle"/>
          </a:ln>
        </p:spPr>
      </p:sp>
      <p:sp>
        <p:nvSpPr>
          <p:cNvPr id="15" name="AlphaGEM card 3"/>
          <p:cNvSpPr/>
          <p:nvPr/>
        </p:nvSpPr>
        <p:spPr>
          <a:xfrm>
            <a:off x="4663440" y="1188720"/>
            <a:ext cx="1920240" cy="2606040"/>
          </a:xfrm>
          <a:prstGeom prst="roundRect">
            <a:avLst>
              <a:gd name="adj" fmla="val 3810"/>
            </a:avLst>
          </a:prstGeom>
          <a:solidFill>
            <a:schemeClr val="bg2"/>
          </a:solidFill>
          <a:ln/>
        </p:spPr>
      </p:sp>
      <p:sp>
        <p:nvSpPr>
          <p:cNvPr id="16" name="AlphaGEM 3 node"/>
          <p:cNvSpPr/>
          <p:nvPr/>
        </p:nvSpPr>
        <p:spPr>
          <a:xfrm>
            <a:off x="4846320" y="1325880"/>
            <a:ext cx="457200" cy="457200"/>
          </a:xfrm>
          <a:prstGeom prst="ellipse">
            <a:avLst/>
          </a:prstGeom>
          <a:solidFill>
            <a:schemeClr val="accent1"/>
          </a:solidFill>
          <a:ln/>
        </p:spPr>
      </p:sp>
      <p:pic>
        <p:nvPicPr>
          <p:cNvPr id="17" name="AlphaGEM 3 icon" descr="preencoded.png">    </p:cNvPr>
          <p:cNvPicPr>
            <a:picLocks noChangeAspect="1"/>
          </p:cNvPicPr>
          <p:nvPr/>
        </p:nvPicPr>
        <p:blipFill>
          <a:blip r:embed="rId3"/>
          <a:stretch>
            <a:fillRect/>
          </a:stretch>
        </p:blipFill>
        <p:spPr>
          <a:xfrm>
            <a:off x="4960620" y="1440180"/>
            <a:ext cx="228600" cy="228600"/>
          </a:xfrm>
          <a:prstGeom prst="rect">
            <a:avLst/>
          </a:prstGeom>
        </p:spPr>
      </p:pic>
      <p:sp>
        <p:nvSpPr>
          <p:cNvPr id="18" name="AlphaGEM 3 heading"/>
          <p:cNvSpPr txBox="1"/>
          <p:nvPr/>
        </p:nvSpPr>
        <p:spPr>
          <a:xfrm>
            <a:off x="4846320" y="1856232"/>
            <a:ext cx="1645920" cy="320040"/>
          </a:xfrm>
          <a:prstGeom prst="rect">
            <a:avLst/>
          </a:prstGeom>
          <a:noFill/>
          <a:ln/>
        </p:spPr>
        <p:txBody>
          <a:bodyPr wrap="square" lIns="0" tIns="0" rIns="0" bIns="0" rtlCol="0" anchor="t"/>
          <a:lstStyle/>
          <a:p>
            <a:pPr indent="0" marL="0">
              <a:buNone/>
            </a:pPr>
            <a:r>
              <a:rPr lang="en-US" sz="1500" b="1" dirty="0">
                <a:solidFill>
                  <a:schemeClr val="tx2"/>
                </a:solidFill>
              </a:rPr>
              <a:t>3 · Transfer</a:t>
            </a:r>
            <a:endParaRPr lang="en-US" sz="1500" dirty="0"/>
          </a:p>
        </p:txBody>
      </p:sp>
      <p:sp>
        <p:nvSpPr>
          <p:cNvPr id="19" name="AlphaGEM 3 text"/>
          <p:cNvSpPr txBox="1"/>
          <p:nvPr/>
        </p:nvSpPr>
        <p:spPr>
          <a:xfrm>
            <a:off x="4846320" y="2212848"/>
            <a:ext cx="1600200" cy="1554480"/>
          </a:xfrm>
          <a:prstGeom prst="rect">
            <a:avLst/>
          </a:prstGeom>
          <a:noFill/>
          <a:ln/>
        </p:spPr>
        <p:txBody>
          <a:bodyPr wrap="square" lIns="0" tIns="0" rIns="0" bIns="0" rtlCol="0" anchor="t"/>
          <a:lstStyle/>
          <a:p>
            <a:pPr indent="0" marL="0">
              <a:buNone/>
            </a:pPr>
            <a:r>
              <a:rPr lang="en-US" sz="1300" dirty="0">
                <a:solidFill>
                  <a:schemeClr val="tx1"/>
                </a:solidFill>
              </a:rPr>
              <a:t>Copy the template's reactions and gene rules; keep a complex if at least 80 % of its subunits are found</a:t>
            </a:r>
            <a:endParaRPr lang="en-US" sz="1300" dirty="0"/>
          </a:p>
        </p:txBody>
      </p:sp>
      <p:sp>
        <p:nvSpPr>
          <p:cNvPr id="20" name="AlphaGEM arrow 3"/>
          <p:cNvSpPr/>
          <p:nvPr/>
        </p:nvSpPr>
        <p:spPr>
          <a:xfrm>
            <a:off x="6592824" y="1828800"/>
            <a:ext cx="164592" cy="0"/>
          </a:xfrm>
          <a:prstGeom prst="line">
            <a:avLst/>
          </a:prstGeom>
          <a:noFill/>
          <a:ln w="25400">
            <a:solidFill>
              <a:schemeClr val="accent2"/>
            </a:solidFill>
            <a:prstDash val="solid"/>
            <a:tailEnd type="triangle"/>
          </a:ln>
        </p:spPr>
      </p:sp>
      <p:sp>
        <p:nvSpPr>
          <p:cNvPr id="21" name="AlphaGEM card 4"/>
          <p:cNvSpPr/>
          <p:nvPr/>
        </p:nvSpPr>
        <p:spPr>
          <a:xfrm>
            <a:off x="6766560" y="1188720"/>
            <a:ext cx="1920240" cy="2606040"/>
          </a:xfrm>
          <a:prstGeom prst="roundRect">
            <a:avLst>
              <a:gd name="adj" fmla="val 3810"/>
            </a:avLst>
          </a:prstGeom>
          <a:solidFill>
            <a:schemeClr val="tx2"/>
          </a:solidFill>
          <a:ln/>
        </p:spPr>
      </p:sp>
      <p:sp>
        <p:nvSpPr>
          <p:cNvPr id="22" name="AlphaGEM 4 node"/>
          <p:cNvSpPr/>
          <p:nvPr/>
        </p:nvSpPr>
        <p:spPr>
          <a:xfrm>
            <a:off x="6949440" y="1325880"/>
            <a:ext cx="457200" cy="457200"/>
          </a:xfrm>
          <a:prstGeom prst="ellipse">
            <a:avLst/>
          </a:prstGeom>
          <a:solidFill>
            <a:schemeClr val="accent2"/>
          </a:solidFill>
          <a:ln/>
        </p:spPr>
      </p:sp>
      <p:pic>
        <p:nvPicPr>
          <p:cNvPr id="23" name="AlphaGEM 4 icon" descr="preencoded.png">    </p:cNvPr>
          <p:cNvPicPr>
            <a:picLocks noChangeAspect="1"/>
          </p:cNvPicPr>
          <p:nvPr/>
        </p:nvPicPr>
        <p:blipFill>
          <a:blip r:embed="rId4"/>
          <a:stretch>
            <a:fillRect/>
          </a:stretch>
        </p:blipFill>
        <p:spPr>
          <a:xfrm>
            <a:off x="7063740" y="1440180"/>
            <a:ext cx="228600" cy="228600"/>
          </a:xfrm>
          <a:prstGeom prst="rect">
            <a:avLst/>
          </a:prstGeom>
        </p:spPr>
      </p:pic>
      <p:sp>
        <p:nvSpPr>
          <p:cNvPr id="24" name="AlphaGEM 4 heading"/>
          <p:cNvSpPr txBox="1"/>
          <p:nvPr/>
        </p:nvSpPr>
        <p:spPr>
          <a:xfrm>
            <a:off x="6949440" y="1856232"/>
            <a:ext cx="1645920" cy="320040"/>
          </a:xfrm>
          <a:prstGeom prst="rect">
            <a:avLst/>
          </a:prstGeom>
          <a:noFill/>
          <a:ln/>
        </p:spPr>
        <p:txBody>
          <a:bodyPr wrap="square" lIns="0" tIns="0" rIns="0" bIns="0" rtlCol="0" anchor="t"/>
          <a:lstStyle/>
          <a:p>
            <a:pPr indent="0" marL="0">
              <a:buNone/>
            </a:pPr>
            <a:r>
              <a:rPr lang="en-US" sz="1500" b="1" dirty="0">
                <a:solidFill>
                  <a:schemeClr val="bg1"/>
                </a:solidFill>
              </a:rPr>
              <a:t>4 · Dark metabolism</a:t>
            </a:r>
            <a:endParaRPr lang="en-US" sz="1500" dirty="0"/>
          </a:p>
        </p:txBody>
      </p:sp>
      <p:sp>
        <p:nvSpPr>
          <p:cNvPr id="25" name="AlphaGEM 4 text"/>
          <p:cNvSpPr txBox="1"/>
          <p:nvPr/>
        </p:nvSpPr>
        <p:spPr>
          <a:xfrm>
            <a:off x="6949440" y="2212848"/>
            <a:ext cx="1600200" cy="1554480"/>
          </a:xfrm>
          <a:prstGeom prst="rect">
            <a:avLst/>
          </a:prstGeom>
          <a:noFill/>
          <a:ln/>
        </p:spPr>
        <p:txBody>
          <a:bodyPr wrap="square" lIns="0" tIns="0" rIns="0" bIns="0" rtlCol="0" anchor="t"/>
          <a:lstStyle/>
          <a:p>
            <a:pPr indent="0" marL="0">
              <a:buNone/>
            </a:pPr>
            <a:r>
              <a:rPr lang="en-US" sz="1300" dirty="0">
                <a:solidFill>
                  <a:schemeClr val="accent4"/>
                </a:solidFill>
              </a:rPr>
              <a:t>Deep learning (CLEAN, DeepECtransformer) and eggNOG-mapper annotate the rest; new reactions come from Rhea</a:t>
            </a:r>
            <a:endParaRPr lang="en-US" sz="1300" dirty="0"/>
          </a:p>
        </p:txBody>
      </p:sp>
      <p:sp>
        <p:nvSpPr>
          <p:cNvPr id="26" name="AlphaGEM gapfill card"/>
          <p:cNvSpPr/>
          <p:nvPr/>
        </p:nvSpPr>
        <p:spPr>
          <a:xfrm>
            <a:off x="457200" y="3931920"/>
            <a:ext cx="8229600" cy="548640"/>
          </a:xfrm>
          <a:prstGeom prst="roundRect">
            <a:avLst>
              <a:gd name="adj" fmla="val 13333"/>
            </a:avLst>
          </a:prstGeom>
          <a:solidFill>
            <a:schemeClr val="bg2"/>
          </a:solidFill>
          <a:ln/>
        </p:spPr>
      </p:sp>
      <p:sp>
        <p:nvSpPr>
          <p:cNvPr id="27" name="AlphaGEM gapfill text"/>
          <p:cNvSpPr txBox="1"/>
          <p:nvPr/>
        </p:nvSpPr>
        <p:spPr>
          <a:xfrm>
            <a:off x="685800" y="3931920"/>
            <a:ext cx="7863840" cy="548640"/>
          </a:xfrm>
          <a:prstGeom prst="rect">
            <a:avLst/>
          </a:prstGeom>
          <a:noFill/>
          <a:ln/>
        </p:spPr>
        <p:txBody>
          <a:bodyPr wrap="square" lIns="0" tIns="0" rIns="0" bIns="0" rtlCol="0" anchor="ctr"/>
          <a:lstStyle/>
          <a:p>
            <a:pPr indent="0" marL="0">
              <a:buNone/>
            </a:pPr>
            <a:r>
              <a:rPr lang="en-US" sz="1400" b="1" dirty="0">
                <a:solidFill>
                  <a:schemeClr val="tx2"/>
                </a:solidFill>
              </a:rPr>
              <a:t>Then gap-filling with cobrapy, </a:t>
            </a:r>
            <a:pPr indent="0" marL="0">
              <a:buNone/>
            </a:pPr>
            <a:r>
              <a:rPr lang="en-US" sz="1400" dirty="0">
                <a:solidFill>
                  <a:schemeClr val="tx1"/>
                </a:solidFill>
              </a:rPr>
              <a:t>keeping a filled reaction only if the genome supports it (tblastn) or growth needs it.</a:t>
            </a:r>
            <a:endParaRPr lang="en-US" sz="14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400" b="1" dirty="0">
                <a:solidFill>
                  <a:schemeClr val="tx2"/>
                </a:solidFill>
              </a:rPr>
              <a:t>AlphaGEM: early results</a:t>
            </a:r>
            <a:endParaRPr lang="en-US" sz="3400" dirty="0"/>
          </a:p>
        </p:txBody>
      </p:sp>
      <p:graphicFrame>
        <p:nvGraphicFramePr>
          <p:cNvPr id="3" name="Chart B subtilis" descr=""/>
          <p:cNvGraphicFramePr/>
          <p:nvPr/>
        </p:nvGraphicFramePr>
        <p:xfrm>
          <a:off x="457200" y="1143000"/>
          <a:ext cx="3977640" cy="251460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K pneumoniae" descr=""/>
          <p:cNvGraphicFramePr/>
          <p:nvPr/>
        </p:nvGraphicFramePr>
        <p:xfrm>
          <a:off x="4709160" y="1143000"/>
          <a:ext cx="3977640" cy="2514600"/>
        </p:xfrm>
        <a:graphic xmlns:a="http://schemas.openxmlformats.org/drawingml/2006/main">
          <a:graphicData uri="http://schemas.openxmlformats.org/drawingml/2006/chart">
            <c:chart xmlns:c="http://schemas.openxmlformats.org/drawingml/2006/chart" r:id="rId2"/>
          </a:graphicData>
        </a:graphic>
      </p:graphicFrame>
      <p:sp>
        <p:nvSpPr>
          <p:cNvPr id="5" name="AlphaGEM practical card"/>
          <p:cNvSpPr/>
          <p:nvPr/>
        </p:nvSpPr>
        <p:spPr>
          <a:xfrm>
            <a:off x="457200" y="3749040"/>
            <a:ext cx="8229600" cy="731520"/>
          </a:xfrm>
          <a:prstGeom prst="roundRect">
            <a:avLst>
              <a:gd name="adj" fmla="val 10000"/>
            </a:avLst>
          </a:prstGeom>
          <a:solidFill>
            <a:schemeClr val="bg2"/>
          </a:solidFill>
          <a:ln/>
        </p:spPr>
      </p:sp>
      <p:sp>
        <p:nvSpPr>
          <p:cNvPr id="6" name="AlphaGEM practical text"/>
          <p:cNvSpPr txBox="1"/>
          <p:nvPr/>
        </p:nvSpPr>
        <p:spPr>
          <a:xfrm>
            <a:off x="685800" y="3767328"/>
            <a:ext cx="7863840" cy="694944"/>
          </a:xfrm>
          <a:prstGeom prst="rect">
            <a:avLst/>
          </a:prstGeom>
          <a:noFill/>
          <a:ln/>
        </p:spPr>
        <p:txBody>
          <a:bodyPr wrap="square" lIns="0" tIns="0" rIns="0" bIns="0" rtlCol="0" anchor="ctr"/>
          <a:lstStyle/>
          <a:p>
            <a:pPr indent="0" marL="0">
              <a:buNone/>
            </a:pPr>
            <a:r>
              <a:rPr lang="en-US" sz="1300" b="1" dirty="0">
                <a:solidFill>
                  <a:schemeClr val="tx2"/>
                </a:solidFill>
              </a:rPr>
              <a:t>Also: 332 yeast species reconstructed automatically. </a:t>
            </a:r>
            <a:pPr indent="0" marL="0">
              <a:buNone/>
            </a:pPr>
            <a:r>
              <a:rPr lang="en-US" sz="1300" dirty="0">
                <a:solidFill>
                  <a:schemeClr val="tx1"/>
                </a:solidFill>
              </a:rPr>
              <a:t>Needs Linux, an NVIDIA GPU and a Gurobi licence; GPL-3.0; github.com/hongzhonglu/AlphaGEM</a:t>
            </a:r>
            <a:endParaRPr lang="en-US" sz="1300" dirty="0"/>
          </a:p>
          <a:p>
            <a:pPr indent="0" marL="0">
              <a:buNone/>
            </a:pPr>
            <a:r>
              <a:rPr lang="en-US" sz="1100" i="1" dirty="0">
                <a:solidFill>
                  <a:schemeClr val="accent3"/>
                </a:solidFill>
              </a:rPr>
              <a:t>Benchmarks reported by the authors. ModelSEED's K. pneumoniae score is after adding missing exchange reactions.</a:t>
            </a:r>
            <a:endParaRPr lang="en-US" sz="13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400" b="1" dirty="0">
                <a:solidFill>
                  <a:schemeClr val="tx2"/>
                </a:solidFill>
              </a:rPr>
              <a:t>Other tools worth knowing</a:t>
            </a:r>
            <a:endParaRPr lang="en-US" sz="3400" dirty="0"/>
          </a:p>
        </p:txBody>
      </p:sp>
      <p:sp>
        <p:nvSpPr>
          <p:cNvPr id="3" name="Other card 1"/>
          <p:cNvSpPr/>
          <p:nvPr/>
        </p:nvSpPr>
        <p:spPr>
          <a:xfrm>
            <a:off x="457200" y="1188720"/>
            <a:ext cx="2560320" cy="1737360"/>
          </a:xfrm>
          <a:prstGeom prst="roundRect">
            <a:avLst>
              <a:gd name="adj" fmla="val 4211"/>
            </a:avLst>
          </a:prstGeom>
          <a:solidFill>
            <a:schemeClr val="bg2"/>
          </a:solidFill>
          <a:ln/>
        </p:spPr>
      </p:sp>
      <p:sp>
        <p:nvSpPr>
          <p:cNvPr id="4" name="Other 1 node"/>
          <p:cNvSpPr/>
          <p:nvPr/>
        </p:nvSpPr>
        <p:spPr>
          <a:xfrm>
            <a:off x="640080" y="1353312"/>
            <a:ext cx="438912" cy="438912"/>
          </a:xfrm>
          <a:prstGeom prst="ellipse">
            <a:avLst/>
          </a:prstGeom>
          <a:solidFill>
            <a:schemeClr val="accent1"/>
          </a:solidFill>
          <a:ln/>
        </p:spPr>
      </p:sp>
      <p:pic>
        <p:nvPicPr>
          <p:cNvPr id="5" name="Other 1 icon" descr="preencoded.png">    </p:cNvPr>
          <p:cNvPicPr>
            <a:picLocks noChangeAspect="1"/>
          </p:cNvPicPr>
          <p:nvPr/>
        </p:nvPicPr>
        <p:blipFill>
          <a:blip r:embed="rId1"/>
          <a:stretch>
            <a:fillRect/>
          </a:stretch>
        </p:blipFill>
        <p:spPr>
          <a:xfrm>
            <a:off x="749808" y="1463040"/>
            <a:ext cx="219456" cy="219456"/>
          </a:xfrm>
          <a:prstGeom prst="rect">
            <a:avLst/>
          </a:prstGeom>
        </p:spPr>
      </p:pic>
      <p:sp>
        <p:nvSpPr>
          <p:cNvPr id="6" name="Other 1 heading"/>
          <p:cNvSpPr txBox="1"/>
          <p:nvPr/>
        </p:nvSpPr>
        <p:spPr>
          <a:xfrm>
            <a:off x="1188720" y="1353312"/>
            <a:ext cx="1645920" cy="438912"/>
          </a:xfrm>
          <a:prstGeom prst="rect">
            <a:avLst/>
          </a:prstGeom>
          <a:noFill/>
          <a:ln/>
        </p:spPr>
        <p:txBody>
          <a:bodyPr wrap="square" lIns="0" tIns="0" rIns="0" bIns="0" rtlCol="0" anchor="ctr"/>
          <a:lstStyle/>
          <a:p>
            <a:pPr indent="0" marL="0">
              <a:buNone/>
            </a:pPr>
            <a:r>
              <a:rPr lang="en-US" sz="1600" b="1" dirty="0">
                <a:solidFill>
                  <a:schemeClr val="tx2"/>
                </a:solidFill>
              </a:rPr>
              <a:t>merlin</a:t>
            </a:r>
            <a:endParaRPr lang="en-US" sz="1600" dirty="0"/>
          </a:p>
        </p:txBody>
      </p:sp>
      <p:sp>
        <p:nvSpPr>
          <p:cNvPr id="7" name="Other 1 text"/>
          <p:cNvSpPr txBox="1"/>
          <p:nvPr/>
        </p:nvSpPr>
        <p:spPr>
          <a:xfrm>
            <a:off x="640080" y="1828800"/>
            <a:ext cx="2194560" cy="804672"/>
          </a:xfrm>
          <a:prstGeom prst="rect">
            <a:avLst/>
          </a:prstGeom>
          <a:noFill/>
          <a:ln/>
        </p:spPr>
        <p:txBody>
          <a:bodyPr wrap="square" lIns="0" tIns="0" rIns="0" bIns="0" rtlCol="0" anchor="t"/>
          <a:lstStyle/>
          <a:p>
            <a:pPr indent="0" marL="0">
              <a:buNone/>
            </a:pPr>
            <a:r>
              <a:rPr lang="en-US" sz="1300" dirty="0">
                <a:solidFill>
                  <a:schemeClr val="tx1"/>
                </a:solidFill>
              </a:rPr>
              <a:t>User-guided reconstruction with a desktop interface: annotation, transporters (TranSyT), curation (BioISO).</a:t>
            </a:r>
            <a:endParaRPr lang="en-US" sz="1300" dirty="0"/>
          </a:p>
        </p:txBody>
      </p:sp>
      <p:sp>
        <p:nvSpPr>
          <p:cNvPr id="8" name="Other 1 ref"/>
          <p:cNvSpPr txBox="1"/>
          <p:nvPr/>
        </p:nvSpPr>
        <p:spPr>
          <a:xfrm>
            <a:off x="640080" y="2660904"/>
            <a:ext cx="2194560" cy="201168"/>
          </a:xfrm>
          <a:prstGeom prst="rect">
            <a:avLst/>
          </a:prstGeom>
          <a:noFill/>
          <a:ln/>
        </p:spPr>
        <p:txBody>
          <a:bodyPr wrap="square" lIns="0" tIns="0" rIns="0" bIns="0" rtlCol="0" anchor="t"/>
          <a:lstStyle/>
          <a:p>
            <a:pPr indent="0" marL="0">
              <a:buNone/>
            </a:pPr>
            <a:r>
              <a:rPr lang="en-US" sz="1000" dirty="0">
                <a:solidFill>
                  <a:schemeClr val="accent3"/>
                </a:solidFill>
              </a:rPr>
              <a:t>Capela et al., NAR 2022</a:t>
            </a:r>
            <a:endParaRPr lang="en-US" sz="1000" dirty="0"/>
          </a:p>
        </p:txBody>
      </p:sp>
      <p:sp>
        <p:nvSpPr>
          <p:cNvPr id="9" name="Other card 2"/>
          <p:cNvSpPr/>
          <p:nvPr/>
        </p:nvSpPr>
        <p:spPr>
          <a:xfrm>
            <a:off x="3291840" y="1188720"/>
            <a:ext cx="2560320" cy="1737360"/>
          </a:xfrm>
          <a:prstGeom prst="roundRect">
            <a:avLst>
              <a:gd name="adj" fmla="val 4211"/>
            </a:avLst>
          </a:prstGeom>
          <a:solidFill>
            <a:schemeClr val="bg2"/>
          </a:solidFill>
          <a:ln/>
        </p:spPr>
      </p:sp>
      <p:sp>
        <p:nvSpPr>
          <p:cNvPr id="10" name="Other 2 node"/>
          <p:cNvSpPr/>
          <p:nvPr/>
        </p:nvSpPr>
        <p:spPr>
          <a:xfrm>
            <a:off x="3474720" y="1353312"/>
            <a:ext cx="438912" cy="438912"/>
          </a:xfrm>
          <a:prstGeom prst="ellipse">
            <a:avLst/>
          </a:prstGeom>
          <a:solidFill>
            <a:schemeClr val="accent1"/>
          </a:solidFill>
          <a:ln/>
        </p:spPr>
      </p:sp>
      <p:pic>
        <p:nvPicPr>
          <p:cNvPr id="11" name="Other 2 icon" descr="preencoded.png">    </p:cNvPr>
          <p:cNvPicPr>
            <a:picLocks noChangeAspect="1"/>
          </p:cNvPicPr>
          <p:nvPr/>
        </p:nvPicPr>
        <p:blipFill>
          <a:blip r:embed="rId2"/>
          <a:stretch>
            <a:fillRect/>
          </a:stretch>
        </p:blipFill>
        <p:spPr>
          <a:xfrm>
            <a:off x="3584448" y="1463040"/>
            <a:ext cx="219456" cy="219456"/>
          </a:xfrm>
          <a:prstGeom prst="rect">
            <a:avLst/>
          </a:prstGeom>
        </p:spPr>
      </p:pic>
      <p:sp>
        <p:nvSpPr>
          <p:cNvPr id="12" name="Other 2 heading"/>
          <p:cNvSpPr txBox="1"/>
          <p:nvPr/>
        </p:nvSpPr>
        <p:spPr>
          <a:xfrm>
            <a:off x="4023360" y="1353312"/>
            <a:ext cx="1645920" cy="438912"/>
          </a:xfrm>
          <a:prstGeom prst="rect">
            <a:avLst/>
          </a:prstGeom>
          <a:noFill/>
          <a:ln/>
        </p:spPr>
        <p:txBody>
          <a:bodyPr wrap="square" lIns="0" tIns="0" rIns="0" bIns="0" rtlCol="0" anchor="ctr"/>
          <a:lstStyle/>
          <a:p>
            <a:pPr indent="0" marL="0">
              <a:buNone/>
            </a:pPr>
            <a:r>
              <a:rPr lang="en-US" sz="1600" b="1" dirty="0">
                <a:solidFill>
                  <a:schemeClr val="tx2"/>
                </a:solidFill>
              </a:rPr>
              <a:t>RAVEN</a:t>
            </a:r>
            <a:endParaRPr lang="en-US" sz="1600" dirty="0"/>
          </a:p>
        </p:txBody>
      </p:sp>
      <p:sp>
        <p:nvSpPr>
          <p:cNvPr id="13" name="Other 2 text"/>
          <p:cNvSpPr txBox="1"/>
          <p:nvPr/>
        </p:nvSpPr>
        <p:spPr>
          <a:xfrm>
            <a:off x="3474720" y="1828800"/>
            <a:ext cx="2194560" cy="804672"/>
          </a:xfrm>
          <a:prstGeom prst="rect">
            <a:avLst/>
          </a:prstGeom>
          <a:noFill/>
          <a:ln/>
        </p:spPr>
        <p:txBody>
          <a:bodyPr wrap="square" lIns="0" tIns="0" rIns="0" bIns="0" rtlCol="0" anchor="t"/>
          <a:lstStyle/>
          <a:p>
            <a:pPr indent="0" marL="0">
              <a:buNone/>
            </a:pPr>
            <a:r>
              <a:rPr lang="en-US" sz="1300" dirty="0">
                <a:solidFill>
                  <a:schemeClr val="tx1"/>
                </a:solidFill>
              </a:rPr>
              <a:t>MATLAB toolbox: template-based or de novo from KEGG and MetaCyc; widely used for eukaryotic models.</a:t>
            </a:r>
            <a:endParaRPr lang="en-US" sz="1300" dirty="0"/>
          </a:p>
        </p:txBody>
      </p:sp>
      <p:sp>
        <p:nvSpPr>
          <p:cNvPr id="14" name="Other 2 ref"/>
          <p:cNvSpPr txBox="1"/>
          <p:nvPr/>
        </p:nvSpPr>
        <p:spPr>
          <a:xfrm>
            <a:off x="3474720" y="2660904"/>
            <a:ext cx="2194560" cy="201168"/>
          </a:xfrm>
          <a:prstGeom prst="rect">
            <a:avLst/>
          </a:prstGeom>
          <a:noFill/>
          <a:ln/>
        </p:spPr>
        <p:txBody>
          <a:bodyPr wrap="square" lIns="0" tIns="0" rIns="0" bIns="0" rtlCol="0" anchor="t"/>
          <a:lstStyle/>
          <a:p>
            <a:pPr indent="0" marL="0">
              <a:buNone/>
            </a:pPr>
            <a:r>
              <a:rPr lang="en-US" sz="1000" dirty="0">
                <a:solidFill>
                  <a:schemeClr val="accent3"/>
                </a:solidFill>
              </a:rPr>
              <a:t>Wang et al., PLoS Comput. Biol. 2018</a:t>
            </a:r>
            <a:endParaRPr lang="en-US" sz="1000" dirty="0"/>
          </a:p>
        </p:txBody>
      </p:sp>
      <p:sp>
        <p:nvSpPr>
          <p:cNvPr id="15" name="Other card 3"/>
          <p:cNvSpPr/>
          <p:nvPr/>
        </p:nvSpPr>
        <p:spPr>
          <a:xfrm>
            <a:off x="6126480" y="1188720"/>
            <a:ext cx="2560320" cy="1737360"/>
          </a:xfrm>
          <a:prstGeom prst="roundRect">
            <a:avLst>
              <a:gd name="adj" fmla="val 4211"/>
            </a:avLst>
          </a:prstGeom>
          <a:solidFill>
            <a:schemeClr val="bg2"/>
          </a:solidFill>
          <a:ln/>
        </p:spPr>
      </p:sp>
      <p:sp>
        <p:nvSpPr>
          <p:cNvPr id="16" name="Other 3 node"/>
          <p:cNvSpPr/>
          <p:nvPr/>
        </p:nvSpPr>
        <p:spPr>
          <a:xfrm>
            <a:off x="6309360" y="1353312"/>
            <a:ext cx="438912" cy="438912"/>
          </a:xfrm>
          <a:prstGeom prst="ellipse">
            <a:avLst/>
          </a:prstGeom>
          <a:solidFill>
            <a:schemeClr val="accent1"/>
          </a:solidFill>
          <a:ln/>
        </p:spPr>
      </p:sp>
      <p:pic>
        <p:nvPicPr>
          <p:cNvPr id="17" name="Other 3 icon" descr="preencoded.png">    </p:cNvPr>
          <p:cNvPicPr>
            <a:picLocks noChangeAspect="1"/>
          </p:cNvPicPr>
          <p:nvPr/>
        </p:nvPicPr>
        <p:blipFill>
          <a:blip r:embed="rId3"/>
          <a:stretch>
            <a:fillRect/>
          </a:stretch>
        </p:blipFill>
        <p:spPr>
          <a:xfrm>
            <a:off x="6419088" y="1463040"/>
            <a:ext cx="219456" cy="219456"/>
          </a:xfrm>
          <a:prstGeom prst="rect">
            <a:avLst/>
          </a:prstGeom>
        </p:spPr>
      </p:pic>
      <p:sp>
        <p:nvSpPr>
          <p:cNvPr id="18" name="Other 3 heading"/>
          <p:cNvSpPr txBox="1"/>
          <p:nvPr/>
        </p:nvSpPr>
        <p:spPr>
          <a:xfrm>
            <a:off x="6858000" y="1353312"/>
            <a:ext cx="1645920" cy="438912"/>
          </a:xfrm>
          <a:prstGeom prst="rect">
            <a:avLst/>
          </a:prstGeom>
          <a:noFill/>
          <a:ln/>
        </p:spPr>
        <p:txBody>
          <a:bodyPr wrap="square" lIns="0" tIns="0" rIns="0" bIns="0" rtlCol="0" anchor="ctr"/>
          <a:lstStyle/>
          <a:p>
            <a:pPr indent="0" marL="0">
              <a:buNone/>
            </a:pPr>
            <a:r>
              <a:rPr lang="en-US" sz="1600" b="1" dirty="0">
                <a:solidFill>
                  <a:schemeClr val="tx2"/>
                </a:solidFill>
              </a:rPr>
              <a:t>Pathway Tools</a:t>
            </a:r>
            <a:endParaRPr lang="en-US" sz="1600" dirty="0"/>
          </a:p>
        </p:txBody>
      </p:sp>
      <p:sp>
        <p:nvSpPr>
          <p:cNvPr id="19" name="Other 3 text"/>
          <p:cNvSpPr txBox="1"/>
          <p:nvPr/>
        </p:nvSpPr>
        <p:spPr>
          <a:xfrm>
            <a:off x="6309360" y="1828800"/>
            <a:ext cx="2194560" cy="804672"/>
          </a:xfrm>
          <a:prstGeom prst="rect">
            <a:avLst/>
          </a:prstGeom>
          <a:noFill/>
          <a:ln/>
        </p:spPr>
        <p:txBody>
          <a:bodyPr wrap="square" lIns="0" tIns="0" rIns="0" bIns="0" rtlCol="0" anchor="t"/>
          <a:lstStyle/>
          <a:p>
            <a:pPr indent="0" marL="0">
              <a:buNone/>
            </a:pPr>
            <a:r>
              <a:rPr lang="en-US" sz="1300" dirty="0">
                <a:solidFill>
                  <a:schemeClr val="tx1"/>
                </a:solidFill>
              </a:rPr>
              <a:t>Builds a pathway/genome database from MetaCyc (PathoLogic); MetaFlux turns it into a model.</a:t>
            </a:r>
            <a:endParaRPr lang="en-US" sz="1300" dirty="0"/>
          </a:p>
        </p:txBody>
      </p:sp>
      <p:sp>
        <p:nvSpPr>
          <p:cNvPr id="20" name="Other 3 ref"/>
          <p:cNvSpPr txBox="1"/>
          <p:nvPr/>
        </p:nvSpPr>
        <p:spPr>
          <a:xfrm>
            <a:off x="6309360" y="2660904"/>
            <a:ext cx="2194560" cy="201168"/>
          </a:xfrm>
          <a:prstGeom prst="rect">
            <a:avLst/>
          </a:prstGeom>
          <a:noFill/>
          <a:ln/>
        </p:spPr>
        <p:txBody>
          <a:bodyPr wrap="square" lIns="0" tIns="0" rIns="0" bIns="0" rtlCol="0" anchor="t"/>
          <a:lstStyle/>
          <a:p>
            <a:pPr indent="0" marL="0">
              <a:buNone/>
            </a:pPr>
            <a:r>
              <a:rPr lang="en-US" sz="1000" dirty="0">
                <a:solidFill>
                  <a:schemeClr val="accent3"/>
                </a:solidFill>
              </a:rPr>
              <a:t>Karp et al., Brief. Bioinform. 2021</a:t>
            </a:r>
            <a:endParaRPr lang="en-US" sz="1000" dirty="0"/>
          </a:p>
        </p:txBody>
      </p:sp>
      <p:sp>
        <p:nvSpPr>
          <p:cNvPr id="21" name="Other card 4"/>
          <p:cNvSpPr/>
          <p:nvPr/>
        </p:nvSpPr>
        <p:spPr>
          <a:xfrm>
            <a:off x="457200" y="3154680"/>
            <a:ext cx="4023360" cy="1371600"/>
          </a:xfrm>
          <a:prstGeom prst="roundRect">
            <a:avLst>
              <a:gd name="adj" fmla="val 5333"/>
            </a:avLst>
          </a:prstGeom>
          <a:solidFill>
            <a:schemeClr val="bg2"/>
          </a:solidFill>
          <a:ln/>
        </p:spPr>
      </p:sp>
      <p:sp>
        <p:nvSpPr>
          <p:cNvPr id="22" name="Other 4 node"/>
          <p:cNvSpPr/>
          <p:nvPr/>
        </p:nvSpPr>
        <p:spPr>
          <a:xfrm>
            <a:off x="640080" y="3319272"/>
            <a:ext cx="438912" cy="438912"/>
          </a:xfrm>
          <a:prstGeom prst="ellipse">
            <a:avLst/>
          </a:prstGeom>
          <a:solidFill>
            <a:schemeClr val="accent1"/>
          </a:solidFill>
          <a:ln/>
        </p:spPr>
      </p:sp>
      <p:pic>
        <p:nvPicPr>
          <p:cNvPr id="23" name="Other 4 icon" descr="preencoded.png">    </p:cNvPr>
          <p:cNvPicPr>
            <a:picLocks noChangeAspect="1"/>
          </p:cNvPicPr>
          <p:nvPr/>
        </p:nvPicPr>
        <p:blipFill>
          <a:blip r:embed="rId4"/>
          <a:stretch>
            <a:fillRect/>
          </a:stretch>
        </p:blipFill>
        <p:spPr>
          <a:xfrm>
            <a:off x="749808" y="3429000"/>
            <a:ext cx="219456" cy="219456"/>
          </a:xfrm>
          <a:prstGeom prst="rect">
            <a:avLst/>
          </a:prstGeom>
        </p:spPr>
      </p:pic>
      <p:sp>
        <p:nvSpPr>
          <p:cNvPr id="24" name="Other 4 heading"/>
          <p:cNvSpPr txBox="1"/>
          <p:nvPr/>
        </p:nvSpPr>
        <p:spPr>
          <a:xfrm>
            <a:off x="1188720" y="3319272"/>
            <a:ext cx="3108960" cy="438912"/>
          </a:xfrm>
          <a:prstGeom prst="rect">
            <a:avLst/>
          </a:prstGeom>
          <a:noFill/>
          <a:ln/>
        </p:spPr>
        <p:txBody>
          <a:bodyPr wrap="square" lIns="0" tIns="0" rIns="0" bIns="0" rtlCol="0" anchor="ctr"/>
          <a:lstStyle/>
          <a:p>
            <a:pPr indent="0" marL="0">
              <a:buNone/>
            </a:pPr>
            <a:r>
              <a:rPr lang="en-US" sz="1600" b="1" dirty="0">
                <a:solidFill>
                  <a:schemeClr val="tx2"/>
                </a:solidFill>
              </a:rPr>
              <a:t>AGORA2</a:t>
            </a:r>
            <a:endParaRPr lang="en-US" sz="1600" dirty="0"/>
          </a:p>
        </p:txBody>
      </p:sp>
      <p:sp>
        <p:nvSpPr>
          <p:cNvPr id="25" name="Other 4 text"/>
          <p:cNvSpPr txBox="1"/>
          <p:nvPr/>
        </p:nvSpPr>
        <p:spPr>
          <a:xfrm>
            <a:off x="640080" y="3794760"/>
            <a:ext cx="3657600" cy="438912"/>
          </a:xfrm>
          <a:prstGeom prst="rect">
            <a:avLst/>
          </a:prstGeom>
          <a:noFill/>
          <a:ln/>
        </p:spPr>
        <p:txBody>
          <a:bodyPr wrap="square" lIns="0" tIns="0" rIns="0" bIns="0" rtlCol="0" anchor="t"/>
          <a:lstStyle/>
          <a:p>
            <a:pPr indent="0" marL="0">
              <a:buNone/>
            </a:pPr>
            <a:r>
              <a:rPr lang="en-US" sz="1300" dirty="0">
                <a:solidFill>
                  <a:schemeClr val="tx1"/>
                </a:solidFill>
              </a:rPr>
              <a:t>7,302 curated models of human gut microbes: reuse before you rebuild.</a:t>
            </a:r>
            <a:endParaRPr lang="en-US" sz="1300" dirty="0"/>
          </a:p>
        </p:txBody>
      </p:sp>
      <p:sp>
        <p:nvSpPr>
          <p:cNvPr id="26" name="Other 4 ref"/>
          <p:cNvSpPr txBox="1"/>
          <p:nvPr/>
        </p:nvSpPr>
        <p:spPr>
          <a:xfrm>
            <a:off x="640080" y="4261104"/>
            <a:ext cx="3657600" cy="201168"/>
          </a:xfrm>
          <a:prstGeom prst="rect">
            <a:avLst/>
          </a:prstGeom>
          <a:noFill/>
          <a:ln/>
        </p:spPr>
        <p:txBody>
          <a:bodyPr wrap="square" lIns="0" tIns="0" rIns="0" bIns="0" rtlCol="0" anchor="t"/>
          <a:lstStyle/>
          <a:p>
            <a:pPr indent="0" marL="0">
              <a:buNone/>
            </a:pPr>
            <a:r>
              <a:rPr lang="en-US" sz="1000" dirty="0">
                <a:solidFill>
                  <a:schemeClr val="accent3"/>
                </a:solidFill>
              </a:rPr>
              <a:t>Heinken et al., Nat. Biotechnol. 2023</a:t>
            </a:r>
            <a:endParaRPr lang="en-US" sz="1000" dirty="0"/>
          </a:p>
        </p:txBody>
      </p:sp>
      <p:sp>
        <p:nvSpPr>
          <p:cNvPr id="27" name="Other card 5"/>
          <p:cNvSpPr/>
          <p:nvPr/>
        </p:nvSpPr>
        <p:spPr>
          <a:xfrm>
            <a:off x="4663440" y="3154680"/>
            <a:ext cx="4023360" cy="1371600"/>
          </a:xfrm>
          <a:prstGeom prst="roundRect">
            <a:avLst>
              <a:gd name="adj" fmla="val 5333"/>
            </a:avLst>
          </a:prstGeom>
          <a:solidFill>
            <a:schemeClr val="bg2"/>
          </a:solidFill>
          <a:ln/>
        </p:spPr>
      </p:sp>
      <p:sp>
        <p:nvSpPr>
          <p:cNvPr id="28" name="Other 5 node"/>
          <p:cNvSpPr/>
          <p:nvPr/>
        </p:nvSpPr>
        <p:spPr>
          <a:xfrm>
            <a:off x="4846320" y="3319272"/>
            <a:ext cx="438912" cy="438912"/>
          </a:xfrm>
          <a:prstGeom prst="ellipse">
            <a:avLst/>
          </a:prstGeom>
          <a:solidFill>
            <a:schemeClr val="accent1"/>
          </a:solidFill>
          <a:ln/>
        </p:spPr>
      </p:sp>
      <p:pic>
        <p:nvPicPr>
          <p:cNvPr id="29" name="Other 5 icon" descr="preencoded.png">    </p:cNvPr>
          <p:cNvPicPr>
            <a:picLocks noChangeAspect="1"/>
          </p:cNvPicPr>
          <p:nvPr/>
        </p:nvPicPr>
        <p:blipFill>
          <a:blip r:embed="rId5"/>
          <a:stretch>
            <a:fillRect/>
          </a:stretch>
        </p:blipFill>
        <p:spPr>
          <a:xfrm>
            <a:off x="4956048" y="3429000"/>
            <a:ext cx="219456" cy="219456"/>
          </a:xfrm>
          <a:prstGeom prst="rect">
            <a:avLst/>
          </a:prstGeom>
        </p:spPr>
      </p:pic>
      <p:sp>
        <p:nvSpPr>
          <p:cNvPr id="30" name="Other 5 heading"/>
          <p:cNvSpPr txBox="1"/>
          <p:nvPr/>
        </p:nvSpPr>
        <p:spPr>
          <a:xfrm>
            <a:off x="5394960" y="3319272"/>
            <a:ext cx="3108960" cy="438912"/>
          </a:xfrm>
          <a:prstGeom prst="rect">
            <a:avLst/>
          </a:prstGeom>
          <a:noFill/>
          <a:ln/>
        </p:spPr>
        <p:txBody>
          <a:bodyPr wrap="square" lIns="0" tIns="0" rIns="0" bIns="0" rtlCol="0" anchor="ctr"/>
          <a:lstStyle/>
          <a:p>
            <a:pPr indent="0" marL="0">
              <a:buNone/>
            </a:pPr>
            <a:r>
              <a:rPr lang="en-US" sz="1600" b="1" dirty="0">
                <a:solidFill>
                  <a:schemeClr val="tx2"/>
                </a:solidFill>
              </a:rPr>
              <a:t>GEMsembler</a:t>
            </a:r>
            <a:endParaRPr lang="en-US" sz="1600" dirty="0"/>
          </a:p>
        </p:txBody>
      </p:sp>
      <p:sp>
        <p:nvSpPr>
          <p:cNvPr id="31" name="Other 5 text"/>
          <p:cNvSpPr txBox="1"/>
          <p:nvPr/>
        </p:nvSpPr>
        <p:spPr>
          <a:xfrm>
            <a:off x="4846320" y="3794760"/>
            <a:ext cx="3657600" cy="438912"/>
          </a:xfrm>
          <a:prstGeom prst="rect">
            <a:avLst/>
          </a:prstGeom>
          <a:noFill/>
          <a:ln/>
        </p:spPr>
        <p:txBody>
          <a:bodyPr wrap="square" lIns="0" tIns="0" rIns="0" bIns="0" rtlCol="0" anchor="t"/>
          <a:lstStyle/>
          <a:p>
            <a:pPr indent="0" marL="0">
              <a:buNone/>
            </a:pPr>
            <a:r>
              <a:rPr lang="en-US" sz="1300" dirty="0">
                <a:solidFill>
                  <a:schemeClr val="tx1"/>
                </a:solidFill>
              </a:rPr>
              <a:t>Combines models from different tools (CarveMe, ModelSEED, gapseq…) into consensus models.</a:t>
            </a:r>
            <a:endParaRPr lang="en-US" sz="1300" dirty="0"/>
          </a:p>
        </p:txBody>
      </p:sp>
      <p:sp>
        <p:nvSpPr>
          <p:cNvPr id="32" name="Other 5 ref"/>
          <p:cNvSpPr txBox="1"/>
          <p:nvPr/>
        </p:nvSpPr>
        <p:spPr>
          <a:xfrm>
            <a:off x="4846320" y="4261104"/>
            <a:ext cx="3657600" cy="201168"/>
          </a:xfrm>
          <a:prstGeom prst="rect">
            <a:avLst/>
          </a:prstGeom>
          <a:noFill/>
          <a:ln/>
        </p:spPr>
        <p:txBody>
          <a:bodyPr wrap="square" lIns="0" tIns="0" rIns="0" bIns="0" rtlCol="0" anchor="t"/>
          <a:lstStyle/>
          <a:p>
            <a:pPr indent="0" marL="0">
              <a:buNone/>
            </a:pPr>
            <a:r>
              <a:rPr lang="en-US" sz="1000" dirty="0">
                <a:solidFill>
                  <a:schemeClr val="accent3"/>
                </a:solidFill>
              </a:rPr>
              <a:t>consensus model assembly, 2025</a:t>
            </a:r>
            <a:endParaRPr lang="en-US" sz="10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400" b="1" dirty="0">
                <a:solidFill>
                  <a:schemeClr val="tx2"/>
                </a:solidFill>
              </a:rPr>
              <a:t>No tool wins everywhere</a:t>
            </a:r>
            <a:endParaRPr lang="en-US" sz="3400" dirty="0"/>
          </a:p>
        </p:txBody>
      </p:sp>
      <p:sp>
        <p:nvSpPr>
          <p:cNvPr id="3" name="Quote card"/>
          <p:cNvSpPr/>
          <p:nvPr/>
        </p:nvSpPr>
        <p:spPr>
          <a:xfrm>
            <a:off x="457200" y="1188720"/>
            <a:ext cx="4114800" cy="1920240"/>
          </a:xfrm>
          <a:prstGeom prst="roundRect">
            <a:avLst>
              <a:gd name="adj" fmla="val 3810"/>
            </a:avLst>
          </a:prstGeom>
          <a:solidFill>
            <a:schemeClr val="tx2"/>
          </a:solidFill>
          <a:ln/>
        </p:spPr>
      </p:sp>
      <p:sp>
        <p:nvSpPr>
          <p:cNvPr id="4" name="Quote text"/>
          <p:cNvSpPr txBox="1"/>
          <p:nvPr/>
        </p:nvSpPr>
        <p:spPr>
          <a:xfrm>
            <a:off x="685800" y="1325880"/>
            <a:ext cx="3657600" cy="1645920"/>
          </a:xfrm>
          <a:prstGeom prst="rect">
            <a:avLst/>
          </a:prstGeom>
          <a:noFill/>
          <a:ln/>
        </p:spPr>
        <p:txBody>
          <a:bodyPr wrap="square" lIns="0" tIns="0" rIns="0" bIns="0" rtlCol="0" anchor="ctr"/>
          <a:lstStyle/>
          <a:p>
            <a:pPr indent="0" marL="0">
              <a:buNone/>
            </a:pPr>
            <a:r>
              <a:rPr lang="en-US" sz="1700" i="1" dirty="0">
                <a:solidFill>
                  <a:schemeClr val="bg1"/>
                </a:solidFill>
                <a:latin typeface="+mj-lt" pitchFamily="34" charset="0"/>
                <a:ea typeface="+mj-lt" pitchFamily="34" charset="-122"/>
                <a:cs typeface="+mj-lt" pitchFamily="34" charset="-120"/>
              </a:rPr>
              <a:t>“None of the tools outperforms the others in all the defined features.”</a:t>
            </a:r>
            <a:endParaRPr lang="en-US" sz="1700" dirty="0"/>
          </a:p>
          <a:p>
            <a:pPr indent="0" marL="0">
              <a:buNone/>
            </a:pPr>
            <a:r>
              <a:rPr lang="en-US" sz="1200" dirty="0">
                <a:solidFill>
                  <a:schemeClr val="accent4"/>
                </a:solidFill>
                <a:latin typeface="+mj-lt" pitchFamily="34" charset="0"/>
                <a:ea typeface="+mj-lt" pitchFamily="34" charset="-122"/>
                <a:cs typeface="+mj-lt" pitchFamily="34" charset="-120"/>
              </a:rPr>
              <a:t>Mendoza et al., Genome Biol. 2019</a:t>
            </a:r>
            <a:endParaRPr lang="en-US" sz="1700" dirty="0"/>
          </a:p>
        </p:txBody>
      </p:sp>
      <p:sp>
        <p:nvSpPr>
          <p:cNvPr id="5" name="Consensus text"/>
          <p:cNvSpPr txBox="1"/>
          <p:nvPr/>
        </p:nvSpPr>
        <p:spPr>
          <a:xfrm>
            <a:off x="457200" y="3246120"/>
            <a:ext cx="4114800" cy="1234440"/>
          </a:xfrm>
          <a:prstGeom prst="rect">
            <a:avLst/>
          </a:prstGeom>
          <a:noFill/>
          <a:ln/>
        </p:spPr>
        <p:txBody>
          <a:bodyPr wrap="square" lIns="0" tIns="0" rIns="0" bIns="0" rtlCol="0" anchor="t"/>
          <a:lstStyle/>
          <a:p>
            <a:pPr indent="0" marL="0">
              <a:buNone/>
            </a:pPr>
            <a:r>
              <a:rPr lang="en-US" sz="1400" dirty="0">
                <a:solidFill>
                  <a:schemeClr val="tx1"/>
                </a:solidFill>
              </a:rPr>
              <a:t>Different databases, scoring and gap-filling give different models of the same genome. Combining them helps: consensus models built with GEMsembler beat the gold-standard models of L. plantarum and E. coli on auxotrophy and gene-essentiality tests.</a:t>
            </a:r>
            <a:endParaRPr lang="en-US" sz="1400" dirty="0"/>
          </a:p>
        </p:txBody>
      </p:sp>
      <p:sp>
        <p:nvSpPr>
          <p:cNvPr id="6" name="Venn CarveMe"/>
          <p:cNvSpPr/>
          <p:nvPr/>
        </p:nvSpPr>
        <p:spPr>
          <a:xfrm>
            <a:off x="5989320" y="1325880"/>
            <a:ext cx="1737360" cy="1737360"/>
          </a:xfrm>
          <a:prstGeom prst="ellipse">
            <a:avLst/>
          </a:prstGeom>
          <a:solidFill>
            <a:schemeClr val="accent1">
              <a:alpha val="45000"/>
            </a:schemeClr>
          </a:solidFill>
          <a:ln w="19050">
            <a:solidFill>
              <a:schemeClr val="accent1"/>
            </a:solidFill>
            <a:prstDash val="solid"/>
          </a:ln>
        </p:spPr>
      </p:sp>
      <p:sp>
        <p:nvSpPr>
          <p:cNvPr id="7" name="Venn gapseq"/>
          <p:cNvSpPr/>
          <p:nvPr/>
        </p:nvSpPr>
        <p:spPr>
          <a:xfrm>
            <a:off x="6995160" y="1325880"/>
            <a:ext cx="1737360" cy="1737360"/>
          </a:xfrm>
          <a:prstGeom prst="ellipse">
            <a:avLst/>
          </a:prstGeom>
          <a:solidFill>
            <a:schemeClr val="accent2">
              <a:alpha val="45000"/>
            </a:schemeClr>
          </a:solidFill>
          <a:ln w="19050">
            <a:solidFill>
              <a:schemeClr val="accent2"/>
            </a:solidFill>
            <a:prstDash val="solid"/>
          </a:ln>
        </p:spPr>
      </p:sp>
      <p:sp>
        <p:nvSpPr>
          <p:cNvPr id="8" name="Venn ModelSEED"/>
          <p:cNvSpPr/>
          <p:nvPr/>
        </p:nvSpPr>
        <p:spPr>
          <a:xfrm>
            <a:off x="6492240" y="2194560"/>
            <a:ext cx="1737360" cy="1737360"/>
          </a:xfrm>
          <a:prstGeom prst="ellipse">
            <a:avLst/>
          </a:prstGeom>
          <a:solidFill>
            <a:schemeClr val="accent6">
              <a:alpha val="45000"/>
            </a:schemeClr>
          </a:solidFill>
          <a:ln w="19050">
            <a:solidFill>
              <a:schemeClr val="accent6"/>
            </a:solidFill>
            <a:prstDash val="solid"/>
          </a:ln>
        </p:spPr>
      </p:sp>
      <p:sp>
        <p:nvSpPr>
          <p:cNvPr id="9" name="Venn label CarveMe"/>
          <p:cNvSpPr txBox="1"/>
          <p:nvPr/>
        </p:nvSpPr>
        <p:spPr>
          <a:xfrm>
            <a:off x="5806440" y="1783080"/>
            <a:ext cx="1097280" cy="320040"/>
          </a:xfrm>
          <a:prstGeom prst="rect">
            <a:avLst/>
          </a:prstGeom>
          <a:noFill/>
          <a:ln/>
        </p:spPr>
        <p:txBody>
          <a:bodyPr wrap="square" lIns="0" tIns="0" rIns="0" bIns="0" rtlCol="0" anchor="t"/>
          <a:lstStyle/>
          <a:p>
            <a:pPr algn="ctr" indent="0" marL="0">
              <a:buNone/>
            </a:pPr>
            <a:r>
              <a:rPr lang="en-US" sz="1300" b="1" dirty="0">
                <a:solidFill>
                  <a:schemeClr val="tx2"/>
                </a:solidFill>
              </a:rPr>
              <a:t>CarveMe</a:t>
            </a:r>
            <a:endParaRPr lang="en-US" sz="1300" dirty="0"/>
          </a:p>
        </p:txBody>
      </p:sp>
      <p:sp>
        <p:nvSpPr>
          <p:cNvPr id="10" name="Venn label gapseq"/>
          <p:cNvSpPr txBox="1"/>
          <p:nvPr/>
        </p:nvSpPr>
        <p:spPr>
          <a:xfrm>
            <a:off x="7772400" y="1783080"/>
            <a:ext cx="914400" cy="320040"/>
          </a:xfrm>
          <a:prstGeom prst="rect">
            <a:avLst/>
          </a:prstGeom>
          <a:noFill/>
          <a:ln/>
        </p:spPr>
        <p:txBody>
          <a:bodyPr wrap="square" lIns="0" tIns="0" rIns="0" bIns="0" rtlCol="0" anchor="t"/>
          <a:lstStyle/>
          <a:p>
            <a:pPr algn="ctr" indent="0" marL="0">
              <a:buNone/>
            </a:pPr>
            <a:r>
              <a:rPr lang="en-US" sz="1300" b="1" dirty="0">
                <a:solidFill>
                  <a:schemeClr val="tx2"/>
                </a:solidFill>
              </a:rPr>
              <a:t>gapseq</a:t>
            </a:r>
            <a:endParaRPr lang="en-US" sz="1300" dirty="0"/>
          </a:p>
        </p:txBody>
      </p:sp>
      <p:sp>
        <p:nvSpPr>
          <p:cNvPr id="11" name="Venn label ModelSEED"/>
          <p:cNvSpPr txBox="1"/>
          <p:nvPr/>
        </p:nvSpPr>
        <p:spPr>
          <a:xfrm>
            <a:off x="6812280" y="3429000"/>
            <a:ext cx="1097280" cy="320040"/>
          </a:xfrm>
          <a:prstGeom prst="rect">
            <a:avLst/>
          </a:prstGeom>
          <a:noFill/>
          <a:ln/>
        </p:spPr>
        <p:txBody>
          <a:bodyPr wrap="square" lIns="0" tIns="0" rIns="0" bIns="0" rtlCol="0" anchor="t"/>
          <a:lstStyle/>
          <a:p>
            <a:pPr algn="ctr" indent="0" marL="0">
              <a:buNone/>
            </a:pPr>
            <a:r>
              <a:rPr lang="en-US" sz="1300" b="1" dirty="0">
                <a:solidFill>
                  <a:schemeClr val="tx2"/>
                </a:solidFill>
              </a:rPr>
              <a:t>ModelSEED</a:t>
            </a:r>
            <a:endParaRPr lang="en-US" sz="1300" dirty="0"/>
          </a:p>
        </p:txBody>
      </p:sp>
      <p:sp>
        <p:nvSpPr>
          <p:cNvPr id="12" name="Venn core label"/>
          <p:cNvSpPr txBox="1"/>
          <p:nvPr/>
        </p:nvSpPr>
        <p:spPr>
          <a:xfrm>
            <a:off x="6903720" y="2331720"/>
            <a:ext cx="914400" cy="320040"/>
          </a:xfrm>
          <a:prstGeom prst="rect">
            <a:avLst/>
          </a:prstGeom>
          <a:noFill/>
          <a:ln/>
        </p:spPr>
        <p:txBody>
          <a:bodyPr wrap="square" lIns="0" tIns="0" rIns="0" bIns="0" rtlCol="0" anchor="t"/>
          <a:lstStyle/>
          <a:p>
            <a:pPr algn="ctr" indent="0" marL="0">
              <a:buNone/>
            </a:pPr>
            <a:r>
              <a:rPr lang="en-US" sz="1200" b="1" dirty="0">
                <a:solidFill>
                  <a:schemeClr val="tx2"/>
                </a:solidFill>
              </a:rPr>
              <a:t>shared core</a:t>
            </a:r>
            <a:endParaRPr lang="en-US" sz="1200" dirty="0"/>
          </a:p>
        </p:txBody>
      </p:sp>
      <p:sp>
        <p:nvSpPr>
          <p:cNvPr id="13" name="Venn caption"/>
          <p:cNvSpPr txBox="1"/>
          <p:nvPr/>
        </p:nvSpPr>
        <p:spPr>
          <a:xfrm>
            <a:off x="5120640" y="4069080"/>
            <a:ext cx="3566160" cy="411480"/>
          </a:xfrm>
          <a:prstGeom prst="rect">
            <a:avLst/>
          </a:prstGeom>
          <a:noFill/>
          <a:ln/>
        </p:spPr>
        <p:txBody>
          <a:bodyPr wrap="square" lIns="0" tIns="0" rIns="0" bIns="0" rtlCol="0" anchor="t"/>
          <a:lstStyle/>
          <a:p>
            <a:pPr algn="ctr" indent="0" marL="0">
              <a:buNone/>
            </a:pPr>
            <a:r>
              <a:rPr lang="en-US" sz="1100" i="1" dirty="0">
                <a:solidFill>
                  <a:schemeClr val="accent3"/>
                </a:solidFill>
              </a:rPr>
              <a:t>Illustration: reaction sets from different tools overlap only partly.</a:t>
            </a:r>
            <a:endParaRPr lang="en-US" sz="11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400" b="1" dirty="0">
                <a:solidFill>
                  <a:schemeClr val="tx2"/>
                </a:solidFill>
              </a:rPr>
              <a:t>Choosing a pipeline</a:t>
            </a:r>
            <a:endParaRPr lang="en-US" sz="3400" dirty="0"/>
          </a:p>
        </p:txBody>
      </p:sp>
      <p:sp>
        <p:nvSpPr>
          <p:cNvPr id="3" name="Choice card 1"/>
          <p:cNvSpPr/>
          <p:nvPr/>
        </p:nvSpPr>
        <p:spPr>
          <a:xfrm>
            <a:off x="457200" y="1188720"/>
            <a:ext cx="4023360" cy="868680"/>
          </a:xfrm>
          <a:prstGeom prst="roundRect">
            <a:avLst>
              <a:gd name="adj" fmla="val 8421"/>
            </a:avLst>
          </a:prstGeom>
          <a:solidFill>
            <a:schemeClr val="bg2"/>
          </a:solidFill>
          <a:ln/>
        </p:spPr>
      </p:sp>
      <p:sp>
        <p:nvSpPr>
          <p:cNvPr id="4" name="Choice 1 need"/>
          <p:cNvSpPr txBox="1"/>
          <p:nvPr/>
        </p:nvSpPr>
        <p:spPr>
          <a:xfrm>
            <a:off x="640080" y="1252728"/>
            <a:ext cx="2514600" cy="740664"/>
          </a:xfrm>
          <a:prstGeom prst="rect">
            <a:avLst/>
          </a:prstGeom>
          <a:noFill/>
          <a:ln/>
        </p:spPr>
        <p:txBody>
          <a:bodyPr wrap="square" lIns="0" tIns="0" rIns="0" bIns="0" rtlCol="0" anchor="ctr"/>
          <a:lstStyle/>
          <a:p>
            <a:pPr indent="0" marL="0">
              <a:buNone/>
            </a:pPr>
            <a:r>
              <a:rPr lang="en-US" sz="1100" dirty="0">
                <a:solidFill>
                  <a:schemeClr val="accent3"/>
                </a:solidFill>
              </a:rPr>
              <a:t>If you need… </a:t>
            </a:r>
            <a:endParaRPr lang="en-US" sz="1400" dirty="0"/>
          </a:p>
          <a:p>
            <a:pPr indent="0" marL="0">
              <a:buNone/>
            </a:pPr>
            <a:r>
              <a:rPr lang="en-US" sz="1400" dirty="0">
                <a:solidFill>
                  <a:schemeClr val="tx1"/>
                </a:solidFill>
              </a:rPr>
              <a:t>Many bacterial genomes, fast, or a community</a:t>
            </a:r>
            <a:endParaRPr lang="en-US" sz="1400" dirty="0"/>
          </a:p>
        </p:txBody>
      </p:sp>
      <p:sp>
        <p:nvSpPr>
          <p:cNvPr id="5" name="Choice 1 tool"/>
          <p:cNvSpPr txBox="1"/>
          <p:nvPr/>
        </p:nvSpPr>
        <p:spPr>
          <a:xfrm>
            <a:off x="3200400" y="1252728"/>
            <a:ext cx="1188720" cy="740664"/>
          </a:xfrm>
          <a:prstGeom prst="rect">
            <a:avLst/>
          </a:prstGeom>
          <a:noFill/>
          <a:ln/>
        </p:spPr>
        <p:txBody>
          <a:bodyPr wrap="square" lIns="0" tIns="0" rIns="0" bIns="0" rtlCol="0" anchor="ctr"/>
          <a:lstStyle/>
          <a:p>
            <a:pPr indent="0" marL="0">
              <a:buNone/>
            </a:pPr>
            <a:r>
              <a:rPr lang="en-US" sz="1400" b="1" dirty="0">
                <a:solidFill>
                  <a:schemeClr val="accent1"/>
                </a:solidFill>
              </a:rPr>
              <a:t>CarveMe</a:t>
            </a:r>
            <a:endParaRPr lang="en-US" sz="1400" dirty="0"/>
          </a:p>
        </p:txBody>
      </p:sp>
      <p:sp>
        <p:nvSpPr>
          <p:cNvPr id="6" name="Choice card 2"/>
          <p:cNvSpPr/>
          <p:nvPr/>
        </p:nvSpPr>
        <p:spPr>
          <a:xfrm>
            <a:off x="4663440" y="1188720"/>
            <a:ext cx="4023360" cy="868680"/>
          </a:xfrm>
          <a:prstGeom prst="roundRect">
            <a:avLst>
              <a:gd name="adj" fmla="val 8421"/>
            </a:avLst>
          </a:prstGeom>
          <a:solidFill>
            <a:schemeClr val="bg2"/>
          </a:solidFill>
          <a:ln/>
        </p:spPr>
      </p:sp>
      <p:sp>
        <p:nvSpPr>
          <p:cNvPr id="7" name="Choice 2 need"/>
          <p:cNvSpPr txBox="1"/>
          <p:nvPr/>
        </p:nvSpPr>
        <p:spPr>
          <a:xfrm>
            <a:off x="4846320" y="1252728"/>
            <a:ext cx="2514600" cy="740664"/>
          </a:xfrm>
          <a:prstGeom prst="rect">
            <a:avLst/>
          </a:prstGeom>
          <a:noFill/>
          <a:ln/>
        </p:spPr>
        <p:txBody>
          <a:bodyPr wrap="square" lIns="0" tIns="0" rIns="0" bIns="0" rtlCol="0" anchor="ctr"/>
          <a:lstStyle/>
          <a:p>
            <a:pPr indent="0" marL="0">
              <a:buNone/>
            </a:pPr>
            <a:r>
              <a:rPr lang="en-US" sz="1100" dirty="0">
                <a:solidFill>
                  <a:schemeClr val="accent3"/>
                </a:solidFill>
              </a:rPr>
              <a:t>If you need… </a:t>
            </a:r>
            <a:endParaRPr lang="en-US" sz="1400" dirty="0"/>
          </a:p>
          <a:p>
            <a:pPr indent="0" marL="0">
              <a:buNone/>
            </a:pPr>
            <a:r>
              <a:rPr lang="en-US" sz="1400" dirty="0">
                <a:solidFill>
                  <a:schemeClr val="tx1"/>
                </a:solidFill>
              </a:rPr>
              <a:t>A web interface and nothing to install</a:t>
            </a:r>
            <a:endParaRPr lang="en-US" sz="1400" dirty="0"/>
          </a:p>
        </p:txBody>
      </p:sp>
      <p:sp>
        <p:nvSpPr>
          <p:cNvPr id="8" name="Choice 2 tool"/>
          <p:cNvSpPr txBox="1"/>
          <p:nvPr/>
        </p:nvSpPr>
        <p:spPr>
          <a:xfrm>
            <a:off x="7406640" y="1252728"/>
            <a:ext cx="1188720" cy="740664"/>
          </a:xfrm>
          <a:prstGeom prst="rect">
            <a:avLst/>
          </a:prstGeom>
          <a:noFill/>
          <a:ln/>
        </p:spPr>
        <p:txBody>
          <a:bodyPr wrap="square" lIns="0" tIns="0" rIns="0" bIns="0" rtlCol="0" anchor="ctr"/>
          <a:lstStyle/>
          <a:p>
            <a:pPr indent="0" marL="0">
              <a:buNone/>
            </a:pPr>
            <a:r>
              <a:rPr lang="en-US" sz="1400" b="1" dirty="0">
                <a:solidFill>
                  <a:schemeClr val="accent1"/>
                </a:solidFill>
              </a:rPr>
              <a:t>ModelSEED / KBase</a:t>
            </a:r>
            <a:endParaRPr lang="en-US" sz="1400" dirty="0"/>
          </a:p>
        </p:txBody>
      </p:sp>
      <p:sp>
        <p:nvSpPr>
          <p:cNvPr id="9" name="Choice card 3"/>
          <p:cNvSpPr/>
          <p:nvPr/>
        </p:nvSpPr>
        <p:spPr>
          <a:xfrm>
            <a:off x="457200" y="2176272"/>
            <a:ext cx="4023360" cy="868680"/>
          </a:xfrm>
          <a:prstGeom prst="roundRect">
            <a:avLst>
              <a:gd name="adj" fmla="val 8421"/>
            </a:avLst>
          </a:prstGeom>
          <a:solidFill>
            <a:schemeClr val="bg2"/>
          </a:solidFill>
          <a:ln/>
        </p:spPr>
      </p:sp>
      <p:sp>
        <p:nvSpPr>
          <p:cNvPr id="10" name="Choice 3 need"/>
          <p:cNvSpPr txBox="1"/>
          <p:nvPr/>
        </p:nvSpPr>
        <p:spPr>
          <a:xfrm>
            <a:off x="640080" y="2240280"/>
            <a:ext cx="2514600" cy="740664"/>
          </a:xfrm>
          <a:prstGeom prst="rect">
            <a:avLst/>
          </a:prstGeom>
          <a:noFill/>
          <a:ln/>
        </p:spPr>
        <p:txBody>
          <a:bodyPr wrap="square" lIns="0" tIns="0" rIns="0" bIns="0" rtlCol="0" anchor="ctr"/>
          <a:lstStyle/>
          <a:p>
            <a:pPr indent="0" marL="0">
              <a:buNone/>
            </a:pPr>
            <a:r>
              <a:rPr lang="en-US" sz="1100" dirty="0">
                <a:solidFill>
                  <a:schemeClr val="accent3"/>
                </a:solidFill>
              </a:rPr>
              <a:t>If you need… </a:t>
            </a:r>
            <a:endParaRPr lang="en-US" sz="1400" dirty="0"/>
          </a:p>
          <a:p>
            <a:pPr indent="0" marL="0">
              <a:buNone/>
            </a:pPr>
            <a:r>
              <a:rPr lang="en-US" sz="1400" dirty="0">
                <a:solidFill>
                  <a:schemeClr val="tx1"/>
                </a:solidFill>
              </a:rPr>
              <a:t>Phenotypes first: carbon sources, fermentation products</a:t>
            </a:r>
            <a:endParaRPr lang="en-US" sz="1400" dirty="0"/>
          </a:p>
        </p:txBody>
      </p:sp>
      <p:sp>
        <p:nvSpPr>
          <p:cNvPr id="11" name="Choice 3 tool"/>
          <p:cNvSpPr txBox="1"/>
          <p:nvPr/>
        </p:nvSpPr>
        <p:spPr>
          <a:xfrm>
            <a:off x="3200400" y="2240280"/>
            <a:ext cx="1188720" cy="740664"/>
          </a:xfrm>
          <a:prstGeom prst="rect">
            <a:avLst/>
          </a:prstGeom>
          <a:noFill/>
          <a:ln/>
        </p:spPr>
        <p:txBody>
          <a:bodyPr wrap="square" lIns="0" tIns="0" rIns="0" bIns="0" rtlCol="0" anchor="ctr"/>
          <a:lstStyle/>
          <a:p>
            <a:pPr indent="0" marL="0">
              <a:buNone/>
            </a:pPr>
            <a:r>
              <a:rPr lang="en-US" sz="1400" b="1" dirty="0">
                <a:solidFill>
                  <a:schemeClr val="accent1"/>
                </a:solidFill>
              </a:rPr>
              <a:t>gapseq</a:t>
            </a:r>
            <a:endParaRPr lang="en-US" sz="1400" dirty="0"/>
          </a:p>
        </p:txBody>
      </p:sp>
      <p:sp>
        <p:nvSpPr>
          <p:cNvPr id="12" name="Choice card 4"/>
          <p:cNvSpPr/>
          <p:nvPr/>
        </p:nvSpPr>
        <p:spPr>
          <a:xfrm>
            <a:off x="4663440" y="2176272"/>
            <a:ext cx="4023360" cy="868680"/>
          </a:xfrm>
          <a:prstGeom prst="roundRect">
            <a:avLst>
              <a:gd name="adj" fmla="val 8421"/>
            </a:avLst>
          </a:prstGeom>
          <a:solidFill>
            <a:schemeClr val="bg2"/>
          </a:solidFill>
          <a:ln/>
        </p:spPr>
      </p:sp>
      <p:sp>
        <p:nvSpPr>
          <p:cNvPr id="13" name="Choice 4 need"/>
          <p:cNvSpPr txBox="1"/>
          <p:nvPr/>
        </p:nvSpPr>
        <p:spPr>
          <a:xfrm>
            <a:off x="4846320" y="2240280"/>
            <a:ext cx="2514600" cy="740664"/>
          </a:xfrm>
          <a:prstGeom prst="rect">
            <a:avLst/>
          </a:prstGeom>
          <a:noFill/>
          <a:ln/>
        </p:spPr>
        <p:txBody>
          <a:bodyPr wrap="square" lIns="0" tIns="0" rIns="0" bIns="0" rtlCol="0" anchor="ctr"/>
          <a:lstStyle/>
          <a:p>
            <a:pPr indent="0" marL="0">
              <a:buNone/>
            </a:pPr>
            <a:r>
              <a:rPr lang="en-US" sz="1100" dirty="0">
                <a:solidFill>
                  <a:schemeClr val="accent3"/>
                </a:solidFill>
              </a:rPr>
              <a:t>If you need… </a:t>
            </a:r>
            <a:endParaRPr lang="en-US" sz="1400" dirty="0"/>
          </a:p>
          <a:p>
            <a:pPr indent="0" marL="0">
              <a:buNone/>
            </a:pPr>
            <a:r>
              <a:rPr lang="en-US" sz="1400" dirty="0">
                <a:solidFill>
                  <a:schemeClr val="tx1"/>
                </a:solidFill>
              </a:rPr>
              <a:t>A eukaryote, or a distant organism with a good template (and a GPU)</a:t>
            </a:r>
            <a:endParaRPr lang="en-US" sz="1400" dirty="0"/>
          </a:p>
        </p:txBody>
      </p:sp>
      <p:sp>
        <p:nvSpPr>
          <p:cNvPr id="14" name="Choice 4 tool"/>
          <p:cNvSpPr txBox="1"/>
          <p:nvPr/>
        </p:nvSpPr>
        <p:spPr>
          <a:xfrm>
            <a:off x="7406640" y="2240280"/>
            <a:ext cx="1188720" cy="740664"/>
          </a:xfrm>
          <a:prstGeom prst="rect">
            <a:avLst/>
          </a:prstGeom>
          <a:noFill/>
          <a:ln/>
        </p:spPr>
        <p:txBody>
          <a:bodyPr wrap="square" lIns="0" tIns="0" rIns="0" bIns="0" rtlCol="0" anchor="ctr"/>
          <a:lstStyle/>
          <a:p>
            <a:pPr indent="0" marL="0">
              <a:buNone/>
            </a:pPr>
            <a:r>
              <a:rPr lang="en-US" sz="1400" b="1" dirty="0">
                <a:solidFill>
                  <a:schemeClr val="accent1"/>
                </a:solidFill>
              </a:rPr>
              <a:t>AlphaGEM, or RAVEN</a:t>
            </a:r>
            <a:endParaRPr lang="en-US" sz="1400" dirty="0"/>
          </a:p>
        </p:txBody>
      </p:sp>
      <p:sp>
        <p:nvSpPr>
          <p:cNvPr id="15" name="Choice card 5"/>
          <p:cNvSpPr/>
          <p:nvPr/>
        </p:nvSpPr>
        <p:spPr>
          <a:xfrm>
            <a:off x="457200" y="3163824"/>
            <a:ext cx="4023360" cy="868680"/>
          </a:xfrm>
          <a:prstGeom prst="roundRect">
            <a:avLst>
              <a:gd name="adj" fmla="val 8421"/>
            </a:avLst>
          </a:prstGeom>
          <a:solidFill>
            <a:schemeClr val="bg2"/>
          </a:solidFill>
          <a:ln/>
        </p:spPr>
      </p:sp>
      <p:sp>
        <p:nvSpPr>
          <p:cNvPr id="16" name="Choice 5 need"/>
          <p:cNvSpPr txBox="1"/>
          <p:nvPr/>
        </p:nvSpPr>
        <p:spPr>
          <a:xfrm>
            <a:off x="640080" y="3227832"/>
            <a:ext cx="2514600" cy="740664"/>
          </a:xfrm>
          <a:prstGeom prst="rect">
            <a:avLst/>
          </a:prstGeom>
          <a:noFill/>
          <a:ln/>
        </p:spPr>
        <p:txBody>
          <a:bodyPr wrap="square" lIns="0" tIns="0" rIns="0" bIns="0" rtlCol="0" anchor="ctr"/>
          <a:lstStyle/>
          <a:p>
            <a:pPr indent="0" marL="0">
              <a:buNone/>
            </a:pPr>
            <a:r>
              <a:rPr lang="en-US" sz="1100" dirty="0">
                <a:solidFill>
                  <a:schemeClr val="accent3"/>
                </a:solidFill>
              </a:rPr>
              <a:t>If you need… </a:t>
            </a:r>
            <a:endParaRPr lang="en-US" sz="1400" dirty="0"/>
          </a:p>
          <a:p>
            <a:pPr indent="0" marL="0">
              <a:buNone/>
            </a:pPr>
            <a:r>
              <a:rPr lang="en-US" sz="1400" dirty="0">
                <a:solidFill>
                  <a:schemeClr val="tx1"/>
                </a:solidFill>
              </a:rPr>
              <a:t>One organism, built carefully, with your own lab data</a:t>
            </a:r>
            <a:endParaRPr lang="en-US" sz="1400" dirty="0"/>
          </a:p>
        </p:txBody>
      </p:sp>
      <p:sp>
        <p:nvSpPr>
          <p:cNvPr id="17" name="Choice 5 tool"/>
          <p:cNvSpPr txBox="1"/>
          <p:nvPr/>
        </p:nvSpPr>
        <p:spPr>
          <a:xfrm>
            <a:off x="3200400" y="3227832"/>
            <a:ext cx="1188720" cy="740664"/>
          </a:xfrm>
          <a:prstGeom prst="rect">
            <a:avLst/>
          </a:prstGeom>
          <a:noFill/>
          <a:ln/>
        </p:spPr>
        <p:txBody>
          <a:bodyPr wrap="square" lIns="0" tIns="0" rIns="0" bIns="0" rtlCol="0" anchor="ctr"/>
          <a:lstStyle/>
          <a:p>
            <a:pPr indent="0" marL="0">
              <a:buNone/>
            </a:pPr>
            <a:r>
              <a:rPr lang="en-US" sz="1400" b="1" dirty="0">
                <a:solidFill>
                  <a:schemeClr val="accent1"/>
                </a:solidFill>
              </a:rPr>
              <a:t>merlin + manual curation</a:t>
            </a:r>
            <a:endParaRPr lang="en-US" sz="1400" dirty="0"/>
          </a:p>
        </p:txBody>
      </p:sp>
      <p:sp>
        <p:nvSpPr>
          <p:cNvPr id="18" name="Choice card 6"/>
          <p:cNvSpPr/>
          <p:nvPr/>
        </p:nvSpPr>
        <p:spPr>
          <a:xfrm>
            <a:off x="4663440" y="3163824"/>
            <a:ext cx="4023360" cy="868680"/>
          </a:xfrm>
          <a:prstGeom prst="roundRect">
            <a:avLst>
              <a:gd name="adj" fmla="val 8421"/>
            </a:avLst>
          </a:prstGeom>
          <a:solidFill>
            <a:schemeClr val="bg2"/>
          </a:solidFill>
          <a:ln/>
        </p:spPr>
      </p:sp>
      <p:sp>
        <p:nvSpPr>
          <p:cNvPr id="19" name="Choice 6 need"/>
          <p:cNvSpPr txBox="1"/>
          <p:nvPr/>
        </p:nvSpPr>
        <p:spPr>
          <a:xfrm>
            <a:off x="4846320" y="3227832"/>
            <a:ext cx="2514600" cy="740664"/>
          </a:xfrm>
          <a:prstGeom prst="rect">
            <a:avLst/>
          </a:prstGeom>
          <a:noFill/>
          <a:ln/>
        </p:spPr>
        <p:txBody>
          <a:bodyPr wrap="square" lIns="0" tIns="0" rIns="0" bIns="0" rtlCol="0" anchor="ctr"/>
          <a:lstStyle/>
          <a:p>
            <a:pPr indent="0" marL="0">
              <a:buNone/>
            </a:pPr>
            <a:r>
              <a:rPr lang="en-US" sz="1100" dirty="0">
                <a:solidFill>
                  <a:schemeClr val="accent3"/>
                </a:solidFill>
              </a:rPr>
              <a:t>If you need… </a:t>
            </a:r>
            <a:endParaRPr lang="en-US" sz="1400" dirty="0"/>
          </a:p>
          <a:p>
            <a:pPr indent="0" marL="0">
              <a:buNone/>
            </a:pPr>
            <a:r>
              <a:rPr lang="en-US" sz="1400" dirty="0">
                <a:solidFill>
                  <a:schemeClr val="tx1"/>
                </a:solidFill>
              </a:rPr>
              <a:t>Human gut microbes</a:t>
            </a:r>
            <a:endParaRPr lang="en-US" sz="1400" dirty="0"/>
          </a:p>
        </p:txBody>
      </p:sp>
      <p:sp>
        <p:nvSpPr>
          <p:cNvPr id="20" name="Choice 6 tool"/>
          <p:cNvSpPr txBox="1"/>
          <p:nvPr/>
        </p:nvSpPr>
        <p:spPr>
          <a:xfrm>
            <a:off x="7406640" y="3227832"/>
            <a:ext cx="1188720" cy="740664"/>
          </a:xfrm>
          <a:prstGeom prst="rect">
            <a:avLst/>
          </a:prstGeom>
          <a:noFill/>
          <a:ln/>
        </p:spPr>
        <p:txBody>
          <a:bodyPr wrap="square" lIns="0" tIns="0" rIns="0" bIns="0" rtlCol="0" anchor="ctr"/>
          <a:lstStyle/>
          <a:p>
            <a:pPr indent="0" marL="0">
              <a:buNone/>
            </a:pPr>
            <a:r>
              <a:rPr lang="en-US" sz="1400" b="1" dirty="0">
                <a:solidFill>
                  <a:schemeClr val="accent1"/>
                </a:solidFill>
              </a:rPr>
              <a:t>start from AGORA2</a:t>
            </a:r>
            <a:endParaRPr lang="en-US" sz="1400" dirty="0"/>
          </a:p>
        </p:txBody>
      </p:sp>
      <p:sp>
        <p:nvSpPr>
          <p:cNvPr id="21" name="Choice footer"/>
          <p:cNvSpPr txBox="1"/>
          <p:nvPr/>
        </p:nvSpPr>
        <p:spPr>
          <a:xfrm>
            <a:off x="457200" y="4160520"/>
            <a:ext cx="8229600" cy="320040"/>
          </a:xfrm>
          <a:prstGeom prst="rect">
            <a:avLst/>
          </a:prstGeom>
          <a:noFill/>
          <a:ln/>
        </p:spPr>
        <p:txBody>
          <a:bodyPr wrap="square" lIns="0" tIns="0" rIns="0" bIns="0" rtlCol="0" anchor="ctr"/>
          <a:lstStyle/>
          <a:p>
            <a:pPr indent="0" marL="0">
              <a:buNone/>
            </a:pPr>
            <a:r>
              <a:rPr lang="en-US" sz="1400" b="1" dirty="0">
                <a:solidFill>
                  <a:schemeClr val="tx2"/>
                </a:solidFill>
              </a:rPr>
              <a:t>Whatever you choose: </a:t>
            </a:r>
            <a:pPr indent="0" marL="0">
              <a:buNone/>
            </a:pPr>
            <a:r>
              <a:rPr lang="en-US" sz="1400" dirty="0">
                <a:solidFill>
                  <a:schemeClr val="tx1"/>
                </a:solidFill>
              </a:rPr>
              <a:t>curate, test for free ATP, run MEMOTE, and validate against data.</a:t>
            </a:r>
            <a:endParaRPr lang="en-US" sz="14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400" b="1" dirty="0">
                <a:solidFill>
                  <a:schemeClr val="tx2"/>
                </a:solidFill>
              </a:rPr>
              <a:t>Manual or automated?</a:t>
            </a:r>
            <a:endParaRPr lang="en-US" sz="3400" dirty="0"/>
          </a:p>
        </p:txBody>
      </p:sp>
      <p:graphicFrame>
        <p:nvGraphicFramePr>
          <p:cNvPr id="32" name="Manual vs automated tabl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828800"/>
                <a:gridCol w="3200400"/>
                <a:gridCol w="3200400"/>
              </a:tblGrid>
              <a:tr h="411480">
                <a:tc>
                  <a:txBody>
                    <a:bodyPr/>
                    <a:lstStyle/>
                    <a:p>
                      <a:pPr indent="0" marL="0">
                        <a:buNone/>
                      </a:pPr>
                      <a:endParaRPr lang="en-US" sz="1400" dirty="0"/>
                    </a:p>
                  </a:txBody>
                  <a:tcPr marL="91440" marR="91440" marT="45720" marB="45720"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Manual curation</a:t>
                      </a:r>
                      <a:endParaRPr lang="en-US" sz="1400" dirty="0"/>
                    </a:p>
                  </a:txBody>
                  <a:tcPr marL="91440" marR="91440" marT="45720" marB="45720"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Automated pipeline</a:t>
                      </a:r>
                      <a:endParaRPr lang="en-US" sz="1400" dirty="0"/>
                    </a:p>
                  </a:txBody>
                  <a:tcPr marL="91440" marR="91440" marT="45720" marB="45720"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tx2"/>
                    </a:solidFill>
                  </a:tcPr>
                </a:tc>
              </a:tr>
              <a:tr h="411480">
                <a:tc>
                  <a:txBody>
                    <a:bodyPr/>
                    <a:lstStyle/>
                    <a:p>
                      <a:pPr indent="0" marL="0">
                        <a:buNone/>
                      </a:pPr>
                      <a:r>
                        <a:rPr lang="en-US" sz="1400" b="1" dirty="0">
                          <a:solidFill>
                            <a:schemeClr val="tx2"/>
                          </a:solidFill>
                        </a:rPr>
                        <a:t>Time</a:t>
                      </a:r>
                      <a:endParaRPr lang="en-US" sz="1400" dirty="0"/>
                    </a:p>
                  </a:txBody>
                  <a:tcPr marL="91440" marR="91440" marT="45720" marB="45720"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indent="0" marL="0">
                        <a:buNone/>
                      </a:pPr>
                      <a:r>
                        <a:rPr lang="en-US" sz="1400" dirty="0">
                          <a:solidFill>
                            <a:srgbClr val="000000"/>
                          </a:solidFill>
                        </a:rPr>
                        <a:t>months to years</a:t>
                      </a:r>
                      <a:endParaRPr lang="en-US" sz="1400" dirty="0"/>
                    </a:p>
                  </a:txBody>
                  <a:tcPr marL="91440" marR="91440" marT="45720" marB="45720"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indent="0" marL="0">
                        <a:buNone/>
                      </a:pPr>
                      <a:r>
                        <a:rPr lang="en-US" sz="1400" dirty="0">
                          <a:solidFill>
                            <a:srgbClr val="000000"/>
                          </a:solidFill>
                        </a:rPr>
                        <a:t>minutes to hours</a:t>
                      </a:r>
                      <a:endParaRPr lang="en-US" sz="1400" dirty="0"/>
                    </a:p>
                  </a:txBody>
                  <a:tcPr marL="91440" marR="91440" marT="45720" marB="45720"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r>
              <a:tr h="411480">
                <a:tc>
                  <a:txBody>
                    <a:bodyPr/>
                    <a:lstStyle/>
                    <a:p>
                      <a:pPr indent="0" marL="0">
                        <a:buNone/>
                      </a:pPr>
                      <a:r>
                        <a:rPr lang="en-US" sz="1400" b="1" dirty="0">
                          <a:solidFill>
                            <a:schemeClr val="tx2"/>
                          </a:solidFill>
                        </a:rPr>
                        <a:t>Knowledge used</a:t>
                      </a:r>
                      <a:endParaRPr lang="en-US" sz="1400" dirty="0"/>
                    </a:p>
                  </a:txBody>
                  <a:tcPr marL="91440" marR="91440" marT="45720" marB="45720"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indent="0" marL="0">
                        <a:buNone/>
                      </a:pPr>
                      <a:r>
                        <a:rPr lang="en-US" sz="1400" dirty="0">
                          <a:solidFill>
                            <a:srgbClr val="000000"/>
                          </a:solidFill>
                        </a:rPr>
                        <a:t>literature, lab data, experts</a:t>
                      </a:r>
                      <a:endParaRPr lang="en-US" sz="1400" dirty="0"/>
                    </a:p>
                  </a:txBody>
                  <a:tcPr marL="91440" marR="91440" marT="45720" marB="45720"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indent="0" marL="0">
                        <a:buNone/>
                      </a:pPr>
                      <a:r>
                        <a:rPr lang="en-US" sz="1400" dirty="0">
                          <a:solidFill>
                            <a:srgbClr val="000000"/>
                          </a:solidFill>
                        </a:rPr>
                        <a:t>databases and templates</a:t>
                      </a:r>
                      <a:endParaRPr lang="en-US" sz="1400" dirty="0"/>
                    </a:p>
                  </a:txBody>
                  <a:tcPr marL="91440" marR="91440" marT="45720" marB="45720"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r>
              <a:tr h="411480">
                <a:tc>
                  <a:txBody>
                    <a:bodyPr/>
                    <a:lstStyle/>
                    <a:p>
                      <a:pPr indent="0" marL="0">
                        <a:buNone/>
                      </a:pPr>
                      <a:r>
                        <a:rPr lang="en-US" sz="1400" b="1" dirty="0">
                          <a:solidFill>
                            <a:schemeClr val="tx2"/>
                          </a:solidFill>
                        </a:rPr>
                        <a:t>Typical errors</a:t>
                      </a:r>
                      <a:endParaRPr lang="en-US" sz="1400" dirty="0"/>
                    </a:p>
                  </a:txBody>
                  <a:tcPr marL="91440" marR="91440" marT="45720" marB="45720"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indent="0" marL="0">
                        <a:buNone/>
                      </a:pPr>
                      <a:r>
                        <a:rPr lang="en-US" sz="1400" dirty="0">
                          <a:solidFill>
                            <a:srgbClr val="000000"/>
                          </a:solidFill>
                        </a:rPr>
                        <a:t>specific to the curator</a:t>
                      </a:r>
                      <a:endParaRPr lang="en-US" sz="1400" dirty="0"/>
                    </a:p>
                  </a:txBody>
                  <a:tcPr marL="91440" marR="91440" marT="45720" marB="45720"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indent="0" marL="0">
                        <a:buNone/>
                      </a:pPr>
                      <a:r>
                        <a:rPr lang="en-US" sz="1400" dirty="0">
                          <a:solidFill>
                            <a:srgbClr val="000000"/>
                          </a:solidFill>
                        </a:rPr>
                        <a:t>systematic, repeated across models</a:t>
                      </a:r>
                      <a:endParaRPr lang="en-US" sz="1400" dirty="0"/>
                    </a:p>
                  </a:txBody>
                  <a:tcPr marL="91440" marR="91440" marT="45720" marB="45720"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r>
              <a:tr h="411480">
                <a:tc>
                  <a:txBody>
                    <a:bodyPr/>
                    <a:lstStyle/>
                    <a:p>
                      <a:pPr indent="0" marL="0">
                        <a:buNone/>
                      </a:pPr>
                      <a:r>
                        <a:rPr lang="en-US" sz="1400" b="1" dirty="0">
                          <a:solidFill>
                            <a:schemeClr val="tx2"/>
                          </a:solidFill>
                        </a:rPr>
                        <a:t>Reproducibility</a:t>
                      </a:r>
                      <a:endParaRPr lang="en-US" sz="1400" dirty="0"/>
                    </a:p>
                  </a:txBody>
                  <a:tcPr marL="91440" marR="91440" marT="45720" marB="45720"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indent="0" marL="0">
                        <a:buNone/>
                      </a:pPr>
                      <a:r>
                        <a:rPr lang="en-US" sz="1400" dirty="0">
                          <a:solidFill>
                            <a:srgbClr val="000000"/>
                          </a:solidFill>
                        </a:rPr>
                        <a:t>hard to repeat exactly</a:t>
                      </a:r>
                      <a:endParaRPr lang="en-US" sz="1400" dirty="0"/>
                    </a:p>
                  </a:txBody>
                  <a:tcPr marL="91440" marR="91440" marT="45720" marB="45720"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indent="0" marL="0">
                        <a:buNone/>
                      </a:pPr>
                      <a:r>
                        <a:rPr lang="en-US" sz="1400" dirty="0">
                          <a:solidFill>
                            <a:srgbClr val="000000"/>
                          </a:solidFill>
                        </a:rPr>
                        <a:t>one command, same result</a:t>
                      </a:r>
                      <a:endParaRPr lang="en-US" sz="1400" dirty="0"/>
                    </a:p>
                  </a:txBody>
                  <a:tcPr marL="91440" marR="91440" marT="45720" marB="45720"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r>
              <a:tr h="411480">
                <a:tc>
                  <a:txBody>
                    <a:bodyPr/>
                    <a:lstStyle/>
                    <a:p>
                      <a:pPr indent="0" marL="0">
                        <a:buNone/>
                      </a:pPr>
                      <a:r>
                        <a:rPr lang="en-US" sz="1400" b="1" dirty="0">
                          <a:solidFill>
                            <a:schemeClr val="tx2"/>
                          </a:solidFill>
                        </a:rPr>
                        <a:t>Best for</a:t>
                      </a:r>
                      <a:endParaRPr lang="en-US" sz="1400" dirty="0"/>
                    </a:p>
                  </a:txBody>
                  <a:tcPr marL="91440" marR="91440" marT="45720" marB="45720"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indent="0" marL="0">
                        <a:buNone/>
                      </a:pPr>
                      <a:r>
                        <a:rPr lang="en-US" sz="1400" dirty="0">
                          <a:solidFill>
                            <a:srgbClr val="000000"/>
                          </a:solidFill>
                        </a:rPr>
                        <a:t>a reference model used for years</a:t>
                      </a:r>
                      <a:endParaRPr lang="en-US" sz="1400" dirty="0"/>
                    </a:p>
                  </a:txBody>
                  <a:tcPr marL="91440" marR="91440" marT="45720" marB="45720"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indent="0" marL="0">
                        <a:buNone/>
                      </a:pPr>
                      <a:r>
                        <a:rPr lang="en-US" sz="1400" dirty="0">
                          <a:solidFill>
                            <a:srgbClr val="000000"/>
                          </a:solidFill>
                        </a:rPr>
                        <a:t>drafts, many genomes, comparisons</a:t>
                      </a:r>
                      <a:endParaRPr lang="en-US" sz="1400" dirty="0"/>
                    </a:p>
                  </a:txBody>
                  <a:tcPr marL="91440" marR="91440" marT="45720" marB="45720"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r>
            </a:tbl>
          </a:graphicData>
        </a:graphic>
      </p:graphicFrame>
      <p:sp>
        <p:nvSpPr>
          <p:cNvPr id="4" name="Manual vs automated message card"/>
          <p:cNvSpPr/>
          <p:nvPr/>
        </p:nvSpPr>
        <p:spPr>
          <a:xfrm>
            <a:off x="457200" y="3840480"/>
            <a:ext cx="8229600" cy="640080"/>
          </a:xfrm>
          <a:prstGeom prst="roundRect">
            <a:avLst>
              <a:gd name="adj" fmla="val 11429"/>
            </a:avLst>
          </a:prstGeom>
          <a:solidFill>
            <a:schemeClr val="tx2"/>
          </a:solidFill>
          <a:ln/>
        </p:spPr>
      </p:sp>
      <p:sp>
        <p:nvSpPr>
          <p:cNvPr id="5" name="Manual vs automated message"/>
          <p:cNvSpPr txBox="1"/>
          <p:nvPr/>
        </p:nvSpPr>
        <p:spPr>
          <a:xfrm>
            <a:off x="457200" y="3840480"/>
            <a:ext cx="8229600" cy="640080"/>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Automate the draft. Curate the model.</a:t>
            </a:r>
            <a:endParaRPr lang="en-US" sz="20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400" b="1" dirty="0">
                <a:solidFill>
                  <a:schemeClr val="tx2"/>
                </a:solidFill>
              </a:rPr>
              <a:t>Next: ModelSEED on three bacteria</a:t>
            </a:r>
            <a:endParaRPr lang="en-US" sz="3400" dirty="0"/>
          </a:p>
        </p:txBody>
      </p:sp>
      <p:sp>
        <p:nvSpPr>
          <p:cNvPr id="3" name="Afternoon 1 time"/>
          <p:cNvSpPr txBox="1"/>
          <p:nvPr/>
        </p:nvSpPr>
        <p:spPr>
          <a:xfrm>
            <a:off x="457200" y="1280160"/>
            <a:ext cx="731520" cy="502920"/>
          </a:xfrm>
          <a:prstGeom prst="rect">
            <a:avLst/>
          </a:prstGeom>
          <a:noFill/>
          <a:ln/>
        </p:spPr>
        <p:txBody>
          <a:bodyPr wrap="square" lIns="0" tIns="0" rIns="0" bIns="0" rtlCol="0" anchor="ctr"/>
          <a:lstStyle/>
          <a:p>
            <a:pPr algn="r" indent="0" marL="0">
              <a:buNone/>
            </a:pPr>
            <a:r>
              <a:rPr lang="en-US" sz="1500" b="1" dirty="0">
                <a:solidFill>
                  <a:schemeClr val="accent1"/>
                </a:solidFill>
              </a:rPr>
              <a:t>14:00</a:t>
            </a:r>
            <a:endParaRPr lang="en-US" sz="1500" dirty="0"/>
          </a:p>
        </p:txBody>
      </p:sp>
      <p:sp>
        <p:nvSpPr>
          <p:cNvPr id="4" name="Afternoon link 1"/>
          <p:cNvSpPr/>
          <p:nvPr/>
        </p:nvSpPr>
        <p:spPr>
          <a:xfrm>
            <a:off x="1581912" y="1828800"/>
            <a:ext cx="0" cy="411480"/>
          </a:xfrm>
          <a:prstGeom prst="line">
            <a:avLst/>
          </a:prstGeom>
          <a:noFill/>
          <a:ln w="19050">
            <a:solidFill>
              <a:schemeClr val="accent4"/>
            </a:solidFill>
            <a:prstDash val="solid"/>
          </a:ln>
        </p:spPr>
      </p:sp>
      <p:sp>
        <p:nvSpPr>
          <p:cNvPr id="5" name="Afternoon 1 node"/>
          <p:cNvSpPr/>
          <p:nvPr/>
        </p:nvSpPr>
        <p:spPr>
          <a:xfrm>
            <a:off x="1353312" y="1298448"/>
            <a:ext cx="457200" cy="457200"/>
          </a:xfrm>
          <a:prstGeom prst="ellipse">
            <a:avLst/>
          </a:prstGeom>
          <a:solidFill>
            <a:schemeClr val="accent1"/>
          </a:solidFill>
          <a:ln/>
        </p:spPr>
      </p:sp>
      <p:pic>
        <p:nvPicPr>
          <p:cNvPr id="6" name="Afternoon 1 icon" descr="preencoded.png">    </p:cNvPr>
          <p:cNvPicPr>
            <a:picLocks noChangeAspect="1"/>
          </p:cNvPicPr>
          <p:nvPr/>
        </p:nvPicPr>
        <p:blipFill>
          <a:blip r:embed="rId1"/>
          <a:stretch>
            <a:fillRect/>
          </a:stretch>
        </p:blipFill>
        <p:spPr>
          <a:xfrm>
            <a:off x="1467612" y="1412748"/>
            <a:ext cx="228600" cy="228600"/>
          </a:xfrm>
          <a:prstGeom prst="rect">
            <a:avLst/>
          </a:prstGeom>
        </p:spPr>
      </p:pic>
      <p:sp>
        <p:nvSpPr>
          <p:cNvPr id="7" name="Afternoon 1 text"/>
          <p:cNvSpPr txBox="1"/>
          <p:nvPr/>
        </p:nvSpPr>
        <p:spPr>
          <a:xfrm>
            <a:off x="1965960" y="1280160"/>
            <a:ext cx="2697480" cy="822960"/>
          </a:xfrm>
          <a:prstGeom prst="rect">
            <a:avLst/>
          </a:prstGeom>
          <a:noFill/>
          <a:ln/>
        </p:spPr>
        <p:txBody>
          <a:bodyPr wrap="square" lIns="0" tIns="0" rIns="0" bIns="0" rtlCol="0" anchor="t"/>
          <a:lstStyle/>
          <a:p>
            <a:pPr indent="0" marL="0">
              <a:buNone/>
            </a:pPr>
            <a:r>
              <a:rPr lang="en-US" sz="1400" dirty="0">
                <a:solidFill>
                  <a:schemeClr val="tx1"/>
                </a:solidFill>
              </a:rPr>
              <a:t>Build models of three bacteria with ModelSEED in KBase; compare them with curated BiGG models</a:t>
            </a:r>
            <a:endParaRPr lang="en-US" sz="1400" dirty="0"/>
          </a:p>
        </p:txBody>
      </p:sp>
      <p:sp>
        <p:nvSpPr>
          <p:cNvPr id="8" name="Afternoon 2 time"/>
          <p:cNvSpPr txBox="1"/>
          <p:nvPr/>
        </p:nvSpPr>
        <p:spPr>
          <a:xfrm>
            <a:off x="457200" y="2286000"/>
            <a:ext cx="731520" cy="502920"/>
          </a:xfrm>
          <a:prstGeom prst="rect">
            <a:avLst/>
          </a:prstGeom>
          <a:noFill/>
          <a:ln/>
        </p:spPr>
        <p:txBody>
          <a:bodyPr wrap="square" lIns="0" tIns="0" rIns="0" bIns="0" rtlCol="0" anchor="ctr"/>
          <a:lstStyle/>
          <a:p>
            <a:pPr algn="r" indent="0" marL="0">
              <a:buNone/>
            </a:pPr>
            <a:r>
              <a:rPr lang="en-US" sz="1500" b="1" dirty="0">
                <a:solidFill>
                  <a:schemeClr val="accent1"/>
                </a:solidFill>
              </a:rPr>
              <a:t>15:30</a:t>
            </a:r>
            <a:endParaRPr lang="en-US" sz="1500" dirty="0"/>
          </a:p>
        </p:txBody>
      </p:sp>
      <p:sp>
        <p:nvSpPr>
          <p:cNvPr id="9" name="Afternoon link 2"/>
          <p:cNvSpPr/>
          <p:nvPr/>
        </p:nvSpPr>
        <p:spPr>
          <a:xfrm>
            <a:off x="1581912" y="2834640"/>
            <a:ext cx="0" cy="411480"/>
          </a:xfrm>
          <a:prstGeom prst="line">
            <a:avLst/>
          </a:prstGeom>
          <a:noFill/>
          <a:ln w="19050">
            <a:solidFill>
              <a:schemeClr val="accent4"/>
            </a:solidFill>
            <a:prstDash val="solid"/>
          </a:ln>
        </p:spPr>
      </p:sp>
      <p:sp>
        <p:nvSpPr>
          <p:cNvPr id="10" name="Afternoon 2 node"/>
          <p:cNvSpPr/>
          <p:nvPr/>
        </p:nvSpPr>
        <p:spPr>
          <a:xfrm>
            <a:off x="1353312" y="2304288"/>
            <a:ext cx="457200" cy="457200"/>
          </a:xfrm>
          <a:prstGeom prst="ellipse">
            <a:avLst/>
          </a:prstGeom>
          <a:solidFill>
            <a:schemeClr val="accent1"/>
          </a:solidFill>
          <a:ln/>
        </p:spPr>
      </p:sp>
      <p:pic>
        <p:nvPicPr>
          <p:cNvPr id="11" name="Afternoon 2 icon" descr="preencoded.png">    </p:cNvPr>
          <p:cNvPicPr>
            <a:picLocks noChangeAspect="1"/>
          </p:cNvPicPr>
          <p:nvPr/>
        </p:nvPicPr>
        <p:blipFill>
          <a:blip r:embed="rId2"/>
          <a:stretch>
            <a:fillRect/>
          </a:stretch>
        </p:blipFill>
        <p:spPr>
          <a:xfrm>
            <a:off x="1467612" y="2418588"/>
            <a:ext cx="228600" cy="228600"/>
          </a:xfrm>
          <a:prstGeom prst="rect">
            <a:avLst/>
          </a:prstGeom>
        </p:spPr>
      </p:pic>
      <p:sp>
        <p:nvSpPr>
          <p:cNvPr id="12" name="Afternoon 2 text"/>
          <p:cNvSpPr txBox="1"/>
          <p:nvPr/>
        </p:nvSpPr>
        <p:spPr>
          <a:xfrm>
            <a:off x="1965960" y="2286000"/>
            <a:ext cx="2697480" cy="822960"/>
          </a:xfrm>
          <a:prstGeom prst="rect">
            <a:avLst/>
          </a:prstGeom>
          <a:noFill/>
          <a:ln/>
        </p:spPr>
        <p:txBody>
          <a:bodyPr wrap="square" lIns="0" tIns="0" rIns="0" bIns="0" rtlCol="0" anchor="t"/>
          <a:lstStyle/>
          <a:p>
            <a:pPr indent="0" marL="0">
              <a:buNone/>
            </a:pPr>
            <a:r>
              <a:rPr lang="en-US" sz="1400" dirty="0">
                <a:solidFill>
                  <a:schemeClr val="tx1"/>
                </a:solidFill>
              </a:rPr>
              <a:t>Discussion: how far can we trust them? (MEMOTE)</a:t>
            </a:r>
            <a:endParaRPr lang="en-US" sz="1400" dirty="0"/>
          </a:p>
        </p:txBody>
      </p:sp>
      <p:sp>
        <p:nvSpPr>
          <p:cNvPr id="13" name="Afternoon 3 time"/>
          <p:cNvSpPr txBox="1"/>
          <p:nvPr/>
        </p:nvSpPr>
        <p:spPr>
          <a:xfrm>
            <a:off x="457200" y="3291840"/>
            <a:ext cx="731520" cy="502920"/>
          </a:xfrm>
          <a:prstGeom prst="rect">
            <a:avLst/>
          </a:prstGeom>
          <a:noFill/>
          <a:ln/>
        </p:spPr>
        <p:txBody>
          <a:bodyPr wrap="square" lIns="0" tIns="0" rIns="0" bIns="0" rtlCol="0" anchor="ctr"/>
          <a:lstStyle/>
          <a:p>
            <a:pPr algn="r" indent="0" marL="0">
              <a:buNone/>
            </a:pPr>
            <a:r>
              <a:rPr lang="en-US" sz="1500" b="1" dirty="0">
                <a:solidFill>
                  <a:schemeClr val="accent1"/>
                </a:solidFill>
              </a:rPr>
              <a:t>16:00</a:t>
            </a:r>
            <a:endParaRPr lang="en-US" sz="1500" dirty="0"/>
          </a:p>
        </p:txBody>
      </p:sp>
      <p:sp>
        <p:nvSpPr>
          <p:cNvPr id="14" name="Afternoon 3 node"/>
          <p:cNvSpPr/>
          <p:nvPr/>
        </p:nvSpPr>
        <p:spPr>
          <a:xfrm>
            <a:off x="1353312" y="3310128"/>
            <a:ext cx="457200" cy="457200"/>
          </a:xfrm>
          <a:prstGeom prst="ellipse">
            <a:avLst/>
          </a:prstGeom>
          <a:solidFill>
            <a:schemeClr val="accent1"/>
          </a:solidFill>
          <a:ln/>
        </p:spPr>
      </p:sp>
      <p:pic>
        <p:nvPicPr>
          <p:cNvPr id="15" name="Afternoon 3 icon" descr="preencoded.png">    </p:cNvPr>
          <p:cNvPicPr>
            <a:picLocks noChangeAspect="1"/>
          </p:cNvPicPr>
          <p:nvPr/>
        </p:nvPicPr>
        <p:blipFill>
          <a:blip r:embed="rId3"/>
          <a:stretch>
            <a:fillRect/>
          </a:stretch>
        </p:blipFill>
        <p:spPr>
          <a:xfrm>
            <a:off x="1467612" y="3424428"/>
            <a:ext cx="228600" cy="228600"/>
          </a:xfrm>
          <a:prstGeom prst="rect">
            <a:avLst/>
          </a:prstGeom>
        </p:spPr>
      </p:pic>
      <p:sp>
        <p:nvSpPr>
          <p:cNvPr id="16" name="Afternoon 3 text"/>
          <p:cNvSpPr txBox="1"/>
          <p:nvPr/>
        </p:nvSpPr>
        <p:spPr>
          <a:xfrm>
            <a:off x="1965960" y="3291840"/>
            <a:ext cx="2697480" cy="822960"/>
          </a:xfrm>
          <a:prstGeom prst="rect">
            <a:avLst/>
          </a:prstGeom>
          <a:noFill/>
          <a:ln/>
        </p:spPr>
        <p:txBody>
          <a:bodyPr wrap="square" lIns="0" tIns="0" rIns="0" bIns="0" rtlCol="0" anchor="t"/>
          <a:lstStyle/>
          <a:p>
            <a:pPr indent="0" marL="0">
              <a:buNone/>
            </a:pPr>
            <a:r>
              <a:rPr lang="en-US" sz="1400" dirty="0">
                <a:solidFill>
                  <a:schemeClr val="tx1"/>
                </a:solidFill>
              </a:rPr>
              <a:t>Drop-in clinic: help with your own laptop</a:t>
            </a:r>
            <a:endParaRPr lang="en-US" sz="1400" dirty="0"/>
          </a:p>
        </p:txBody>
      </p:sp>
      <p:sp>
        <p:nvSpPr>
          <p:cNvPr id="17" name="Look for card"/>
          <p:cNvSpPr/>
          <p:nvPr/>
        </p:nvSpPr>
        <p:spPr>
          <a:xfrm>
            <a:off x="4892040" y="1188720"/>
            <a:ext cx="3794760" cy="3291840"/>
          </a:xfrm>
          <a:prstGeom prst="roundRect">
            <a:avLst>
              <a:gd name="adj" fmla="val 2222"/>
            </a:avLst>
          </a:prstGeom>
          <a:solidFill>
            <a:schemeClr val="bg2"/>
          </a:solidFill>
          <a:ln/>
        </p:spPr>
      </p:sp>
      <p:sp>
        <p:nvSpPr>
          <p:cNvPr id="18" name="Look for heading"/>
          <p:cNvSpPr txBox="1"/>
          <p:nvPr/>
        </p:nvSpPr>
        <p:spPr>
          <a:xfrm>
            <a:off x="5120640" y="1325880"/>
            <a:ext cx="3383280" cy="365760"/>
          </a:xfrm>
          <a:prstGeom prst="rect">
            <a:avLst/>
          </a:prstGeom>
          <a:noFill/>
          <a:ln/>
        </p:spPr>
        <p:txBody>
          <a:bodyPr wrap="square" lIns="0" tIns="0" rIns="0" bIns="0" rtlCol="0" anchor="ctr"/>
          <a:lstStyle/>
          <a:p>
            <a:pPr indent="0" marL="0">
              <a:buNone/>
            </a:pPr>
            <a:r>
              <a:rPr lang="en-US" sz="1600" b="1" dirty="0">
                <a:solidFill>
                  <a:schemeClr val="tx2"/>
                </a:solidFill>
              </a:rPr>
              <a:t>Things to look for</a:t>
            </a:r>
            <a:endParaRPr lang="en-US" sz="1600" dirty="0"/>
          </a:p>
        </p:txBody>
      </p:sp>
      <p:sp>
        <p:nvSpPr>
          <p:cNvPr id="19" name="Look for list"/>
          <p:cNvSpPr txBox="1"/>
          <p:nvPr/>
        </p:nvSpPr>
        <p:spPr>
          <a:xfrm>
            <a:off x="5120640" y="1783080"/>
            <a:ext cx="3429000" cy="260604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How many reactions have no gene?</a:t>
            </a:r>
            <a:endParaRPr lang="en-US" sz="1400" dirty="0"/>
          </a:p>
          <a:p>
            <a:pPr marL="177800" indent="-177800">
              <a:spcAft>
                <a:spcPts val="400"/>
              </a:spcAft>
              <a:buSzPct val="100000"/>
              <a:buChar char="•"/>
            </a:pPr>
            <a:r>
              <a:rPr lang="en-US" sz="1400" dirty="0">
                <a:solidFill>
                  <a:schemeClr val="tx1"/>
                </a:solidFill>
              </a:rPr>
              <a:t>Does it grow on minimal glucose? Should it?</a:t>
            </a:r>
            <a:endParaRPr lang="en-US" sz="1400" dirty="0"/>
          </a:p>
          <a:p>
            <a:pPr marL="177800" indent="-177800">
              <a:spcAft>
                <a:spcPts val="400"/>
              </a:spcAft>
              <a:buSzPct val="100000"/>
              <a:buChar char="•"/>
            </a:pPr>
            <a:r>
              <a:rPr lang="en-US" sz="1400" dirty="0">
                <a:solidFill>
                  <a:schemeClr val="tx1"/>
                </a:solidFill>
              </a:rPr>
              <a:t>Which reactions did gap-filling add?</a:t>
            </a:r>
            <a:endParaRPr lang="en-US" sz="1400" dirty="0"/>
          </a:p>
          <a:p>
            <a:pPr marL="177800" indent="-177800">
              <a:spcAft>
                <a:spcPts val="400"/>
              </a:spcAft>
              <a:buSzPct val="100000"/>
              <a:buChar char="•"/>
            </a:pPr>
            <a:r>
              <a:rPr lang="en-US" sz="1400" dirty="0">
                <a:solidFill>
                  <a:schemeClr val="tx1"/>
                </a:solidFill>
              </a:rPr>
              <a:t>Do the gene rules for complexes make sense?</a:t>
            </a:r>
            <a:endParaRPr lang="en-US" sz="1400" dirty="0"/>
          </a:p>
          <a:p>
            <a:pPr marL="177800" indent="-177800">
              <a:spcAft>
                <a:spcPts val="400"/>
              </a:spcAft>
              <a:buSzPct val="100000"/>
              <a:buChar char="•"/>
            </a:pPr>
            <a:r>
              <a:rPr lang="en-US" sz="1400" dirty="0">
                <a:solidFill>
                  <a:schemeClr val="tx1"/>
                </a:solidFill>
              </a:rPr>
              <a:t>Does it make ATP from nothing?</a:t>
            </a:r>
            <a:endParaRPr lang="en-US" sz="14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548640" y="1097280"/>
            <a:ext cx="5394960" cy="365760"/>
          </a:xfrm>
          <a:prstGeom prst="rect">
            <a:avLst/>
          </a:prstGeom>
          <a:noFill/>
          <a:ln/>
        </p:spPr>
        <p:txBody>
          <a:bodyPr wrap="square" lIns="0" tIns="0" rIns="0" bIns="0" rtlCol="0" anchor="ctr"/>
          <a:lstStyle/>
          <a:p>
            <a:pPr indent="0" marL="0">
              <a:buNone/>
            </a:pPr>
            <a:r>
              <a:rPr lang="en-US" sz="1400" b="1" dirty="0">
                <a:solidFill>
                  <a:schemeClr val="accent2"/>
                </a:solidFill>
              </a:rPr>
              <a:t>Take home</a:t>
            </a:r>
            <a:endParaRPr lang="en-US" sz="1400" dirty="0"/>
          </a:p>
        </p:txBody>
      </p:sp>
      <p:sp>
        <p:nvSpPr>
          <p:cNvPr id="3" name="Text 0"/>
          <p:cNvSpPr/>
          <p:nvPr>
            <p:ph idx="101" type="title" hasCustomPrompt="1"/>
          </p:nvPr>
        </p:nvSpPr>
        <p:spPr>
          <a:xfrm>
            <a:off x="548640" y="1554480"/>
            <a:ext cx="5486400" cy="2011680"/>
          </a:xfrm>
          <a:prstGeom prst="rect">
            <a:avLst/>
          </a:prstGeom>
          <a:noFill/>
          <a:ln/>
        </p:spPr>
        <p:txBody>
          <a:bodyPr wrap="square" lIns="0" tIns="0" rIns="0" bIns="0" rtlCol="0" anchor="t"/>
          <a:lstStyle/>
          <a:p>
            <a:pPr algn="l" indent="0" marL="0">
              <a:buNone/>
            </a:pPr>
            <a:r>
              <a:rPr lang="en-US" sz="3200" b="1" dirty="0">
                <a:solidFill>
                  <a:schemeClr val="bg1"/>
                </a:solidFill>
              </a:rPr>
              <a:t>Automate the draft. Curate the model. Validate against data.</a:t>
            </a:r>
            <a:endParaRPr lang="en-US" sz="3200" dirty="0"/>
          </a:p>
        </p:txBody>
      </p:sp>
      <p:sp>
        <p:nvSpPr>
          <p:cNvPr id="4" name="Text 0"/>
          <p:cNvSpPr/>
          <p:nvPr>
            <p:ph idx="102" type="body" hasCustomPrompt="1"/>
          </p:nvPr>
        </p:nvSpPr>
        <p:spPr>
          <a:xfrm>
            <a:off x="548640" y="3657600"/>
            <a:ext cx="5394960" cy="731520"/>
          </a:xfrm>
          <a:prstGeom prst="rect">
            <a:avLst/>
          </a:prstGeom>
          <a:noFill/>
          <a:ln/>
        </p:spPr>
        <p:txBody>
          <a:bodyPr wrap="square" lIns="0" tIns="0" rIns="0" bIns="0" rtlCol="0" anchor="t"/>
          <a:lstStyle/>
          <a:p>
            <a:pPr indent="0" marL="0">
              <a:buNone/>
            </a:pPr>
            <a:r>
              <a:rPr lang="en-US" sz="1600" dirty="0">
                <a:solidFill>
                  <a:schemeClr val="accent4"/>
                </a:solidFill>
              </a:rPr>
              <a:t>Every pipeline is a set of choices: database, strategy, gap-filling. Know them before you trust the output.</a:t>
            </a:r>
            <a:endParaRPr lang="en-US" sz="1600" dirty="0"/>
          </a:p>
        </p:txBody>
      </p:sp>
      <p:sp>
        <p:nvSpPr>
          <p:cNvPr id="5" name="Closing edge AC"/>
          <p:cNvSpPr/>
          <p:nvPr/>
        </p:nvSpPr>
        <p:spPr>
          <a:xfrm>
            <a:off x="6455061" y="1456625"/>
            <a:ext cx="333297" cy="435850"/>
          </a:xfrm>
          <a:prstGeom prst="line">
            <a:avLst/>
          </a:prstGeom>
          <a:noFill/>
          <a:ln w="15875">
            <a:solidFill>
              <a:schemeClr val="accent4"/>
            </a:solidFill>
            <a:prstDash val="solid"/>
            <a:tailEnd type="triangle"/>
          </a:ln>
        </p:spPr>
      </p:sp>
      <p:sp>
        <p:nvSpPr>
          <p:cNvPr id="6" name="Closing edge BD"/>
          <p:cNvSpPr/>
          <p:nvPr/>
        </p:nvSpPr>
        <p:spPr>
          <a:xfrm>
            <a:off x="7598612" y="1235407"/>
            <a:ext cx="530456" cy="500987"/>
          </a:xfrm>
          <a:prstGeom prst="line">
            <a:avLst/>
          </a:prstGeom>
          <a:noFill/>
          <a:ln w="15875">
            <a:solidFill>
              <a:schemeClr val="accent4"/>
            </a:solidFill>
            <a:prstDash val="solid"/>
            <a:tailEnd type="triangle"/>
          </a:ln>
        </p:spPr>
      </p:sp>
      <p:sp>
        <p:nvSpPr>
          <p:cNvPr id="7" name="Closing edge CD"/>
          <p:cNvSpPr/>
          <p:nvPr/>
        </p:nvSpPr>
        <p:spPr>
          <a:xfrm flipV="1">
            <a:off x="7192738" y="1908700"/>
            <a:ext cx="884339" cy="152472"/>
          </a:xfrm>
          <a:prstGeom prst="line">
            <a:avLst/>
          </a:prstGeom>
          <a:noFill/>
          <a:ln w="15875">
            <a:solidFill>
              <a:schemeClr val="accent4"/>
            </a:solidFill>
            <a:prstDash val="solid"/>
            <a:tailEnd type="triangle"/>
          </a:ln>
        </p:spPr>
      </p:sp>
      <p:sp>
        <p:nvSpPr>
          <p:cNvPr id="8" name="Closing edge DE"/>
          <p:cNvSpPr/>
          <p:nvPr/>
        </p:nvSpPr>
        <p:spPr>
          <a:xfrm flipH="1">
            <a:off x="7837092" y="2038093"/>
            <a:ext cx="356442" cy="712884"/>
          </a:xfrm>
          <a:prstGeom prst="line">
            <a:avLst/>
          </a:prstGeom>
          <a:noFill/>
          <a:ln w="15875">
            <a:solidFill>
              <a:schemeClr val="accent4"/>
            </a:solidFill>
            <a:prstDash val="solid"/>
            <a:tailEnd type="triangle"/>
          </a:ln>
        </p:spPr>
      </p:sp>
      <p:sp>
        <p:nvSpPr>
          <p:cNvPr id="9" name="Closing edge CF"/>
          <p:cNvSpPr/>
          <p:nvPr/>
        </p:nvSpPr>
        <p:spPr>
          <a:xfrm flipH="1">
            <a:off x="6529370" y="2325846"/>
            <a:ext cx="313549" cy="655602"/>
          </a:xfrm>
          <a:prstGeom prst="line">
            <a:avLst/>
          </a:prstGeom>
          <a:noFill/>
          <a:ln w="15875">
            <a:solidFill>
              <a:schemeClr val="accent4"/>
            </a:solidFill>
            <a:prstDash val="solid"/>
            <a:tailEnd type="triangle"/>
          </a:ln>
        </p:spPr>
      </p:sp>
      <p:sp>
        <p:nvSpPr>
          <p:cNvPr id="10" name="Closing edge FH"/>
          <p:cNvSpPr/>
          <p:nvPr/>
        </p:nvSpPr>
        <p:spPr>
          <a:xfrm>
            <a:off x="6561467" y="3284954"/>
            <a:ext cx="455905" cy="516692"/>
          </a:xfrm>
          <a:prstGeom prst="line">
            <a:avLst/>
          </a:prstGeom>
          <a:noFill/>
          <a:ln w="15875">
            <a:solidFill>
              <a:schemeClr val="accent4"/>
            </a:solidFill>
            <a:prstDash val="solid"/>
            <a:tailEnd type="triangle"/>
          </a:ln>
        </p:spPr>
      </p:sp>
      <p:sp>
        <p:nvSpPr>
          <p:cNvPr id="11" name="Closing edge EH"/>
          <p:cNvSpPr/>
          <p:nvPr/>
        </p:nvSpPr>
        <p:spPr>
          <a:xfrm flipH="1">
            <a:off x="7223767" y="3166171"/>
            <a:ext cx="382589" cy="618028"/>
          </a:xfrm>
          <a:prstGeom prst="line">
            <a:avLst/>
          </a:prstGeom>
          <a:noFill/>
          <a:ln w="15875">
            <a:solidFill>
              <a:schemeClr val="accent4"/>
            </a:solidFill>
            <a:prstDash val="solid"/>
            <a:tailEnd type="triangle"/>
          </a:ln>
        </p:spPr>
      </p:sp>
      <p:sp>
        <p:nvSpPr>
          <p:cNvPr id="12" name="Closing edge DG"/>
          <p:cNvSpPr/>
          <p:nvPr/>
        </p:nvSpPr>
        <p:spPr>
          <a:xfrm>
            <a:off x="8307102" y="2054617"/>
            <a:ext cx="202811" cy="1149261"/>
          </a:xfrm>
          <a:prstGeom prst="line">
            <a:avLst/>
          </a:prstGeom>
          <a:noFill/>
          <a:ln w="15875">
            <a:solidFill>
              <a:schemeClr val="accent4"/>
            </a:solidFill>
            <a:prstDash val="solid"/>
            <a:tailEnd type="triangle"/>
          </a:ln>
        </p:spPr>
      </p:sp>
      <p:sp>
        <p:nvSpPr>
          <p:cNvPr id="13" name="Closing flux BC"/>
          <p:cNvSpPr/>
          <p:nvPr/>
        </p:nvSpPr>
        <p:spPr>
          <a:xfrm flipH="1">
            <a:off x="7068030" y="1277210"/>
            <a:ext cx="294365" cy="588729"/>
          </a:xfrm>
          <a:prstGeom prst="line">
            <a:avLst/>
          </a:prstGeom>
          <a:noFill/>
          <a:ln w="31750">
            <a:solidFill>
              <a:schemeClr val="accent2"/>
            </a:solidFill>
            <a:prstDash val="solid"/>
            <a:tailEnd type="triangle"/>
          </a:ln>
        </p:spPr>
      </p:sp>
      <p:sp>
        <p:nvSpPr>
          <p:cNvPr id="14" name="Closing flux CE"/>
          <p:cNvSpPr/>
          <p:nvPr/>
        </p:nvSpPr>
        <p:spPr>
          <a:xfrm>
            <a:off x="7114064" y="2287111"/>
            <a:ext cx="447993" cy="500698"/>
          </a:xfrm>
          <a:prstGeom prst="line">
            <a:avLst/>
          </a:prstGeom>
          <a:noFill/>
          <a:ln w="31750">
            <a:solidFill>
              <a:schemeClr val="accent2"/>
            </a:solidFill>
            <a:prstDash val="solid"/>
            <a:tailEnd type="triangle"/>
          </a:ln>
        </p:spPr>
      </p:sp>
      <p:sp>
        <p:nvSpPr>
          <p:cNvPr id="15" name="Closing flux EG"/>
          <p:cNvSpPr/>
          <p:nvPr/>
        </p:nvSpPr>
        <p:spPr>
          <a:xfrm>
            <a:off x="7926512" y="3082818"/>
            <a:ext cx="423295" cy="235164"/>
          </a:xfrm>
          <a:prstGeom prst="line">
            <a:avLst/>
          </a:prstGeom>
          <a:noFill/>
          <a:ln w="31750">
            <a:solidFill>
              <a:schemeClr val="accent2"/>
            </a:solidFill>
            <a:prstDash val="solid"/>
            <a:tailEnd type="triangle"/>
          </a:ln>
        </p:spPr>
      </p:sp>
      <p:sp>
        <p:nvSpPr>
          <p:cNvPr id="16" name="Closing node A"/>
          <p:cNvSpPr/>
          <p:nvPr/>
        </p:nvSpPr>
        <p:spPr>
          <a:xfrm>
            <a:off x="6236208" y="1207008"/>
            <a:ext cx="237744" cy="237744"/>
          </a:xfrm>
          <a:prstGeom prst="ellipse">
            <a:avLst/>
          </a:prstGeom>
          <a:solidFill>
            <a:schemeClr val="accent1"/>
          </a:solidFill>
          <a:ln/>
        </p:spPr>
      </p:sp>
      <p:sp>
        <p:nvSpPr>
          <p:cNvPr id="17" name="Closing node B"/>
          <p:cNvSpPr/>
          <p:nvPr/>
        </p:nvSpPr>
        <p:spPr>
          <a:xfrm>
            <a:off x="7296912" y="941832"/>
            <a:ext cx="310896" cy="310896"/>
          </a:xfrm>
          <a:prstGeom prst="ellipse">
            <a:avLst/>
          </a:prstGeom>
          <a:solidFill>
            <a:schemeClr val="accent2"/>
          </a:solidFill>
          <a:ln/>
        </p:spPr>
      </p:sp>
      <p:sp>
        <p:nvSpPr>
          <p:cNvPr id="18" name="Closing node C"/>
          <p:cNvSpPr/>
          <p:nvPr/>
        </p:nvSpPr>
        <p:spPr>
          <a:xfrm>
            <a:off x="6748272" y="1901952"/>
            <a:ext cx="402336" cy="402336"/>
          </a:xfrm>
          <a:prstGeom prst="ellipse">
            <a:avLst/>
          </a:prstGeom>
          <a:solidFill>
            <a:schemeClr val="accent2"/>
          </a:solidFill>
          <a:ln/>
        </p:spPr>
      </p:sp>
      <p:sp>
        <p:nvSpPr>
          <p:cNvPr id="19" name="Closing node D"/>
          <p:cNvSpPr/>
          <p:nvPr/>
        </p:nvSpPr>
        <p:spPr>
          <a:xfrm>
            <a:off x="8138160" y="1737360"/>
            <a:ext cx="274320" cy="274320"/>
          </a:xfrm>
          <a:prstGeom prst="ellipse">
            <a:avLst/>
          </a:prstGeom>
          <a:solidFill>
            <a:schemeClr val="accent1"/>
          </a:solidFill>
          <a:ln/>
        </p:spPr>
      </p:sp>
      <p:sp>
        <p:nvSpPr>
          <p:cNvPr id="20" name="Closing node E"/>
          <p:cNvSpPr/>
          <p:nvPr/>
        </p:nvSpPr>
        <p:spPr>
          <a:xfrm>
            <a:off x="7543800" y="2788920"/>
            <a:ext cx="365760" cy="365760"/>
          </a:xfrm>
          <a:prstGeom prst="ellipse">
            <a:avLst/>
          </a:prstGeom>
          <a:solidFill>
            <a:schemeClr val="accent2"/>
          </a:solidFill>
          <a:ln/>
        </p:spPr>
      </p:sp>
      <p:sp>
        <p:nvSpPr>
          <p:cNvPr id="21" name="Closing node F"/>
          <p:cNvSpPr/>
          <p:nvPr/>
        </p:nvSpPr>
        <p:spPr>
          <a:xfrm>
            <a:off x="6318504" y="3026664"/>
            <a:ext cx="256032" cy="256032"/>
          </a:xfrm>
          <a:prstGeom prst="ellipse">
            <a:avLst/>
          </a:prstGeom>
          <a:solidFill>
            <a:schemeClr val="accent1"/>
          </a:solidFill>
          <a:ln/>
        </p:spPr>
      </p:sp>
      <p:sp>
        <p:nvSpPr>
          <p:cNvPr id="22" name="Closing node G"/>
          <p:cNvSpPr/>
          <p:nvPr/>
        </p:nvSpPr>
        <p:spPr>
          <a:xfrm>
            <a:off x="8385048" y="3264408"/>
            <a:ext cx="329184" cy="329184"/>
          </a:xfrm>
          <a:prstGeom prst="ellipse">
            <a:avLst/>
          </a:prstGeom>
          <a:solidFill>
            <a:schemeClr val="accent2"/>
          </a:solidFill>
          <a:ln/>
        </p:spPr>
      </p:sp>
      <p:sp>
        <p:nvSpPr>
          <p:cNvPr id="23" name="Closing node H"/>
          <p:cNvSpPr/>
          <p:nvPr/>
        </p:nvSpPr>
        <p:spPr>
          <a:xfrm>
            <a:off x="7022592" y="3822192"/>
            <a:ext cx="219456" cy="219456"/>
          </a:xfrm>
          <a:prstGeom prst="ellipse">
            <a:avLst/>
          </a:prstGeom>
          <a:solidFill>
            <a:schemeClr val="accent1"/>
          </a:solidFill>
          <a:ln/>
        </p:spPr>
      </p:sp>
    </p:spTree>
  </p:cSld>
  <p:clrMapOvr>
    <a:masterClrMapping/>
  </p:clrMapOvr>
</p:sld>
</file>

<file path=ppt/theme/theme1.xml><?xml version="1.0" encoding="utf-8"?>
<a:theme xmlns:a="http://schemas.openxmlformats.org/drawingml/2006/main" name="CODE-M">
  <a:themeElements>
    <a:clrScheme name="CODE-M">
      <a:dk1>
        <a:srgbClr val="1F2A2E"/>
      </a:dk1>
      <a:lt1>
        <a:srgbClr val="FFFFFF"/>
      </a:lt1>
      <a:dk2>
        <a:srgbClr val="0E3B43"/>
      </a:dk2>
      <a:lt2>
        <a:srgbClr val="EAF4F1"/>
      </a:lt2>
      <a:accent1>
        <a:srgbClr val="1B998B"/>
      </a:accent1>
      <a:accent2>
        <a:srgbClr val="E8913A"/>
      </a:accent2>
      <a:accent3>
        <a:srgbClr val="5C7A82"/>
      </a:accent3>
      <a:accent4>
        <a:srgbClr val="C5E3DC"/>
      </a:accent4>
      <a:accent5>
        <a:srgbClr val="B85C1E"/>
      </a:accent5>
      <a:accent6>
        <a:srgbClr val="2E6F7A"/>
      </a:accent6>
      <a:hlink>
        <a:srgbClr val="1B998B"/>
      </a:hlink>
      <a:folHlink>
        <a:srgbClr val="5C7A82"/>
      </a:folHlink>
    </a:clrScheme>
    <a:fontScheme name="CODE-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CODE-M Day 2 — Reconstruction pipelines</dc:title>
  <dc:subject>CODE-M Workshop, Day 2, 13:00</dc:subject>
  <dc:creator>Francesco Del Carratore</dc:creator>
  <cp:lastModifiedBy>Francesco Del Carratore</cp:lastModifiedBy>
  <cp:revision>1</cp:revision>
  <dcterms:created xsi:type="dcterms:W3CDTF">2026-10-08T19:25:13Z</dcterms:created>
  <dcterms:modified xsi:type="dcterms:W3CDTF">2026-10-08T19:25:13Z</dcterms:modified>
</cp:coreProperties>
</file>