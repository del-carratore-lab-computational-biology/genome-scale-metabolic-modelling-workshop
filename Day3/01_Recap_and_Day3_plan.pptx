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15CC299-B9B8-52E4-8635-299D1A8CE46C}">
          <p14:sldIdLst>
            <p14:sldId id="256"/>
            <p14:sldId id="257"/>
            <p14:sldId id="258"/>
            <p14:sldId id="259"/>
          </p14:sldIdLst>
        </p14:section>
        <p14:section name="Today" id="{A1621C80-495D-DF14-F0A8-079B8F3FA5BC}">
          <p14:sldIdLst>
            <p14:sldId id="260"/>
            <p14:sldId id="261"/>
          </p14:sldIdLst>
        </p14:section>
        <p14:section name="Close" id="{E3CCF12C-6578-1846-6156-2E6EC9F3CD58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 Carratore, Francesco" userId="9567652c-ed74-4f0e-afed-9f112eed68ef" providerId="ADAL" clId="{424AE5C4-B42D-5C8F-A1C8-5924AA46D396}"/>
    <pc:docChg chg="modSld">
      <pc:chgData name="Del Carratore, Francesco" userId="9567652c-ed74-4f0e-afed-9f112eed68ef" providerId="ADAL" clId="{424AE5C4-B42D-5C8F-A1C8-5924AA46D396}" dt="2026-10-09T13:42:55.399" v="0" actId="20577"/>
      <pc:docMkLst>
        <pc:docMk/>
      </pc:docMkLst>
      <pc:sldChg chg="modSp mod">
        <pc:chgData name="Del Carratore, Francesco" userId="9567652c-ed74-4f0e-afed-9f112eed68ef" providerId="ADAL" clId="{424AE5C4-B42D-5C8F-A1C8-5924AA46D396}" dt="2026-10-09T13:42:55.399" v="0" actId="20577"/>
        <pc:sldMkLst>
          <pc:docMk/>
          <pc:sldMk cId="0" sldId="256"/>
        </pc:sldMkLst>
        <pc:spChg chg="mod">
          <ac:chgData name="Del Carratore, Francesco" userId="9567652c-ed74-4f0e-afed-9f112eed68ef" providerId="ADAL" clId="{424AE5C4-B42D-5C8F-A1C8-5924AA46D396}" dt="2026-10-09T13:42:55.399" v="0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43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Today is about using models: the curated ones you met on Day 1 and the drafts you built yesterday. Fifteen minutes to recap where we are, then straight into the first notebook.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workshop has one thread. Day 1, with Stephen: what a genome-scale model is and what flux balance analysis predicts, on E. coli core. Day 2: where models come from, first by hand with Toybacter, then with pipelines, and finally three real bacteria in KBase, judged against curated models and with MEMOTE. Today: what you can do with a model, from looking beyond a single FBA solution, to deleting genes and designing strains, to integrating omics data and simulating communities.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lessons from yesterday. One: a model is just chemistry, genes, a medium and a biomass reaction; Toybacter needed 18 genes and eight decisions by hand. Two: pipelines do that in minutes, but gap-filling invents whatever is needed for growth; in KBase it added between 3 reactions for E. coli and 63 for Lactococcus, none with a gene. Three: models from different sources speak different languages, so translate before comparing. Four: a quality score is not biology; MEMOTE scored the drafts 32 to 49 percent and the curated models 85 to 91, mostly on annotation, and neither score noticed that B. subtilis 168 can't make tryptophan.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why today starts where Day 1 stopped. FBA gives you a maximum growth rate, which is a firm prediction, and one flux distribution, which often is not: many distributions can reach the same maximum, and FBA just returns one of them. Allow growth a little below the maximum and the freedom grows enormously. So this morning's first notebook asks: is the solution unique, how certain is each flux, which solution to report, and how growth responds to oxygen. The second asks which genes matter and how to rewire a cell to make a product. Each question has a standard method, shown on the right.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curated models today, all in the models folder of the Day 3 materials. E. coli core, Day 1's model: 95 reactions, small enough that you can see every reaction, test every gene and every pair of genes in seconds. iMM904, the genome-scale model of baker's yeast, which we'll use to look at ethanol with and without oxygen. And iML1515, the genome-scale E. coli model that was yesterday's answer key, for essential genes at genome scale.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plan. Two hands-on notebooks this morning: at 9:45 FVA, pFBA and robustness, with E. coli core and yeast; at 11:00 essential genes, synthetic lethality, production envelopes, and a small knockout search to make E. coli produce more ethanol. After lunch, omics integration: how gene expression data can constrain these same models. At 14:00, communities: several models sharing one environment in COMETS. We finish with a wrap-up at 15:30 and the drop-in clinic at 16:00.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to carry through the day, continuing yesterday's discussion about trust: which of today's predictions would you trust enough to spend months building a strain? Keep an eye on the three choices behind every prediction: which model, which medium, which objective. Let's open the first notebook.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5303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2286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>
              <a:buNone/>
            </a:pPr>
            <a:endParaRPr lang="en-US" sz="8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24028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5394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i="1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36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CODE-M Workshop · Day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554480"/>
            <a:ext cx="5486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0"/>
            <a:ext cx="5394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CODE-M Workshop · Day 3 · 09:30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From one model to many questions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</a:rPr>
              <a:t>A recap of Days 1 and 2, and today's plan: analysis, design and communities</a:t>
            </a:r>
            <a:endParaRPr lang="en-US" sz="17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Francesco Del Carratore</a:t>
            </a:r>
            <a:endParaRPr lang="en-US" sz="1400" dirty="0"/>
          </a:p>
        </p:txBody>
      </p:sp>
      <p:sp>
        <p:nvSpPr>
          <p:cNvPr id="6" name="Title edge AC"/>
          <p:cNvSpPr/>
          <p:nvPr/>
        </p:nvSpPr>
        <p:spPr>
          <a:xfrm>
            <a:off x="6455061" y="1456625"/>
            <a:ext cx="333297" cy="43585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itle edge BD"/>
          <p:cNvSpPr/>
          <p:nvPr/>
        </p:nvSpPr>
        <p:spPr>
          <a:xfrm>
            <a:off x="7598612" y="1235407"/>
            <a:ext cx="530456" cy="50098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itle edge CD"/>
          <p:cNvSpPr/>
          <p:nvPr/>
        </p:nvSpPr>
        <p:spPr>
          <a:xfrm flipV="1">
            <a:off x="7192738" y="1908700"/>
            <a:ext cx="884339" cy="15247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itle edge DE"/>
          <p:cNvSpPr/>
          <p:nvPr/>
        </p:nvSpPr>
        <p:spPr>
          <a:xfrm flipH="1">
            <a:off x="7837092" y="2038093"/>
            <a:ext cx="356442" cy="71288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 edge CF"/>
          <p:cNvSpPr/>
          <p:nvPr/>
        </p:nvSpPr>
        <p:spPr>
          <a:xfrm flipH="1">
            <a:off x="6529370" y="2325846"/>
            <a:ext cx="313549" cy="65560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itle edge FH"/>
          <p:cNvSpPr/>
          <p:nvPr/>
        </p:nvSpPr>
        <p:spPr>
          <a:xfrm>
            <a:off x="6561467" y="3284954"/>
            <a:ext cx="455905" cy="51669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itle edge EH"/>
          <p:cNvSpPr/>
          <p:nvPr/>
        </p:nvSpPr>
        <p:spPr>
          <a:xfrm flipH="1">
            <a:off x="7223767" y="3166171"/>
            <a:ext cx="382589" cy="61802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itle edge DG"/>
          <p:cNvSpPr/>
          <p:nvPr/>
        </p:nvSpPr>
        <p:spPr>
          <a:xfrm>
            <a:off x="8307102" y="2054617"/>
            <a:ext cx="202811" cy="1149261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 flux BC"/>
          <p:cNvSpPr/>
          <p:nvPr/>
        </p:nvSpPr>
        <p:spPr>
          <a:xfrm flipH="1">
            <a:off x="7068030" y="1277210"/>
            <a:ext cx="294365" cy="588729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itle flux CE"/>
          <p:cNvSpPr/>
          <p:nvPr/>
        </p:nvSpPr>
        <p:spPr>
          <a:xfrm>
            <a:off x="7114064" y="2287111"/>
            <a:ext cx="447993" cy="50069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itle flux EG"/>
          <p:cNvSpPr/>
          <p:nvPr/>
        </p:nvSpPr>
        <p:spPr>
          <a:xfrm>
            <a:off x="7926512" y="3082818"/>
            <a:ext cx="423295" cy="23516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itle node A"/>
          <p:cNvSpPr/>
          <p:nvPr/>
        </p:nvSpPr>
        <p:spPr>
          <a:xfrm>
            <a:off x="6236208" y="12070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itle node B"/>
          <p:cNvSpPr/>
          <p:nvPr/>
        </p:nvSpPr>
        <p:spPr>
          <a:xfrm>
            <a:off x="7296912" y="94183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itle node C"/>
          <p:cNvSpPr/>
          <p:nvPr/>
        </p:nvSpPr>
        <p:spPr>
          <a:xfrm>
            <a:off x="6748272" y="190195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itle node D"/>
          <p:cNvSpPr/>
          <p:nvPr/>
        </p:nvSpPr>
        <p:spPr>
          <a:xfrm>
            <a:off x="8138160" y="17373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itle node E"/>
          <p:cNvSpPr/>
          <p:nvPr/>
        </p:nvSpPr>
        <p:spPr>
          <a:xfrm>
            <a:off x="7543800" y="2788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itle node F"/>
          <p:cNvSpPr/>
          <p:nvPr/>
        </p:nvSpPr>
        <p:spPr>
          <a:xfrm>
            <a:off x="6318504" y="30266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itle node G"/>
          <p:cNvSpPr/>
          <p:nvPr/>
        </p:nvSpPr>
        <p:spPr>
          <a:xfrm>
            <a:off x="8385048" y="32644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itle node H"/>
          <p:cNvSpPr/>
          <p:nvPr/>
        </p:nvSpPr>
        <p:spPr>
          <a:xfrm>
            <a:off x="7022592" y="38221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days, one thread</a:t>
            </a:r>
            <a:endParaRPr lang="en-US" sz="3400" dirty="0"/>
          </a:p>
        </p:txBody>
      </p:sp>
      <p:sp>
        <p:nvSpPr>
          <p:cNvPr id="3" name="Day card 1"/>
          <p:cNvSpPr/>
          <p:nvPr/>
        </p:nvSpPr>
        <p:spPr>
          <a:xfrm>
            <a:off x="45720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Day 1 node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Day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1497330"/>
            <a:ext cx="251460" cy="251460"/>
          </a:xfrm>
          <a:prstGeom prst="rect">
            <a:avLst/>
          </a:prstGeom>
        </p:spPr>
      </p:pic>
      <p:sp>
        <p:nvSpPr>
          <p:cNvPr id="6" name="Day 1 label"/>
          <p:cNvSpPr txBox="1"/>
          <p:nvPr/>
        </p:nvSpPr>
        <p:spPr>
          <a:xfrm>
            <a:off x="12801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1</a:t>
            </a:r>
            <a:endParaRPr lang="en-US" sz="1800" dirty="0"/>
          </a:p>
        </p:txBody>
      </p:sp>
      <p:sp>
        <p:nvSpPr>
          <p:cNvPr id="7" name="Day 1 heading"/>
          <p:cNvSpPr txBox="1"/>
          <p:nvPr/>
        </p:nvSpPr>
        <p:spPr>
          <a:xfrm>
            <a:off x="658368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a model predicts</a:t>
            </a:r>
            <a:endParaRPr lang="en-US" sz="1600" dirty="0"/>
          </a:p>
        </p:txBody>
      </p:sp>
      <p:sp>
        <p:nvSpPr>
          <p:cNvPr id="8" name="Day 1 list"/>
          <p:cNvSpPr txBox="1"/>
          <p:nvPr/>
        </p:nvSpPr>
        <p:spPr>
          <a:xfrm>
            <a:off x="658368" y="25146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Genome-scale models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Flux balance analysis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E. coli core in cobrapy and Escher</a:t>
            </a:r>
            <a:endParaRPr lang="en-US" sz="1300" dirty="0"/>
          </a:p>
        </p:txBody>
      </p:sp>
      <p:sp>
        <p:nvSpPr>
          <p:cNvPr id="9" name="Day arrow 1"/>
          <p:cNvSpPr/>
          <p:nvPr/>
        </p:nvSpPr>
        <p:spPr>
          <a:xfrm>
            <a:off x="3044952" y="278892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Day card 2"/>
          <p:cNvSpPr/>
          <p:nvPr/>
        </p:nvSpPr>
        <p:spPr>
          <a:xfrm>
            <a:off x="329184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Day 2 node"/>
          <p:cNvSpPr/>
          <p:nvPr/>
        </p:nvSpPr>
        <p:spPr>
          <a:xfrm>
            <a:off x="3493008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Day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738" y="1497330"/>
            <a:ext cx="251460" cy="251460"/>
          </a:xfrm>
          <a:prstGeom prst="rect">
            <a:avLst/>
          </a:prstGeom>
        </p:spPr>
      </p:pic>
      <p:sp>
        <p:nvSpPr>
          <p:cNvPr id="13" name="Day 2 label"/>
          <p:cNvSpPr txBox="1"/>
          <p:nvPr/>
        </p:nvSpPr>
        <p:spPr>
          <a:xfrm>
            <a:off x="411480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2</a:t>
            </a:r>
            <a:endParaRPr lang="en-US" sz="1800" dirty="0"/>
          </a:p>
        </p:txBody>
      </p:sp>
      <p:sp>
        <p:nvSpPr>
          <p:cNvPr id="14" name="Day 2 heading"/>
          <p:cNvSpPr txBox="1"/>
          <p:nvPr/>
        </p:nvSpPr>
        <p:spPr>
          <a:xfrm>
            <a:off x="3493008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Where a model comes from</a:t>
            </a:r>
            <a:endParaRPr lang="en-US" sz="1600" dirty="0"/>
          </a:p>
        </p:txBody>
      </p:sp>
      <p:sp>
        <p:nvSpPr>
          <p:cNvPr id="15" name="Day 2 list"/>
          <p:cNvSpPr txBox="1"/>
          <p:nvPr/>
        </p:nvSpPr>
        <p:spPr>
          <a:xfrm>
            <a:off x="3493008" y="25146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toy model built by hand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Pipelines: CarveMe, ModelSEED, gapseq, AlphaGEM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Three bacteria in KBase; MEMOTE</a:t>
            </a:r>
            <a:endParaRPr lang="en-US" sz="1300" dirty="0"/>
          </a:p>
        </p:txBody>
      </p:sp>
      <p:sp>
        <p:nvSpPr>
          <p:cNvPr id="16" name="Day arrow 2"/>
          <p:cNvSpPr/>
          <p:nvPr/>
        </p:nvSpPr>
        <p:spPr>
          <a:xfrm>
            <a:off x="5879592" y="278892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Day card 3"/>
          <p:cNvSpPr/>
          <p:nvPr/>
        </p:nvSpPr>
        <p:spPr>
          <a:xfrm>
            <a:off x="612648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Day 3 node"/>
          <p:cNvSpPr/>
          <p:nvPr/>
        </p:nvSpPr>
        <p:spPr>
          <a:xfrm>
            <a:off x="6327648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Day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78" y="1497330"/>
            <a:ext cx="251460" cy="251460"/>
          </a:xfrm>
          <a:prstGeom prst="rect">
            <a:avLst/>
          </a:prstGeom>
        </p:spPr>
      </p:pic>
      <p:sp>
        <p:nvSpPr>
          <p:cNvPr id="20" name="Day 3 label"/>
          <p:cNvSpPr txBox="1"/>
          <p:nvPr/>
        </p:nvSpPr>
        <p:spPr>
          <a:xfrm>
            <a:off x="694944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3</a:t>
            </a:r>
            <a:endParaRPr lang="en-US" sz="1800" dirty="0"/>
          </a:p>
        </p:txBody>
      </p:sp>
      <p:sp>
        <p:nvSpPr>
          <p:cNvPr id="21" name="Day 3 heading"/>
          <p:cNvSpPr txBox="1"/>
          <p:nvPr/>
        </p:nvSpPr>
        <p:spPr>
          <a:xfrm>
            <a:off x="6327648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 you can do with it</a:t>
            </a:r>
            <a:endParaRPr lang="en-US" sz="1600" dirty="0"/>
          </a:p>
        </p:txBody>
      </p:sp>
      <p:sp>
        <p:nvSpPr>
          <p:cNvPr id="22" name="Day 3 list"/>
          <p:cNvSpPr txBox="1"/>
          <p:nvPr/>
        </p:nvSpPr>
        <p:spPr>
          <a:xfrm>
            <a:off x="6327648" y="25146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FVA, pFBA, robustness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Essential genes, strain design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Omics integration, communities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Yesterday in four lessons</a:t>
            </a:r>
            <a:endParaRPr lang="en-US" sz="3400" dirty="0"/>
          </a:p>
        </p:txBody>
      </p:sp>
      <p:sp>
        <p:nvSpPr>
          <p:cNvPr id="3" name="Lesson 1 nod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Less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Lesson 1 text"/>
          <p:cNvSpPr txBox="1"/>
          <p:nvPr/>
        </p:nvSpPr>
        <p:spPr>
          <a:xfrm>
            <a:off x="1234440" y="118872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model is chemistry, genes, a medium and a biomass reaction.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Toybacter, by hand: 18 genes and eight curation decisions.</a:t>
            </a:r>
            <a:endParaRPr lang="en-US" sz="1600" dirty="0"/>
          </a:p>
        </p:txBody>
      </p:sp>
      <p:sp>
        <p:nvSpPr>
          <p:cNvPr id="6" name="Lesson 2 node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Less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194560"/>
            <a:ext cx="274320" cy="274320"/>
          </a:xfrm>
          <a:prstGeom prst="rect">
            <a:avLst/>
          </a:prstGeom>
        </p:spPr>
      </p:pic>
      <p:sp>
        <p:nvSpPr>
          <p:cNvPr id="8" name="Lesson 2 text"/>
          <p:cNvSpPr txBox="1"/>
          <p:nvPr/>
        </p:nvSpPr>
        <p:spPr>
          <a:xfrm>
            <a:off x="1234440" y="201168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Pipelines draft a model in minutes, and gap-filling invents what is missing.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ModelSEED in KBase added 3 to 63 reactions without a gene.</a:t>
            </a:r>
            <a:endParaRPr lang="en-US" sz="1600" dirty="0"/>
          </a:p>
        </p:txBody>
      </p:sp>
      <p:sp>
        <p:nvSpPr>
          <p:cNvPr id="9" name="Lesson 3 node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Less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17520"/>
            <a:ext cx="274320" cy="274320"/>
          </a:xfrm>
          <a:prstGeom prst="rect">
            <a:avLst/>
          </a:prstGeom>
        </p:spPr>
      </p:pic>
      <p:sp>
        <p:nvSpPr>
          <p:cNvPr id="11" name="Lesson 3 text"/>
          <p:cNvSpPr txBox="1"/>
          <p:nvPr/>
        </p:nvSpPr>
        <p:spPr>
          <a:xfrm>
            <a:off x="1234440" y="283464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Translate before you compare.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Glucose is cpd00027 in ModelSEED and glc__D in BiGG.</a:t>
            </a:r>
            <a:endParaRPr lang="en-US" sz="1600" dirty="0"/>
          </a:p>
        </p:txBody>
      </p:sp>
      <p:sp>
        <p:nvSpPr>
          <p:cNvPr id="12" name="Lesson 4 node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Less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40480"/>
            <a:ext cx="274320" cy="274320"/>
          </a:xfrm>
          <a:prstGeom prst="rect">
            <a:avLst/>
          </a:prstGeom>
        </p:spPr>
      </p:pic>
      <p:sp>
        <p:nvSpPr>
          <p:cNvPr id="14" name="Lesson 4 text"/>
          <p:cNvSpPr txBox="1"/>
          <p:nvPr/>
        </p:nvSpPr>
        <p:spPr>
          <a:xfrm>
            <a:off x="1234440" y="365760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quality score is not biology.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MEMOTE: drafts 32–49%, curated models 85–91%; neither catches trpC2.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One FBA answer is not the whole story</a:t>
            </a:r>
            <a:endParaRPr lang="en-US" sz="3400" dirty="0"/>
          </a:p>
        </p:txBody>
      </p:sp>
      <p:sp>
        <p:nvSpPr>
          <p:cNvPr id="3" name="Space card"/>
          <p:cNvSpPr/>
          <p:nvPr/>
        </p:nvSpPr>
        <p:spPr>
          <a:xfrm>
            <a:off x="457200" y="1188720"/>
            <a:ext cx="37490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pace label"/>
          <p:cNvSpPr txBox="1"/>
          <p:nvPr/>
        </p:nvSpPr>
        <p:spPr>
          <a:xfrm>
            <a:off x="6400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All flux distributions the network allows</a:t>
            </a:r>
            <a:endParaRPr lang="en-US" sz="1300" dirty="0"/>
          </a:p>
        </p:txBody>
      </p:sp>
      <p:sp>
        <p:nvSpPr>
          <p:cNvPr id="5" name="Optimum band"/>
          <p:cNvSpPr/>
          <p:nvPr/>
        </p:nvSpPr>
        <p:spPr>
          <a:xfrm>
            <a:off x="731520" y="1783080"/>
            <a:ext cx="320040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Optimum label"/>
          <p:cNvSpPr txBox="1"/>
          <p:nvPr/>
        </p:nvSpPr>
        <p:spPr>
          <a:xfrm>
            <a:off x="86868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maximum growth</a:t>
            </a:r>
            <a:endParaRPr lang="en-US" sz="1200" dirty="0"/>
          </a:p>
        </p:txBody>
      </p:sp>
      <p:sp>
        <p:nvSpPr>
          <p:cNvPr id="7" name="Optimum dot 1"/>
          <p:cNvSpPr/>
          <p:nvPr/>
        </p:nvSpPr>
        <p:spPr>
          <a:xfrm>
            <a:off x="2514600" y="1920240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ptimum dot 2"/>
          <p:cNvSpPr/>
          <p:nvPr/>
        </p:nvSpPr>
        <p:spPr>
          <a:xfrm>
            <a:off x="2834640" y="192024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ptimum dot 3"/>
          <p:cNvSpPr/>
          <p:nvPr/>
        </p:nvSpPr>
        <p:spPr>
          <a:xfrm>
            <a:off x="3154680" y="1920240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ptimum dot 4"/>
          <p:cNvSpPr/>
          <p:nvPr/>
        </p:nvSpPr>
        <p:spPr>
          <a:xfrm>
            <a:off x="3474720" y="1920240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Near optimum band"/>
          <p:cNvSpPr/>
          <p:nvPr/>
        </p:nvSpPr>
        <p:spPr>
          <a:xfrm>
            <a:off x="731520" y="2423160"/>
            <a:ext cx="320040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Near optimum label"/>
          <p:cNvSpPr txBox="1"/>
          <p:nvPr/>
        </p:nvSpPr>
        <p:spPr>
          <a:xfrm>
            <a:off x="868680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within 10% of the maximum: far more freedom</a:t>
            </a:r>
            <a:endParaRPr lang="en-US" sz="1200" dirty="0"/>
          </a:p>
        </p:txBody>
      </p:sp>
      <p:sp>
        <p:nvSpPr>
          <p:cNvPr id="13" name="Space legend"/>
          <p:cNvSpPr txBox="1"/>
          <p:nvPr/>
        </p:nvSpPr>
        <p:spPr>
          <a:xfrm>
            <a:off x="640080" y="35204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● </a:t>
            </a:r>
            <a:r>
              <a:rPr lang="en-US" sz="1200" dirty="0">
                <a:solidFill>
                  <a:schemeClr val="tx1"/>
                </a:solidFill>
              </a:rPr>
              <a:t>the one solution FBA returns; </a:t>
            </a:r>
            <a:r>
              <a:rPr lang="en-US" sz="1200" dirty="0">
                <a:solidFill>
                  <a:schemeClr val="tx2"/>
                </a:solidFill>
              </a:rPr>
              <a:t>○ </a:t>
            </a:r>
            <a:r>
              <a:rPr lang="en-US" sz="1200" dirty="0">
                <a:solidFill>
                  <a:schemeClr val="tx1"/>
                </a:solidFill>
              </a:rPr>
              <a:t>equally good alternatives</a:t>
            </a:r>
            <a:endParaRPr lang="en-US" sz="1200" dirty="0"/>
          </a:p>
        </p:txBody>
      </p:sp>
      <p:sp>
        <p:nvSpPr>
          <p:cNvPr id="14" name="Question 1"/>
          <p:cNvSpPr txBox="1"/>
          <p:nvPr/>
        </p:nvSpPr>
        <p:spPr>
          <a:xfrm>
            <a:off x="4480560" y="1234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Is the FBA solution unique?</a:t>
            </a:r>
            <a:endParaRPr lang="en-US" sz="1400" dirty="0"/>
          </a:p>
        </p:txBody>
      </p:sp>
      <p:sp>
        <p:nvSpPr>
          <p:cNvPr id="15" name="Method 1"/>
          <p:cNvSpPr/>
          <p:nvPr/>
        </p:nvSpPr>
        <p:spPr>
          <a:xfrm>
            <a:off x="7086600" y="132588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Method 1 text"/>
          <p:cNvSpPr txBox="1"/>
          <p:nvPr/>
        </p:nvSpPr>
        <p:spPr>
          <a:xfrm>
            <a:off x="7086600" y="1325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FVA at 100%</a:t>
            </a:r>
            <a:endParaRPr lang="en-US" sz="1100" dirty="0"/>
          </a:p>
        </p:txBody>
      </p:sp>
      <p:sp>
        <p:nvSpPr>
          <p:cNvPr id="17" name="Question 2"/>
          <p:cNvSpPr txBox="1"/>
          <p:nvPr/>
        </p:nvSpPr>
        <p:spPr>
          <a:xfrm>
            <a:off x="44805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How certain is each flux?</a:t>
            </a:r>
            <a:endParaRPr lang="en-US" sz="1400" dirty="0"/>
          </a:p>
        </p:txBody>
      </p:sp>
      <p:sp>
        <p:nvSpPr>
          <p:cNvPr id="18" name="Method 2"/>
          <p:cNvSpPr/>
          <p:nvPr/>
        </p:nvSpPr>
        <p:spPr>
          <a:xfrm>
            <a:off x="7086600" y="196596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Method 2 text"/>
          <p:cNvSpPr txBox="1"/>
          <p:nvPr/>
        </p:nvSpPr>
        <p:spPr>
          <a:xfrm>
            <a:off x="7086600" y="1965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FVA at 90%</a:t>
            </a:r>
            <a:endParaRPr lang="en-US" sz="1100" dirty="0"/>
          </a:p>
        </p:txBody>
      </p:sp>
      <p:sp>
        <p:nvSpPr>
          <p:cNvPr id="20" name="Question 3"/>
          <p:cNvSpPr txBox="1"/>
          <p:nvPr/>
        </p:nvSpPr>
        <p:spPr>
          <a:xfrm>
            <a:off x="448056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Which solution should I report?</a:t>
            </a:r>
            <a:endParaRPr lang="en-US" sz="1400" dirty="0"/>
          </a:p>
        </p:txBody>
      </p:sp>
      <p:sp>
        <p:nvSpPr>
          <p:cNvPr id="21" name="Method 3"/>
          <p:cNvSpPr/>
          <p:nvPr/>
        </p:nvSpPr>
        <p:spPr>
          <a:xfrm>
            <a:off x="7086600" y="260604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Method 3 text"/>
          <p:cNvSpPr txBox="1"/>
          <p:nvPr/>
        </p:nvSpPr>
        <p:spPr>
          <a:xfrm>
            <a:off x="7086600" y="2606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pFBA</a:t>
            </a:r>
            <a:endParaRPr lang="en-US" sz="1100" dirty="0"/>
          </a:p>
        </p:txBody>
      </p:sp>
      <p:sp>
        <p:nvSpPr>
          <p:cNvPr id="23" name="Question 4"/>
          <p:cNvSpPr txBox="1"/>
          <p:nvPr/>
        </p:nvSpPr>
        <p:spPr>
          <a:xfrm>
            <a:off x="4480560" y="3154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How does growth respond to oxygen?</a:t>
            </a:r>
            <a:endParaRPr lang="en-US" sz="1400" dirty="0"/>
          </a:p>
        </p:txBody>
      </p:sp>
      <p:sp>
        <p:nvSpPr>
          <p:cNvPr id="24" name="Method 4"/>
          <p:cNvSpPr/>
          <p:nvPr/>
        </p:nvSpPr>
        <p:spPr>
          <a:xfrm>
            <a:off x="7086600" y="324612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Method 4 text"/>
          <p:cNvSpPr txBox="1"/>
          <p:nvPr/>
        </p:nvSpPr>
        <p:spPr>
          <a:xfrm>
            <a:off x="7086600" y="3246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robustness, phase plane</a:t>
            </a:r>
            <a:endParaRPr lang="en-US" sz="1100" dirty="0"/>
          </a:p>
        </p:txBody>
      </p:sp>
      <p:sp>
        <p:nvSpPr>
          <p:cNvPr id="26" name="Question 5"/>
          <p:cNvSpPr txBox="1"/>
          <p:nvPr/>
        </p:nvSpPr>
        <p:spPr>
          <a:xfrm>
            <a:off x="4480560" y="3794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Which genes matter? How to make a product?</a:t>
            </a:r>
            <a:endParaRPr lang="en-US" sz="1400" dirty="0"/>
          </a:p>
        </p:txBody>
      </p:sp>
      <p:sp>
        <p:nvSpPr>
          <p:cNvPr id="27" name="Method 5"/>
          <p:cNvSpPr/>
          <p:nvPr/>
        </p:nvSpPr>
        <p:spPr>
          <a:xfrm>
            <a:off x="7086600" y="3886200"/>
            <a:ext cx="16002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Method 5 text"/>
          <p:cNvSpPr txBox="1"/>
          <p:nvPr/>
        </p:nvSpPr>
        <p:spPr>
          <a:xfrm>
            <a:off x="7086600" y="38862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deletions, envelopes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curated models today</a:t>
            </a:r>
            <a:endParaRPr lang="en-US" sz="3400" dirty="0"/>
          </a:p>
        </p:txBody>
      </p:sp>
      <p:sp>
        <p:nvSpPr>
          <p:cNvPr id="3" name="Model card 1"/>
          <p:cNvSpPr/>
          <p:nvPr/>
        </p:nvSpPr>
        <p:spPr>
          <a:xfrm>
            <a:off x="45720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Model 1 node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Model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1497330"/>
            <a:ext cx="251460" cy="251460"/>
          </a:xfrm>
          <a:prstGeom prst="rect">
            <a:avLst/>
          </a:prstGeom>
        </p:spPr>
      </p:pic>
      <p:sp>
        <p:nvSpPr>
          <p:cNvPr id="6" name="Model 1 name"/>
          <p:cNvSpPr txBox="1"/>
          <p:nvPr/>
        </p:nvSpPr>
        <p:spPr>
          <a:xfrm>
            <a:off x="128016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E. coli core</a:t>
            </a:r>
            <a:endParaRPr lang="en-US" sz="1700" dirty="0"/>
          </a:p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central metabolism of E. coli</a:t>
            </a:r>
            <a:endParaRPr lang="en-US" sz="1700" dirty="0"/>
          </a:p>
        </p:txBody>
      </p:sp>
      <p:sp>
        <p:nvSpPr>
          <p:cNvPr id="7" name="Model 1 size"/>
          <p:cNvSpPr txBox="1"/>
          <p:nvPr/>
        </p:nvSpPr>
        <p:spPr>
          <a:xfrm>
            <a:off x="658368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95 reactions · 72 metabolites · 137 genes</a:t>
            </a:r>
            <a:endParaRPr lang="en-US" sz="1300" dirty="0"/>
          </a:p>
        </p:txBody>
      </p:sp>
      <p:sp>
        <p:nvSpPr>
          <p:cNvPr id="8" name="Model 1 use"/>
          <p:cNvSpPr txBox="1"/>
          <p:nvPr/>
        </p:nvSpPr>
        <p:spPr>
          <a:xfrm>
            <a:off x="658368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Day 1's model, small enough to see every reaction</a:t>
            </a:r>
            <a:endParaRPr lang="en-US" sz="1400" dirty="0"/>
          </a:p>
        </p:txBody>
      </p:sp>
      <p:sp>
        <p:nvSpPr>
          <p:cNvPr id="9" name="Model 1 ref"/>
          <p:cNvSpPr txBox="1"/>
          <p:nvPr/>
        </p:nvSpPr>
        <p:spPr>
          <a:xfrm>
            <a:off x="658368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Orth et al., EcoSal Plus 2010</a:t>
            </a:r>
            <a:endParaRPr lang="en-US" sz="1100" dirty="0"/>
          </a:p>
        </p:txBody>
      </p:sp>
      <p:sp>
        <p:nvSpPr>
          <p:cNvPr id="10" name="Model card 2"/>
          <p:cNvSpPr/>
          <p:nvPr/>
        </p:nvSpPr>
        <p:spPr>
          <a:xfrm>
            <a:off x="329184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Model 2 node"/>
          <p:cNvSpPr/>
          <p:nvPr/>
        </p:nvSpPr>
        <p:spPr>
          <a:xfrm>
            <a:off x="3493008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Model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738" y="1497330"/>
            <a:ext cx="251460" cy="251460"/>
          </a:xfrm>
          <a:prstGeom prst="rect">
            <a:avLst/>
          </a:prstGeom>
        </p:spPr>
      </p:pic>
      <p:sp>
        <p:nvSpPr>
          <p:cNvPr id="13" name="Model 2 name"/>
          <p:cNvSpPr txBox="1"/>
          <p:nvPr/>
        </p:nvSpPr>
        <p:spPr>
          <a:xfrm>
            <a:off x="41148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iMM904</a:t>
            </a:r>
            <a:endParaRPr lang="en-US" sz="1700" dirty="0"/>
          </a:p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Saccharomyces cerevisiae</a:t>
            </a:r>
            <a:endParaRPr lang="en-US" sz="1700" dirty="0"/>
          </a:p>
        </p:txBody>
      </p:sp>
      <p:sp>
        <p:nvSpPr>
          <p:cNvPr id="14" name="Model 2 size"/>
          <p:cNvSpPr txBox="1"/>
          <p:nvPr/>
        </p:nvSpPr>
        <p:spPr>
          <a:xfrm>
            <a:off x="3493008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1,577 reactions · 1,226 metabolites · 905 genes</a:t>
            </a:r>
            <a:endParaRPr lang="en-US" sz="1300" dirty="0"/>
          </a:p>
        </p:txBody>
      </p:sp>
      <p:sp>
        <p:nvSpPr>
          <p:cNvPr id="15" name="Model 2 use"/>
          <p:cNvSpPr txBox="1"/>
          <p:nvPr/>
        </p:nvSpPr>
        <p:spPr>
          <a:xfrm>
            <a:off x="3493008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Genome-scale yeast: ethanol, with and without oxygen</a:t>
            </a:r>
            <a:endParaRPr lang="en-US" sz="1400" dirty="0"/>
          </a:p>
        </p:txBody>
      </p:sp>
      <p:sp>
        <p:nvSpPr>
          <p:cNvPr id="16" name="Model 2 ref"/>
          <p:cNvSpPr txBox="1"/>
          <p:nvPr/>
        </p:nvSpPr>
        <p:spPr>
          <a:xfrm>
            <a:off x="3493008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Mo et al., BMC Syst. Biol. 2009</a:t>
            </a:r>
            <a:endParaRPr lang="en-US" sz="1100" dirty="0"/>
          </a:p>
        </p:txBody>
      </p:sp>
      <p:sp>
        <p:nvSpPr>
          <p:cNvPr id="17" name="Model card 3"/>
          <p:cNvSpPr/>
          <p:nvPr/>
        </p:nvSpPr>
        <p:spPr>
          <a:xfrm>
            <a:off x="612648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Model 3 node"/>
          <p:cNvSpPr/>
          <p:nvPr/>
        </p:nvSpPr>
        <p:spPr>
          <a:xfrm>
            <a:off x="6327648" y="137160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Model 3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78" y="1497330"/>
            <a:ext cx="251460" cy="251460"/>
          </a:xfrm>
          <a:prstGeom prst="rect">
            <a:avLst/>
          </a:prstGeom>
        </p:spPr>
      </p:pic>
      <p:sp>
        <p:nvSpPr>
          <p:cNvPr id="20" name="Model 3 name"/>
          <p:cNvSpPr txBox="1"/>
          <p:nvPr/>
        </p:nvSpPr>
        <p:spPr>
          <a:xfrm>
            <a:off x="694944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iML1515</a:t>
            </a:r>
            <a:endParaRPr lang="en-US" sz="1700" dirty="0"/>
          </a:p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E. coli K-12 MG1655</a:t>
            </a:r>
            <a:endParaRPr lang="en-US" sz="1700" dirty="0"/>
          </a:p>
        </p:txBody>
      </p:sp>
      <p:sp>
        <p:nvSpPr>
          <p:cNvPr id="21" name="Model 3 size"/>
          <p:cNvSpPr txBox="1"/>
          <p:nvPr/>
        </p:nvSpPr>
        <p:spPr>
          <a:xfrm>
            <a:off x="6327648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2,712 reactions · 1,877 metabolites · 1,516 genes</a:t>
            </a:r>
            <a:endParaRPr lang="en-US" sz="1300" dirty="0"/>
          </a:p>
        </p:txBody>
      </p:sp>
      <p:sp>
        <p:nvSpPr>
          <p:cNvPr id="22" name="Model 3 use"/>
          <p:cNvSpPr txBox="1"/>
          <p:nvPr/>
        </p:nvSpPr>
        <p:spPr>
          <a:xfrm>
            <a:off x="6327648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Genome-scale E. coli, yesterday's answer key</a:t>
            </a:r>
            <a:endParaRPr lang="en-US" sz="1400" dirty="0"/>
          </a:p>
        </p:txBody>
      </p:sp>
      <p:sp>
        <p:nvSpPr>
          <p:cNvPr id="23" name="Model 3 ref"/>
          <p:cNvSpPr txBox="1"/>
          <p:nvPr/>
        </p:nvSpPr>
        <p:spPr>
          <a:xfrm>
            <a:off x="6327648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Monk et al., Nat. Biotechnol. 2017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Today's plan</a:t>
            </a:r>
            <a:endParaRPr lang="en-US" sz="3400" dirty="0"/>
          </a:p>
        </p:txBody>
      </p:sp>
      <p:sp>
        <p:nvSpPr>
          <p:cNvPr id="3" name="Timeline spine"/>
          <p:cNvSpPr/>
          <p:nvPr/>
        </p:nvSpPr>
        <p:spPr>
          <a:xfrm>
            <a:off x="1508760" y="1463040"/>
            <a:ext cx="0" cy="2743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09:45 time"/>
          <p:cNvSpPr txBox="1"/>
          <p:nvPr/>
        </p:nvSpPr>
        <p:spPr>
          <a:xfrm>
            <a:off x="457200" y="1188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09:45</a:t>
            </a:r>
            <a:endParaRPr lang="en-US" sz="1500" dirty="0"/>
          </a:p>
        </p:txBody>
      </p:sp>
      <p:sp>
        <p:nvSpPr>
          <p:cNvPr id="5" name="09:45 session node"/>
          <p:cNvSpPr/>
          <p:nvPr/>
        </p:nvSpPr>
        <p:spPr>
          <a:xfrm>
            <a:off x="1307592" y="12618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09:45 sessio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362456"/>
            <a:ext cx="201168" cy="201168"/>
          </a:xfrm>
          <a:prstGeom prst="rect">
            <a:avLst/>
          </a:prstGeom>
        </p:spPr>
      </p:pic>
      <p:sp>
        <p:nvSpPr>
          <p:cNvPr id="7" name="09:45 title"/>
          <p:cNvSpPr txBox="1"/>
          <p:nvPr/>
        </p:nvSpPr>
        <p:spPr>
          <a:xfrm>
            <a:off x="1920240" y="1188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Beyond one FBA solution: FVA, pFBA, robustness</a:t>
            </a:r>
            <a:endParaRPr lang="en-US" sz="1600" dirty="0"/>
          </a:p>
        </p:txBody>
      </p:sp>
      <p:sp>
        <p:nvSpPr>
          <p:cNvPr id="8" name="09:45 tag"/>
          <p:cNvSpPr/>
          <p:nvPr/>
        </p:nvSpPr>
        <p:spPr>
          <a:xfrm>
            <a:off x="6949440" y="1298448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09:45 tag text"/>
          <p:cNvSpPr txBox="1"/>
          <p:nvPr/>
        </p:nvSpPr>
        <p:spPr>
          <a:xfrm>
            <a:off x="6949440" y="1298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Hands-on</a:t>
            </a:r>
            <a:endParaRPr lang="en-US" sz="1300" dirty="0"/>
          </a:p>
        </p:txBody>
      </p:sp>
      <p:sp>
        <p:nvSpPr>
          <p:cNvPr id="10" name="11:00 time"/>
          <p:cNvSpPr txBox="1"/>
          <p:nvPr/>
        </p:nvSpPr>
        <p:spPr>
          <a:xfrm>
            <a:off x="45720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11:00</a:t>
            </a:r>
            <a:endParaRPr lang="en-US" sz="1500" dirty="0"/>
          </a:p>
        </p:txBody>
      </p:sp>
      <p:sp>
        <p:nvSpPr>
          <p:cNvPr id="11" name="11:00 session node"/>
          <p:cNvSpPr/>
          <p:nvPr/>
        </p:nvSpPr>
        <p:spPr>
          <a:xfrm>
            <a:off x="1307592" y="18105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11:00 session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1911096"/>
            <a:ext cx="201168" cy="201168"/>
          </a:xfrm>
          <a:prstGeom prst="rect">
            <a:avLst/>
          </a:prstGeom>
        </p:spPr>
      </p:pic>
      <p:sp>
        <p:nvSpPr>
          <p:cNvPr id="13" name="11:00 title"/>
          <p:cNvSpPr txBox="1"/>
          <p:nvPr/>
        </p:nvSpPr>
        <p:spPr>
          <a:xfrm>
            <a:off x="192024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Essential genes and strain design</a:t>
            </a:r>
            <a:endParaRPr lang="en-US" sz="1600" dirty="0"/>
          </a:p>
        </p:txBody>
      </p:sp>
      <p:sp>
        <p:nvSpPr>
          <p:cNvPr id="14" name="11:00 tag"/>
          <p:cNvSpPr/>
          <p:nvPr/>
        </p:nvSpPr>
        <p:spPr>
          <a:xfrm>
            <a:off x="6949440" y="1847088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11:00 tag text"/>
          <p:cNvSpPr txBox="1"/>
          <p:nvPr/>
        </p:nvSpPr>
        <p:spPr>
          <a:xfrm>
            <a:off x="6949440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Hands-on</a:t>
            </a:r>
            <a:endParaRPr lang="en-US" sz="1300" dirty="0"/>
          </a:p>
        </p:txBody>
      </p:sp>
      <p:sp>
        <p:nvSpPr>
          <p:cNvPr id="16" name="13:00 time"/>
          <p:cNvSpPr txBox="1"/>
          <p:nvPr/>
        </p:nvSpPr>
        <p:spPr>
          <a:xfrm>
            <a:off x="4572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13:00</a:t>
            </a:r>
            <a:endParaRPr lang="en-US" sz="1500" dirty="0"/>
          </a:p>
        </p:txBody>
      </p:sp>
      <p:sp>
        <p:nvSpPr>
          <p:cNvPr id="17" name="13:00 session node"/>
          <p:cNvSpPr/>
          <p:nvPr/>
        </p:nvSpPr>
        <p:spPr>
          <a:xfrm>
            <a:off x="1307592" y="2359152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13:00 session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2459736"/>
            <a:ext cx="201168" cy="201168"/>
          </a:xfrm>
          <a:prstGeom prst="rect">
            <a:avLst/>
          </a:prstGeom>
        </p:spPr>
      </p:pic>
      <p:sp>
        <p:nvSpPr>
          <p:cNvPr id="19" name="13:00 title"/>
          <p:cNvSpPr txBox="1"/>
          <p:nvPr/>
        </p:nvSpPr>
        <p:spPr>
          <a:xfrm>
            <a:off x="192024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Omics integration: from expression data to fluxes</a:t>
            </a:r>
            <a:endParaRPr lang="en-US" sz="1600" dirty="0"/>
          </a:p>
        </p:txBody>
      </p:sp>
      <p:sp>
        <p:nvSpPr>
          <p:cNvPr id="20" name="13:00 tag"/>
          <p:cNvSpPr/>
          <p:nvPr/>
        </p:nvSpPr>
        <p:spPr>
          <a:xfrm>
            <a:off x="6949440" y="2395728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13:00 tag text"/>
          <p:cNvSpPr txBox="1"/>
          <p:nvPr/>
        </p:nvSpPr>
        <p:spPr>
          <a:xfrm>
            <a:off x="6949440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Talk + example</a:t>
            </a:r>
            <a:endParaRPr lang="en-US" sz="1300" dirty="0"/>
          </a:p>
        </p:txBody>
      </p:sp>
      <p:sp>
        <p:nvSpPr>
          <p:cNvPr id="22" name="14:00 time"/>
          <p:cNvSpPr txBox="1"/>
          <p:nvPr/>
        </p:nvSpPr>
        <p:spPr>
          <a:xfrm>
            <a:off x="45720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14:00</a:t>
            </a:r>
            <a:endParaRPr lang="en-US" sz="1500" dirty="0"/>
          </a:p>
        </p:txBody>
      </p:sp>
      <p:sp>
        <p:nvSpPr>
          <p:cNvPr id="23" name="14:00 session node"/>
          <p:cNvSpPr/>
          <p:nvPr/>
        </p:nvSpPr>
        <p:spPr>
          <a:xfrm>
            <a:off x="1307592" y="2907792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14:00 session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176" y="3008376"/>
            <a:ext cx="201168" cy="201168"/>
          </a:xfrm>
          <a:prstGeom prst="rect">
            <a:avLst/>
          </a:prstGeom>
        </p:spPr>
      </p:pic>
      <p:sp>
        <p:nvSpPr>
          <p:cNvPr id="25" name="14:00 title"/>
          <p:cNvSpPr txBox="1"/>
          <p:nvPr/>
        </p:nvSpPr>
        <p:spPr>
          <a:xfrm>
            <a:off x="1920240" y="2834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Communities: co-cultures with COMETS</a:t>
            </a:r>
            <a:endParaRPr lang="en-US" sz="1600" dirty="0"/>
          </a:p>
        </p:txBody>
      </p:sp>
      <p:sp>
        <p:nvSpPr>
          <p:cNvPr id="26" name="14:00 tag"/>
          <p:cNvSpPr/>
          <p:nvPr/>
        </p:nvSpPr>
        <p:spPr>
          <a:xfrm>
            <a:off x="6949440" y="2944368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14:00 tag text"/>
          <p:cNvSpPr txBox="1"/>
          <p:nvPr/>
        </p:nvSpPr>
        <p:spPr>
          <a:xfrm>
            <a:off x="6949440" y="2944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Worked example</a:t>
            </a:r>
            <a:endParaRPr lang="en-US" sz="1300" dirty="0"/>
          </a:p>
        </p:txBody>
      </p:sp>
      <p:sp>
        <p:nvSpPr>
          <p:cNvPr id="28" name="15:30 time"/>
          <p:cNvSpPr txBox="1"/>
          <p:nvPr/>
        </p:nvSpPr>
        <p:spPr>
          <a:xfrm>
            <a:off x="457200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15:30</a:t>
            </a:r>
            <a:endParaRPr lang="en-US" sz="1500" dirty="0"/>
          </a:p>
        </p:txBody>
      </p:sp>
      <p:sp>
        <p:nvSpPr>
          <p:cNvPr id="29" name="15:30 session node"/>
          <p:cNvSpPr/>
          <p:nvPr/>
        </p:nvSpPr>
        <p:spPr>
          <a:xfrm>
            <a:off x="1307592" y="3456432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15:30 session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176" y="3557016"/>
            <a:ext cx="201168" cy="201168"/>
          </a:xfrm>
          <a:prstGeom prst="rect">
            <a:avLst/>
          </a:prstGeom>
        </p:spPr>
      </p:pic>
      <p:sp>
        <p:nvSpPr>
          <p:cNvPr id="31" name="15:30 title"/>
          <p:cNvSpPr txBox="1"/>
          <p:nvPr/>
        </p:nvSpPr>
        <p:spPr>
          <a:xfrm>
            <a:off x="192024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Wrap-up: where to go next</a:t>
            </a:r>
            <a:endParaRPr lang="en-US" sz="1600" dirty="0"/>
          </a:p>
        </p:txBody>
      </p:sp>
      <p:sp>
        <p:nvSpPr>
          <p:cNvPr id="32" name="15:30 tag"/>
          <p:cNvSpPr/>
          <p:nvPr/>
        </p:nvSpPr>
        <p:spPr>
          <a:xfrm>
            <a:off x="6949440" y="3493008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15:30 tag text"/>
          <p:cNvSpPr txBox="1"/>
          <p:nvPr/>
        </p:nvSpPr>
        <p:spPr>
          <a:xfrm>
            <a:off x="6949440" y="34930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Discussion</a:t>
            </a:r>
            <a:endParaRPr lang="en-US" sz="1300" dirty="0"/>
          </a:p>
        </p:txBody>
      </p:sp>
      <p:sp>
        <p:nvSpPr>
          <p:cNvPr id="34" name="16:00 time"/>
          <p:cNvSpPr txBox="1"/>
          <p:nvPr/>
        </p:nvSpPr>
        <p:spPr>
          <a:xfrm>
            <a:off x="45720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16:00</a:t>
            </a:r>
            <a:endParaRPr lang="en-US" sz="1500" dirty="0"/>
          </a:p>
        </p:txBody>
      </p:sp>
      <p:sp>
        <p:nvSpPr>
          <p:cNvPr id="35" name="16:00 session node"/>
          <p:cNvSpPr/>
          <p:nvPr/>
        </p:nvSpPr>
        <p:spPr>
          <a:xfrm>
            <a:off x="1307592" y="4005072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16:00 session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8176" y="4105656"/>
            <a:ext cx="201168" cy="201168"/>
          </a:xfrm>
          <a:prstGeom prst="rect">
            <a:avLst/>
          </a:prstGeom>
        </p:spPr>
      </p:pic>
      <p:sp>
        <p:nvSpPr>
          <p:cNvPr id="37" name="16:00 title"/>
          <p:cNvSpPr txBox="1"/>
          <p:nvPr/>
        </p:nvSpPr>
        <p:spPr>
          <a:xfrm>
            <a:off x="192024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Drop-in clinic: help with your own laptop</a:t>
            </a:r>
            <a:endParaRPr lang="en-US" sz="1600" dirty="0"/>
          </a:p>
        </p:txBody>
      </p:sp>
      <p:sp>
        <p:nvSpPr>
          <p:cNvPr id="38" name="16:00 tag"/>
          <p:cNvSpPr/>
          <p:nvPr/>
        </p:nvSpPr>
        <p:spPr>
          <a:xfrm>
            <a:off x="6949440" y="4041648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16:00 tag text"/>
          <p:cNvSpPr txBox="1"/>
          <p:nvPr/>
        </p:nvSpPr>
        <p:spPr>
          <a:xfrm>
            <a:off x="694944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Clinic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 question for today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Which of today's predictions would you trust enough to build a strain?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Every prediction rests on three choices: the model, the medium and the objective.</a:t>
            </a:r>
            <a:endParaRPr lang="en-US" sz="1600" dirty="0"/>
          </a:p>
        </p:txBody>
      </p:sp>
      <p:sp>
        <p:nvSpPr>
          <p:cNvPr id="5" name="Closing edge AC"/>
          <p:cNvSpPr/>
          <p:nvPr/>
        </p:nvSpPr>
        <p:spPr>
          <a:xfrm>
            <a:off x="6455061" y="1456625"/>
            <a:ext cx="333297" cy="43585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Closing edge BD"/>
          <p:cNvSpPr/>
          <p:nvPr/>
        </p:nvSpPr>
        <p:spPr>
          <a:xfrm>
            <a:off x="7598612" y="1235407"/>
            <a:ext cx="530456" cy="500987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Closing edge CD"/>
          <p:cNvSpPr/>
          <p:nvPr/>
        </p:nvSpPr>
        <p:spPr>
          <a:xfrm flipV="1">
            <a:off x="7192738" y="1908700"/>
            <a:ext cx="884339" cy="15247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Closing edge DE"/>
          <p:cNvSpPr/>
          <p:nvPr/>
        </p:nvSpPr>
        <p:spPr>
          <a:xfrm flipH="1">
            <a:off x="7837092" y="2038093"/>
            <a:ext cx="356442" cy="712884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Closing edge CF"/>
          <p:cNvSpPr/>
          <p:nvPr/>
        </p:nvSpPr>
        <p:spPr>
          <a:xfrm flipH="1">
            <a:off x="6529370" y="2325846"/>
            <a:ext cx="313549" cy="65560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Closing edge FH"/>
          <p:cNvSpPr/>
          <p:nvPr/>
        </p:nvSpPr>
        <p:spPr>
          <a:xfrm>
            <a:off x="6561467" y="3284954"/>
            <a:ext cx="455905" cy="51669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Closing edge EH"/>
          <p:cNvSpPr/>
          <p:nvPr/>
        </p:nvSpPr>
        <p:spPr>
          <a:xfrm flipH="1">
            <a:off x="7223767" y="3166171"/>
            <a:ext cx="382589" cy="61802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Closing edge DG"/>
          <p:cNvSpPr/>
          <p:nvPr/>
        </p:nvSpPr>
        <p:spPr>
          <a:xfrm>
            <a:off x="8307102" y="2054617"/>
            <a:ext cx="202811" cy="1149261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Closing flux BC"/>
          <p:cNvSpPr/>
          <p:nvPr/>
        </p:nvSpPr>
        <p:spPr>
          <a:xfrm flipH="1">
            <a:off x="7068030" y="1277210"/>
            <a:ext cx="294365" cy="588729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Closing flux CE"/>
          <p:cNvSpPr/>
          <p:nvPr/>
        </p:nvSpPr>
        <p:spPr>
          <a:xfrm>
            <a:off x="7114064" y="2287111"/>
            <a:ext cx="447993" cy="50069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Closing flux EG"/>
          <p:cNvSpPr/>
          <p:nvPr/>
        </p:nvSpPr>
        <p:spPr>
          <a:xfrm>
            <a:off x="7926512" y="3082818"/>
            <a:ext cx="423295" cy="23516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Closing node A"/>
          <p:cNvSpPr/>
          <p:nvPr/>
        </p:nvSpPr>
        <p:spPr>
          <a:xfrm>
            <a:off x="6236208" y="12070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Closing node B"/>
          <p:cNvSpPr/>
          <p:nvPr/>
        </p:nvSpPr>
        <p:spPr>
          <a:xfrm>
            <a:off x="7296912" y="94183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Closing node C"/>
          <p:cNvSpPr/>
          <p:nvPr/>
        </p:nvSpPr>
        <p:spPr>
          <a:xfrm>
            <a:off x="6748272" y="190195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Closing node D"/>
          <p:cNvSpPr/>
          <p:nvPr/>
        </p:nvSpPr>
        <p:spPr>
          <a:xfrm>
            <a:off x="8138160" y="17373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Closing node E"/>
          <p:cNvSpPr/>
          <p:nvPr/>
        </p:nvSpPr>
        <p:spPr>
          <a:xfrm>
            <a:off x="7543800" y="2788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Closing node F"/>
          <p:cNvSpPr/>
          <p:nvPr/>
        </p:nvSpPr>
        <p:spPr>
          <a:xfrm>
            <a:off x="6318504" y="30266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Closing node G"/>
          <p:cNvSpPr/>
          <p:nvPr/>
        </p:nvSpPr>
        <p:spPr>
          <a:xfrm>
            <a:off x="8385048" y="32644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Closing node H"/>
          <p:cNvSpPr/>
          <p:nvPr/>
        </p:nvSpPr>
        <p:spPr>
          <a:xfrm>
            <a:off x="7022592" y="38221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-M">
  <a:themeElements>
    <a:clrScheme name="CODE-M">
      <a:dk1>
        <a:srgbClr val="1F2A2E"/>
      </a:dk1>
      <a:lt1>
        <a:srgbClr val="FFFFFF"/>
      </a:lt1>
      <a:dk2>
        <a:srgbClr val="0E3B43"/>
      </a:dk2>
      <a:lt2>
        <a:srgbClr val="EAF4F1"/>
      </a:lt2>
      <a:accent1>
        <a:srgbClr val="1B998B"/>
      </a:accent1>
      <a:accent2>
        <a:srgbClr val="E8913A"/>
      </a:accent2>
      <a:accent3>
        <a:srgbClr val="5C7A82"/>
      </a:accent3>
      <a:accent4>
        <a:srgbClr val="C5E3DC"/>
      </a:accent4>
      <a:accent5>
        <a:srgbClr val="B85C1E"/>
      </a:accent5>
      <a:accent6>
        <a:srgbClr val="2E6F7A"/>
      </a:accent6>
      <a:hlink>
        <a:srgbClr val="1B998B"/>
      </a:hlink>
      <a:folHlink>
        <a:srgbClr val="5C7A82"/>
      </a:folHlink>
    </a:clrScheme>
    <a:fontScheme name="CODE-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Microsoft Macintosh PowerPoint</Application>
  <PresentationFormat>On-screen Show (16:9)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CODE-M</vt:lpstr>
      <vt:lpstr>From one model to many questions</vt:lpstr>
      <vt:lpstr>Three days, one thread</vt:lpstr>
      <vt:lpstr>Yesterday in four lessons</vt:lpstr>
      <vt:lpstr>One FBA answer is not the whole story</vt:lpstr>
      <vt:lpstr>Three curated models today</vt:lpstr>
      <vt:lpstr>Today's plan</vt:lpstr>
      <vt:lpstr>Which of today's predictions would you trust enough to build a strain?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CODE-M Day 3 — Recap and plan</dc:title>
  <dc:subject>CODE-M Workshop, Day 3, 09:30</dc:subject>
  <dc:creator>Francesco Del Carratore and Stephen Chapman</dc:creator>
  <cp:lastModifiedBy>Del Carratore, Francesco</cp:lastModifiedBy>
  <cp:revision>1</cp:revision>
  <dcterms:created xsi:type="dcterms:W3CDTF">2026-10-09T13:12:42Z</dcterms:created>
  <dcterms:modified xsi:type="dcterms:W3CDTF">2026-10-09T13:42:58Z</dcterms:modified>
</cp:coreProperties>
</file>