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5.xml" ContentType="application/vnd.openxmlformats-officedocument.presentationml.notesSlide+xml"/>
  <Override PartName="/ppt/ink/ink12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563" r:id="rId2"/>
    <p:sldId id="257" r:id="rId3"/>
    <p:sldId id="258" r:id="rId4"/>
    <p:sldId id="432" r:id="rId5"/>
    <p:sldId id="634" r:id="rId6"/>
    <p:sldId id="635" r:id="rId7"/>
    <p:sldId id="636" r:id="rId8"/>
    <p:sldId id="638" r:id="rId9"/>
    <p:sldId id="588" r:id="rId10"/>
    <p:sldId id="617" r:id="rId11"/>
    <p:sldId id="639" r:id="rId12"/>
    <p:sldId id="559" r:id="rId13"/>
    <p:sldId id="280" r:id="rId14"/>
    <p:sldId id="304" r:id="rId15"/>
    <p:sldId id="537" r:id="rId16"/>
    <p:sldId id="281" r:id="rId17"/>
    <p:sldId id="543" r:id="rId18"/>
    <p:sldId id="643" r:id="rId19"/>
    <p:sldId id="297" r:id="rId20"/>
    <p:sldId id="369" r:id="rId21"/>
    <p:sldId id="624" r:id="rId22"/>
    <p:sldId id="311" r:id="rId23"/>
    <p:sldId id="436" r:id="rId24"/>
    <p:sldId id="365" r:id="rId25"/>
    <p:sldId id="372" r:id="rId26"/>
    <p:sldId id="577" r:id="rId27"/>
    <p:sldId id="360" r:id="rId28"/>
    <p:sldId id="366" r:id="rId29"/>
    <p:sldId id="367" r:id="rId30"/>
    <p:sldId id="368" r:id="rId31"/>
    <p:sldId id="373" r:id="rId32"/>
    <p:sldId id="374" r:id="rId33"/>
    <p:sldId id="376" r:id="rId34"/>
    <p:sldId id="640" r:id="rId35"/>
    <p:sldId id="642" r:id="rId36"/>
    <p:sldId id="641" r:id="rId37"/>
    <p:sldId id="62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8D5A"/>
    <a:srgbClr val="F5BF7B"/>
    <a:srgbClr val="F7BD77"/>
    <a:srgbClr val="27718F"/>
    <a:srgbClr val="FEFFFA"/>
    <a:srgbClr val="598ED7"/>
    <a:srgbClr val="FFFEFF"/>
    <a:srgbClr val="6CABDB"/>
    <a:srgbClr val="D1F0FB"/>
    <a:srgbClr val="F47A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30068A-9E01-6C4E-B736-D66DEC0C8EAD}" v="13" dt="2026-10-12T09:52:23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21"/>
    <p:restoredTop sz="94342"/>
  </p:normalViewPr>
  <p:slideViewPr>
    <p:cSldViewPr snapToGrid="0">
      <p:cViewPr>
        <p:scale>
          <a:sx n="110" d="100"/>
          <a:sy n="110" d="100"/>
        </p:scale>
        <p:origin x="144" y="-2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pman, Stephen" userId="31a87834-901a-4691-a691-bf491053d09a" providerId="ADAL" clId="{07072C4A-42DD-5720-86A8-E3A7D67E6347}"/>
    <pc:docChg chg="undo custSel addSld delSld modSld sldOrd">
      <pc:chgData name="Chapman, Stephen" userId="31a87834-901a-4691-a691-bf491053d09a" providerId="ADAL" clId="{07072C4A-42DD-5720-86A8-E3A7D67E6347}" dt="2026-10-12T09:52:23.022" v="10482"/>
      <pc:docMkLst>
        <pc:docMk/>
      </pc:docMkLst>
      <pc:sldChg chg="addSp delSp modSp mod">
        <pc:chgData name="Chapman, Stephen" userId="31a87834-901a-4691-a691-bf491053d09a" providerId="ADAL" clId="{07072C4A-42DD-5720-86A8-E3A7D67E6347}" dt="2026-10-12T09:52:23.022" v="10482"/>
        <pc:sldMkLst>
          <pc:docMk/>
          <pc:sldMk cId="3099192246" sldId="257"/>
        </pc:sldMkLst>
        <pc:spChg chg="del">
          <ac:chgData name="Chapman, Stephen" userId="31a87834-901a-4691-a691-bf491053d09a" providerId="ADAL" clId="{07072C4A-42DD-5720-86A8-E3A7D67E6347}" dt="2026-10-12T08:44:47.098" v="8978" actId="478"/>
          <ac:spMkLst>
            <pc:docMk/>
            <pc:sldMk cId="3099192246" sldId="257"/>
            <ac:spMk id="2" creationId="{761A5680-9E3B-A504-ED89-8A1C44B3E8F5}"/>
          </ac:spMkLst>
        </pc:spChg>
        <pc:spChg chg="mod">
          <ac:chgData name="Chapman, Stephen" userId="31a87834-901a-4691-a691-bf491053d09a" providerId="ADAL" clId="{07072C4A-42DD-5720-86A8-E3A7D67E6347}" dt="2026-10-12T08:45:46.867" v="8987" actId="27636"/>
          <ac:spMkLst>
            <pc:docMk/>
            <pc:sldMk cId="3099192246" sldId="257"/>
            <ac:spMk id="10" creationId="{8859729A-879E-0788-0CC0-2311550C2672}"/>
          </ac:spMkLst>
        </pc:spChg>
        <pc:picChg chg="add mod">
          <ac:chgData name="Chapman, Stephen" userId="31a87834-901a-4691-a691-bf491053d09a" providerId="ADAL" clId="{07072C4A-42DD-5720-86A8-E3A7D67E6347}" dt="2026-10-12T09:52:23.022" v="10482"/>
          <ac:picMkLst>
            <pc:docMk/>
            <pc:sldMk cId="3099192246" sldId="257"/>
            <ac:picMk id="4" creationId="{54C467A7-2763-8FE7-270B-2AA07C9FCD9F}"/>
          </ac:picMkLst>
        </pc:picChg>
        <pc:picChg chg="add del mod">
          <ac:chgData name="Chapman, Stephen" userId="31a87834-901a-4691-a691-bf491053d09a" providerId="ADAL" clId="{07072C4A-42DD-5720-86A8-E3A7D67E6347}" dt="2026-10-12T08:44:44.782" v="8977" actId="1076"/>
          <ac:picMkLst>
            <pc:docMk/>
            <pc:sldMk cId="3099192246" sldId="257"/>
            <ac:picMk id="6" creationId="{0F46D61B-6B9A-8E9A-B8B5-931698F5C6B0}"/>
          </ac:picMkLst>
        </pc:picChg>
      </pc:sldChg>
      <pc:sldChg chg="modSp mod">
        <pc:chgData name="Chapman, Stephen" userId="31a87834-901a-4691-a691-bf491053d09a" providerId="ADAL" clId="{07072C4A-42DD-5720-86A8-E3A7D67E6347}" dt="2026-10-12T09:47:45.969" v="10481" actId="20577"/>
        <pc:sldMkLst>
          <pc:docMk/>
          <pc:sldMk cId="2368242803" sldId="258"/>
        </pc:sldMkLst>
        <pc:spChg chg="mod">
          <ac:chgData name="Chapman, Stephen" userId="31a87834-901a-4691-a691-bf491053d09a" providerId="ADAL" clId="{07072C4A-42DD-5720-86A8-E3A7D67E6347}" dt="2026-10-12T09:47:45.969" v="10481" actId="20577"/>
          <ac:spMkLst>
            <pc:docMk/>
            <pc:sldMk cId="2368242803" sldId="258"/>
            <ac:spMk id="2" creationId="{4568F31A-DC87-DA5A-B318-EC29191CA102}"/>
          </ac:spMkLst>
        </pc:spChg>
        <pc:spChg chg="mod">
          <ac:chgData name="Chapman, Stephen" userId="31a87834-901a-4691-a691-bf491053d09a" providerId="ADAL" clId="{07072C4A-42DD-5720-86A8-E3A7D67E6347}" dt="2026-10-12T09:47:22.443" v="10452" actId="20577"/>
          <ac:spMkLst>
            <pc:docMk/>
            <pc:sldMk cId="2368242803" sldId="258"/>
            <ac:spMk id="3" creationId="{A4A9125F-9DD9-DCF4-CAB9-328377958D0A}"/>
          </ac:spMkLst>
        </pc:spChg>
      </pc:sldChg>
      <pc:sldChg chg="addSp delSp modSp mod setBg">
        <pc:chgData name="Chapman, Stephen" userId="31a87834-901a-4691-a691-bf491053d09a" providerId="ADAL" clId="{07072C4A-42DD-5720-86A8-E3A7D67E6347}" dt="2026-10-12T08:51:09.193" v="9020" actId="20577"/>
        <pc:sldMkLst>
          <pc:docMk/>
          <pc:sldMk cId="1573381693" sldId="281"/>
        </pc:sldMkLst>
        <pc:spChg chg="mod">
          <ac:chgData name="Chapman, Stephen" userId="31a87834-901a-4691-a691-bf491053d09a" providerId="ADAL" clId="{07072C4A-42DD-5720-86A8-E3A7D67E6347}" dt="2026-10-12T08:51:09.193" v="9020" actId="20577"/>
          <ac:spMkLst>
            <pc:docMk/>
            <pc:sldMk cId="1573381693" sldId="281"/>
            <ac:spMk id="2" creationId="{3E909DF0-0611-51C8-DC69-0936D686273D}"/>
          </ac:spMkLst>
        </pc:spChg>
        <pc:spChg chg="mod">
          <ac:chgData name="Chapman, Stephen" userId="31a87834-901a-4691-a691-bf491053d09a" providerId="ADAL" clId="{07072C4A-42DD-5720-86A8-E3A7D67E6347}" dt="2026-10-12T08:49:37.497" v="9014" actId="26606"/>
          <ac:spMkLst>
            <pc:docMk/>
            <pc:sldMk cId="1573381693" sldId="281"/>
            <ac:spMk id="3" creationId="{30ABCD0C-BBC5-09B8-AED0-34F6548655F4}"/>
          </ac:spMkLst>
        </pc:spChg>
        <pc:spChg chg="add del">
          <ac:chgData name="Chapman, Stephen" userId="31a87834-901a-4691-a691-bf491053d09a" providerId="ADAL" clId="{07072C4A-42DD-5720-86A8-E3A7D67E6347}" dt="2026-10-12T08:49:37.497" v="9014" actId="26606"/>
          <ac:spMkLst>
            <pc:docMk/>
            <pc:sldMk cId="1573381693" sldId="281"/>
            <ac:spMk id="10" creationId="{F0A604E4-7307-451C-93BE-F1F7E1BF3BF8}"/>
          </ac:spMkLst>
        </pc:spChg>
        <pc:spChg chg="add del">
          <ac:chgData name="Chapman, Stephen" userId="31a87834-901a-4691-a691-bf491053d09a" providerId="ADAL" clId="{07072C4A-42DD-5720-86A8-E3A7D67E6347}" dt="2026-10-12T08:49:37.497" v="9014" actId="26606"/>
          <ac:spMkLst>
            <pc:docMk/>
            <pc:sldMk cId="1573381693" sldId="281"/>
            <ac:spMk id="12" creationId="{F7F3A0AA-35E5-4085-942B-737839030604}"/>
          </ac:spMkLst>
        </pc:spChg>
        <pc:spChg chg="add del">
          <ac:chgData name="Chapman, Stephen" userId="31a87834-901a-4691-a691-bf491053d09a" providerId="ADAL" clId="{07072C4A-42DD-5720-86A8-E3A7D67E6347}" dt="2026-10-12T08:49:37.497" v="9014" actId="26606"/>
          <ac:spMkLst>
            <pc:docMk/>
            <pc:sldMk cId="1573381693" sldId="281"/>
            <ac:spMk id="14" creationId="{402F5C38-C747-4173-ABBF-656E39E82130}"/>
          </ac:spMkLst>
        </pc:spChg>
        <pc:spChg chg="add del">
          <ac:chgData name="Chapman, Stephen" userId="31a87834-901a-4691-a691-bf491053d09a" providerId="ADAL" clId="{07072C4A-42DD-5720-86A8-E3A7D67E6347}" dt="2026-10-12T08:49:37.497" v="9014" actId="26606"/>
          <ac:spMkLst>
            <pc:docMk/>
            <pc:sldMk cId="1573381693" sldId="281"/>
            <ac:spMk id="16" creationId="{E37EECFC-A684-4391-AE85-4CDAF5565F61}"/>
          </ac:spMkLst>
        </pc:spChg>
        <pc:picChg chg="add mod">
          <ac:chgData name="Chapman, Stephen" userId="31a87834-901a-4691-a691-bf491053d09a" providerId="ADAL" clId="{07072C4A-42DD-5720-86A8-E3A7D67E6347}" dt="2026-10-12T08:49:59.142" v="9018" actId="1076"/>
          <ac:picMkLst>
            <pc:docMk/>
            <pc:sldMk cId="1573381693" sldId="281"/>
            <ac:picMk id="5" creationId="{7F92F3AE-0C4C-F2E3-2827-6E75CCE99880}"/>
          </ac:picMkLst>
        </pc:picChg>
        <pc:picChg chg="del">
          <ac:chgData name="Chapman, Stephen" userId="31a87834-901a-4691-a691-bf491053d09a" providerId="ADAL" clId="{07072C4A-42DD-5720-86A8-E3A7D67E6347}" dt="2026-10-12T08:49:20.942" v="9009" actId="478"/>
          <ac:picMkLst>
            <pc:docMk/>
            <pc:sldMk cId="1573381693" sldId="281"/>
            <ac:picMk id="6" creationId="{1DC74859-F85F-4E53-D932-C181CEAA8026}"/>
          </ac:picMkLst>
        </pc:picChg>
      </pc:sldChg>
      <pc:sldChg chg="add">
        <pc:chgData name="Chapman, Stephen" userId="31a87834-901a-4691-a691-bf491053d09a" providerId="ADAL" clId="{07072C4A-42DD-5720-86A8-E3A7D67E6347}" dt="2026-10-12T09:28:41.720" v="9774"/>
        <pc:sldMkLst>
          <pc:docMk/>
          <pc:sldMk cId="962872880" sldId="304"/>
        </pc:sldMkLst>
      </pc:sldChg>
      <pc:sldChg chg="modSp mod">
        <pc:chgData name="Chapman, Stephen" userId="31a87834-901a-4691-a691-bf491053d09a" providerId="ADAL" clId="{07072C4A-42DD-5720-86A8-E3A7D67E6347}" dt="2026-10-12T09:23:20.393" v="9528" actId="14100"/>
        <pc:sldMkLst>
          <pc:docMk/>
          <pc:sldMk cId="641945145" sldId="368"/>
        </pc:sldMkLst>
        <pc:spChg chg="mod">
          <ac:chgData name="Chapman, Stephen" userId="31a87834-901a-4691-a691-bf491053d09a" providerId="ADAL" clId="{07072C4A-42DD-5720-86A8-E3A7D67E6347}" dt="2026-10-12T09:23:20.393" v="9528" actId="14100"/>
          <ac:spMkLst>
            <pc:docMk/>
            <pc:sldMk cId="641945145" sldId="368"/>
            <ac:spMk id="3" creationId="{B43422DE-1FAD-581C-7400-912131FE714A}"/>
          </ac:spMkLst>
        </pc:spChg>
      </pc:sldChg>
      <pc:sldChg chg="modSp mod ord">
        <pc:chgData name="Chapman, Stephen" userId="31a87834-901a-4691-a691-bf491053d09a" providerId="ADAL" clId="{07072C4A-42DD-5720-86A8-E3A7D67E6347}" dt="2026-10-12T09:04:26.845" v="9114" actId="20577"/>
        <pc:sldMkLst>
          <pc:docMk/>
          <pc:sldMk cId="1835879434" sldId="369"/>
        </pc:sldMkLst>
        <pc:spChg chg="mod">
          <ac:chgData name="Chapman, Stephen" userId="31a87834-901a-4691-a691-bf491053d09a" providerId="ADAL" clId="{07072C4A-42DD-5720-86A8-E3A7D67E6347}" dt="2026-10-12T09:04:26.845" v="9114" actId="20577"/>
          <ac:spMkLst>
            <pc:docMk/>
            <pc:sldMk cId="1835879434" sldId="369"/>
            <ac:spMk id="2" creationId="{1038698F-9618-8E37-DF21-DF67C7B23171}"/>
          </ac:spMkLst>
        </pc:spChg>
      </pc:sldChg>
      <pc:sldChg chg="modSp mod">
        <pc:chgData name="Chapman, Stephen" userId="31a87834-901a-4691-a691-bf491053d09a" providerId="ADAL" clId="{07072C4A-42DD-5720-86A8-E3A7D67E6347}" dt="2026-10-12T09:21:30.664" v="9526" actId="20577"/>
        <pc:sldMkLst>
          <pc:docMk/>
          <pc:sldMk cId="2933095130" sldId="372"/>
        </pc:sldMkLst>
        <pc:spChg chg="mod">
          <ac:chgData name="Chapman, Stephen" userId="31a87834-901a-4691-a691-bf491053d09a" providerId="ADAL" clId="{07072C4A-42DD-5720-86A8-E3A7D67E6347}" dt="2026-10-12T09:17:46.581" v="9405" actId="20577"/>
          <ac:spMkLst>
            <pc:docMk/>
            <pc:sldMk cId="2933095130" sldId="372"/>
            <ac:spMk id="2" creationId="{332B0F5F-5CD9-EED8-710F-01E0FA736C3A}"/>
          </ac:spMkLst>
        </pc:spChg>
        <pc:spChg chg="mod">
          <ac:chgData name="Chapman, Stephen" userId="31a87834-901a-4691-a691-bf491053d09a" providerId="ADAL" clId="{07072C4A-42DD-5720-86A8-E3A7D67E6347}" dt="2026-10-12T09:21:30.664" v="9526" actId="20577"/>
          <ac:spMkLst>
            <pc:docMk/>
            <pc:sldMk cId="2933095130" sldId="372"/>
            <ac:spMk id="3" creationId="{6F14629B-E0D6-E53A-9E5A-6A980D3980C2}"/>
          </ac:spMkLst>
        </pc:spChg>
      </pc:sldChg>
      <pc:sldChg chg="modSp mod">
        <pc:chgData name="Chapman, Stephen" userId="31a87834-901a-4691-a691-bf491053d09a" providerId="ADAL" clId="{07072C4A-42DD-5720-86A8-E3A7D67E6347}" dt="2026-10-12T09:23:45.636" v="9529" actId="20577"/>
        <pc:sldMkLst>
          <pc:docMk/>
          <pc:sldMk cId="1679775866" sldId="373"/>
        </pc:sldMkLst>
        <pc:spChg chg="mod">
          <ac:chgData name="Chapman, Stephen" userId="31a87834-901a-4691-a691-bf491053d09a" providerId="ADAL" clId="{07072C4A-42DD-5720-86A8-E3A7D67E6347}" dt="2026-10-12T09:23:45.636" v="9529" actId="20577"/>
          <ac:spMkLst>
            <pc:docMk/>
            <pc:sldMk cId="1679775866" sldId="373"/>
            <ac:spMk id="4" creationId="{28DAD7B5-169E-5E5A-AECC-E2DE3F7BDD8A}"/>
          </ac:spMkLst>
        </pc:spChg>
      </pc:sldChg>
      <pc:sldChg chg="modSp mod">
        <pc:chgData name="Chapman, Stephen" userId="31a87834-901a-4691-a691-bf491053d09a" providerId="ADAL" clId="{07072C4A-42DD-5720-86A8-E3A7D67E6347}" dt="2026-10-12T08:55:03.572" v="9022" actId="20577"/>
        <pc:sldMkLst>
          <pc:docMk/>
          <pc:sldMk cId="2093176633" sldId="543"/>
        </pc:sldMkLst>
        <pc:spChg chg="mod">
          <ac:chgData name="Chapman, Stephen" userId="31a87834-901a-4691-a691-bf491053d09a" providerId="ADAL" clId="{07072C4A-42DD-5720-86A8-E3A7D67E6347}" dt="2026-10-12T08:55:03.572" v="9022" actId="20577"/>
          <ac:spMkLst>
            <pc:docMk/>
            <pc:sldMk cId="2093176633" sldId="543"/>
            <ac:spMk id="8" creationId="{174AF9D6-777C-B4E6-113A-21CA19EA89FF}"/>
          </ac:spMkLst>
        </pc:spChg>
      </pc:sldChg>
      <pc:sldChg chg="modSp">
        <pc:chgData name="Chapman, Stephen" userId="31a87834-901a-4691-a691-bf491053d09a" providerId="ADAL" clId="{07072C4A-42DD-5720-86A8-E3A7D67E6347}" dt="2026-10-12T09:22:01.829" v="9527"/>
        <pc:sldMkLst>
          <pc:docMk/>
          <pc:sldMk cId="886060311" sldId="577"/>
        </pc:sldMkLst>
        <pc:spChg chg="mod">
          <ac:chgData name="Chapman, Stephen" userId="31a87834-901a-4691-a691-bf491053d09a" providerId="ADAL" clId="{07072C4A-42DD-5720-86A8-E3A7D67E6347}" dt="2026-10-12T09:22:01.829" v="9527"/>
          <ac:spMkLst>
            <pc:docMk/>
            <pc:sldMk cId="886060311" sldId="577"/>
            <ac:spMk id="2" creationId="{B30FEDE1-AD40-5F6B-4E30-D383E3B33D35}"/>
          </ac:spMkLst>
        </pc:spChg>
      </pc:sldChg>
      <pc:sldChg chg="del">
        <pc:chgData name="Chapman, Stephen" userId="31a87834-901a-4691-a691-bf491053d09a" providerId="ADAL" clId="{07072C4A-42DD-5720-86A8-E3A7D67E6347}" dt="2026-10-12T08:46:05.684" v="8988" actId="2696"/>
        <pc:sldMkLst>
          <pc:docMk/>
          <pc:sldMk cId="3899101207" sldId="618"/>
        </pc:sldMkLst>
      </pc:sldChg>
      <pc:sldChg chg="del">
        <pc:chgData name="Chapman, Stephen" userId="31a87834-901a-4691-a691-bf491053d09a" providerId="ADAL" clId="{07072C4A-42DD-5720-86A8-E3A7D67E6347}" dt="2026-10-12T08:46:13.767" v="8989" actId="2696"/>
        <pc:sldMkLst>
          <pc:docMk/>
          <pc:sldMk cId="1062613618" sldId="619"/>
        </pc:sldMkLst>
      </pc:sldChg>
      <pc:sldChg chg="delSp modSp mod">
        <pc:chgData name="Chapman, Stephen" userId="31a87834-901a-4691-a691-bf491053d09a" providerId="ADAL" clId="{07072C4A-42DD-5720-86A8-E3A7D67E6347}" dt="2026-10-12T09:46:57.750" v="10447" actId="113"/>
        <pc:sldMkLst>
          <pc:docMk/>
          <pc:sldMk cId="3040976274" sldId="620"/>
        </pc:sldMkLst>
        <pc:spChg chg="mod">
          <ac:chgData name="Chapman, Stephen" userId="31a87834-901a-4691-a691-bf491053d09a" providerId="ADAL" clId="{07072C4A-42DD-5720-86A8-E3A7D67E6347}" dt="2026-10-12T09:26:27.985" v="9572" actId="20577"/>
          <ac:spMkLst>
            <pc:docMk/>
            <pc:sldMk cId="3040976274" sldId="620"/>
            <ac:spMk id="2" creationId="{146DCD15-D99F-32CC-5FEB-88A55761A627}"/>
          </ac:spMkLst>
        </pc:spChg>
        <pc:spChg chg="mod">
          <ac:chgData name="Chapman, Stephen" userId="31a87834-901a-4691-a691-bf491053d09a" providerId="ADAL" clId="{07072C4A-42DD-5720-86A8-E3A7D67E6347}" dt="2026-10-12T09:46:57.750" v="10447" actId="113"/>
          <ac:spMkLst>
            <pc:docMk/>
            <pc:sldMk cId="3040976274" sldId="620"/>
            <ac:spMk id="3" creationId="{714AB8DB-8AAA-297D-D930-A9DA829CB9F2}"/>
          </ac:spMkLst>
        </pc:spChg>
        <pc:spChg chg="del">
          <ac:chgData name="Chapman, Stephen" userId="31a87834-901a-4691-a691-bf491053d09a" providerId="ADAL" clId="{07072C4A-42DD-5720-86A8-E3A7D67E6347}" dt="2026-10-12T09:26:25.082" v="9571" actId="478"/>
          <ac:spMkLst>
            <pc:docMk/>
            <pc:sldMk cId="3040976274" sldId="620"/>
            <ac:spMk id="4" creationId="{4650737A-D888-9EEE-4EFD-6C7A6B84BBFC}"/>
          </ac:spMkLst>
        </pc:spChg>
      </pc:sldChg>
      <pc:sldChg chg="addSp delSp modSp mod">
        <pc:chgData name="Chapman, Stephen" userId="31a87834-901a-4691-a691-bf491053d09a" providerId="ADAL" clId="{07072C4A-42DD-5720-86A8-E3A7D67E6347}" dt="2026-10-12T09:16:30.041" v="9399" actId="20577"/>
        <pc:sldMkLst>
          <pc:docMk/>
          <pc:sldMk cId="1078917414" sldId="624"/>
        </pc:sldMkLst>
        <pc:spChg chg="mod">
          <ac:chgData name="Chapman, Stephen" userId="31a87834-901a-4691-a691-bf491053d09a" providerId="ADAL" clId="{07072C4A-42DD-5720-86A8-E3A7D67E6347}" dt="2026-10-12T09:16:30.041" v="9399" actId="20577"/>
          <ac:spMkLst>
            <pc:docMk/>
            <pc:sldMk cId="1078917414" sldId="624"/>
            <ac:spMk id="2" creationId="{0E5AB5E2-0685-B3E4-AFC8-B428785A3C46}"/>
          </ac:spMkLst>
        </pc:spChg>
        <pc:picChg chg="add mod">
          <ac:chgData name="Chapman, Stephen" userId="31a87834-901a-4691-a691-bf491053d09a" providerId="ADAL" clId="{07072C4A-42DD-5720-86A8-E3A7D67E6347}" dt="2026-10-12T09:14:55.333" v="9356" actId="1076"/>
          <ac:picMkLst>
            <pc:docMk/>
            <pc:sldMk cId="1078917414" sldId="624"/>
            <ac:picMk id="4" creationId="{854E12CF-E709-1B13-B21C-545F605C8726}"/>
          </ac:picMkLst>
        </pc:picChg>
        <pc:picChg chg="del mod">
          <ac:chgData name="Chapman, Stephen" userId="31a87834-901a-4691-a691-bf491053d09a" providerId="ADAL" clId="{07072C4A-42DD-5720-86A8-E3A7D67E6347}" dt="2026-10-12T09:00:38.335" v="9034" actId="478"/>
          <ac:picMkLst>
            <pc:docMk/>
            <pc:sldMk cId="1078917414" sldId="624"/>
            <ac:picMk id="5" creationId="{012D3499-A5BE-CF2A-7621-DCD6158916EC}"/>
          </ac:picMkLst>
        </pc:picChg>
        <pc:picChg chg="del">
          <ac:chgData name="Chapman, Stephen" userId="31a87834-901a-4691-a691-bf491053d09a" providerId="ADAL" clId="{07072C4A-42DD-5720-86A8-E3A7D67E6347}" dt="2026-10-12T08:58:05.734" v="9023" actId="478"/>
          <ac:picMkLst>
            <pc:docMk/>
            <pc:sldMk cId="1078917414" sldId="624"/>
            <ac:picMk id="7" creationId="{E0180169-C85C-77B1-FCB0-1DFF47CB241C}"/>
          </ac:picMkLst>
        </pc:picChg>
        <pc:picChg chg="add mod modCrop">
          <ac:chgData name="Chapman, Stephen" userId="31a87834-901a-4691-a691-bf491053d09a" providerId="ADAL" clId="{07072C4A-42DD-5720-86A8-E3A7D67E6347}" dt="2026-10-12T09:14:52.216" v="9355" actId="1076"/>
          <ac:picMkLst>
            <pc:docMk/>
            <pc:sldMk cId="1078917414" sldId="624"/>
            <ac:picMk id="10" creationId="{EDCE0939-4A23-F2D2-A7A8-2F839E9DFB9C}"/>
          </ac:picMkLst>
        </pc:picChg>
      </pc:sldChg>
      <pc:sldChg chg="modSp mod">
        <pc:chgData name="Chapman, Stephen" userId="31a87834-901a-4691-a691-bf491053d09a" providerId="ADAL" clId="{07072C4A-42DD-5720-86A8-E3A7D67E6347}" dt="2026-10-12T09:25:34.813" v="9534" actId="113"/>
        <pc:sldMkLst>
          <pc:docMk/>
          <pc:sldMk cId="2840515835" sldId="641"/>
        </pc:sldMkLst>
        <pc:spChg chg="mod">
          <ac:chgData name="Chapman, Stephen" userId="31a87834-901a-4691-a691-bf491053d09a" providerId="ADAL" clId="{07072C4A-42DD-5720-86A8-E3A7D67E6347}" dt="2026-10-12T09:25:34.813" v="9534" actId="113"/>
          <ac:spMkLst>
            <pc:docMk/>
            <pc:sldMk cId="2840515835" sldId="641"/>
            <ac:spMk id="6" creationId="{2B19B437-D907-CD09-CB23-E6D68C501B10}"/>
          </ac:spMkLst>
        </pc:spChg>
      </pc:sldChg>
      <pc:sldChg chg="modSp mod">
        <pc:chgData name="Chapman, Stephen" userId="31a87834-901a-4691-a691-bf491053d09a" providerId="ADAL" clId="{07072C4A-42DD-5720-86A8-E3A7D67E6347}" dt="2026-10-12T09:25:09.063" v="9533" actId="113"/>
        <pc:sldMkLst>
          <pc:docMk/>
          <pc:sldMk cId="3657785679" sldId="642"/>
        </pc:sldMkLst>
        <pc:spChg chg="mod">
          <ac:chgData name="Chapman, Stephen" userId="31a87834-901a-4691-a691-bf491053d09a" providerId="ADAL" clId="{07072C4A-42DD-5720-86A8-E3A7D67E6347}" dt="2026-10-12T09:25:09.063" v="9533" actId="113"/>
          <ac:spMkLst>
            <pc:docMk/>
            <pc:sldMk cId="3657785679" sldId="642"/>
            <ac:spMk id="3" creationId="{0D6D7180-ABB7-6544-C94F-5E4E349E8062}"/>
          </ac:spMkLst>
        </pc:spChg>
      </pc:sldChg>
      <pc:sldChg chg="addSp modSp new mod">
        <pc:chgData name="Chapman, Stephen" userId="31a87834-901a-4691-a691-bf491053d09a" providerId="ADAL" clId="{07072C4A-42DD-5720-86A8-E3A7D67E6347}" dt="2026-10-12T09:12:19.348" v="9354" actId="20577"/>
        <pc:sldMkLst>
          <pc:docMk/>
          <pc:sldMk cId="3472552854" sldId="643"/>
        </pc:sldMkLst>
        <pc:spChg chg="mod">
          <ac:chgData name="Chapman, Stephen" userId="31a87834-901a-4691-a691-bf491053d09a" providerId="ADAL" clId="{07072C4A-42DD-5720-86A8-E3A7D67E6347}" dt="2026-10-12T09:09:16.043" v="9188" actId="20577"/>
          <ac:spMkLst>
            <pc:docMk/>
            <pc:sldMk cId="3472552854" sldId="643"/>
            <ac:spMk id="2" creationId="{4574A0EA-6A77-B122-9FA1-8E525A1875C5}"/>
          </ac:spMkLst>
        </pc:spChg>
        <pc:spChg chg="mod">
          <ac:chgData name="Chapman, Stephen" userId="31a87834-901a-4691-a691-bf491053d09a" providerId="ADAL" clId="{07072C4A-42DD-5720-86A8-E3A7D67E6347}" dt="2026-10-12T09:12:19.348" v="9354" actId="20577"/>
          <ac:spMkLst>
            <pc:docMk/>
            <pc:sldMk cId="3472552854" sldId="643"/>
            <ac:spMk id="3" creationId="{0D9F30F1-220D-4D06-AC31-084C51D6D2AC}"/>
          </ac:spMkLst>
        </pc:spChg>
        <pc:picChg chg="add mod">
          <ac:chgData name="Chapman, Stephen" userId="31a87834-901a-4691-a691-bf491053d09a" providerId="ADAL" clId="{07072C4A-42DD-5720-86A8-E3A7D67E6347}" dt="2026-10-12T09:12:08.994" v="9353" actId="1076"/>
          <ac:picMkLst>
            <pc:docMk/>
            <pc:sldMk cId="3472552854" sldId="643"/>
            <ac:picMk id="5" creationId="{2D0A4959-F576-0FEA-8D3C-8E50EBB33986}"/>
          </ac:picMkLst>
        </pc:picChg>
      </pc:sldChg>
      <pc:sldChg chg="new del">
        <pc:chgData name="Chapman, Stephen" userId="31a87834-901a-4691-a691-bf491053d09a" providerId="ADAL" clId="{07072C4A-42DD-5720-86A8-E3A7D67E6347}" dt="2026-10-12T09:28:43.571" v="9775" actId="2696"/>
        <pc:sldMkLst>
          <pc:docMk/>
          <pc:sldMk cId="2654292925" sldId="64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29:42.19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0 102,'79'-16,"-5"0,-47 10,3 1,-7 1,2-1,3-1,2-3,-6 8,8-3,-6-1,3 4,8-8,-14 8,9-7,-8 7,-4-4,18 5,-16 0,16 0,-13 0,0 0,4 0,0 0,2 0,-2 0,-5 0,3 0,8 0,0 0,-1 0,-10 0,9 0,-16 0,23 0,-24 0,17 0,-4 0,-3 0,2 0,5 0,-16 0,23 0,-15 0,5 0,3 0,-8 0,12 0,-11 0,9 0,-15 0,10 0,8 0,-4 0,5 0,-10 0,-3 0,4 0,-5 0,4 5,5 0,-1 1,11 3,-12-8,10 4,-4-5,-1 0,5 0,-15 0,14 0,-14 0,4 4,4-3,-9 4,5-5,-7 4,0-3,2 3,18-4,-10 0,6 0,-5 0,6 0,-7 0,10 4,-13-2,-5 2,21-4,-18 0,13 0,-5 5,0-4,1 4,4 0,-4-4,5 8,0-8,1 4,-1 0,1-4,-1 4,-5-5,-2 0,0 0,-4 0,4 0,-5 0,-1 0,6 0,-9 0,8 0,-10 0,10 0,-4 0,-2-4,6 3,-13-4,13 5,-11 0,6 0,-6 0,5 0,-4 0,6 0,-6 0,4 0,-3 0,10 0,-10 0,9 0,-9 0,4 0,1 0,-1 0,6 0,-4 0,10 0,-4 0,5 0,-5 0,29 0,-28 0,35 0,-41 0,22 0,-16 0,17 0,-16 0,8 0,-16 0,4 0,0 0,2 0,-6 0,9 0,-14 0,4 0,-2 0,-4 0,1 0,3 0,-4 0,10 0,-9 0,7-4,-13 3,9-4,0 5,-3 0,6 0,-3 0,2 0,-2 0,-5 0,0 0,4 0,-2 0,11 0,-11-4,-1 3,11-4,-18 5,19 0,-13 0,1 0,10 0,-2 0,1 0,-4 0,-11 0,8 0,3 0,-5 0,5-4,-9 3,7-7,5 7,-8-3,6 4,-3 0,-7 0,17 0,-21 0,15 0,-1 0,-4 0,5 0,-8 0,-1 0,4 0,5 0,-9 0,7 0,-8 0,2 0,9 0,-13 0,9 0,-2 0,-4 0,2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3:02.72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73,'63'0,"-11"0,-44 0,18 0,2-4,6 3,-4-3,-7 4,0-4,7 3,-7-6,6 6,-6-7,3 6,1-6,0 3,-4 0,8 1,-10 0,15 3,-15-3,10 4,-4 0,-3 0,8 0,-5 0,-1 0,9-5,-9 4,8-3,-9 4,4 0,-3 0,-1 0,4 0,0 0,-3 0,6 0,-12 0,9 0,-3 0,4 0,1 0,-1 0,-5 0,5 0,-5 0,0 0,8 0,-12 0,10 0,-8 0,1 0,11 0,-17 0,15 0,-10 0,1 0,10 0,-15 0,10 0,-7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3:10.00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0 241,'71'0,"-3"0,-36 0,4 0,-5 0,-1 0,7-5,-6 4,11-4,-10 5,10 0,-10 0,29-10,-12 3,16-4,-2-5,-10 13,19-19,-13 14,6-4,0 1,-6 10,6-10,-19 10,2-9,-16 9,10-4,-10 1,10 2,-5-2,7 4,6-5,-11 3,16-3,-22 5,22-5,-16 4,11-9,-7 9,1-4,-1 0,-5-1,4 0,-10 2,23-2,-25 5,43-4,-29-1,20 5,-14-4,-6 5,5-5,-4 3,12-3,-12 5,4 0,8 0,-4 0,19 0,-12 0,4 0,-12 0,4 0,-5 0,7 0,0 0,-1 0,8 0,-5 0,5 0,-1 0,-4 0,5 5,-14-3,24 8,-36-9,28 9,-35-9,6 4,-2-1,-6-2,7 7,-5-8,4 13,0-12,-4 7,4-5,-5 2,-1 4,0-4,7 3,-5-3,10 4,-11 0,6-4,-7 3,1-3,-6-1,4 4,-4-3,1-1,3 4,-4-3,6 0,18 3,-13-8,8 8,-9-3,-8-1,15 0,-10-5,10 5,-16-4,15 8,-8-7,4 2,0-4,-1 5,1-4,-4 4,2-5,-10 0,0 0,10 0,-8 5,4-4,4 3,-8-4,9 0,-5 0,-1 0,0 0,1 0,13 0,-15 0,4 0,-5 0,-6 0,15 0,-1 0,-4 0,10 0,-5 0,7 0,-7 0,12 0,-10 0,11 0,-7 0,1 0,5 0,-4 0,12 0,-18 0,9 0,-4 0,1 0,11 5,-4-3,-1 3,12 0,-16-4,10 5,0-6,15 0,21 0,3 0,-12 0,-19 0,-9 0,-4 0,6 0,-7 0,5 0,-5 0,1 0,-2 0,-1 0,-4 0,11 0,-16 0,8 0,-4 0,-5 0,10 0,-12 0,13 0,-5 0,11 0,-11-5,5 4,0-4,-5 5,30 0,-31 0,30 0,-34 0,4 0,4 0,-2 0,34 0,-9 0,5 0,-6 0,-17 0,12 0,8 0,-18 0,16 0,-13-6,9 5,6-4,1 5,-1-6,1 5,-7-10,4 10,-17-4,2 5,1 0,-10 0,16 0,-24 0,4 0,19 0,-29 0,33 0,-33 0,4 0,0 0,-7 0,1 0,-1 0,1 0,-1 0,0 0,1 0,-1 0,-4 0,3 0,-4 0,6 0,-1 0,0 0,1 0,-6 0,4 0,-3 0,4 0,1 0,-1 0,1 0,-1 0,0 0,14 0,-10 0,10 0,-13 0,-1 0,-4 0,3 0,-4 0,0 0,8 0,-8 0,7 0,-9 0,3 0,-2 0,7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3:17.35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1 104,'54'0,"1"0,32 0,-39 0,-10 0,0 0,-2 0,-6 0,6 0,-4 0,10 0,-10 0,10 0,-4 0,-1 0,12 0,-10 0,24-6,-10 5,19-4,-12 5,12-6,-13 5,6-5,0 1,-12 3,17-3,-23 5,16-5,-18 4,11-10,-5 10,1-9,4 9,-11-4,5 5,-7 0,1-5,5 4,-4-4,5 5,0 0,-5-5,30 4,-25-9,13 9,-26-4,-7 5,1 0,-6 0,4 0,-4 0,12 0,-15 0,12 0,-8 0,1 0,8 0,-10 0,0 0,5 0,-5 0,5 0,7 0,0 0,13 0,-11 0,10 0,-5 0,1 0,4 0,8 0,-10 0,42 0,-37 0,38 0,-37 0,11 0,-6 0,15 0,-29 4,12-3,-25 4,1-5,4 4,14-3,-15 4,15-5,-20 0,-5 0,8 4,-12-3,10 3,-3 0,2-3,-1 3,-5 1,3-4,11 7,-7-7,5 3,-12 1,-4-4,23 3,-15-4,16 5,-18-4,3 3,-4 1,11-4,-9 3,14 1,-14-4,15 4,-5 0,13-4,-5 4,5-5,-13 0,5 0,-4 0,0 0,4 0,-5 5,13-4,-11 4,10-5,-12 4,32-2,-19 7,14-8,-22 4,-11-5,11 0,-10 0,10 0,-4 0,-6 0,15 0,-12 0,9 0,4 0,-9 0,11 0,-7 0,1 0,-7 0,5 0,-4 0,5 0,1 0,6-5,-5 4,4-4,-5 5,-1 0,7 0,9-5,7-2,-11 2,13-1,-27 1,16 4,-7-4,-5 5,-1 0,11 0,-14 0,16 0,-13 0,-1 0,0 0,1 0,-1 0,1 0,-7 0,5 0,-10 0,10 0,-4 0,-1 0,12 0,-16 0,16 0,-17 0,16 0,-9 0,37 0,-27 0,34-5,-36 3,23-3,-17 5,12 0,0 0,17-6,-11 4,17-4,-22 1,15 3,-5-9,5 10,-14-4,-9 5,-2-6,-11 5,-1-4,-2 5,-10 0,-1 0,4 0,-8 0,4-4,-2 3,-3-3,4 4,-5 0,4 0,1 0,1 0,-2 0,-5 0,9 0,-16 0,26 0,-21 0,9 0,6 0,-19 0,19 0,-17 0,11 0,-6 0,4 0,-3 0,-1 0,12 0,-19 0,13 0,-4 0,-5 0,13 0,-11 0,3 0,1 0,-4 0,1 0,2-4,-4 3,7-3,-2 4,-7 0,13 0,-10 0,0 0,-3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3:35.14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1 195,'82'0,"-8"0,-17 0,-4 0,19 0,-6 0,16 0,9 0,2 0,-39 0,0 0,31 0,5 0,-17 0,-6 0,30 0,-24 0,19 0,-39 0,9 0,-21 0,16 0,-7 0,1 0,-6 0,17 0,-14 0,16 0,-12 0,4 0,-5 0,7 0,0 0,-7-5,5 4,-11-4,5 5,0-5,-11 3,4-3,-1 5,-13 0,12-4,-16 3,1-4,8 5,-1 0,19-5,-13 4,6-4,-20 5,5-4,-5 2,0-2,4 4,-3 0,-1 0,4 0,-4 0,6 0,-1 0,-4 0,7 0,12 0,-11 0,5 0,-16 0,-8 0,23 4,-11-3,12 8,-14-8,5 8,-5-8,19 3,-5-4,7 5,-4-4,-10 3,10-4,-16 0,15 5,-14-4,9 9,0-9,2 3,5-4,1 0,6 0,-5 0,11 0,-17 0,16 0,-22 0,10 0,-1 0,-2 0,16 0,-11 5,11-4,-5 4,1-5,-3 0,-5 0,-1 5,7-4,14 9,-9-4,8-1,-20 5,-5-9,4 4,-5 0,7-4,-1 4,0 0,1-4,-1 3,-5-4,4 0,-10 0,4 0,0 5,-9-4,14 4,-9-5,1 4,2-3,-10 4,5-5,1 0,5 0,-9 0,8 0,-4 0,14 0,1 0,-1 0,-9 0,-5 0,5 0,-9 0,13 0,-13-5,15 4,-10-4,10 5,-4-4,5 2,-5-2,10 4,-15 0,16-5,2 3,-4-2,16 4,-5 0,9 0,6 0,-6 0,-9 0,5 0,-9 0,10 0,-6 0,0 0,19 0,-7 0,2 0,-15 0,-14 0,1 0,-1 0,0 0,1 0,-1 0,1 0,-1 0,0 0,-5 0,-2 0,0 0,-4 0,10 0,11 0,-6 0,5 0,-10 0,-10 0,10 0,-10 0,10 0,-10 0,10-5,-10 4,29-4,-19 5,15 0,-15 0,-4 0,0 0,-2 0,6 0,-13 0,24 0,-24 0,13 0,-6-5,2 4,0-4,10 5,-14 0,14 0,-11 0,7-5,-1 4,-5-4,4 5,-10-5,4 4,0-3,-4 4,10-5,-10 4,29-4,-24 5,24-5,-23 4,0-4,4 0,-5 4,-4-4,7 5,-7-5,5 4,3-4,-3 5,0-4,4 3,-5-4,-4 5,14 0,-13 0,16 0,-7 0,1-5,-1 4,7-4,1 0,1 4,-3-4,1 5,-5-5,24 4,-21-4,15 5,-25 0,4 0,2 0,-5 0,16 0,-16 0,5 0,4 0,-14 0,8 0,-5 0,0 0,1 0,4 0,-4 0,-1 0,-1 0,-5 0,5 0,-4 0,4 0,0 0,-4 0,10 0,-10 0,4 0,-5 0,19-5,-20 4,24-4,-22 5,1 0,8 0,-9 0,6 0,4-5,-5 4,7-4,-1 5,1 0,-7-5,5 4,-4-3,5 4,-5 0,4 0,-4 0,5 0,0 0,28-6,-32 5,29-5,-36 6,6 0,-2 0,0 0,-9 0,14-4,-15 2,5-2,7 4,-20 0,13 0,8 0,-14 0,23 0,-22 0,4 0,0 0,7 0,-5 0,4 0,0 0,2 0,-1 0,5 0,-4-5,0 4,4-4,-16 5,9 0,-4 0,-4 0,8 0,-15 0,31 0,-25-5,20 4,-22-3,-4 4,18 0,-16-4,15 3,-11-3,4 4,1 0,5-5,-9 4,7-4,-2 5,-6-4,9 3,-4-4,1 1,4 3,-5-4,-1 5,-4 0,3 0,-4-4,9 2,-7-2,8 4,-10 0,-2 0,11-4,-16 3,14-3,-13 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4:13.30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40,'80'-5,"-7"4,-40-4,2 5,-15 0,12 0,-11 0,10 0,-3-4,-3 3,11-8,-10 8,-2-3,13 4,-24 0,26-4,-18 3,7-3,8 4,-14 0,11 0,-9 0,5 0,-3 0,7 0,1 0,-1 0,5 0,-1 0,-5 0,-1 0,-7 0,0 0,4 0,-2 0,7 0,-13 0,15 0,-14 0,14 0,-14 0,8 0,4 0,-5 0,4 0,-9 0,1 0,3 0,0 0,-3 0,5 0,-5 0,2 0,-5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4:15.64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1 164,'60'0,"1"0,0 1,-3-2,17-4,7 4,10-15,-13 8,7-4,-14 1,-6 5,1-1,12-5,-17 11,10-10,-26 10,2-4,-10 0,5 4,-5-4,4 0,2 4,7-9,7 3,7 1,-18-4,22 9,-28-4,16 5,-8-5,3 4,6-4,-7 5,-1 0,-7 0,-5 0,4 0,-5 0,20 0,-10 0,4 0,-9 0,-10 0,10 0,-15 0,14 5,-15-4,10 4,1-5,0 0,7 0,-7 0,5 0,-4 0,5 0,-5 0,-2 0,1 0,-6 0,11 0,-10 0,4 0,-5 0,-1 0,-4 0,9 0,-14 0,23 0,-17 0,12 0,-14 0,-1 0,3 0,3 0,-1 0,-2-5,1 4,-7-3,11 4,-3 0,-9 0,15 0,-15 0,11 0,-4 0,-4 0,6 0,-5 0,3 0,-4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4:34.25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1796 20,'-71'-6,"-4"-2,48 6,-17-2,17 4,-8 0,10 0,-5 0,4 0,-3 0,6 0,-2 0,-10 0,18 0,-16 0,11 0,-1 0,-10 0,14 0,-12 0,4 0,3 0,-6 0,8 0,-4 0,-4 0,7 0,-6 0,3 4,3-3,-9 3,0 0,3-3,-3 2,8-3,4 5,-16-4,15 3,-9 0,6-4,1 4,-6-4,3 4,0-3,-1 3,0 3,4-5,-6 6,1-4,5-3,-13 7,15-7,-6 3,-2-4,10 0,-13 4,6-3,3 6,-5-6,5 3,-6-4,3 0,0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5:11.19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1 245,'84'4,"-8"-5,-32-5,-7 0,5-3,-10 3,4-5,-5 1,-1 4,1 2,-1-1,1 4,-1-8,6 3,-9 0,8-3,-10 3,6 1,-6-4,10 8,-13-8,13 8,-4-8,1 4,4-1,-6 1,1 1,-6 2,4-2,0 0,-8 3,9-7,-7 7,2-3,5 0,-6 3,3-3,4 0,-7 3,6-3,-8 4,5-3,0 2,-1-3,1 4,-1 0,0-4,0 3,0-3,0 4,0 0,0 0,1 0,-1-4,5 3,-8-7,4 7,-1-6,-2 2,2 0,-4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5:16.90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1830 0,'-80'0,"20"0,32 0,8 0,-24 0,16 0,-10 0,19 0,-4 0,-10 0,6 0,-3 0,8 0,0 0,-13 0,14 0,-12 0,11 0,-6 0,-3 0,8 0,-12 0,7 0,-4 0,8 0,0 0,-10 5,2-4,-7 3,14-4,2 0,-3 0,2 0,-7 0,4 0,4 0,-7 0,7 0,-3 0,-3 4,2-3,-1 3,-5 0,13-3,-10 3,4-4,3 0,-7 4,7-3,-4 3,1-1,-1-2,2 3,-1-4,0 0,1 0,-1 0,0 0,1 4,-1-3,0 3,1-4,-1 0,1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9T16:35:32.56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10,'84'-4,"1"3,-46-4,5 5,-8 0,-11 0,-1 0,3 0,2 0,-1 0,-1 0,-1 0,-2 0,7 0,-4 0,-5 0,7 0,-5 0,3 0,8 0,-18 0,16 0,-11 0,3 0,8 0,-13 4,9 1,-7 3,5-3,-1-1,0 0,1-3,-1 6,0-2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5T22:47:26.8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11,'95'0,"2"0,-10 0,13 0,-45 0,1 0,0 0,-1 0,4 0,0 0,2 0,1 0,-1 0,1 0,0 0,1 0,0 0,-1 0,-3 0,0 0,1 0,0 0,0 0,-1 0,-8 0,-1 0,46 0,-5 0,-8 0,3 0,-5 0,-12 0,-4 0,-7 0,-2 0,4 0,-2 0,-5 0,-6 0,-7 0,-3 0,-1 0,-4 0,0 0,-1 0,0 0,0 0,3 0,1 0,0 0,0 0,-4 0,-3 0,-1 0,1 0,-1 0,3-3,3 1,-2-1,0 0,-2 3,-2 0,5 0,1 0,2 0,-1 0,1 0,-1 0,4 0,2 0,2 0,2 0,1 0,3 0,1 0,3 0,1 0,1 0,2 0,-2 0,1 0,-3 0,-4 0,-1 0,-7 0,-2 0,-3 0,1 0,1 0,-1 0,1 2,-2 1,0 0,-1-1,0-1,1-1,0 2,0 0,-3 1,-1-1,-2-1,-1 1,-3 0,0 1,0-1,-2 1,1-1,-2 1,3 1,1-1,2 0,-1-1,-3-1,-2 1,-2 1,2-1,1-1,0-1,0 0,2 0,-1 0,1 0,0 0,-2 0,-1 0,-5 0,-1 0,-1 0,0 0,1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10:48:56.75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 55,'71'0,"-12"0,-41 0,-3 0,20-1,-15-1,19 0,-18-1,1 1,12-3,-7 1,10-2,-9 1,-1 1,-2 2,-2 1,3 1,13 0,-15 0,13 0,-119-8,57 6,-29-2,-2 1,20 3,0 0,3 0,6 0,4 0,-5 0,5 0,-7 0,7 0,-7 0,6 0,-4 0,-5 0,17 0,-8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10:49:24.58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1 214,'52'0,"0"0,2 0,-4 0,18 0,5 0,-4 0,0 0,5 0,16 0,3 0,-1 0,-2 0,-8 0,5 0,-1 0,-29-1,-1 0,26-1,-27 0,-1 0,21-5,10-1,0 0,3 0,-1 2,1 0,-5 0,-1 3,-11-1,-5 1,-9 0,-3-1,12-1,-2 0,11-1,1 1,-2-1,4 1,-11 0,3-3,21 3,-28-2,24 3,-37 1,9 1,-1 2,3-1,6 1,-3 0,-2 0,-6 0,-11 0,2 0,-2 0,20 0,-14 0,15 0,-22 0,-1 0,-2-2,0 0,13-1,-14 0,12 1,-16 0,6 0,1 1,2 1,-1 0,-2 0,-1-2,-2 0,-1-1,-4 1,-2 1,0-1,1 0,4-2,-1 2,0-2,-2 0,-3 0,-1 0,9 1,-12-1,12 3,-15-1,4 0,1-1,2 1,1 0,0 2,1 0,-2 0,-2-1,0 1,-2 0,0 0,1 0,1 0,1 0,0 0,0 0,-1 0,1 0,-3 2,7 4,-9 0,6 3,-9-2,8 3,-9-3,10 3,-7-7,1 0,3-1,-3 0,6 1,4 1,3-1,0 1,12-1,-19 1,7-1,-18-1,1-2,12 2,-7-1,10 1,-5 0,3 0,1 0,0 2,-3 0,-6-2,5 3,-12-4,16 8,-13-4,10 6,-10-4,9 4,-9-3,4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E24DB-03B1-4A41-8680-5BA99A0110D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93633-1BC1-A941-B8C9-BB52E877C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to you today about an area of biology called Bioinformatics, or otherwise known as computational biology. All about how to get </a:t>
            </a:r>
            <a:r>
              <a:rPr lang="en-US" dirty="0" err="1"/>
              <a:t>ocmoiuters</a:t>
            </a:r>
            <a:r>
              <a:rPr lang="en-US"/>
              <a:t> to work for us enhance biological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9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B0C1-D0E9-544B-BC72-AA29C90C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B3FEE-DEBD-160A-FC24-EF7199879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6E4D2-D0EE-1B85-90E1-480CC89B5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Address the entire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77CBA-3696-32C0-BD0D-499019A1C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A0A16-9C0D-524E-BA0D-486398226C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64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463F2-F79E-527D-3327-BD30C653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239FD-AF1E-8D51-0558-32917B060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07F3-D0F7-5494-812C-0A07A5C6A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Address the entire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274A0-38ED-3505-E793-8F6F917F6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A0A16-9C0D-524E-BA0D-486398226C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45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A699-A16B-07D1-FAF7-3B75E2E5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8BDA1-83AE-689F-D344-B5298BC12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9C825-3776-97AA-45CD-570061590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Address the entire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5725A-8E1A-7D74-A4D3-1127310A8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A0A16-9C0D-524E-BA0D-486398226C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37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1E196-9B4B-CE5F-A0CF-1ACE7AF7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CCD18-5091-C0EB-3C16-07CA72D01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7948A-BF96-A646-4913-3C4B54CFF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C80C4-9EDF-5367-521A-AC4496224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16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41C2-FB62-4F83-02D3-BCB853CB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C8377-F568-2F6E-D3F9-F131BE586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3260F-5E68-A2F5-2A5B-5A2648FD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E7373-621D-688F-1EC9-E9EFAFC33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35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54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86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3A69D-9003-0F47-94F7-C89124B317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71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36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24980-FC68-871A-E969-56BEA55F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67D64-E705-E5FB-B2AC-139E4DEC7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C52DE-6338-B3E2-0453-9DC6E73C3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40678-B155-A892-9591-9BF820F57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06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51D27-9A7E-964C-9C0C-0E5C6D342F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18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600"/>
              <a:t>Bif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49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B3ACD-E1B6-D24D-ABDF-386FCF79D8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93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29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18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6AD3-5FE5-2A03-95B7-27142574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A37D5-42F3-81C0-61B9-B19D9F583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D4D71-5C78-6BCB-1A0B-306920A47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376D3-96C3-FEA9-7154-14F2C546B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62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D88E-5429-957D-0D1F-D7568901E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CFE51-1D06-BAE7-527D-62FCFE6B3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EEF64-7D28-A90E-78B8-48398DB2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3A9B2-DE3B-386C-F831-C1D44A1F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E545-A3CB-9DA3-DD45-A31A729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ACF6-3D80-2DF3-F217-7C0A6682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5C4BE-B219-C8D6-B653-3B990B546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42F7B-D089-3DAC-1DA3-AA619CFA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B5721-E367-5B0D-A835-3D4B30AE1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D4659-076A-DA6B-A9CB-BA1D3757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43DF-4F66-AC6B-1898-41838F96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23CB6-0273-2EE0-2920-17B1ECB73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DAD12-1A6F-6C7D-FE94-E6C4870E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4896C-7574-02E8-D584-A4E2E810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2D2C-E0A4-9D89-1EC2-787CA532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3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27AA-7293-ED12-2C4C-14C73F75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7551-DDE0-F468-92E5-E0D29CFE7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D66C-5419-E0A9-048C-283806FF8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45BF9-8905-B5CD-5D48-39B7CAAB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355A4-722E-E0D6-C5F0-CA12244D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57937-8E79-23B7-EB18-2710C23E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8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CF47-C925-B82E-CF58-50A47C84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6664A-EC58-F7CF-6F69-8D5302092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96BE6-2DB6-A150-99B5-AC2A3A2B7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32C68-8134-DB17-28E2-B07B0DF3B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50F24-A5AD-9B9A-16BE-FF0606454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B3837-91D0-3446-3CFB-E22A356B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102FA-1B6A-A675-A01E-B83EC5EA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E47E3-65F9-F3AF-AA4A-C5BE4E6A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8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A5C8-F376-092F-884F-7A4FC68E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3CCE-1175-53CE-F4E5-3228CC97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BD80D-5D82-7BE3-6E80-27F9A8D5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3BC15-7DA2-C682-7047-B993D52E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1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97BE9-E56D-56BE-2635-5DB8554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D2763-D16A-27F3-123F-C8143421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29664-8621-D8CA-99B3-7968ECD2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1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12DA-F301-0BBB-7E9B-8F9B8E91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BCEB-008B-713E-28F3-05792DEAB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BDD05-0C4D-8DE9-E6A4-3F890D897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A9F43-B626-00FD-23A6-4C0B9A9B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EAF4A-9D31-548F-9746-F7286D3A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7E96A-7C94-5074-9F69-C3F798FC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1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7B42-55E4-FFA4-2E0C-8CAE855B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A9B5A-B31F-1C86-D543-A46FD3673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EE0CD-DD27-0839-F837-D6F608202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C5FF-A6C4-720B-2AC4-565C9729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0217B-E761-5046-26C0-F56246E7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BE19D-E219-E035-D8D5-2C5A2AB6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9DA4-F6A1-9E68-F493-04BE843C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8215F-36B7-BA24-3784-FEBABA627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93FFA-3333-FD18-CDD0-C6187BF7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2DD3F-8D81-946D-69D4-3DBF157F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63D45-5BC6-0B5D-3A7B-0C3DC719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0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DE6ED7-4124-531B-B546-28D4F4149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445C0-8D26-7EF5-79D3-531277F65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0EC04-7020-0F3D-6B41-D401021E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7A390-532B-F4BC-BFE9-A08073C0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67B45-D9CC-687D-F178-07C863DF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13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599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6BCDD-2E92-75FD-045C-AD180073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7DADC-DD7D-562F-F68C-F6EA7D119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7A8A-CAC3-D4A6-2BD5-4E08614F5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3C03-8830-D40A-D71B-4E27A96F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6A1EC-D800-65EF-D201-15673262C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.chapman@liverpoo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datasets/genom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datasets/genom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sra" TargetMode="External"/><Relationship Id="rId2" Type="http://schemas.openxmlformats.org/officeDocument/2006/relationships/hyperlink" Target="https://www.ncbi.nlm.nih.gov/g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uniprot.org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egg.jp/kegg/pathway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kegg.jp/kegg/pathway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0.png"/><Relationship Id="rId4" Type="http://schemas.openxmlformats.org/officeDocument/2006/relationships/customXml" Target="../ink/ink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1.png"/><Relationship Id="rId7" Type="http://schemas.openxmlformats.org/officeDocument/2006/relationships/image" Target="../media/image410.png"/><Relationship Id="rId2" Type="http://schemas.openxmlformats.org/officeDocument/2006/relationships/hyperlink" Target="https://www.kegg.jp/entry/K01810+K06859+K13810+K15916+5.3.1.9+R13199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43.png"/><Relationship Id="rId5" Type="http://schemas.openxmlformats.org/officeDocument/2006/relationships/image" Target="../media/image40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hyperlink" Target="https://www.kegg.jp/entry/R00771" TargetMode="External"/><Relationship Id="rId7" Type="http://schemas.openxmlformats.org/officeDocument/2006/relationships/customXml" Target="../ink/ink7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6.xml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customXml" Target="../ink/ink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hyperlink" Target="https://www.kegg.jp/entry/C00092" TargetMode="External"/><Relationship Id="rId7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50.png"/><Relationship Id="rId4" Type="http://schemas.openxmlformats.org/officeDocument/2006/relationships/customXml" Target="../ink/ink9.xml"/><Relationship Id="rId9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customXml" Target="../ink/ink14.xm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C1E2-9380-DA3C-C8B0-840E6689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3606F2-9FD1-61F0-8E6C-71ED42198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006"/>
            <a:ext cx="12192000" cy="6851905"/>
          </a:xfrm>
        </p:spPr>
      </p:pic>
    </p:spTree>
    <p:extLst>
      <p:ext uri="{BB962C8B-B14F-4D97-AF65-F5344CB8AC3E}">
        <p14:creationId xmlns:p14="http://schemas.microsoft.com/office/powerpoint/2010/main" val="588030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BCE19A-A47F-1302-E289-90BE57133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1890" y="4918591"/>
            <a:ext cx="6548219" cy="113602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Dr Stephen Chapman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stephen.chapman@liverpool.ac.uk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350 Biosciences Building</a:t>
            </a: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0F46D61B-6B9A-8E9A-B8B5-931698F5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901" y="104226"/>
            <a:ext cx="3920076" cy="29400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859729A-879E-0788-0CC0-2311550C2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CODE-M</a:t>
            </a:r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#1 Systems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C467A7-2763-8FE7-270B-2AA07C9FC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0" y="869404"/>
            <a:ext cx="2336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9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F31A-DC87-DA5A-B318-EC29191C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lecture we will…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9125F-9DD9-DCF4-CAB9-328377958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Introduce Systems Biology as a non-reductionist / holistic approach to make sense of complex biological systems</a:t>
            </a:r>
          </a:p>
          <a:p>
            <a:r>
              <a:rPr lang="en-US" dirty="0"/>
              <a:t>Explore NCBI, GEO, PDB and KEGG databases of biological systems</a:t>
            </a:r>
          </a:p>
          <a:p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marL="457200" lvl="1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6824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7F38-9E0C-F241-0A2B-4D024A35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B56762-4804-63CF-197E-B10F245BE60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2856600"/>
            <a:ext cx="10972440" cy="1144800"/>
          </a:xfrm>
        </p:spPr>
        <p:txBody>
          <a:bodyPr/>
          <a:lstStyle/>
          <a:p>
            <a:pPr marL="0" indent="0">
              <a:buNone/>
            </a:pPr>
            <a:r>
              <a:rPr lang="en-US" sz="7200">
                <a:solidFill>
                  <a:srgbClr val="002060"/>
                </a:solidFill>
              </a:rPr>
              <a:t>Systems Biology looks at all interacting components of a ‘system’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6202C4-FA07-0971-4032-69DFCAE5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What is Systems Biology ?</a:t>
            </a:r>
          </a:p>
        </p:txBody>
      </p:sp>
    </p:spTree>
    <p:extLst>
      <p:ext uri="{BB962C8B-B14F-4D97-AF65-F5344CB8AC3E}">
        <p14:creationId xmlns:p14="http://schemas.microsoft.com/office/powerpoint/2010/main" val="423742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D2EE-7219-52E3-7A6D-9D9A48F8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4FCB-2583-576B-4422-F595A6BD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53" y="83940"/>
            <a:ext cx="12002947" cy="1144800"/>
          </a:xfrm>
        </p:spPr>
        <p:txBody>
          <a:bodyPr/>
          <a:lstStyle/>
          <a:p>
            <a:r>
              <a:rPr lang="en-US" sz="3600"/>
              <a:t>Analogy: A car drives because of its interacting systems</a:t>
            </a:r>
          </a:p>
        </p:txBody>
      </p:sp>
      <p:pic>
        <p:nvPicPr>
          <p:cNvPr id="4102" name="Picture 6" descr="Car Engine Cross Section Banque d'image et photos - Alamy">
            <a:extLst>
              <a:ext uri="{FF2B5EF4-FFF2-40B4-BE49-F238E27FC236}">
                <a16:creationId xmlns:a16="http://schemas.microsoft.com/office/drawing/2014/main" id="{1542953E-04E5-D32E-337E-24FA81AC20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0" t="10364" r="7345" b="18600"/>
          <a:stretch/>
        </p:blipFill>
        <p:spPr bwMode="auto">
          <a:xfrm>
            <a:off x="1848422" y="948542"/>
            <a:ext cx="7999191" cy="536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99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79FB-4173-2FFC-F8CD-9779F23C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6D29-B2CD-0B16-C9AE-A508282C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47" y="651964"/>
            <a:ext cx="47477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/>
              <a:t>Which system failed?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A8FAD7-7E4B-3BBF-5308-8B820DBBD1C8}"/>
              </a:ext>
            </a:extLst>
          </p:cNvPr>
          <p:cNvSpPr/>
          <p:nvPr/>
        </p:nvSpPr>
        <p:spPr>
          <a:xfrm>
            <a:off x="15028" y="6239781"/>
            <a:ext cx="4803302" cy="618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/>
              <a:t>https://france3-regions.francetvinfo.fr/</a:t>
            </a:r>
            <a:r>
              <a:rPr lang="en-US" sz="1200" b="1" err="1"/>
              <a:t>provence</a:t>
            </a:r>
            <a:r>
              <a:rPr lang="en-US" sz="1200" b="1"/>
              <a:t>-</a:t>
            </a:r>
            <a:r>
              <a:rPr lang="en-US" sz="1200" b="1" err="1"/>
              <a:t>alpes</a:t>
            </a:r>
            <a:r>
              <a:rPr lang="en-US" sz="1200" b="1"/>
              <a:t>-cote-d-</a:t>
            </a:r>
            <a:r>
              <a:rPr lang="en-US" sz="1200" b="1" err="1"/>
              <a:t>azur</a:t>
            </a:r>
            <a:r>
              <a:rPr lang="en-US" sz="1200" b="1"/>
              <a:t>/</a:t>
            </a:r>
            <a:r>
              <a:rPr lang="en-US" sz="1200" b="1" err="1"/>
              <a:t>bouches</a:t>
            </a:r>
            <a:r>
              <a:rPr lang="en-US" sz="1200" b="1"/>
              <a:t>-du-</a:t>
            </a:r>
            <a:r>
              <a:rPr lang="en-US" sz="1200" b="1" err="1"/>
              <a:t>rhone</a:t>
            </a:r>
            <a:r>
              <a:rPr lang="en-US" sz="1200" b="1"/>
              <a:t>/</a:t>
            </a:r>
            <a:r>
              <a:rPr lang="en-US" sz="1200" b="1" err="1"/>
              <a:t>marseille</a:t>
            </a:r>
            <a:r>
              <a:rPr lang="en-US" sz="1200" b="1"/>
              <a:t>/marseille-voiture-est-tombee-vieux-port-1793809.html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E58DEA03-9C48-8FCC-CB9B-4CEE8F90E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1"/>
          <a:stretch>
            <a:fillRect/>
          </a:stretch>
        </p:blipFill>
        <p:spPr bwMode="auto"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55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B342-6C48-C964-7880-F75AAE45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0E9D-A3CD-B8E9-1175-652B68DB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53" y="0"/>
            <a:ext cx="12002947" cy="1144800"/>
          </a:xfrm>
        </p:spPr>
        <p:txBody>
          <a:bodyPr/>
          <a:lstStyle/>
          <a:p>
            <a:r>
              <a:rPr lang="en-US"/>
              <a:t>Analogy: The environment changed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FF6E4F92-D8EC-3CA7-3C19-27FD7321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53" y="1334416"/>
            <a:ext cx="6302831" cy="472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134606-80FF-C969-D201-00D3E600BDAA}"/>
              </a:ext>
            </a:extLst>
          </p:cNvPr>
          <p:cNvSpPr/>
          <p:nvPr/>
        </p:nvSpPr>
        <p:spPr>
          <a:xfrm>
            <a:off x="0" y="6486395"/>
            <a:ext cx="112449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2060"/>
                </a:solidFill>
              </a:rPr>
              <a:t>https://france3-regions.francetvinfo.fr/</a:t>
            </a:r>
            <a:r>
              <a:rPr lang="en-US" sz="1200" err="1">
                <a:solidFill>
                  <a:srgbClr val="002060"/>
                </a:solidFill>
              </a:rPr>
              <a:t>provence</a:t>
            </a:r>
            <a:r>
              <a:rPr lang="en-US" sz="1200">
                <a:solidFill>
                  <a:srgbClr val="002060"/>
                </a:solidFill>
              </a:rPr>
              <a:t>-</a:t>
            </a:r>
            <a:r>
              <a:rPr lang="en-US" sz="1200" err="1">
                <a:solidFill>
                  <a:srgbClr val="002060"/>
                </a:solidFill>
              </a:rPr>
              <a:t>alpes</a:t>
            </a:r>
            <a:r>
              <a:rPr lang="en-US" sz="1200">
                <a:solidFill>
                  <a:srgbClr val="002060"/>
                </a:solidFill>
              </a:rPr>
              <a:t>-cote-d-</a:t>
            </a:r>
            <a:r>
              <a:rPr lang="en-US" sz="1200" err="1">
                <a:solidFill>
                  <a:srgbClr val="002060"/>
                </a:solidFill>
              </a:rPr>
              <a:t>azur</a:t>
            </a:r>
            <a:r>
              <a:rPr lang="en-US" sz="1200">
                <a:solidFill>
                  <a:srgbClr val="002060"/>
                </a:solidFill>
              </a:rPr>
              <a:t>/</a:t>
            </a:r>
            <a:r>
              <a:rPr lang="en-US" sz="1200" err="1">
                <a:solidFill>
                  <a:srgbClr val="002060"/>
                </a:solidFill>
              </a:rPr>
              <a:t>bouches</a:t>
            </a:r>
            <a:r>
              <a:rPr lang="en-US" sz="1200">
                <a:solidFill>
                  <a:srgbClr val="002060"/>
                </a:solidFill>
              </a:rPr>
              <a:t>-du-</a:t>
            </a:r>
            <a:r>
              <a:rPr lang="en-US" sz="1200" err="1">
                <a:solidFill>
                  <a:srgbClr val="002060"/>
                </a:solidFill>
              </a:rPr>
              <a:t>rhone</a:t>
            </a:r>
            <a:r>
              <a:rPr lang="en-US" sz="1200">
                <a:solidFill>
                  <a:srgbClr val="002060"/>
                </a:solidFill>
              </a:rPr>
              <a:t>/</a:t>
            </a:r>
            <a:r>
              <a:rPr lang="en-US" sz="1200" err="1">
                <a:solidFill>
                  <a:srgbClr val="002060"/>
                </a:solidFill>
              </a:rPr>
              <a:t>marseille</a:t>
            </a:r>
            <a:r>
              <a:rPr lang="en-US" sz="1200">
                <a:solidFill>
                  <a:srgbClr val="002060"/>
                </a:solidFill>
              </a:rPr>
              <a:t>/marseille-voiture-est-tombee-vieux-port-1793809.html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5D6B9-6E0A-56EB-2F23-0A288302F1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5"/>
          <a:stretch/>
        </p:blipFill>
        <p:spPr>
          <a:xfrm>
            <a:off x="6972551" y="781396"/>
            <a:ext cx="5030396" cy="598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4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9EA4-3EBA-202A-1A8A-E2FAFD37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14E8-A904-0605-38B5-21884FB5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Bioinformatics enables Systems Biology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D8CD-E491-5BED-4B0B-B27ABCC75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43180"/>
            <a:ext cx="1070504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Systems Biology looks at </a:t>
            </a:r>
            <a:r>
              <a:rPr lang="en-US" sz="2400" b="1" dirty="0"/>
              <a:t>complete biological systems = holistic</a:t>
            </a:r>
          </a:p>
          <a:p>
            <a:r>
              <a:rPr lang="en-US" sz="2400" dirty="0"/>
              <a:t>Avoids looking at single genes or single proteins in isolation = </a:t>
            </a:r>
            <a:r>
              <a:rPr lang="en-US" sz="2400" b="1" dirty="0"/>
              <a:t>reductionism</a:t>
            </a:r>
          </a:p>
          <a:p>
            <a:r>
              <a:rPr lang="en-US" sz="2400" b="1"/>
              <a:t>Metabolism is the </a:t>
            </a:r>
            <a:r>
              <a:rPr lang="en-US" sz="2400" b="1" dirty="0"/>
              <a:t>closest </a:t>
            </a:r>
            <a:r>
              <a:rPr lang="en-US" sz="2400" b="1" dirty="0" err="1"/>
              <a:t>omic</a:t>
            </a:r>
            <a:r>
              <a:rPr lang="en-US" sz="2400" b="1" dirty="0"/>
              <a:t> layer to the phenotype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214FD6-17CE-F921-1B20-D5D4353DC424}"/>
              </a:ext>
            </a:extLst>
          </p:cNvPr>
          <p:cNvSpPr txBox="1"/>
          <p:nvPr/>
        </p:nvSpPr>
        <p:spPr>
          <a:xfrm>
            <a:off x="168025" y="557299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876F3B3-DA2A-14AF-519A-61AC0F9CA942}"/>
              </a:ext>
            </a:extLst>
          </p:cNvPr>
          <p:cNvGrpSpPr/>
          <p:nvPr/>
        </p:nvGrpSpPr>
        <p:grpSpPr>
          <a:xfrm>
            <a:off x="564366" y="2503943"/>
            <a:ext cx="10493917" cy="3385486"/>
            <a:chOff x="403682" y="2076407"/>
            <a:chExt cx="14504490" cy="4128075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9517CDB-7F44-25CE-06F9-F18DAEFEB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1870" y="4543625"/>
              <a:ext cx="734075" cy="191486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AF895E-34B1-7EAF-6F46-9CBBF54D196E}"/>
                </a:ext>
              </a:extLst>
            </p:cNvPr>
            <p:cNvGrpSpPr/>
            <p:nvPr/>
          </p:nvGrpSpPr>
          <p:grpSpPr>
            <a:xfrm>
              <a:off x="2191407" y="3019704"/>
              <a:ext cx="6511381" cy="3178615"/>
              <a:chOff x="1607915" y="2332139"/>
              <a:chExt cx="8044649" cy="3178615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2DD755C-60DE-014D-F0B8-73D9A2C129CA}"/>
                  </a:ext>
                </a:extLst>
              </p:cNvPr>
              <p:cNvGrpSpPr/>
              <p:nvPr/>
            </p:nvGrpSpPr>
            <p:grpSpPr>
              <a:xfrm>
                <a:off x="1607915" y="2332139"/>
                <a:ext cx="8044649" cy="3178615"/>
                <a:chOff x="468771" y="2308989"/>
                <a:chExt cx="8044649" cy="3178615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FCB8D1F2-22B5-AE05-8C76-59F2DB227128}"/>
                    </a:ext>
                  </a:extLst>
                </p:cNvPr>
                <p:cNvGrpSpPr/>
                <p:nvPr/>
              </p:nvGrpSpPr>
              <p:grpSpPr>
                <a:xfrm>
                  <a:off x="468771" y="2700998"/>
                  <a:ext cx="8044649" cy="1822770"/>
                  <a:chOff x="-318308" y="2052816"/>
                  <a:chExt cx="8044649" cy="1822770"/>
                </a:xfrm>
              </p:grpSpPr>
              <p:pic>
                <p:nvPicPr>
                  <p:cNvPr id="17" name="Picture 16">
                    <a:extLst>
                      <a:ext uri="{FF2B5EF4-FFF2-40B4-BE49-F238E27FC236}">
                        <a16:creationId xmlns:a16="http://schemas.microsoft.com/office/drawing/2014/main" id="{3D96B251-FE33-C014-4FDE-A9E3927BAD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50151" t="65542" r="30599" b="3068"/>
                  <a:stretch/>
                </p:blipFill>
                <p:spPr>
                  <a:xfrm>
                    <a:off x="6082737" y="2052816"/>
                    <a:ext cx="1643604" cy="1780573"/>
                  </a:xfrm>
                  <a:prstGeom prst="rect">
                    <a:avLst/>
                  </a:prstGeom>
                </p:spPr>
              </p:pic>
              <p:pic>
                <p:nvPicPr>
                  <p:cNvPr id="18" name="Picture 17">
                    <a:extLst>
                      <a:ext uri="{FF2B5EF4-FFF2-40B4-BE49-F238E27FC236}">
                        <a16:creationId xmlns:a16="http://schemas.microsoft.com/office/drawing/2014/main" id="{292D044E-6088-0CF2-90A1-0322A01941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31149" t="67716" r="50821" b="5349"/>
                  <a:stretch/>
                </p:blipFill>
                <p:spPr>
                  <a:xfrm>
                    <a:off x="2785229" y="2212903"/>
                    <a:ext cx="1539434" cy="1527858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B10EBFF9-1743-16A8-4AE1-A26621C070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11877" t="65542" r="70500" b="3068"/>
                  <a:stretch/>
                </p:blipFill>
                <p:spPr>
                  <a:xfrm>
                    <a:off x="-318308" y="2095013"/>
                    <a:ext cx="1504709" cy="1780573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AFADCD-0D83-F84A-9C40-45B40EE4A7F3}"/>
                    </a:ext>
                  </a:extLst>
                </p:cNvPr>
                <p:cNvSpPr txBox="1"/>
                <p:nvPr/>
              </p:nvSpPr>
              <p:spPr>
                <a:xfrm>
                  <a:off x="556529" y="5096866"/>
                  <a:ext cx="101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genome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E60A1DF-68DC-9729-40FE-A966AAD53844}"/>
                    </a:ext>
                  </a:extLst>
                </p:cNvPr>
                <p:cNvSpPr txBox="1"/>
                <p:nvPr/>
              </p:nvSpPr>
              <p:spPr>
                <a:xfrm>
                  <a:off x="3199393" y="5118272"/>
                  <a:ext cx="15824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transcriptome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C44E25-E978-9902-3950-768A90227183}"/>
                    </a:ext>
                  </a:extLst>
                </p:cNvPr>
                <p:cNvSpPr txBox="1"/>
                <p:nvPr/>
              </p:nvSpPr>
              <p:spPr>
                <a:xfrm>
                  <a:off x="6923844" y="5043424"/>
                  <a:ext cx="11592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proteome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AFC3616-0196-CB2F-970B-29119FFCD5BD}"/>
                    </a:ext>
                  </a:extLst>
                </p:cNvPr>
                <p:cNvSpPr txBox="1"/>
                <p:nvPr/>
              </p:nvSpPr>
              <p:spPr>
                <a:xfrm>
                  <a:off x="513817" y="2353778"/>
                  <a:ext cx="6848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DNA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C8701E3-FAFA-22DB-7A25-5364B32BE596}"/>
                    </a:ext>
                  </a:extLst>
                </p:cNvPr>
                <p:cNvSpPr txBox="1"/>
                <p:nvPr/>
              </p:nvSpPr>
              <p:spPr>
                <a:xfrm>
                  <a:off x="3544923" y="2338578"/>
                  <a:ext cx="8899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mRNA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6AAA13F-D309-A257-98C6-21C256EDDA6F}"/>
                    </a:ext>
                  </a:extLst>
                </p:cNvPr>
                <p:cNvSpPr txBox="1"/>
                <p:nvPr/>
              </p:nvSpPr>
              <p:spPr>
                <a:xfrm>
                  <a:off x="6919452" y="2308989"/>
                  <a:ext cx="9669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protein</a:t>
                  </a:r>
                </a:p>
              </p:txBody>
            </p:sp>
          </p:grp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ED00E9B9-BA1F-C5B3-0F9F-9F3C7C9AC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486" y="3680749"/>
                <a:ext cx="1437442" cy="0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71327E-05CB-26E5-E624-9758F4416CBF}"/>
                  </a:ext>
                </a:extLst>
              </p:cNvPr>
              <p:cNvSpPr txBox="1"/>
              <p:nvPr/>
            </p:nvSpPr>
            <p:spPr>
              <a:xfrm>
                <a:off x="2766347" y="2825936"/>
                <a:ext cx="2781872" cy="412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/>
                  <a:t>transcription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161005-84A5-A996-A834-DF00FC3E2170}"/>
                  </a:ext>
                </a:extLst>
              </p:cNvPr>
              <p:cNvSpPr txBox="1"/>
              <p:nvPr/>
            </p:nvSpPr>
            <p:spPr>
              <a:xfrm>
                <a:off x="6211132" y="2820780"/>
                <a:ext cx="1938056" cy="41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/>
                  <a:t>translation</a:t>
                </a:r>
                <a:endParaRPr lang="en-US" i="1"/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7F58764-3900-4B83-9C6A-F635E716F493}"/>
                </a:ext>
              </a:extLst>
            </p:cNvPr>
            <p:cNvCxnSpPr>
              <a:cxnSpLocks/>
            </p:cNvCxnSpPr>
            <p:nvPr/>
          </p:nvCxnSpPr>
          <p:spPr>
            <a:xfrm>
              <a:off x="1401473" y="3786488"/>
              <a:ext cx="764354" cy="373042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15FB028-2668-300C-708A-DEF3351029DE}"/>
                </a:ext>
              </a:extLst>
            </p:cNvPr>
            <p:cNvSpPr txBox="1"/>
            <p:nvPr/>
          </p:nvSpPr>
          <p:spPr>
            <a:xfrm>
              <a:off x="10005891" y="5754139"/>
              <a:ext cx="2010028" cy="450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metabolome</a:t>
              </a:r>
            </a:p>
          </p:txBody>
        </p:sp>
        <p:pic>
          <p:nvPicPr>
            <p:cNvPr id="52" name="Graphic 51" descr="Sun with solid fill">
              <a:extLst>
                <a:ext uri="{FF2B5EF4-FFF2-40B4-BE49-F238E27FC236}">
                  <a16:creationId xmlns:a16="http://schemas.microsoft.com/office/drawing/2014/main" id="{EBE6EDCE-D502-024C-15B6-8C442A60D5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4757" y="3249159"/>
              <a:ext cx="914400" cy="914400"/>
            </a:xfrm>
            <a:prstGeom prst="rect">
              <a:avLst/>
            </a:prstGeom>
          </p:spPr>
        </p:pic>
        <p:pic>
          <p:nvPicPr>
            <p:cNvPr id="59" name="Graphic 58" descr="Cloud with solid fill">
              <a:extLst>
                <a:ext uri="{FF2B5EF4-FFF2-40B4-BE49-F238E27FC236}">
                  <a16:creationId xmlns:a16="http://schemas.microsoft.com/office/drawing/2014/main" id="{8F7036B0-4C51-4F17-0F1D-7588018D6A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3682" y="4133784"/>
              <a:ext cx="914400" cy="914400"/>
            </a:xfrm>
            <a:prstGeom prst="rect">
              <a:avLst/>
            </a:prstGeom>
          </p:spPr>
        </p:pic>
        <p:pic>
          <p:nvPicPr>
            <p:cNvPr id="61" name="Graphic 60" descr="Water with solid fill">
              <a:extLst>
                <a:ext uri="{FF2B5EF4-FFF2-40B4-BE49-F238E27FC236}">
                  <a16:creationId xmlns:a16="http://schemas.microsoft.com/office/drawing/2014/main" id="{1087CB5E-DB20-01C4-4413-D6D8B7E205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5858" y="4856682"/>
              <a:ext cx="369333" cy="369333"/>
            </a:xfrm>
            <a:prstGeom prst="rect">
              <a:avLst/>
            </a:prstGeom>
          </p:spPr>
        </p:pic>
        <p:pic>
          <p:nvPicPr>
            <p:cNvPr id="62" name="Graphic 61" descr="Water with solid fill">
              <a:extLst>
                <a:ext uri="{FF2B5EF4-FFF2-40B4-BE49-F238E27FC236}">
                  <a16:creationId xmlns:a16="http://schemas.microsoft.com/office/drawing/2014/main" id="{68D9B86C-096C-F42D-299E-9763B41D2A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5303" y="4868830"/>
              <a:ext cx="369333" cy="369333"/>
            </a:xfrm>
            <a:prstGeom prst="rect">
              <a:avLst/>
            </a:prstGeom>
          </p:spPr>
        </p:pic>
        <p:pic>
          <p:nvPicPr>
            <p:cNvPr id="63" name="Graphic 62" descr="Water with solid fill">
              <a:extLst>
                <a:ext uri="{FF2B5EF4-FFF2-40B4-BE49-F238E27FC236}">
                  <a16:creationId xmlns:a16="http://schemas.microsoft.com/office/drawing/2014/main" id="{5C3BE289-4568-96C3-1380-4C6CAEEA6D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7075" y="4856680"/>
              <a:ext cx="369333" cy="369333"/>
            </a:xfrm>
            <a:prstGeom prst="rect">
              <a:avLst/>
            </a:prstGeom>
          </p:spPr>
        </p:pic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8FCF78F-5AB4-CE60-7BB7-B880EE14570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348562"/>
              <a:ext cx="1163473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71" name="Picture 70" descr="A bunch of wheat on a white background&#10;&#10;AI-generated content may be incorrect.">
              <a:extLst>
                <a:ext uri="{FF2B5EF4-FFF2-40B4-BE49-F238E27FC236}">
                  <a16:creationId xmlns:a16="http://schemas.microsoft.com/office/drawing/2014/main" id="{8DF0B6E7-2A5F-BA40-B4F2-364AFEEE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66985" y="2076407"/>
              <a:ext cx="1330342" cy="2238868"/>
            </a:xfrm>
            <a:prstGeom prst="rect">
              <a:avLst/>
            </a:prstGeom>
          </p:spPr>
        </p:pic>
        <p:pic>
          <p:nvPicPr>
            <p:cNvPr id="75" name="Picture 74" descr="A drawing of a plant&#10;&#10;AI-generated content may be incorrect.">
              <a:extLst>
                <a:ext uri="{FF2B5EF4-FFF2-40B4-BE49-F238E27FC236}">
                  <a16:creationId xmlns:a16="http://schemas.microsoft.com/office/drawing/2014/main" id="{CDCDB317-69A5-3144-612D-442F4458A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19021" y="4812149"/>
              <a:ext cx="1589151" cy="960606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B94CDE0-67F2-6D56-C482-250468B551E6}"/>
              </a:ext>
            </a:extLst>
          </p:cNvPr>
          <p:cNvCxnSpPr>
            <a:cxnSpLocks/>
          </p:cNvCxnSpPr>
          <p:nvPr/>
        </p:nvCxnSpPr>
        <p:spPr>
          <a:xfrm>
            <a:off x="6753657" y="4255528"/>
            <a:ext cx="841766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F8464A-512C-FD40-E283-409140281DBE}"/>
              </a:ext>
            </a:extLst>
          </p:cNvPr>
          <p:cNvCxnSpPr>
            <a:cxnSpLocks/>
          </p:cNvCxnSpPr>
          <p:nvPr/>
        </p:nvCxnSpPr>
        <p:spPr>
          <a:xfrm flipV="1">
            <a:off x="8871990" y="3179562"/>
            <a:ext cx="941738" cy="55910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044AFA-C456-77DB-F373-0F791E62403C}"/>
              </a:ext>
            </a:extLst>
          </p:cNvPr>
          <p:cNvCxnSpPr>
            <a:cxnSpLocks/>
          </p:cNvCxnSpPr>
          <p:nvPr/>
        </p:nvCxnSpPr>
        <p:spPr>
          <a:xfrm>
            <a:off x="8792015" y="4471753"/>
            <a:ext cx="932645" cy="48254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2CFBE4A-918E-2D6E-E37D-DA70AB6EEFF8}"/>
              </a:ext>
            </a:extLst>
          </p:cNvPr>
          <p:cNvSpPr txBox="1"/>
          <p:nvPr/>
        </p:nvSpPr>
        <p:spPr>
          <a:xfrm>
            <a:off x="9793548" y="552009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phenotype</a:t>
            </a:r>
          </a:p>
        </p:txBody>
      </p:sp>
      <p:pic>
        <p:nvPicPr>
          <p:cNvPr id="27" name="Picture 26" descr="A blue and white hexagons&#10;&#10;AI-generated content may be incorrect.">
            <a:extLst>
              <a:ext uri="{FF2B5EF4-FFF2-40B4-BE49-F238E27FC236}">
                <a16:creationId xmlns:a16="http://schemas.microsoft.com/office/drawing/2014/main" id="{C2125643-350F-6D8B-3C1A-A0AC8AF23E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6479" y="3571857"/>
            <a:ext cx="1135536" cy="12510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C505D20-6E50-0C1B-BBB7-512C0B974D50}"/>
              </a:ext>
            </a:extLst>
          </p:cNvPr>
          <p:cNvSpPr txBox="1"/>
          <p:nvPr/>
        </p:nvSpPr>
        <p:spPr>
          <a:xfrm>
            <a:off x="7417746" y="3264318"/>
            <a:ext cx="1454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metabolites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8C6A5F-653B-9ABF-AF50-74FB2746F978}"/>
              </a:ext>
            </a:extLst>
          </p:cNvPr>
          <p:cNvCxnSpPr>
            <a:cxnSpLocks/>
          </p:cNvCxnSpPr>
          <p:nvPr/>
        </p:nvCxnSpPr>
        <p:spPr>
          <a:xfrm>
            <a:off x="330200" y="5967729"/>
            <a:ext cx="106014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25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D355-37B2-8007-2B2D-F4CD86957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D758C-0686-9B71-CEB3-BC10D226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297268"/>
            <a:ext cx="12191999" cy="1322948"/>
          </a:xfrm>
        </p:spPr>
        <p:txBody>
          <a:bodyPr anchor="b">
            <a:normAutofit fontScale="90000"/>
          </a:bodyPr>
          <a:lstStyle/>
          <a:p>
            <a:r>
              <a:rPr lang="en-US"/>
              <a:t>Systems Biology looks at </a:t>
            </a:r>
            <a:r>
              <a:rPr lang="en-US" b="1"/>
              <a:t>complete biological systems</a:t>
            </a:r>
            <a:br>
              <a:rPr lang="en-US" b="1"/>
            </a:br>
            <a:endParaRPr lang="en-US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BC5E91-6AEB-401D-DA6B-B4ADE56117ED}"/>
              </a:ext>
            </a:extLst>
          </p:cNvPr>
          <p:cNvSpPr/>
          <p:nvPr/>
        </p:nvSpPr>
        <p:spPr>
          <a:xfrm>
            <a:off x="318052" y="2282210"/>
            <a:ext cx="3898127" cy="603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9A58-E448-6866-2D73-57D6623EA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234" y="895761"/>
            <a:ext cx="11305584" cy="3320668"/>
          </a:xfrm>
        </p:spPr>
        <p:txBody>
          <a:bodyPr>
            <a:normAutofit/>
          </a:bodyPr>
          <a:lstStyle/>
          <a:p>
            <a:endParaRPr lang="en-US" sz="2200"/>
          </a:p>
          <a:p>
            <a:r>
              <a:rPr lang="en-US" sz="2200" b="1"/>
              <a:t>Biology is interconnected</a:t>
            </a:r>
          </a:p>
          <a:p>
            <a:r>
              <a:rPr lang="en-US" sz="2200"/>
              <a:t>Genes, proteins and metabolites do not function in isolation – they interact with each other within networks</a:t>
            </a:r>
          </a:p>
          <a:p>
            <a:r>
              <a:rPr lang="en-US" sz="2200" b="1"/>
              <a:t>Metabolism</a:t>
            </a:r>
            <a:r>
              <a:rPr lang="en-US" sz="2200"/>
              <a:t>: Conversion of </a:t>
            </a:r>
            <a:r>
              <a:rPr lang="en-US" sz="2200" b="1">
                <a:solidFill>
                  <a:srgbClr val="344394"/>
                </a:solidFill>
              </a:rPr>
              <a:t>substrates</a:t>
            </a:r>
            <a:r>
              <a:rPr lang="en-US" sz="2200"/>
              <a:t> to </a:t>
            </a:r>
            <a:r>
              <a:rPr lang="en-US" sz="2200" b="1">
                <a:solidFill>
                  <a:schemeClr val="accent2"/>
                </a:solidFill>
              </a:rPr>
              <a:t>products</a:t>
            </a:r>
            <a:r>
              <a:rPr lang="en-US" sz="2200"/>
              <a:t> via </a:t>
            </a:r>
            <a:r>
              <a:rPr lang="en-US" sz="2200" b="1">
                <a:solidFill>
                  <a:schemeClr val="accent6"/>
                </a:solidFill>
              </a:rPr>
              <a:t>metabolic enzymes (proteins)</a:t>
            </a:r>
          </a:p>
          <a:p>
            <a:r>
              <a:rPr lang="en-US" sz="2200" b="1">
                <a:solidFill>
                  <a:schemeClr val="accent6"/>
                </a:solidFill>
              </a:rPr>
              <a:t>Metabolic enzymes </a:t>
            </a:r>
            <a:r>
              <a:rPr lang="en-US" sz="2200"/>
              <a:t>are encoded within the </a:t>
            </a:r>
            <a:r>
              <a:rPr lang="en-US" sz="2200" b="1"/>
              <a:t>genome</a:t>
            </a:r>
          </a:p>
          <a:p>
            <a:endParaRPr lang="en-US" sz="2200" b="1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2200" b="1"/>
          </a:p>
          <a:p>
            <a:pPr marL="0" indent="0">
              <a:buNone/>
            </a:pPr>
            <a:endParaRPr lang="en-US" sz="2200" b="1"/>
          </a:p>
          <a:p>
            <a:pPr marL="0" indent="0">
              <a:buNone/>
            </a:pPr>
            <a:endParaRPr lang="en-US" sz="2200" b="1"/>
          </a:p>
          <a:p>
            <a:pPr marL="0" indent="0">
              <a:buNone/>
            </a:pPr>
            <a:endParaRPr lang="en-US" sz="2200" b="1"/>
          </a:p>
          <a:p>
            <a:pPr marL="0" indent="0">
              <a:buNone/>
            </a:pPr>
            <a:endParaRPr lang="en-US" sz="22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DFF2DD-AC0F-9878-8A11-008144C14633}"/>
              </a:ext>
            </a:extLst>
          </p:cNvPr>
          <p:cNvSpPr txBox="1"/>
          <p:nvPr/>
        </p:nvSpPr>
        <p:spPr>
          <a:xfrm>
            <a:off x="471864" y="5373655"/>
            <a:ext cx="8831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A product of one reaction becomes the substrate of another reaction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A defective metabolic enzyme impacts downstream metabolism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1661BEB-44D2-81AC-8ABD-7A93CB4908CB}"/>
              </a:ext>
            </a:extLst>
          </p:cNvPr>
          <p:cNvGrpSpPr/>
          <p:nvPr/>
        </p:nvGrpSpPr>
        <p:grpSpPr>
          <a:xfrm>
            <a:off x="1271439" y="3241362"/>
            <a:ext cx="9251662" cy="1870620"/>
            <a:chOff x="614689" y="3792123"/>
            <a:chExt cx="9251662" cy="187062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F7B21B4-9954-F7AA-C2A2-D4E764CC8E06}"/>
                </a:ext>
              </a:extLst>
            </p:cNvPr>
            <p:cNvGrpSpPr/>
            <p:nvPr/>
          </p:nvGrpSpPr>
          <p:grpSpPr>
            <a:xfrm>
              <a:off x="614689" y="3792123"/>
              <a:ext cx="9251662" cy="1870620"/>
              <a:chOff x="487331" y="3537019"/>
              <a:chExt cx="9251662" cy="187062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ECEBF3-C3D8-5754-5C24-8AF735EC955E}"/>
                  </a:ext>
                </a:extLst>
              </p:cNvPr>
              <p:cNvGrpSpPr/>
              <p:nvPr/>
            </p:nvGrpSpPr>
            <p:grpSpPr>
              <a:xfrm>
                <a:off x="487331" y="3537019"/>
                <a:ext cx="4957832" cy="1805633"/>
                <a:chOff x="1138167" y="3971796"/>
                <a:chExt cx="4957832" cy="1805633"/>
              </a:xfrm>
            </p:grpSpPr>
            <p:pic>
              <p:nvPicPr>
                <p:cNvPr id="6" name="Picture 5" descr="A diagram of a cell membrane&#10;&#10;Description automatically generated">
                  <a:extLst>
                    <a:ext uri="{FF2B5EF4-FFF2-40B4-BE49-F238E27FC236}">
                      <a16:creationId xmlns:a16="http://schemas.microsoft.com/office/drawing/2014/main" id="{FDA25289-0806-00CD-4F5D-ED0CD9AFCE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13679" y="3971796"/>
                  <a:ext cx="4470400" cy="1790700"/>
                </a:xfrm>
                <a:prstGeom prst="rect">
                  <a:avLst/>
                </a:prstGeom>
              </p:spPr>
            </p:pic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17F48B9A-81DA-9357-63D2-231D90CF0DB8}"/>
                    </a:ext>
                  </a:extLst>
                </p:cNvPr>
                <p:cNvSpPr/>
                <p:nvPr/>
              </p:nvSpPr>
              <p:spPr>
                <a:xfrm>
                  <a:off x="1138167" y="5423338"/>
                  <a:ext cx="1147833" cy="3540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rgbClr val="344394"/>
                      </a:solidFill>
                    </a:rPr>
                    <a:t>glucose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1DE5D10-6FA4-BBB6-D17D-EE60DE2F5B5F}"/>
                    </a:ext>
                  </a:extLst>
                </p:cNvPr>
                <p:cNvSpPr/>
                <p:nvPr/>
              </p:nvSpPr>
              <p:spPr>
                <a:xfrm>
                  <a:off x="3752192" y="5386821"/>
                  <a:ext cx="2343807" cy="3906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chemeClr val="accent2"/>
                      </a:solidFill>
                    </a:rPr>
                    <a:t>glucose-6-phosphate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A192E22-C5CF-67A0-7462-E30CFD674F0B}"/>
                    </a:ext>
                  </a:extLst>
                </p:cNvPr>
                <p:cNvSpPr/>
                <p:nvPr/>
              </p:nvSpPr>
              <p:spPr>
                <a:xfrm>
                  <a:off x="2518637" y="4452315"/>
                  <a:ext cx="1021133" cy="3906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chemeClr val="accent6"/>
                      </a:solidFill>
                    </a:rPr>
                    <a:t>HK:</a:t>
                  </a:r>
                </a:p>
                <a:p>
                  <a:pPr algn="ctr"/>
                  <a:r>
                    <a:rPr lang="en-US" b="1">
                      <a:solidFill>
                        <a:schemeClr val="accent6"/>
                      </a:solidFill>
                    </a:rPr>
                    <a:t>Chr 10</a:t>
                  </a:r>
                </a:p>
              </p:txBody>
            </p:sp>
          </p:grpSp>
          <p:pic>
            <p:nvPicPr>
              <p:cNvPr id="14" name="Picture 13" descr="A chemical formula of fructose&#10;&#10;AI-generated content may be incorrect.">
                <a:extLst>
                  <a:ext uri="{FF2B5EF4-FFF2-40B4-BE49-F238E27FC236}">
                    <a16:creationId xmlns:a16="http://schemas.microsoft.com/office/drawing/2014/main" id="{17151F6B-48A0-D1A8-002F-6EE53FD4E2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4983" t="11716"/>
              <a:stretch>
                <a:fillRect/>
              </a:stretch>
            </p:blipFill>
            <p:spPr>
              <a:xfrm>
                <a:off x="6110933" y="3545970"/>
                <a:ext cx="2395034" cy="1861669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387AB9-7AE8-57F1-B2B1-3CBC1F70B08B}"/>
                  </a:ext>
                </a:extLst>
              </p:cNvPr>
              <p:cNvSpPr/>
              <p:nvPr/>
            </p:nvSpPr>
            <p:spPr>
              <a:xfrm>
                <a:off x="6086648" y="4943907"/>
                <a:ext cx="2343807" cy="3906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rgbClr val="344394"/>
                    </a:solidFill>
                  </a:rPr>
                  <a:t>fructose-6-phosphate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5E781F4-BBF4-BE11-DCDE-ECA2E8D37EDC}"/>
                  </a:ext>
                </a:extLst>
              </p:cNvPr>
              <p:cNvCxnSpPr/>
              <p:nvPr/>
            </p:nvCxnSpPr>
            <p:spPr>
              <a:xfrm>
                <a:off x="8430455" y="4403323"/>
                <a:ext cx="130853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AC23A4-C0DF-7F32-25C8-B4BE461E7C19}"/>
                </a:ext>
              </a:extLst>
            </p:cNvPr>
            <p:cNvSpPr/>
            <p:nvPr/>
          </p:nvSpPr>
          <p:spPr>
            <a:xfrm>
              <a:off x="4813285" y="4293481"/>
              <a:ext cx="1275287" cy="3906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accent6"/>
                  </a:solidFill>
                </a:rPr>
                <a:t>PGI:</a:t>
              </a:r>
            </a:p>
            <a:p>
              <a:pPr algn="ctr"/>
              <a:r>
                <a:rPr lang="en-US" b="1">
                  <a:solidFill>
                    <a:schemeClr val="accent6"/>
                  </a:solidFill>
                </a:rPr>
                <a:t>Chr 19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EAF3D6F-55AA-E2E1-4A12-D9F2897F2D9B}"/>
                </a:ext>
              </a:extLst>
            </p:cNvPr>
            <p:cNvCxnSpPr/>
            <p:nvPr/>
          </p:nvCxnSpPr>
          <p:spPr>
            <a:xfrm>
              <a:off x="4897295" y="4758547"/>
              <a:ext cx="1308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0682AA6-89A2-7607-FC0F-64A0D6C5A2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57184" y="4815445"/>
              <a:ext cx="13486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4BDD2F0-9B8E-D831-D7E7-8E1522FFB828}"/>
                </a:ext>
              </a:extLst>
            </p:cNvPr>
            <p:cNvCxnSpPr>
              <a:cxnSpLocks/>
            </p:cNvCxnSpPr>
            <p:nvPr/>
          </p:nvCxnSpPr>
          <p:spPr>
            <a:xfrm>
              <a:off x="1583239" y="3792123"/>
              <a:ext cx="626430" cy="55159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6919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F117-2F77-B91F-7509-5EC91FBD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ell cycle&#10;&#10;AI-generated content may be incorrect.">
            <a:extLst>
              <a:ext uri="{FF2B5EF4-FFF2-40B4-BE49-F238E27FC236}">
                <a16:creationId xmlns:a16="http://schemas.microsoft.com/office/drawing/2014/main" id="{18B18912-39A1-0BD6-7DC8-F51026B1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64" y="1107752"/>
            <a:ext cx="5578883" cy="5750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6CAF12-34D3-CE2D-F3EE-78085ADD9B8D}"/>
              </a:ext>
            </a:extLst>
          </p:cNvPr>
          <p:cNvSpPr txBox="1"/>
          <p:nvPr/>
        </p:nvSpPr>
        <p:spPr>
          <a:xfrm>
            <a:off x="5575019" y="1964596"/>
            <a:ext cx="600690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Glucose -&gt; pyruvate  -&gt; lactate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Metabolic hallmark of 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Over proliferating cells require more ATP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Metabolic switch from OXPHOS to glycolysis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OXPHOS produces 36 molecules of ATP  / glucose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Glycolysis produces 2 molecules ATP / glucose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Glycolytic flux increases </a:t>
            </a:r>
            <a:r>
              <a:rPr lang="en-US" sz="2000"/>
              <a:t>to sustain ATP </a:t>
            </a:r>
          </a:p>
          <a:p>
            <a:r>
              <a:rPr lang="en-US" sz="2000"/>
              <a:t>      for proliferation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53444-3787-1B26-0046-11A09455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Warburg effect is a systems property of cancer</a:t>
            </a:r>
          </a:p>
        </p:txBody>
      </p:sp>
    </p:spTree>
    <p:extLst>
      <p:ext uri="{BB962C8B-B14F-4D97-AF65-F5344CB8AC3E}">
        <p14:creationId xmlns:p14="http://schemas.microsoft.com/office/powerpoint/2010/main" val="239588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1122-67F4-850A-BC1B-DEB943C1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ell cycle&#10;&#10;AI-generated content may be incorrect.">
            <a:extLst>
              <a:ext uri="{FF2B5EF4-FFF2-40B4-BE49-F238E27FC236}">
                <a16:creationId xmlns:a16="http://schemas.microsoft.com/office/drawing/2014/main" id="{2AD3603E-D1EA-68EC-8F33-1D2B36729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64" y="1107752"/>
            <a:ext cx="5578883" cy="5750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EA23DB-0706-2353-18A8-B3FB5CD760DD}"/>
              </a:ext>
            </a:extLst>
          </p:cNvPr>
          <p:cNvSpPr txBox="1"/>
          <p:nvPr/>
        </p:nvSpPr>
        <p:spPr>
          <a:xfrm>
            <a:off x="5318259" y="1986092"/>
            <a:ext cx="6873741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Metabolism is regulated by metabolites: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G6P inhibits Hexokinase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ATP inhibits PFK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Metabolism is regulated by proteins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p53 protein indirectly inhibits PGM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Warburg effect is an emergent  systems property of 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Arises from network-wide regulation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Systems Biology looks at biological systems</a:t>
            </a:r>
            <a:endParaRPr lang="en-US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3167E-E64C-4138-73B0-1257A523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Warburg effect is a systems property of cancer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0DBC4-F674-BE83-686E-A253A5F5ED0D}"/>
              </a:ext>
            </a:extLst>
          </p:cNvPr>
          <p:cNvSpPr txBox="1"/>
          <p:nvPr/>
        </p:nvSpPr>
        <p:spPr>
          <a:xfrm>
            <a:off x="523919" y="1986092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G6P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9652D8-4A1D-A6A2-6ABF-FE3E6B7C0C25}"/>
              </a:ext>
            </a:extLst>
          </p:cNvPr>
          <p:cNvGrpSpPr/>
          <p:nvPr/>
        </p:nvGrpSpPr>
        <p:grpSpPr>
          <a:xfrm>
            <a:off x="1143000" y="2065918"/>
            <a:ext cx="1328738" cy="166688"/>
            <a:chOff x="6400800" y="1362075"/>
            <a:chExt cx="1328738" cy="16668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F59912-BFE2-7E68-C9C7-618CBE2D20CD}"/>
                </a:ext>
              </a:extLst>
            </p:cNvPr>
            <p:cNvCxnSpPr/>
            <p:nvPr/>
          </p:nvCxnSpPr>
          <p:spPr>
            <a:xfrm>
              <a:off x="6400800" y="1432688"/>
              <a:ext cx="1328738" cy="0"/>
            </a:xfrm>
            <a:prstGeom prst="line">
              <a:avLst/>
            </a:prstGeom>
            <a:ln w="31750">
              <a:solidFill>
                <a:srgbClr val="F38D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3CA11BF-EA1B-41CB-A2FD-66028735B0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9538" y="1362075"/>
              <a:ext cx="0" cy="166688"/>
            </a:xfrm>
            <a:prstGeom prst="line">
              <a:avLst/>
            </a:prstGeom>
            <a:ln w="31750">
              <a:solidFill>
                <a:srgbClr val="F38D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972DB6-99AC-FD3C-F45D-F561DE4A51D2}"/>
              </a:ext>
            </a:extLst>
          </p:cNvPr>
          <p:cNvSpPr txBox="1"/>
          <p:nvPr/>
        </p:nvSpPr>
        <p:spPr>
          <a:xfrm>
            <a:off x="523919" y="2618746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ATP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8DFCCB-1866-6136-1EBC-86BC3043509F}"/>
              </a:ext>
            </a:extLst>
          </p:cNvPr>
          <p:cNvGrpSpPr/>
          <p:nvPr/>
        </p:nvGrpSpPr>
        <p:grpSpPr>
          <a:xfrm>
            <a:off x="1143000" y="2720068"/>
            <a:ext cx="1328738" cy="166688"/>
            <a:chOff x="6400800" y="1362075"/>
            <a:chExt cx="1328738" cy="16668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95E831-5AE1-CD52-CB9E-15F1E8F6E0E1}"/>
                </a:ext>
              </a:extLst>
            </p:cNvPr>
            <p:cNvCxnSpPr/>
            <p:nvPr/>
          </p:nvCxnSpPr>
          <p:spPr>
            <a:xfrm>
              <a:off x="6400800" y="1432688"/>
              <a:ext cx="1328738" cy="0"/>
            </a:xfrm>
            <a:prstGeom prst="line">
              <a:avLst/>
            </a:prstGeom>
            <a:ln w="31750">
              <a:solidFill>
                <a:srgbClr val="F38D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D56F6F-4344-4E68-FFA7-001BD58AF1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9538" y="1362075"/>
              <a:ext cx="0" cy="166688"/>
            </a:xfrm>
            <a:prstGeom prst="line">
              <a:avLst/>
            </a:prstGeom>
            <a:ln w="31750">
              <a:solidFill>
                <a:srgbClr val="F38D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339B82-5B4D-A2F4-B211-CD834A92E25D}"/>
              </a:ext>
            </a:extLst>
          </p:cNvPr>
          <p:cNvGrpSpPr/>
          <p:nvPr/>
        </p:nvGrpSpPr>
        <p:grpSpPr>
          <a:xfrm>
            <a:off x="1356284" y="3955466"/>
            <a:ext cx="1328738" cy="166688"/>
            <a:chOff x="6400800" y="1362075"/>
            <a:chExt cx="1328738" cy="16668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AE9E634-2562-7384-9097-FF95719C2F2D}"/>
                </a:ext>
              </a:extLst>
            </p:cNvPr>
            <p:cNvCxnSpPr/>
            <p:nvPr/>
          </p:nvCxnSpPr>
          <p:spPr>
            <a:xfrm>
              <a:off x="6400800" y="1432688"/>
              <a:ext cx="1328738" cy="0"/>
            </a:xfrm>
            <a:prstGeom prst="line">
              <a:avLst/>
            </a:prstGeom>
            <a:ln w="31750">
              <a:solidFill>
                <a:srgbClr val="F38D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5A3852-D732-22FD-47AD-2528E6B0E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9538" y="1362075"/>
              <a:ext cx="0" cy="166688"/>
            </a:xfrm>
            <a:prstGeom prst="line">
              <a:avLst/>
            </a:prstGeom>
            <a:ln w="31750">
              <a:solidFill>
                <a:srgbClr val="F38D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D149529-FF76-AFE9-AAC7-318E3F0C61B9}"/>
              </a:ext>
            </a:extLst>
          </p:cNvPr>
          <p:cNvSpPr txBox="1"/>
          <p:nvPr/>
        </p:nvSpPr>
        <p:spPr>
          <a:xfrm>
            <a:off x="740735" y="385414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p53</a:t>
            </a:r>
          </a:p>
        </p:txBody>
      </p:sp>
    </p:spTree>
    <p:extLst>
      <p:ext uri="{BB962C8B-B14F-4D97-AF65-F5344CB8AC3E}">
        <p14:creationId xmlns:p14="http://schemas.microsoft.com/office/powerpoint/2010/main" val="56026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7F75-B020-6D8F-61FA-28AAD450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13B8-406F-8FCC-0D79-D68C57AA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(omics) data sources and databases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86AC24-25DC-1B02-6936-BF955F02D675}"/>
              </a:ext>
            </a:extLst>
          </p:cNvPr>
          <p:cNvSpPr txBox="1"/>
          <p:nvPr/>
        </p:nvSpPr>
        <p:spPr>
          <a:xfrm>
            <a:off x="-79952" y="4828090"/>
            <a:ext cx="37075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genome sequencing</a:t>
            </a:r>
          </a:p>
          <a:p>
            <a:pPr algn="ctr"/>
            <a:r>
              <a:rPr lang="en-US"/>
              <a:t>Identify presence/absence of genes</a:t>
            </a:r>
          </a:p>
          <a:p>
            <a:pPr algn="ctr"/>
            <a:r>
              <a:rPr lang="en-US"/>
              <a:t>implicated with disease</a:t>
            </a:r>
          </a:p>
          <a:p>
            <a:pPr algn="ctr"/>
            <a:r>
              <a:rPr lang="en-US" i="1" err="1"/>
              <a:t>Ensembl</a:t>
            </a:r>
            <a:endParaRPr lang="en-US" i="1"/>
          </a:p>
          <a:p>
            <a:pPr algn="ctr"/>
            <a:r>
              <a:rPr lang="en-US" i="1"/>
              <a:t>NCBI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E5FD76-E632-8E59-3E6B-C60279AA0349}"/>
              </a:ext>
            </a:extLst>
          </p:cNvPr>
          <p:cNvSpPr txBox="1"/>
          <p:nvPr/>
        </p:nvSpPr>
        <p:spPr>
          <a:xfrm>
            <a:off x="2440305" y="5863694"/>
            <a:ext cx="32221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mRNA sequencing</a:t>
            </a:r>
          </a:p>
          <a:p>
            <a:r>
              <a:rPr lang="en-US"/>
              <a:t>identify genes expression profile</a:t>
            </a:r>
          </a:p>
          <a:p>
            <a:pPr algn="ctr"/>
            <a:r>
              <a:rPr lang="en-US"/>
              <a:t>gene functional analysis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0C4A1E-A430-9B85-D9E9-F358A3555BD2}"/>
              </a:ext>
            </a:extLst>
          </p:cNvPr>
          <p:cNvSpPr txBox="1"/>
          <p:nvPr/>
        </p:nvSpPr>
        <p:spPr>
          <a:xfrm>
            <a:off x="4855566" y="4552923"/>
            <a:ext cx="3280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proteome sequencing</a:t>
            </a:r>
          </a:p>
          <a:p>
            <a:pPr algn="ctr"/>
            <a:r>
              <a:rPr lang="en-US"/>
              <a:t>amino acid sequences</a:t>
            </a:r>
          </a:p>
          <a:p>
            <a:pPr algn="ctr"/>
            <a:r>
              <a:rPr lang="en-US"/>
              <a:t>protein function prediction</a:t>
            </a:r>
          </a:p>
          <a:p>
            <a:pPr algn="ctr"/>
            <a:r>
              <a:rPr lang="en-US" i="1"/>
              <a:t>UniProt</a:t>
            </a:r>
          </a:p>
          <a:p>
            <a:pPr algn="ctr"/>
            <a:r>
              <a:rPr lang="en-US" i="1"/>
              <a:t>Protein data bank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213899-D9BB-A769-C335-2ED11F8615D8}"/>
              </a:ext>
            </a:extLst>
          </p:cNvPr>
          <p:cNvGrpSpPr/>
          <p:nvPr/>
        </p:nvGrpSpPr>
        <p:grpSpPr>
          <a:xfrm>
            <a:off x="1224782" y="2055600"/>
            <a:ext cx="9176517" cy="2556868"/>
            <a:chOff x="2191407" y="3019704"/>
            <a:chExt cx="10177932" cy="221477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552B537-7AF2-B8F7-FB46-E2BC19F327A3}"/>
                </a:ext>
              </a:extLst>
            </p:cNvPr>
            <p:cNvGrpSpPr/>
            <p:nvPr/>
          </p:nvGrpSpPr>
          <p:grpSpPr>
            <a:xfrm>
              <a:off x="2191407" y="3019704"/>
              <a:ext cx="6929917" cy="2214779"/>
              <a:chOff x="1607915" y="2332139"/>
              <a:chExt cx="8561739" cy="221477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DB131D6-8657-BA40-BA69-9FD9F40936BE}"/>
                  </a:ext>
                </a:extLst>
              </p:cNvPr>
              <p:cNvGrpSpPr/>
              <p:nvPr/>
            </p:nvGrpSpPr>
            <p:grpSpPr>
              <a:xfrm>
                <a:off x="1607915" y="2332139"/>
                <a:ext cx="8561739" cy="2214779"/>
                <a:chOff x="468771" y="2308989"/>
                <a:chExt cx="8561739" cy="2214779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D6313160-FB83-D382-CCBB-19544019F31D}"/>
                    </a:ext>
                  </a:extLst>
                </p:cNvPr>
                <p:cNvGrpSpPr/>
                <p:nvPr/>
              </p:nvGrpSpPr>
              <p:grpSpPr>
                <a:xfrm>
                  <a:off x="468771" y="2700998"/>
                  <a:ext cx="8044649" cy="1822770"/>
                  <a:chOff x="-318308" y="2052816"/>
                  <a:chExt cx="8044649" cy="1822770"/>
                </a:xfrm>
              </p:grpSpPr>
              <p:pic>
                <p:nvPicPr>
                  <p:cNvPr id="46" name="Picture 45">
                    <a:extLst>
                      <a:ext uri="{FF2B5EF4-FFF2-40B4-BE49-F238E27FC236}">
                        <a16:creationId xmlns:a16="http://schemas.microsoft.com/office/drawing/2014/main" id="{D23FFF49-30EA-7400-3BDD-5402C4806F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50151" t="65542" r="30599" b="3068"/>
                  <a:stretch/>
                </p:blipFill>
                <p:spPr>
                  <a:xfrm>
                    <a:off x="6082737" y="2052816"/>
                    <a:ext cx="1643604" cy="1780573"/>
                  </a:xfrm>
                  <a:prstGeom prst="rect">
                    <a:avLst/>
                  </a:prstGeom>
                </p:spPr>
              </p:pic>
              <p:pic>
                <p:nvPicPr>
                  <p:cNvPr id="47" name="Picture 46">
                    <a:extLst>
                      <a:ext uri="{FF2B5EF4-FFF2-40B4-BE49-F238E27FC236}">
                        <a16:creationId xmlns:a16="http://schemas.microsoft.com/office/drawing/2014/main" id="{E40E3878-3AB1-28F6-C1C4-3C9D6BA0B0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31149" t="67716" r="50821" b="5349"/>
                  <a:stretch/>
                </p:blipFill>
                <p:spPr>
                  <a:xfrm>
                    <a:off x="2785229" y="2212903"/>
                    <a:ext cx="1539434" cy="1527858"/>
                  </a:xfrm>
                  <a:prstGeom prst="rect">
                    <a:avLst/>
                  </a:prstGeom>
                </p:spPr>
              </p:pic>
              <p:pic>
                <p:nvPicPr>
                  <p:cNvPr id="48" name="Picture 47">
                    <a:extLst>
                      <a:ext uri="{FF2B5EF4-FFF2-40B4-BE49-F238E27FC236}">
                        <a16:creationId xmlns:a16="http://schemas.microsoft.com/office/drawing/2014/main" id="{7AB8986C-B0E7-74FA-CEB0-11731DC56F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l="11877" t="65542" r="70500" b="3068"/>
                  <a:stretch/>
                </p:blipFill>
                <p:spPr>
                  <a:xfrm>
                    <a:off x="-318308" y="2095013"/>
                    <a:ext cx="1504709" cy="1780573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71BB356-FF34-2294-BBE8-3207FCBC166F}"/>
                    </a:ext>
                  </a:extLst>
                </p:cNvPr>
                <p:cNvSpPr txBox="1"/>
                <p:nvPr/>
              </p:nvSpPr>
              <p:spPr>
                <a:xfrm>
                  <a:off x="513817" y="2353778"/>
                  <a:ext cx="1465569" cy="3199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genome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7A5AE3F-A5E7-6D10-31EE-D6295CC9A279}"/>
                    </a:ext>
                  </a:extLst>
                </p:cNvPr>
                <p:cNvSpPr txBox="1"/>
                <p:nvPr/>
              </p:nvSpPr>
              <p:spPr>
                <a:xfrm>
                  <a:off x="2962611" y="2342734"/>
                  <a:ext cx="2943219" cy="4503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transcriptome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A1D1DD0-1403-E794-E6CE-160A54AE6121}"/>
                    </a:ext>
                  </a:extLst>
                </p:cNvPr>
                <p:cNvSpPr txBox="1"/>
                <p:nvPr/>
              </p:nvSpPr>
              <p:spPr>
                <a:xfrm>
                  <a:off x="6919452" y="2308989"/>
                  <a:ext cx="2111058" cy="4503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>
                      <a:latin typeface="Arial" panose="020B0604020202020204" pitchFamily="34" charset="0"/>
                      <a:cs typeface="Arial" panose="020B0604020202020204" pitchFamily="34" charset="0"/>
                    </a:rPr>
                    <a:t>proteome</a:t>
                  </a:r>
                </a:p>
              </p:txBody>
            </p:sp>
          </p:grp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02F7028-6B3F-11ED-962F-42B53A1053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486" y="3680749"/>
                <a:ext cx="1437442" cy="0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BAD2A6-1592-BB87-22B1-59D98B744FF1}"/>
                </a:ext>
              </a:extLst>
            </p:cNvPr>
            <p:cNvSpPr txBox="1"/>
            <p:nvPr/>
          </p:nvSpPr>
          <p:spPr>
            <a:xfrm>
              <a:off x="10235235" y="3058002"/>
              <a:ext cx="2134104" cy="450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Arial" panose="020B0604020202020204" pitchFamily="34" charset="0"/>
                  <a:cs typeface="Arial" panose="020B0604020202020204" pitchFamily="34" charset="0"/>
                </a:rPr>
                <a:t>metabolome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2AA9A73-10BA-0DE9-EF50-B6DEE41ED4F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348562"/>
              <a:ext cx="1163473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85C3F68-24C2-AF58-AE8F-FD583E74EFC0}"/>
              </a:ext>
            </a:extLst>
          </p:cNvPr>
          <p:cNvCxnSpPr>
            <a:cxnSpLocks/>
          </p:cNvCxnSpPr>
          <p:nvPr/>
        </p:nvCxnSpPr>
        <p:spPr>
          <a:xfrm>
            <a:off x="7292053" y="3601245"/>
            <a:ext cx="1048998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0" name="Picture 49" descr="A blue and white hexagons&#10;&#10;AI-generated content may be incorrect.">
            <a:extLst>
              <a:ext uri="{FF2B5EF4-FFF2-40B4-BE49-F238E27FC236}">
                <a16:creationId xmlns:a16="http://schemas.microsoft.com/office/drawing/2014/main" id="{C71F19E5-47BB-8D8C-6810-C4732B698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171" y="2692972"/>
            <a:ext cx="1598474" cy="176103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8E8A903-4FE6-5303-9116-261650FC182B}"/>
              </a:ext>
            </a:extLst>
          </p:cNvPr>
          <p:cNvSpPr txBox="1"/>
          <p:nvPr/>
        </p:nvSpPr>
        <p:spPr>
          <a:xfrm>
            <a:off x="7636194" y="5380672"/>
            <a:ext cx="3280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metabolomics</a:t>
            </a:r>
          </a:p>
          <a:p>
            <a:pPr algn="ctr"/>
            <a:r>
              <a:rPr lang="en-US"/>
              <a:t>metabolite quantification</a:t>
            </a:r>
          </a:p>
          <a:p>
            <a:pPr algn="ctr"/>
            <a:r>
              <a:rPr lang="en-US"/>
              <a:t>metabolite flux analysis</a:t>
            </a:r>
          </a:p>
          <a:p>
            <a:pPr algn="ctr"/>
            <a:r>
              <a:rPr lang="en-US" i="1"/>
              <a:t>KEGG</a:t>
            </a:r>
          </a:p>
          <a:p>
            <a:pPr algn="ctr"/>
            <a:r>
              <a:rPr lang="en-US" i="1"/>
              <a:t>BIGG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A2B6256-70F9-725B-C2E4-78C953155342}"/>
              </a:ext>
            </a:extLst>
          </p:cNvPr>
          <p:cNvCxnSpPr>
            <a:stCxn id="47" idx="2"/>
            <a:endCxn id="43" idx="0"/>
          </p:cNvCxnSpPr>
          <p:nvPr/>
        </p:nvCxnSpPr>
        <p:spPr>
          <a:xfrm flipH="1">
            <a:off x="4051356" y="4456819"/>
            <a:ext cx="1" cy="1406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AF48B96-03B9-5F90-231F-D971E0F8B30D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9276408" y="4454002"/>
            <a:ext cx="0" cy="926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29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408C-BB18-97D5-2850-2AFC8EF2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64" y="6743520"/>
            <a:ext cx="11210026" cy="1400400"/>
          </a:xfrm>
        </p:spPr>
        <p:txBody>
          <a:bodyPr vert="horz" wrap="square" lIns="91440" tIns="45720" rIns="91440" bIns="45720" rtlCol="0" anchor="b">
            <a:normAutofit fontScale="90000"/>
          </a:bodyPr>
          <a:lstStyle/>
          <a:p>
            <a:r>
              <a:rPr lang="en-US" sz="4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 opportunity: Human Genome Project (1990 – 2003)</a:t>
            </a:r>
            <a:br>
              <a:rPr lang="en-US" sz="4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 billion base pairs ~ 3.1 Gb of data</a:t>
            </a:r>
            <a:br>
              <a:rPr lang="en-US" sz="4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21,000 protein-coding genes</a:t>
            </a:r>
            <a:br>
              <a:rPr lang="en-US" sz="4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300">
                <a:solidFill>
                  <a:schemeClr val="bg1"/>
                </a:solidFill>
              </a:rPr>
            </a:br>
            <a:endParaRPr lang="en-US" sz="4300">
              <a:solidFill>
                <a:schemeClr val="bg1"/>
              </a:solidFill>
            </a:endParaRPr>
          </a:p>
        </p:txBody>
      </p:sp>
      <p:pic>
        <p:nvPicPr>
          <p:cNvPr id="4" name="Picture 2" descr="DNA Sequence Alignment How to">
            <a:extLst>
              <a:ext uri="{FF2B5EF4-FFF2-40B4-BE49-F238E27FC236}">
                <a16:creationId xmlns:a16="http://schemas.microsoft.com/office/drawing/2014/main" id="{C64FB395-145B-C209-025C-E4D53A3FA3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3" r="-1" b="19349"/>
          <a:stretch/>
        </p:blipFill>
        <p:spPr bwMode="auto">
          <a:xfrm>
            <a:off x="20" y="-1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130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2171BC6-607A-58FC-BD41-18AD3B77E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0"/>
          <a:stretch/>
        </p:blipFill>
        <p:spPr bwMode="auto">
          <a:xfrm>
            <a:off x="0" y="1200150"/>
            <a:ext cx="6904037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C46587-652C-335F-C1C4-F1C9F57C6E02}"/>
              </a:ext>
            </a:extLst>
          </p:cNvPr>
          <p:cNvSpPr/>
          <p:nvPr/>
        </p:nvSpPr>
        <p:spPr>
          <a:xfrm>
            <a:off x="6904037" y="0"/>
            <a:ext cx="5287963" cy="6858000"/>
          </a:xfrm>
          <a:prstGeom prst="rect">
            <a:avLst/>
          </a:prstGeom>
          <a:solidFill>
            <a:srgbClr val="F4FDFC"/>
          </a:solidFill>
          <a:ln>
            <a:solidFill>
              <a:srgbClr val="F4F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2A88F-99F3-762C-27C0-3F9C1363F5CF}"/>
              </a:ext>
            </a:extLst>
          </p:cNvPr>
          <p:cNvSpPr/>
          <p:nvPr/>
        </p:nvSpPr>
        <p:spPr>
          <a:xfrm>
            <a:off x="0" y="0"/>
            <a:ext cx="6904037" cy="1200150"/>
          </a:xfrm>
          <a:prstGeom prst="rect">
            <a:avLst/>
          </a:prstGeom>
          <a:solidFill>
            <a:srgbClr val="F4FDFC"/>
          </a:solidFill>
          <a:ln>
            <a:solidFill>
              <a:srgbClr val="F4F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87F0C2-454A-28FB-C24F-D9CBC42F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125095"/>
            <a:ext cx="1159383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  <a:cs typeface="Arial" panose="020B0604020202020204" pitchFamily="34" charset="0"/>
              </a:rPr>
              <a:t>The cost of genome sequencing became cheaper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8A17C2E-8AF4-DA12-E6D1-E7E238C51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51995" y="1358801"/>
            <a:ext cx="1135063" cy="106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E5E8528-BA30-E907-3B24-E0E50A4CB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186" y="2628835"/>
            <a:ext cx="1763714" cy="210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wo C57Black6 mice and their genetically identical offspring">
            <a:extLst>
              <a:ext uri="{FF2B5EF4-FFF2-40B4-BE49-F238E27FC236}">
                <a16:creationId xmlns:a16="http://schemas.microsoft.com/office/drawing/2014/main" id="{EADC529C-56BC-0FC9-D87C-C2CD1735B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0" t="27666" r="42156"/>
          <a:stretch/>
        </p:blipFill>
        <p:spPr bwMode="auto">
          <a:xfrm>
            <a:off x="7718133" y="4864254"/>
            <a:ext cx="1768767" cy="186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A0C577-820B-82D7-6C68-7F3DD8C4CE0C}"/>
              </a:ext>
            </a:extLst>
          </p:cNvPr>
          <p:cNvSpPr txBox="1"/>
          <p:nvPr/>
        </p:nvSpPr>
        <p:spPr>
          <a:xfrm>
            <a:off x="9441990" y="1444353"/>
            <a:ext cx="26280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Haemophilus Influenza </a:t>
            </a:r>
          </a:p>
          <a:p>
            <a:pPr algn="ctr"/>
            <a:r>
              <a:rPr lang="en-US" dirty="0"/>
              <a:t>(1995)</a:t>
            </a:r>
          </a:p>
          <a:p>
            <a:pPr algn="ctr"/>
            <a:r>
              <a:rPr lang="en-US" dirty="0"/>
              <a:t>1747 genes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9FAFC-DB57-3E2D-4684-439057BDAF79}"/>
              </a:ext>
            </a:extLst>
          </p:cNvPr>
          <p:cNvSpPr txBox="1"/>
          <p:nvPr/>
        </p:nvSpPr>
        <p:spPr>
          <a:xfrm>
            <a:off x="9134890" y="3100883"/>
            <a:ext cx="34091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Arabidopsis  Thaliana</a:t>
            </a:r>
          </a:p>
          <a:p>
            <a:pPr algn="ctr"/>
            <a:r>
              <a:rPr lang="en-US" i="1" dirty="0"/>
              <a:t> </a:t>
            </a:r>
            <a:r>
              <a:rPr lang="en-US" dirty="0"/>
              <a:t>(2000)</a:t>
            </a:r>
          </a:p>
          <a:p>
            <a:pPr algn="ctr"/>
            <a:r>
              <a:rPr lang="en-US" dirty="0"/>
              <a:t>27,655 genes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10493-EDE5-CA21-969C-6BF5CB543B2B}"/>
              </a:ext>
            </a:extLst>
          </p:cNvPr>
          <p:cNvSpPr txBox="1"/>
          <p:nvPr/>
        </p:nvSpPr>
        <p:spPr>
          <a:xfrm>
            <a:off x="9382710" y="5227161"/>
            <a:ext cx="2746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Mus Musculus</a:t>
            </a:r>
          </a:p>
          <a:p>
            <a:pPr algn="ctr"/>
            <a:r>
              <a:rPr lang="en-US" i="1" dirty="0"/>
              <a:t> </a:t>
            </a:r>
            <a:r>
              <a:rPr lang="en-US" dirty="0"/>
              <a:t>(2002)</a:t>
            </a:r>
          </a:p>
          <a:p>
            <a:pPr algn="ctr"/>
            <a:r>
              <a:rPr lang="en-US" dirty="0"/>
              <a:t>22,011 genes</a:t>
            </a:r>
          </a:p>
        </p:txBody>
      </p:sp>
    </p:spTree>
    <p:extLst>
      <p:ext uri="{BB962C8B-B14F-4D97-AF65-F5344CB8AC3E}">
        <p14:creationId xmlns:p14="http://schemas.microsoft.com/office/powerpoint/2010/main" val="962872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6ABCA-27E7-4D5A-8197-7BD6602E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ircular pattern of squares&#10;&#10;Description automatically generated with medium confidence">
            <a:extLst>
              <a:ext uri="{FF2B5EF4-FFF2-40B4-BE49-F238E27FC236}">
                <a16:creationId xmlns:a16="http://schemas.microsoft.com/office/drawing/2014/main" id="{040C1C1E-2056-320F-D633-35D4A18DA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836" y="2046514"/>
            <a:ext cx="5226462" cy="48114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269A60-2604-689D-C650-80323120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100,000 genome project (2013 – 2018)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62F20-D071-9CA2-4319-DECEFE8E8A53}"/>
              </a:ext>
            </a:extLst>
          </p:cNvPr>
          <p:cNvSpPr txBox="1"/>
          <p:nvPr/>
        </p:nvSpPr>
        <p:spPr>
          <a:xfrm>
            <a:off x="838200" y="1645076"/>
            <a:ext cx="78580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100,000 genomes project (2013 – 2018)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99.8% human DNA is the same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Provide personalised/precision medicine</a:t>
            </a:r>
          </a:p>
        </p:txBody>
      </p:sp>
      <p:pic>
        <p:nvPicPr>
          <p:cNvPr id="19" name="Picture 18" descr="A screenshot of a cell phone&#10;&#10;Description automatically generated">
            <a:extLst>
              <a:ext uri="{FF2B5EF4-FFF2-40B4-BE49-F238E27FC236}">
                <a16:creationId xmlns:a16="http://schemas.microsoft.com/office/drawing/2014/main" id="{192FFD2A-294C-7AAE-3375-1653C3FEA1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0278"/>
          <a:stretch/>
        </p:blipFill>
        <p:spPr>
          <a:xfrm>
            <a:off x="623796" y="3585129"/>
            <a:ext cx="1678533" cy="2668053"/>
          </a:xfrm>
          <a:prstGeom prst="rect">
            <a:avLst/>
          </a:prstGeom>
        </p:spPr>
      </p:pic>
      <p:pic>
        <p:nvPicPr>
          <p:cNvPr id="17" name="Picture 16" descr="A logo with white text&#10;&#10;Description automatically generated">
            <a:extLst>
              <a:ext uri="{FF2B5EF4-FFF2-40B4-BE49-F238E27FC236}">
                <a16:creationId xmlns:a16="http://schemas.microsoft.com/office/drawing/2014/main" id="{E5316374-89E5-0FB2-1DDA-05C3DFF41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89" y="6028210"/>
            <a:ext cx="1498600" cy="698500"/>
          </a:xfrm>
          <a:prstGeom prst="rect">
            <a:avLst/>
          </a:prstGeom>
        </p:spPr>
      </p:pic>
      <p:pic>
        <p:nvPicPr>
          <p:cNvPr id="20" name="Picture 19" descr="A screenshot of a cell phone&#10;&#10;Description automatically generated">
            <a:extLst>
              <a:ext uri="{FF2B5EF4-FFF2-40B4-BE49-F238E27FC236}">
                <a16:creationId xmlns:a16="http://schemas.microsoft.com/office/drawing/2014/main" id="{D2042A58-F919-F471-6961-195805A204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021"/>
          <a:stretch/>
        </p:blipFill>
        <p:spPr>
          <a:xfrm>
            <a:off x="2302329" y="3585128"/>
            <a:ext cx="1862461" cy="2668053"/>
          </a:xfrm>
          <a:prstGeom prst="rect">
            <a:avLst/>
          </a:prstGeom>
        </p:spPr>
      </p:pic>
      <p:pic>
        <p:nvPicPr>
          <p:cNvPr id="35" name="Picture 34" descr="A yellow curved object on a white background&#10;&#10;Description automatically generated">
            <a:extLst>
              <a:ext uri="{FF2B5EF4-FFF2-40B4-BE49-F238E27FC236}">
                <a16:creationId xmlns:a16="http://schemas.microsoft.com/office/drawing/2014/main" id="{A79E654D-8D9A-CD13-9C3B-38E5AF1A2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001276">
            <a:off x="7298355" y="4691494"/>
            <a:ext cx="359011" cy="57565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2264C0B6-2EFC-8EF3-891F-CA8E209AFFEE}"/>
              </a:ext>
            </a:extLst>
          </p:cNvPr>
          <p:cNvSpPr/>
          <p:nvPr/>
        </p:nvSpPr>
        <p:spPr>
          <a:xfrm>
            <a:off x="7593969" y="5217956"/>
            <a:ext cx="138736" cy="385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A group of people with one person standing in front of them&#10;&#10;Description automatically generated">
            <a:extLst>
              <a:ext uri="{FF2B5EF4-FFF2-40B4-BE49-F238E27FC236}">
                <a16:creationId xmlns:a16="http://schemas.microsoft.com/office/drawing/2014/main" id="{00409C6E-7953-DE6B-6B39-0FEB04E53D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107" y="3661567"/>
            <a:ext cx="1780287" cy="2515173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1005D1-CEEB-6EE5-E0CB-DE7871DCB870}"/>
              </a:ext>
            </a:extLst>
          </p:cNvPr>
          <p:cNvCxnSpPr>
            <a:cxnSpLocks/>
            <a:stCxn id="35" idx="3"/>
          </p:cNvCxnSpPr>
          <p:nvPr/>
        </p:nvCxnSpPr>
        <p:spPr>
          <a:xfrm flipH="1">
            <a:off x="6183210" y="4968817"/>
            <a:ext cx="1115453" cy="298747"/>
          </a:xfrm>
          <a:prstGeom prst="straightConnector1">
            <a:avLst/>
          </a:prstGeom>
          <a:ln w="38100">
            <a:solidFill>
              <a:srgbClr val="F8BA1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541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9DF0-0611-51C8-DC69-0936D6862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Genomes are stored in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CD0C-BBC5-09B8-AED0-34F65486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National Center for Biotechnology Information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92F3AE-0C4C-F2E3-2827-6E75CCE99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794" y="2141537"/>
            <a:ext cx="97624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81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45FC-E6B2-B591-E5CC-5B7DD6DD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2CC8-6977-EB08-2201-3C2BCD87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Its not just human genomes…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448A-52EE-3A23-A8CD-3A4D62272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National Center for Biotechnology Information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0BA66F8-DB49-9DF2-716A-735398857D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2413" y="0"/>
            <a:ext cx="9147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AF9D6-777C-B4E6-113A-21CA19EA89FF}"/>
              </a:ext>
            </a:extLst>
          </p:cNvPr>
          <p:cNvSpPr txBox="1"/>
          <p:nvPr/>
        </p:nvSpPr>
        <p:spPr>
          <a:xfrm>
            <a:off x="7359878" y="3356859"/>
            <a:ext cx="4272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Name: </a:t>
            </a:r>
            <a:r>
              <a:rPr lang="en-US" sz="3200" dirty="0"/>
              <a:t>Bridgeport</a:t>
            </a:r>
          </a:p>
          <a:p>
            <a:r>
              <a:rPr lang="en-US" sz="3200" i="1" dirty="0">
                <a:latin typeface="Courier New" panose="02070309020205020404" pitchFamily="49" charset="0"/>
                <a:cs typeface="Courier New" panose="02070309020205020404" pitchFamily="49" charset="0"/>
              </a:rPr>
              <a:t>Felis catus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Age: </a:t>
            </a:r>
            <a:r>
              <a:rPr lang="en-US" sz="3200" dirty="0"/>
              <a:t>54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Likes: </a:t>
            </a:r>
            <a:r>
              <a:rPr lang="en-US" sz="3200" dirty="0"/>
              <a:t>eating and sleeping</a:t>
            </a:r>
          </a:p>
        </p:txBody>
      </p:sp>
      <p:pic>
        <p:nvPicPr>
          <p:cNvPr id="10" name="Picture 9" descr="A cat lying on a couch&#10;&#10;Description automatically generated">
            <a:extLst>
              <a:ext uri="{FF2B5EF4-FFF2-40B4-BE49-F238E27FC236}">
                <a16:creationId xmlns:a16="http://schemas.microsoft.com/office/drawing/2014/main" id="{566607E9-09E9-9FC1-F785-5E4E942E97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26" r="13748"/>
          <a:stretch/>
        </p:blipFill>
        <p:spPr>
          <a:xfrm>
            <a:off x="247534" y="2420569"/>
            <a:ext cx="3228174" cy="4351339"/>
          </a:xfrm>
          <a:prstGeom prst="rect">
            <a:avLst/>
          </a:prstGeom>
        </p:spPr>
      </p:pic>
      <p:pic>
        <p:nvPicPr>
          <p:cNvPr id="6" name="Picture 5" descr="A cat lying on a bed&#10;&#10;Description automatically generated">
            <a:extLst>
              <a:ext uri="{FF2B5EF4-FFF2-40B4-BE49-F238E27FC236}">
                <a16:creationId xmlns:a16="http://schemas.microsoft.com/office/drawing/2014/main" id="{73D2A644-5199-87CF-11BC-ED145B1CB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267" y="2420568"/>
            <a:ext cx="3263504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76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A0EA-6A77-B122-9FA1-8E525A187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Transcriptomes are stored in data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30F1-220D-4D06-AC31-084C51D6D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Gene expression Omnibus </a:t>
            </a:r>
            <a:r>
              <a:rPr lang="en-US" dirty="0"/>
              <a:t>stores processed and associated transcriptomic datasets</a:t>
            </a:r>
          </a:p>
          <a:p>
            <a:r>
              <a:rPr lang="en-US" dirty="0">
                <a:hlinkClick r:id="rId3"/>
              </a:rPr>
              <a:t>Sequence Read Archive </a:t>
            </a:r>
            <a:r>
              <a:rPr lang="en-US" dirty="0"/>
              <a:t>stores raw sequencing reads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A4959-F576-0FEA-8D3C-8E50EBB33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16" y="3429000"/>
            <a:ext cx="10625184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52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0E991C-D426-2835-8EDC-D15B0AF83921}"/>
              </a:ext>
            </a:extLst>
          </p:cNvPr>
          <p:cNvSpPr txBox="1">
            <a:spLocks/>
          </p:cNvSpPr>
          <p:nvPr/>
        </p:nvSpPr>
        <p:spPr>
          <a:xfrm>
            <a:off x="159457" y="347540"/>
            <a:ext cx="123249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Proteomic sequences determine protein structure and function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416195-E1A9-0FB1-60C1-9BCB70C77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24" y="4155800"/>
            <a:ext cx="11723076" cy="25641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74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amino acid sequence </a:t>
            </a:r>
            <a:r>
              <a:rPr lang="en-GB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folded to generate a complex 3D structure</a:t>
            </a:r>
          </a:p>
          <a:p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structure determines the function of the protein</a:t>
            </a:r>
            <a:endParaRPr lang="en-GB" sz="5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indent="0">
              <a:buNone/>
            </a:pPr>
            <a:endParaRPr lang="en-GB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E0E872-F8A0-AEBD-7B69-7FADCA1E4BEC}"/>
              </a:ext>
            </a:extLst>
          </p:cNvPr>
          <p:cNvCxnSpPr/>
          <p:nvPr/>
        </p:nvCxnSpPr>
        <p:spPr>
          <a:xfrm>
            <a:off x="891988" y="5000083"/>
            <a:ext cx="9845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798AA44-1E70-5618-4473-C5EA628569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534"/>
          <a:stretch/>
        </p:blipFill>
        <p:spPr>
          <a:xfrm>
            <a:off x="459068" y="2691938"/>
            <a:ext cx="8086613" cy="211094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501D15-82CD-965D-F9FD-374F4E8AB3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69"/>
          <a:stretch/>
        </p:blipFill>
        <p:spPr>
          <a:xfrm rot="10800000">
            <a:off x="8308549" y="2726842"/>
            <a:ext cx="3686367" cy="198915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1BA347F-83D1-03CD-ACFA-54BC7A609B3D}"/>
              </a:ext>
            </a:extLst>
          </p:cNvPr>
          <p:cNvSpPr txBox="1"/>
          <p:nvPr/>
        </p:nvSpPr>
        <p:spPr>
          <a:xfrm>
            <a:off x="159457" y="1977445"/>
            <a:ext cx="1994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orbel" panose="020B0503020204020204" pitchFamily="34" charset="0"/>
              </a:rPr>
              <a:t>primary sequence </a:t>
            </a:r>
          </a:p>
          <a:p>
            <a:pPr algn="ctr"/>
            <a:r>
              <a:rPr lang="en-US" b="1">
                <a:latin typeface="Corbel" panose="020B0503020204020204" pitchFamily="34" charset="0"/>
              </a:rPr>
              <a:t>of amino acids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AA11A1-10FD-3E5E-8F5A-31FA3A94B94C}"/>
              </a:ext>
            </a:extLst>
          </p:cNvPr>
          <p:cNvSpPr txBox="1"/>
          <p:nvPr/>
        </p:nvSpPr>
        <p:spPr>
          <a:xfrm>
            <a:off x="2165134" y="1995899"/>
            <a:ext cx="1252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orbel" panose="020B0503020204020204" pitchFamily="34" charset="0"/>
              </a:rPr>
              <a:t>secondary </a:t>
            </a:r>
          </a:p>
          <a:p>
            <a:pPr algn="ctr"/>
            <a:r>
              <a:rPr lang="en-US" b="1">
                <a:latin typeface="Corbel" panose="020B0503020204020204" pitchFamily="34" charset="0"/>
              </a:rPr>
              <a:t>structure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16DD4-3785-8EDB-07C1-C219DFA8D8A5}"/>
              </a:ext>
            </a:extLst>
          </p:cNvPr>
          <p:cNvSpPr txBox="1"/>
          <p:nvPr/>
        </p:nvSpPr>
        <p:spPr>
          <a:xfrm>
            <a:off x="3891177" y="2003486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orbel" panose="020B0503020204020204" pitchFamily="34" charset="0"/>
              </a:rPr>
              <a:t>tertiary structure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6FE686-6205-D803-F19F-D31BE7CF5EF0}"/>
              </a:ext>
            </a:extLst>
          </p:cNvPr>
          <p:cNvSpPr txBox="1"/>
          <p:nvPr/>
        </p:nvSpPr>
        <p:spPr>
          <a:xfrm>
            <a:off x="6149788" y="1977445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orbel" panose="020B0503020204020204" pitchFamily="34" charset="0"/>
              </a:rPr>
              <a:t>quaternary structure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062797-B659-C4E5-E33B-7F70D7CFD739}"/>
              </a:ext>
            </a:extLst>
          </p:cNvPr>
          <p:cNvSpPr txBox="1"/>
          <p:nvPr/>
        </p:nvSpPr>
        <p:spPr>
          <a:xfrm>
            <a:off x="8852188" y="1981539"/>
            <a:ext cx="2349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orbel" panose="020B0503020204020204" pitchFamily="34" charset="0"/>
              </a:rPr>
              <a:t>functional protein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2E9AF3-0432-AE2E-4A2A-D99CE94164D6}"/>
              </a:ext>
            </a:extLst>
          </p:cNvPr>
          <p:cNvSpPr/>
          <p:nvPr/>
        </p:nvSpPr>
        <p:spPr>
          <a:xfrm>
            <a:off x="6092797" y="4250478"/>
            <a:ext cx="697457" cy="254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solidFill>
                <a:srgbClr val="5A8FCE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08401F-DD14-D21C-CA69-C8A3220A5A53}"/>
              </a:ext>
            </a:extLst>
          </p:cNvPr>
          <p:cNvSpPr/>
          <p:nvPr/>
        </p:nvSpPr>
        <p:spPr>
          <a:xfrm>
            <a:off x="6401543" y="4376647"/>
            <a:ext cx="914402" cy="379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5A8FCE"/>
                </a:solidFill>
              </a:rPr>
              <a:t>subunit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3BC7E-EEFB-42EE-5B42-42BDAE6A3BEF}"/>
              </a:ext>
            </a:extLst>
          </p:cNvPr>
          <p:cNvSpPr/>
          <p:nvPr/>
        </p:nvSpPr>
        <p:spPr>
          <a:xfrm>
            <a:off x="7431132" y="4238714"/>
            <a:ext cx="914402" cy="465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C59986"/>
                </a:solidFill>
              </a:rPr>
              <a:t>subunit 2</a:t>
            </a:r>
          </a:p>
        </p:txBody>
      </p:sp>
    </p:spTree>
    <p:extLst>
      <p:ext uri="{BB962C8B-B14F-4D97-AF65-F5344CB8AC3E}">
        <p14:creationId xmlns:p14="http://schemas.microsoft.com/office/powerpoint/2010/main" val="1479849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D2658-3239-5186-D885-24D16E05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698F-9618-8E37-DF21-DF67C7B2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UniProt</a:t>
            </a:r>
            <a:r>
              <a:rPr lang="en-US" dirty="0"/>
              <a:t>: Database of protein sequences and proteomes</a:t>
            </a:r>
          </a:p>
        </p:txBody>
      </p:sp>
      <p:pic>
        <p:nvPicPr>
          <p:cNvPr id="7" name="Content Placeholder 6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64A11AB4-3858-4265-7496-A44A86E78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1665" y="1690687"/>
            <a:ext cx="11103392" cy="4262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2F20C2-EED3-E1A9-0EA7-2F8304D1F0B3}"/>
              </a:ext>
            </a:extLst>
          </p:cNvPr>
          <p:cNvSpPr txBox="1"/>
          <p:nvPr/>
        </p:nvSpPr>
        <p:spPr>
          <a:xfrm>
            <a:off x="233266" y="6308209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</a:t>
            </a:r>
            <a:r>
              <a:rPr lang="en-US" err="1"/>
              <a:t>www.uniprot.org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79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E85A-DA68-B15C-C226-A9660AE5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B5E2-0685-B3E4-AFC8-B428785A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65125"/>
            <a:ext cx="1179830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UniProt: Contains over 150 million protein sequences from almost 588,000 proteomes</a:t>
            </a:r>
            <a:br>
              <a:rPr lang="en-US" sz="4000" dirty="0"/>
            </a:br>
            <a:r>
              <a:rPr lang="en-US" sz="4000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73865-08F1-61B5-A87F-BC677E6D3329}"/>
              </a:ext>
            </a:extLst>
          </p:cNvPr>
          <p:cNvSpPr txBox="1"/>
          <p:nvPr/>
        </p:nvSpPr>
        <p:spPr>
          <a:xfrm>
            <a:off x="186613" y="6488668"/>
            <a:ext cx="456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https://</a:t>
            </a:r>
            <a:r>
              <a:rPr lang="en-US" err="1"/>
              <a:t>www.uniprot.org</a:t>
            </a:r>
            <a:r>
              <a:rPr lang="en-US"/>
              <a:t>/</a:t>
            </a:r>
            <a:r>
              <a:rPr lang="en-US" err="1"/>
              <a:t>uniprotkb</a:t>
            </a:r>
            <a:r>
              <a:rPr lang="en-US"/>
              <a:t>/statistics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4BE8D-0D36-0193-142B-0AEF6543CB58}"/>
              </a:ext>
            </a:extLst>
          </p:cNvPr>
          <p:cNvSpPr/>
          <p:nvPr/>
        </p:nvSpPr>
        <p:spPr>
          <a:xfrm>
            <a:off x="3927512" y="1446948"/>
            <a:ext cx="755322" cy="198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4E12CF-E709-1B13-B21C-545F605C8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33" y="2273855"/>
            <a:ext cx="4063101" cy="3228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CE0939-4A23-F2D2-A7A8-2F839E9DFB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34"/>
          <a:stretch>
            <a:fillRect/>
          </a:stretch>
        </p:blipFill>
        <p:spPr>
          <a:xfrm>
            <a:off x="4771988" y="2273855"/>
            <a:ext cx="7420012" cy="363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17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1C1FB-E6CA-7807-279E-A4F2DC79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533" y="321869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kern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 opportunity: What do these sequences tell us about the biology?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C7EF3E-7AC2-B415-DEF9-7AB3DF371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31" y="4941436"/>
            <a:ext cx="11731738" cy="1916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TTCCAAGATGGCGGCGACAGCAGCCGTGTCTGGTGTCCTCGGCCGCTTGGGCTGGAGGCTCCTGCAGCTGCGGTGCCTGCCCGTGGCCCGCTGCCGACCAGCTCTGGTGCCACGTGCCTTCCACACTGCCGTGGGGTTCCGGTCTTCAGAAGAGCAGAAGCAGCAGCCTCCCCACTCTTCTTCTCAGCAGCATTCTGAGACACAGGGGCCCGAGTTTTCCCGTCCACCCCCCAGGTACACAGACCAGAGTGGAGAGGAGGAAGAGGACTATGAGAGTGAGGAGCAGCTACAGCACCGCATCTTGACAGCAGCCCTAGAGTTTGTGCCTGCCCATGGCTGGACTGCAGAGGCCATTGCTGAAGGAGCCCAGTCCTTGGGTCTCTCCAGCGCAGCAGCCAGCATGTTTAAGCAGCAGCCTCCCCACTCTTCTTCTCCCGAGTTTTCGTGC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 descr="A dna strand with a colorful flag&#10;&#10;Description automatically generated with medium confidence">
            <a:extLst>
              <a:ext uri="{FF2B5EF4-FFF2-40B4-BE49-F238E27FC236}">
                <a16:creationId xmlns:a16="http://schemas.microsoft.com/office/drawing/2014/main" id="{17F8B4CF-31A4-9C32-55D4-0F8EEF538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02" y="1830951"/>
            <a:ext cx="8501996" cy="311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13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365040"/>
            <a:ext cx="1245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spc="-1">
                <a:latin typeface="+mj-lt"/>
              </a:rPr>
              <a:t>Genome annotation allows to associate metabolic functions with genes /proteins – </a:t>
            </a:r>
            <a:r>
              <a:rPr lang="en-US" sz="4400" b="1" spc="-1">
                <a:latin typeface="+mj-lt"/>
              </a:rPr>
              <a:t>on the systems level</a:t>
            </a:r>
            <a:endParaRPr lang="en-US" sz="4400" b="1" strike="noStrike" spc="-1">
              <a:latin typeface="+mj-lt"/>
            </a:endParaRPr>
          </a:p>
        </p:txBody>
      </p:sp>
      <p:pic>
        <p:nvPicPr>
          <p:cNvPr id="113" name="Picture 76"/>
          <p:cNvPicPr/>
          <p:nvPr/>
        </p:nvPicPr>
        <p:blipFill rotWithShape="1">
          <a:blip r:embed="rId3"/>
          <a:srcRect t="29905" r="47139"/>
          <a:stretch/>
        </p:blipFill>
        <p:spPr>
          <a:xfrm>
            <a:off x="640080" y="2114520"/>
            <a:ext cx="2509200" cy="1442880"/>
          </a:xfrm>
          <a:prstGeom prst="rect">
            <a:avLst/>
          </a:prstGeom>
          <a:ln>
            <a:noFill/>
          </a:ln>
        </p:spPr>
      </p:pic>
      <p:pic>
        <p:nvPicPr>
          <p:cNvPr id="114" name="Picture 77"/>
          <p:cNvPicPr/>
          <p:nvPr/>
        </p:nvPicPr>
        <p:blipFill rotWithShape="1">
          <a:blip r:embed="rId3"/>
          <a:srcRect l="48422" t="27436"/>
          <a:stretch/>
        </p:blipFill>
        <p:spPr>
          <a:xfrm>
            <a:off x="399083" y="4129302"/>
            <a:ext cx="2689200" cy="1640520"/>
          </a:xfrm>
          <a:prstGeom prst="rect">
            <a:avLst/>
          </a:prstGeom>
          <a:ln>
            <a:noFill/>
          </a:ln>
        </p:spPr>
      </p:pic>
      <p:sp>
        <p:nvSpPr>
          <p:cNvPr id="115" name="CustomShape 2"/>
          <p:cNvSpPr/>
          <p:nvPr/>
        </p:nvSpPr>
        <p:spPr>
          <a:xfrm>
            <a:off x="2560320" y="2070462"/>
            <a:ext cx="639720" cy="822600"/>
          </a:xfrm>
          <a:prstGeom prst="rect">
            <a:avLst/>
          </a:prstGeom>
          <a:solidFill>
            <a:srgbClr val="FFFFFE"/>
          </a:solidFill>
          <a:ln>
            <a:solidFill>
              <a:srgbClr val="FFFFF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6" name="CustomShape 3"/>
          <p:cNvSpPr/>
          <p:nvPr/>
        </p:nvSpPr>
        <p:spPr>
          <a:xfrm>
            <a:off x="2611566" y="4265022"/>
            <a:ext cx="894600" cy="822600"/>
          </a:xfrm>
          <a:prstGeom prst="rect">
            <a:avLst/>
          </a:prstGeom>
          <a:solidFill>
            <a:srgbClr val="FFFFFE"/>
          </a:solidFill>
          <a:ln>
            <a:solidFill>
              <a:srgbClr val="FFFFF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7" name="CustomShape 4"/>
          <p:cNvSpPr/>
          <p:nvPr/>
        </p:nvSpPr>
        <p:spPr>
          <a:xfrm>
            <a:off x="399083" y="4561290"/>
            <a:ext cx="822600" cy="822600"/>
          </a:xfrm>
          <a:prstGeom prst="rect">
            <a:avLst/>
          </a:prstGeom>
          <a:solidFill>
            <a:srgbClr val="FFFFFE"/>
          </a:solidFill>
          <a:ln>
            <a:solidFill>
              <a:srgbClr val="FFFFF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8" name="Picture 7"/>
          <p:cNvPicPr/>
          <p:nvPr/>
        </p:nvPicPr>
        <p:blipFill>
          <a:blip r:embed="rId4"/>
          <a:stretch/>
        </p:blipFill>
        <p:spPr>
          <a:xfrm>
            <a:off x="3822770" y="2189095"/>
            <a:ext cx="7905259" cy="4576067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1B38AA-43A9-3B46-82F2-5A00640D1F7C}"/>
              </a:ext>
            </a:extLst>
          </p:cNvPr>
          <p:cNvSpPr txBox="1"/>
          <p:nvPr/>
        </p:nvSpPr>
        <p:spPr>
          <a:xfrm>
            <a:off x="501293" y="1857085"/>
            <a:ext cx="2651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 a. Annotated genome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27EB5-7007-1E30-7125-652796657813}"/>
              </a:ext>
            </a:extLst>
          </p:cNvPr>
          <p:cNvSpPr txBox="1"/>
          <p:nvPr/>
        </p:nvSpPr>
        <p:spPr>
          <a:xfrm>
            <a:off x="501293" y="3806026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b. Metabolic pathway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78633-CFEF-793D-4E89-54D0AFB776FD}"/>
              </a:ext>
            </a:extLst>
          </p:cNvPr>
          <p:cNvSpPr txBox="1"/>
          <p:nvPr/>
        </p:nvSpPr>
        <p:spPr>
          <a:xfrm>
            <a:off x="3951049" y="1819763"/>
            <a:ext cx="382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c. Networks of holistic metabolism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map of a train&#10;&#10;AI-generated content may be incorrect.">
            <a:extLst>
              <a:ext uri="{FF2B5EF4-FFF2-40B4-BE49-F238E27FC236}">
                <a16:creationId xmlns:a16="http://schemas.microsoft.com/office/drawing/2014/main" id="{1698D620-DA81-ABC7-D38F-61F488C4E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799" b="293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CDEA3-0068-9039-40DA-1F717209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Metabolism is complicated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83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0F5F-5CD9-EED8-710F-01E0FA73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KEGG</a:t>
            </a:r>
            <a:r>
              <a:rPr lang="en-US" dirty="0"/>
              <a:t> database to study Biological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4629B-E0D6-E53A-9E5A-6A980D398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638" y="188187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Kyoto Encyclopedia of Genes and Genomes</a:t>
            </a:r>
          </a:p>
          <a:p>
            <a:r>
              <a:rPr lang="en-US" b="1" dirty="0"/>
              <a:t>13 interconnected databases</a:t>
            </a:r>
          </a:p>
          <a:p>
            <a:r>
              <a:rPr lang="en-US" dirty="0"/>
              <a:t>Genomic information for </a:t>
            </a:r>
            <a:r>
              <a:rPr lang="en-US" b="1" dirty="0"/>
              <a:t>11,949 organisms</a:t>
            </a:r>
          </a:p>
          <a:p>
            <a:r>
              <a:rPr lang="en-US" b="1" dirty="0"/>
              <a:t>19,666 compounds </a:t>
            </a:r>
            <a:r>
              <a:rPr lang="en-US" dirty="0"/>
              <a:t>(metabolites)</a:t>
            </a:r>
          </a:p>
          <a:p>
            <a:r>
              <a:rPr lang="en-US" b="1" dirty="0"/>
              <a:t>12,493 biochemical reactions</a:t>
            </a:r>
          </a:p>
          <a:p>
            <a:r>
              <a:rPr lang="en-US" b="1" dirty="0"/>
              <a:t>587 curated pathway maps </a:t>
            </a:r>
            <a:r>
              <a:rPr lang="en-US" dirty="0"/>
              <a:t>covering metabolism, signaling and diseases.</a:t>
            </a:r>
          </a:p>
          <a:p>
            <a:r>
              <a:rPr lang="en-US" b="1" dirty="0"/>
              <a:t>12,899 drug entries </a:t>
            </a:r>
            <a:r>
              <a:rPr lang="en-US" dirty="0"/>
              <a:t>with targets and annotations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095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49696-C8B7-A6C8-4C47-E99AA5D2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EDE1-AD40-5F6B-4E30-D383E3B3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KEGG</a:t>
            </a:r>
            <a:r>
              <a:rPr lang="en-US" dirty="0"/>
              <a:t> database to study metabolic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42A7-A538-C55C-92C6-4D5C8D15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638" y="1524683"/>
            <a:ext cx="10515600" cy="4351338"/>
          </a:xfrm>
        </p:spPr>
        <p:txBody>
          <a:bodyPr/>
          <a:lstStyle/>
          <a:p>
            <a:r>
              <a:rPr lang="en-US" dirty="0"/>
              <a:t>Kyoto Encyclopedia of Genes and Genomes</a:t>
            </a:r>
          </a:p>
          <a:p>
            <a:r>
              <a:rPr lang="en-US" dirty="0"/>
              <a:t>Universal metabolism</a:t>
            </a:r>
          </a:p>
          <a:p>
            <a:r>
              <a:rPr lang="en-US" dirty="0">
                <a:highlight>
                  <a:srgbClr val="FFFF00"/>
                </a:highlight>
              </a:rPr>
              <a:t>Pathway information</a:t>
            </a:r>
          </a:p>
          <a:p>
            <a:r>
              <a:rPr lang="en-US" b="1" dirty="0">
                <a:solidFill>
                  <a:srgbClr val="27718F"/>
                </a:solidFill>
              </a:rPr>
              <a:t>Compounds (metabolites)</a:t>
            </a:r>
          </a:p>
          <a:p>
            <a:r>
              <a:rPr lang="en-US" b="1" dirty="0">
                <a:solidFill>
                  <a:srgbClr val="F38D5A"/>
                </a:solidFill>
              </a:rPr>
              <a:t>Reactions</a:t>
            </a:r>
          </a:p>
          <a:p>
            <a:r>
              <a:rPr lang="en-US" b="1" dirty="0">
                <a:solidFill>
                  <a:schemeClr val="accent6"/>
                </a:solidFill>
              </a:rPr>
              <a:t>Genes</a:t>
            </a:r>
          </a:p>
        </p:txBody>
      </p:sp>
      <p:pic>
        <p:nvPicPr>
          <p:cNvPr id="4" name="Picture 3" descr="A diagram of a cell&#10;&#10;AI-generated content may be incorrect.">
            <a:extLst>
              <a:ext uri="{FF2B5EF4-FFF2-40B4-BE49-F238E27FC236}">
                <a16:creationId xmlns:a16="http://schemas.microsoft.com/office/drawing/2014/main" id="{9C9DB0B1-744C-AB88-87C4-745952A7D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123"/>
          <a:stretch/>
        </p:blipFill>
        <p:spPr>
          <a:xfrm>
            <a:off x="4981926" y="1948126"/>
            <a:ext cx="7087736" cy="464266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9A1FB6B-DF45-F294-4724-884A30F54373}"/>
              </a:ext>
            </a:extLst>
          </p:cNvPr>
          <p:cNvSpPr/>
          <p:nvPr/>
        </p:nvSpPr>
        <p:spPr>
          <a:xfrm>
            <a:off x="9729204" y="3170532"/>
            <a:ext cx="938636" cy="388407"/>
          </a:xfrm>
          <a:prstGeom prst="ellipse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5608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1AB7A-F94E-F9F3-67F9-0DF00A847113}"/>
              </a:ext>
            </a:extLst>
          </p:cNvPr>
          <p:cNvSpPr txBox="1"/>
          <p:nvPr/>
        </p:nvSpPr>
        <p:spPr>
          <a:xfrm>
            <a:off x="9708565" y="2869540"/>
            <a:ext cx="133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156082"/>
                </a:solidFill>
              </a:rPr>
              <a:t>metabolite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8CD9D2-18CA-8BA4-451F-3402B8862EA7}"/>
              </a:ext>
            </a:extLst>
          </p:cNvPr>
          <p:cNvSpPr/>
          <p:nvPr/>
        </p:nvSpPr>
        <p:spPr>
          <a:xfrm>
            <a:off x="9435655" y="3574036"/>
            <a:ext cx="589347" cy="278154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5608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16C71F-BABB-9093-A8AC-066E39051E2F}"/>
              </a:ext>
            </a:extLst>
          </p:cNvPr>
          <p:cNvSpPr txBox="1"/>
          <p:nvPr/>
        </p:nvSpPr>
        <p:spPr>
          <a:xfrm>
            <a:off x="8445297" y="3515686"/>
            <a:ext cx="998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enzyme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640C34-5A68-D4A6-86B7-AA2664CB9509}"/>
              </a:ext>
            </a:extLst>
          </p:cNvPr>
          <p:cNvSpPr/>
          <p:nvPr/>
        </p:nvSpPr>
        <p:spPr>
          <a:xfrm>
            <a:off x="9671030" y="4113715"/>
            <a:ext cx="938636" cy="388407"/>
          </a:xfrm>
          <a:prstGeom prst="ellipse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5608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EB8AA46-E260-E517-34E9-35E542C97FDD}"/>
                  </a:ext>
                </a:extLst>
              </p14:cNvPr>
              <p14:cNvContentPartPr/>
              <p14:nvPr/>
            </p14:nvContentPartPr>
            <p14:xfrm>
              <a:off x="5327500" y="2481240"/>
              <a:ext cx="2540160" cy="37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EB8AA46-E260-E517-34E9-35E542C97F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7500" y="2301240"/>
                <a:ext cx="2719800" cy="39708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4C6E28-8479-1E60-46FC-817257ABF5B6}"/>
              </a:ext>
            </a:extLst>
          </p:cNvPr>
          <p:cNvCxnSpPr/>
          <p:nvPr/>
        </p:nvCxnSpPr>
        <p:spPr>
          <a:xfrm flipV="1">
            <a:off x="3924300" y="2518680"/>
            <a:ext cx="1403200" cy="249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060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68E4F-0F66-2BAE-1225-9E95FB1D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196"/>
            <a:ext cx="10515600" cy="1325563"/>
          </a:xfrm>
        </p:spPr>
        <p:txBody>
          <a:bodyPr/>
          <a:lstStyle/>
          <a:p>
            <a:r>
              <a:rPr lang="en-US"/>
              <a:t>A closer look at enzyme: </a:t>
            </a:r>
            <a:r>
              <a:rPr lang="en-US">
                <a:hlinkClick r:id="rId2"/>
              </a:rPr>
              <a:t>5.3.1.9</a:t>
            </a:r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C6C24F-7E8D-942A-0685-E4FC2945E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083611"/>
            <a:ext cx="7998575" cy="5555896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1DB86A-1D8A-864C-0C27-6AE3F4A5ABAD}"/>
              </a:ext>
            </a:extLst>
          </p:cNvPr>
          <p:cNvSpPr/>
          <p:nvPr/>
        </p:nvSpPr>
        <p:spPr>
          <a:xfrm>
            <a:off x="6893369" y="1493135"/>
            <a:ext cx="625032" cy="110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3C36F7-0488-0FBC-816B-5AA35D929CC9}"/>
              </a:ext>
            </a:extLst>
          </p:cNvPr>
          <p:cNvCxnSpPr>
            <a:cxnSpLocks/>
          </p:cNvCxnSpPr>
          <p:nvPr/>
        </p:nvCxnSpPr>
        <p:spPr>
          <a:xfrm flipH="1">
            <a:off x="7261345" y="1772753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D6762C-F5DF-DA7A-9022-0558A35632B5}"/>
              </a:ext>
            </a:extLst>
          </p:cNvPr>
          <p:cNvSpPr txBox="1"/>
          <p:nvPr/>
        </p:nvSpPr>
        <p:spPr>
          <a:xfrm>
            <a:off x="8058859" y="1605224"/>
            <a:ext cx="3780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KEGG shows all functionally equivalent enzymes </a:t>
            </a:r>
            <a:r>
              <a:rPr lang="en-US"/>
              <a:t>(encoded by different genes in different organisms but catalyse the same reaction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Gene orthologs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F1AA2F-EC7D-0E43-8C45-52A072B3BAF2}"/>
              </a:ext>
            </a:extLst>
          </p:cNvPr>
          <p:cNvSpPr txBox="1"/>
          <p:nvPr/>
        </p:nvSpPr>
        <p:spPr>
          <a:xfrm>
            <a:off x="8039260" y="3527388"/>
            <a:ext cx="393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KEGG  pathway: </a:t>
            </a:r>
          </a:p>
          <a:p>
            <a:r>
              <a:rPr lang="en-US"/>
              <a:t>Comprehensive metabolic pathways showing all reactions and metabolites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5FDDA4-A76B-0FA6-2B5F-2DEFDA7042CA}"/>
              </a:ext>
            </a:extLst>
          </p:cNvPr>
          <p:cNvCxnSpPr>
            <a:cxnSpLocks/>
          </p:cNvCxnSpPr>
          <p:nvPr/>
        </p:nvCxnSpPr>
        <p:spPr>
          <a:xfrm flipH="1">
            <a:off x="7205884" y="3697672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B451C7-B8B0-497B-2666-DF6086A99E2F}"/>
              </a:ext>
            </a:extLst>
          </p:cNvPr>
          <p:cNvSpPr txBox="1"/>
          <p:nvPr/>
        </p:nvSpPr>
        <p:spPr>
          <a:xfrm>
            <a:off x="8039261" y="4400640"/>
            <a:ext cx="393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KEGG  module: </a:t>
            </a:r>
          </a:p>
          <a:p>
            <a:r>
              <a:rPr lang="en-US"/>
              <a:t>subsets of a pathway with specific functions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D2BBD9-678A-16B6-86BC-4EEF9FA273D5}"/>
              </a:ext>
            </a:extLst>
          </p:cNvPr>
          <p:cNvCxnSpPr>
            <a:cxnSpLocks/>
          </p:cNvCxnSpPr>
          <p:nvPr/>
        </p:nvCxnSpPr>
        <p:spPr>
          <a:xfrm flipH="1">
            <a:off x="7205883" y="4585392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E08BF8-BC85-1182-C8D3-80AA525DF4A1}"/>
              </a:ext>
            </a:extLst>
          </p:cNvPr>
          <p:cNvCxnSpPr>
            <a:cxnSpLocks/>
          </p:cNvCxnSpPr>
          <p:nvPr/>
        </p:nvCxnSpPr>
        <p:spPr>
          <a:xfrm flipH="1">
            <a:off x="7205884" y="5774388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5C23F51-305D-7118-A643-6319C8106F6F}"/>
              </a:ext>
            </a:extLst>
          </p:cNvPr>
          <p:cNvSpPr txBox="1"/>
          <p:nvPr/>
        </p:nvSpPr>
        <p:spPr>
          <a:xfrm>
            <a:off x="8039262" y="5383377"/>
            <a:ext cx="4152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KEGG  reaction: </a:t>
            </a:r>
          </a:p>
          <a:p>
            <a:r>
              <a:rPr lang="en-US"/>
              <a:t>All reactions in KEGG DB that involves</a:t>
            </a:r>
          </a:p>
          <a:p>
            <a:r>
              <a:rPr lang="en-US"/>
              <a:t>K01810: Some enzymes have broad substrate specificity; multiple pathways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87315B8-C0A0-70DB-85C1-F3FDBDF19497}"/>
              </a:ext>
            </a:extLst>
          </p:cNvPr>
          <p:cNvCxnSpPr>
            <a:cxnSpLocks/>
          </p:cNvCxnSpPr>
          <p:nvPr/>
        </p:nvCxnSpPr>
        <p:spPr>
          <a:xfrm flipH="1">
            <a:off x="7205883" y="1262919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72F0CFF-97BC-C31E-F792-225C676892E8}"/>
              </a:ext>
            </a:extLst>
          </p:cNvPr>
          <p:cNvSpPr txBox="1"/>
          <p:nvPr/>
        </p:nvSpPr>
        <p:spPr>
          <a:xfrm>
            <a:off x="8029426" y="998560"/>
            <a:ext cx="393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Entry: </a:t>
            </a:r>
            <a:r>
              <a:rPr lang="en-US"/>
              <a:t>Unique identifier in KEGG DB</a:t>
            </a:r>
          </a:p>
          <a:p>
            <a:r>
              <a:rPr lang="en-US"/>
              <a:t>	KO = KEGG ortholog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8596C6-07AE-EBF4-9238-888A69555DA8}"/>
              </a:ext>
            </a:extLst>
          </p:cNvPr>
          <p:cNvSpPr/>
          <p:nvPr/>
        </p:nvSpPr>
        <p:spPr>
          <a:xfrm>
            <a:off x="7194311" y="996558"/>
            <a:ext cx="717630" cy="11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07ED05-C950-D00F-9940-81A457965D4D}"/>
                  </a:ext>
                </a:extLst>
              </p14:cNvPr>
              <p14:cNvContentPartPr/>
              <p14:nvPr/>
            </p14:nvContentPartPr>
            <p14:xfrm>
              <a:off x="1213060" y="1215120"/>
              <a:ext cx="622080" cy="26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07ED05-C950-D00F-9940-81A457965D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3060" y="1035120"/>
                <a:ext cx="80172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E6DE81-D7AE-D1BB-1E44-AEE2A2EEB5BB}"/>
                  </a:ext>
                </a:extLst>
              </p14:cNvPr>
              <p14:cNvContentPartPr/>
              <p14:nvPr/>
            </p14:nvContentPartPr>
            <p14:xfrm>
              <a:off x="1225720" y="1655040"/>
              <a:ext cx="4349880" cy="10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E6DE81-D7AE-D1BB-1E44-AEE2A2EEB5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5720" y="1475040"/>
                <a:ext cx="452952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61F5AD-7A79-3C2B-006A-B0D87B29128F}"/>
                  </a:ext>
                </a:extLst>
              </p14:cNvPr>
              <p14:cNvContentPartPr/>
              <p14:nvPr/>
            </p14:nvContentPartPr>
            <p14:xfrm>
              <a:off x="1179220" y="2012200"/>
              <a:ext cx="3903480" cy="5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61F5AD-7A79-3C2B-006A-B0D87B2912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9580" y="1832200"/>
                <a:ext cx="408312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BBA1E0E-FD1A-B6D4-44D5-534EFCC9D38C}"/>
                  </a:ext>
                </a:extLst>
              </p14:cNvPr>
              <p14:cNvContentPartPr/>
              <p14:nvPr/>
            </p14:nvContentPartPr>
            <p14:xfrm>
              <a:off x="1197580" y="5265120"/>
              <a:ext cx="5640120" cy="106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BBA1E0E-FD1A-B6D4-44D5-534EFCC9D3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7940" y="5085120"/>
                <a:ext cx="5819760" cy="4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272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8D1220-5BA4-AD87-509B-88063DCC6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755"/>
          <a:stretch/>
        </p:blipFill>
        <p:spPr>
          <a:xfrm>
            <a:off x="195231" y="1149389"/>
            <a:ext cx="6517539" cy="563341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981304-AC4B-1F7C-CA48-9FCFB66372EE}"/>
              </a:ext>
            </a:extLst>
          </p:cNvPr>
          <p:cNvSpPr txBox="1"/>
          <p:nvPr/>
        </p:nvSpPr>
        <p:spPr>
          <a:xfrm>
            <a:off x="8276140" y="2082335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C00668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81507-C58E-6290-DA31-CCFA43297885}"/>
              </a:ext>
            </a:extLst>
          </p:cNvPr>
          <p:cNvSpPr/>
          <p:nvPr/>
        </p:nvSpPr>
        <p:spPr>
          <a:xfrm>
            <a:off x="8039259" y="2431135"/>
            <a:ext cx="1550205" cy="367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glucose-6P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FD2742-9DAB-B5CA-443E-6241ADECE851}"/>
              </a:ext>
            </a:extLst>
          </p:cNvPr>
          <p:cNvSpPr/>
          <p:nvPr/>
        </p:nvSpPr>
        <p:spPr>
          <a:xfrm>
            <a:off x="9760055" y="2431135"/>
            <a:ext cx="1550205" cy="367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fructose-6P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DE7C84-6532-ED70-2FAD-F60EAE2302D4}"/>
              </a:ext>
            </a:extLst>
          </p:cNvPr>
          <p:cNvSpPr txBox="1"/>
          <p:nvPr/>
        </p:nvSpPr>
        <p:spPr>
          <a:xfrm>
            <a:off x="9760055" y="2061803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C00085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96C18A-5803-B30F-3E54-EDA8C5AD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196"/>
            <a:ext cx="10515600" cy="1325563"/>
          </a:xfrm>
        </p:spPr>
        <p:txBody>
          <a:bodyPr/>
          <a:lstStyle/>
          <a:p>
            <a:r>
              <a:rPr lang="en-US"/>
              <a:t>A closer look at reaction: </a:t>
            </a:r>
            <a:r>
              <a:rPr lang="en-US">
                <a:hlinkClick r:id="rId3"/>
              </a:rPr>
              <a:t>R0071</a:t>
            </a:r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EC0A5F-1C39-6CDB-7419-99E8708FF8EB}"/>
              </a:ext>
            </a:extLst>
          </p:cNvPr>
          <p:cNvCxnSpPr>
            <a:cxnSpLocks/>
          </p:cNvCxnSpPr>
          <p:nvPr/>
        </p:nvCxnSpPr>
        <p:spPr>
          <a:xfrm flipH="1">
            <a:off x="6351097" y="1323783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C9E277-3ACE-D0E9-EFEE-9672D91CD211}"/>
              </a:ext>
            </a:extLst>
          </p:cNvPr>
          <p:cNvSpPr txBox="1"/>
          <p:nvPr/>
        </p:nvSpPr>
        <p:spPr>
          <a:xfrm>
            <a:off x="7207453" y="1149837"/>
            <a:ext cx="393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Entry: </a:t>
            </a:r>
            <a:r>
              <a:rPr lang="en-US"/>
              <a:t>Unique identifier in KEGG DB</a:t>
            </a:r>
          </a:p>
          <a:p>
            <a:r>
              <a:rPr lang="en-US"/>
              <a:t>	R = Reaction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B9DA99-3E34-3FC1-0B7B-BE552ACDB11F}"/>
              </a:ext>
            </a:extLst>
          </p:cNvPr>
          <p:cNvSpPr/>
          <p:nvPr/>
        </p:nvSpPr>
        <p:spPr>
          <a:xfrm>
            <a:off x="6002116" y="1103090"/>
            <a:ext cx="717630" cy="11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02A97D-21EF-EEFA-1B62-2495071978A4}"/>
              </a:ext>
            </a:extLst>
          </p:cNvPr>
          <p:cNvSpPr/>
          <p:nvPr/>
        </p:nvSpPr>
        <p:spPr>
          <a:xfrm>
            <a:off x="343517" y="1091515"/>
            <a:ext cx="717630" cy="11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5C4AAE-B764-D1FE-5084-8302D3B9871D}"/>
              </a:ext>
            </a:extLst>
          </p:cNvPr>
          <p:cNvSpPr/>
          <p:nvPr/>
        </p:nvSpPr>
        <p:spPr>
          <a:xfrm>
            <a:off x="702332" y="994768"/>
            <a:ext cx="717630" cy="11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01D1A9-A0D7-18A1-7478-EBDA6BB4293C}"/>
              </a:ext>
            </a:extLst>
          </p:cNvPr>
          <p:cNvSpPr txBox="1"/>
          <p:nvPr/>
        </p:nvSpPr>
        <p:spPr>
          <a:xfrm>
            <a:off x="7207453" y="1764272"/>
            <a:ext cx="39331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Equation: </a:t>
            </a:r>
            <a:r>
              <a:rPr lang="en-US"/>
              <a:t>substrate </a:t>
            </a:r>
            <a:r>
              <a:rPr lang="en-US">
                <a:sym typeface="Wingdings" pitchFamily="2" charset="2"/>
              </a:rPr>
              <a:t>&lt; = &gt; product</a:t>
            </a:r>
            <a:endParaRPr lang="en-US"/>
          </a:p>
          <a:p>
            <a:r>
              <a:rPr lang="en-US"/>
              <a:t>	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    reversible reaction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53509D-D46A-63DE-84D6-5C3E52BAC9E1}"/>
              </a:ext>
            </a:extLst>
          </p:cNvPr>
          <p:cNvCxnSpPr>
            <a:cxnSpLocks/>
          </p:cNvCxnSpPr>
          <p:nvPr/>
        </p:nvCxnSpPr>
        <p:spPr>
          <a:xfrm flipH="1">
            <a:off x="6374076" y="1894965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red line with arrows&#10;&#10;AI-generated content may be incorrect.">
            <a:extLst>
              <a:ext uri="{FF2B5EF4-FFF2-40B4-BE49-F238E27FC236}">
                <a16:creationId xmlns:a16="http://schemas.microsoft.com/office/drawing/2014/main" id="{00A693D9-A033-DA02-293D-7C99955B8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585" y="2817749"/>
            <a:ext cx="774700" cy="457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312082A-8AFD-DD6F-B8B7-62363707349B}"/>
              </a:ext>
            </a:extLst>
          </p:cNvPr>
          <p:cNvSpPr txBox="1"/>
          <p:nvPr/>
        </p:nvSpPr>
        <p:spPr>
          <a:xfrm>
            <a:off x="7207453" y="3527767"/>
            <a:ext cx="47893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Enzyme: 5.3.1.9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This reaction catalysed by Enzyme: 5.3.1.9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EC number describes its metabolic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5 – isomerase: rearrange atoms of substrate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3 – intramolecular oxidoreductase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 – phosphohexose isomerase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9 – specific enzyme: glucose-6-phosphate isomerase</a:t>
            </a:r>
          </a:p>
          <a:p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C5AFD0-9A7E-8376-AFA9-6A3D44BB525D}"/>
              </a:ext>
            </a:extLst>
          </p:cNvPr>
          <p:cNvCxnSpPr>
            <a:cxnSpLocks/>
          </p:cNvCxnSpPr>
          <p:nvPr/>
        </p:nvCxnSpPr>
        <p:spPr>
          <a:xfrm flipH="1">
            <a:off x="6374076" y="3725694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B3D988-3E2D-9EB1-55F5-9F5663423FE8}"/>
                  </a:ext>
                </a:extLst>
              </p14:cNvPr>
              <p14:cNvContentPartPr/>
              <p14:nvPr/>
            </p14:nvContentPartPr>
            <p14:xfrm>
              <a:off x="1514020" y="1345800"/>
              <a:ext cx="585000" cy="14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B3D988-3E2D-9EB1-55F5-9F5663423F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4380" y="1166160"/>
                <a:ext cx="76464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9F32E6-8599-DFF5-A9E1-5A169D4772EC}"/>
                  </a:ext>
                </a:extLst>
              </p14:cNvPr>
              <p14:cNvContentPartPr/>
              <p14:nvPr/>
            </p14:nvContentPartPr>
            <p14:xfrm>
              <a:off x="1493140" y="1854120"/>
              <a:ext cx="1402200" cy="59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9F32E6-8599-DFF5-A9E1-5A169D4772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03500" y="1674480"/>
                <a:ext cx="15818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87CF6E-0A26-282B-43B5-3AA38B0AA1DA}"/>
                  </a:ext>
                </a:extLst>
              </p14:cNvPr>
              <p14:cNvContentPartPr/>
              <p14:nvPr/>
            </p14:nvContentPartPr>
            <p14:xfrm>
              <a:off x="1476580" y="3713520"/>
              <a:ext cx="646920" cy="34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87CF6E-0A26-282B-43B5-3AA38B0AA1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86580" y="3533520"/>
                <a:ext cx="826560" cy="39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6597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1E80EB-0F3C-3B7E-8187-6900136F6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644" y="1250593"/>
            <a:ext cx="5069710" cy="560740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8B3D462-F8B4-732F-6871-1EA86214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250"/>
            <a:ext cx="10515600" cy="1325563"/>
          </a:xfrm>
        </p:spPr>
        <p:txBody>
          <a:bodyPr/>
          <a:lstStyle/>
          <a:p>
            <a:r>
              <a:rPr lang="en-US"/>
              <a:t>A closer look at compound: </a:t>
            </a:r>
            <a:r>
              <a:rPr lang="en-US">
                <a:hlinkClick r:id="rId3"/>
              </a:rPr>
              <a:t>COO92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F4251A-49FE-1709-59B2-9F9F41CB5864}"/>
              </a:ext>
            </a:extLst>
          </p:cNvPr>
          <p:cNvCxnSpPr>
            <a:cxnSpLocks/>
          </p:cNvCxnSpPr>
          <p:nvPr/>
        </p:nvCxnSpPr>
        <p:spPr>
          <a:xfrm flipH="1">
            <a:off x="5074533" y="1332394"/>
            <a:ext cx="828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90C8C6-F560-E5FC-3663-F3F328CC0FEB}"/>
              </a:ext>
            </a:extLst>
          </p:cNvPr>
          <p:cNvSpPr txBox="1"/>
          <p:nvPr/>
        </p:nvSpPr>
        <p:spPr>
          <a:xfrm>
            <a:off x="5907906" y="1182394"/>
            <a:ext cx="5794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Entry: </a:t>
            </a:r>
            <a:r>
              <a:rPr lang="en-US"/>
              <a:t>Unique identifier in KEGG DB: </a:t>
            </a:r>
          </a:p>
          <a:p>
            <a:r>
              <a:rPr lang="en-US"/>
              <a:t>	C = compound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C0410C-95E2-D5B4-EC6D-B6EE9BD0B668}"/>
              </a:ext>
            </a:extLst>
          </p:cNvPr>
          <p:cNvCxnSpPr>
            <a:cxnSpLocks/>
          </p:cNvCxnSpPr>
          <p:nvPr/>
        </p:nvCxnSpPr>
        <p:spPr>
          <a:xfrm flipH="1">
            <a:off x="5074533" y="2058418"/>
            <a:ext cx="833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69BD54F-F191-729D-FB7A-7591BCD093D3}"/>
              </a:ext>
            </a:extLst>
          </p:cNvPr>
          <p:cNvSpPr txBox="1"/>
          <p:nvPr/>
        </p:nvSpPr>
        <p:spPr>
          <a:xfrm>
            <a:off x="5907909" y="1874553"/>
            <a:ext cx="579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Exact mass: </a:t>
            </a:r>
            <a:r>
              <a:rPr lang="en-US"/>
              <a:t>Uses ‘formula’ to calculate exact mass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4F6D50-4D25-F17C-1B0A-152356BE9FE6}"/>
              </a:ext>
            </a:extLst>
          </p:cNvPr>
          <p:cNvSpPr txBox="1"/>
          <p:nvPr/>
        </p:nvSpPr>
        <p:spPr>
          <a:xfrm>
            <a:off x="5907906" y="3827543"/>
            <a:ext cx="579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Reaction: </a:t>
            </a:r>
            <a:r>
              <a:rPr lang="en-US"/>
              <a:t>all reactions that involve this compound 	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0069B0-BFDF-8E8C-E96E-BEC9787841C7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4872942" y="4012209"/>
            <a:ext cx="103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D1DC58C-17C0-FB8E-0B67-35B7DEC2507F}"/>
              </a:ext>
            </a:extLst>
          </p:cNvPr>
          <p:cNvSpPr txBox="1"/>
          <p:nvPr/>
        </p:nvSpPr>
        <p:spPr>
          <a:xfrm>
            <a:off x="5907906" y="5192085"/>
            <a:ext cx="579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Pathway: </a:t>
            </a:r>
            <a:r>
              <a:rPr lang="en-US"/>
              <a:t>all pathways that involve this compound 	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15D137-0C23-2740-08DC-E7C207CDA7B9}"/>
              </a:ext>
            </a:extLst>
          </p:cNvPr>
          <p:cNvCxnSpPr>
            <a:cxnSpLocks/>
          </p:cNvCxnSpPr>
          <p:nvPr/>
        </p:nvCxnSpPr>
        <p:spPr>
          <a:xfrm flipH="1">
            <a:off x="4868116" y="5374474"/>
            <a:ext cx="1034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A2C10D-F08C-3A81-3BBC-C4A3A0835B39}"/>
                  </a:ext>
                </a:extLst>
              </p14:cNvPr>
              <p14:cNvContentPartPr/>
              <p14:nvPr/>
            </p14:nvContentPartPr>
            <p14:xfrm>
              <a:off x="997420" y="1254720"/>
              <a:ext cx="668520" cy="90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A2C10D-F08C-3A81-3BBC-C4A3A0835B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7780" y="1074720"/>
                <a:ext cx="84816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5FA11C-AB4D-AE38-3DC7-8118FF7878D3}"/>
                  </a:ext>
                </a:extLst>
              </p14:cNvPr>
              <p14:cNvContentPartPr/>
              <p14:nvPr/>
            </p14:nvContentPartPr>
            <p14:xfrm>
              <a:off x="992020" y="1945560"/>
              <a:ext cx="658800" cy="19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5FA11C-AB4D-AE38-3DC7-8118FF7878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2380" y="1765560"/>
                <a:ext cx="83844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60EFDF-48A6-7DF2-768E-A53C2B0345CF}"/>
                  </a:ext>
                </a:extLst>
              </p14:cNvPr>
              <p14:cNvContentPartPr/>
              <p14:nvPr/>
            </p14:nvContentPartPr>
            <p14:xfrm>
              <a:off x="2363620" y="3732600"/>
              <a:ext cx="379080" cy="15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60EFDF-48A6-7DF2-768E-A53C2B0345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3620" y="3552600"/>
                <a:ext cx="558720" cy="37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2184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E275-AB68-0333-55BE-DD7F0114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Bioinformatics applications of KEGG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422DE-1FAD-581C-7400-912131FE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6811" cy="4351338"/>
          </a:xfrm>
        </p:spPr>
        <p:txBody>
          <a:bodyPr/>
          <a:lstStyle/>
          <a:p>
            <a:r>
              <a:rPr lang="en-US" dirty="0"/>
              <a:t>KEGG is a comprehensive resource for analysing biological systems</a:t>
            </a:r>
          </a:p>
          <a:p>
            <a:pPr lvl="1"/>
            <a:r>
              <a:rPr lang="en-US" dirty="0"/>
              <a:t>Genes</a:t>
            </a:r>
          </a:p>
          <a:p>
            <a:pPr lvl="1"/>
            <a:r>
              <a:rPr lang="en-US" dirty="0"/>
              <a:t>Pathways</a:t>
            </a:r>
          </a:p>
          <a:p>
            <a:pPr lvl="1"/>
            <a:r>
              <a:rPr lang="en-US" dirty="0"/>
              <a:t>Compounds</a:t>
            </a:r>
          </a:p>
          <a:p>
            <a:pPr lvl="1"/>
            <a:r>
              <a:rPr lang="en-US" dirty="0"/>
              <a:t>Reactions</a:t>
            </a:r>
          </a:p>
          <a:p>
            <a:r>
              <a:rPr lang="en-US" dirty="0"/>
              <a:t>Map genomics, transcriptomics, proteomics and metabolomics data to pathways</a:t>
            </a:r>
          </a:p>
          <a:p>
            <a:r>
              <a:rPr lang="en-US" dirty="0"/>
              <a:t>Reconstruct organismal specific metabolic networks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45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FFFC-DB81-7BF3-4117-779D6B52C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365125"/>
            <a:ext cx="11662042" cy="1325563"/>
          </a:xfrm>
        </p:spPr>
        <p:txBody>
          <a:bodyPr/>
          <a:lstStyle/>
          <a:p>
            <a:r>
              <a:rPr lang="en-US"/>
              <a:t>Reconstruction species specific metabolism from annotated genomes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AD7B5-169E-5E5A-AECC-E2DE3F7BDD8A}"/>
              </a:ext>
            </a:extLst>
          </p:cNvPr>
          <p:cNvSpPr txBox="1"/>
          <p:nvPr/>
        </p:nvSpPr>
        <p:spPr>
          <a:xfrm>
            <a:off x="3368092" y="3004862"/>
            <a:ext cx="42724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Name: </a:t>
            </a:r>
            <a:r>
              <a:rPr lang="en-US" sz="2800" dirty="0"/>
              <a:t>Bridgeport</a:t>
            </a:r>
          </a:p>
          <a:p>
            <a:r>
              <a:rPr lang="en-US" sz="2800" i="1" dirty="0">
                <a:latin typeface="Courier New" panose="02070309020205020404" pitchFamily="49" charset="0"/>
                <a:cs typeface="Courier New" panose="02070309020205020404" pitchFamily="49" charset="0"/>
              </a:rPr>
              <a:t>Felis catus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Age: </a:t>
            </a:r>
            <a:r>
              <a:rPr lang="en-US" sz="2800" dirty="0"/>
              <a:t>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Likes: </a:t>
            </a:r>
            <a:r>
              <a:rPr lang="en-US" sz="2800" dirty="0"/>
              <a:t>eating,</a:t>
            </a:r>
          </a:p>
          <a:p>
            <a:r>
              <a:rPr lang="en-US" sz="2800" dirty="0"/>
              <a:t>sleeping</a:t>
            </a:r>
          </a:p>
        </p:txBody>
      </p:sp>
      <p:pic>
        <p:nvPicPr>
          <p:cNvPr id="5" name="Picture 4" descr="A cat lying on a bed&#10;&#10;Description automatically generated">
            <a:extLst>
              <a:ext uri="{FF2B5EF4-FFF2-40B4-BE49-F238E27FC236}">
                <a16:creationId xmlns:a16="http://schemas.microsoft.com/office/drawing/2014/main" id="{352F0854-FF1E-7358-CA0E-02225779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8" y="2141536"/>
            <a:ext cx="3263504" cy="4351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C1C47E-2602-AF79-8878-C77C4C967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996" y="1929558"/>
            <a:ext cx="5455816" cy="448913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724B12-9FA5-1B60-129A-87F1047DA45D}"/>
              </a:ext>
            </a:extLst>
          </p:cNvPr>
          <p:cNvCxnSpPr/>
          <p:nvPr/>
        </p:nvCxnSpPr>
        <p:spPr>
          <a:xfrm>
            <a:off x="5532368" y="2554014"/>
            <a:ext cx="1127263" cy="396133"/>
          </a:xfrm>
          <a:prstGeom prst="straightConnector1">
            <a:avLst/>
          </a:prstGeom>
          <a:ln w="6032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775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lines on a white background&#10;&#10;AI-generated content may be incorrect.">
            <a:extLst>
              <a:ext uri="{FF2B5EF4-FFF2-40B4-BE49-F238E27FC236}">
                <a16:creationId xmlns:a16="http://schemas.microsoft.com/office/drawing/2014/main" id="{231199F3-3966-1F2F-BA8A-D84F212FB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421" y="79753"/>
            <a:ext cx="10389158" cy="6698494"/>
          </a:xfrm>
        </p:spPr>
      </p:pic>
    </p:spTree>
    <p:extLst>
      <p:ext uri="{BB962C8B-B14F-4D97-AF65-F5344CB8AC3E}">
        <p14:creationId xmlns:p14="http://schemas.microsoft.com/office/powerpoint/2010/main" val="28028297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113A-73AF-8E8A-33DA-092A6B4B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18" y="274960"/>
            <a:ext cx="11659564" cy="1325563"/>
          </a:xfrm>
        </p:spPr>
        <p:txBody>
          <a:bodyPr>
            <a:normAutofit/>
          </a:bodyPr>
          <a:lstStyle/>
          <a:p>
            <a:r>
              <a:rPr lang="en-US" sz="3600"/>
              <a:t>Visulise specific metabolic pathways encoded by the genome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4A2836-4C11-B684-0410-F9DBD943F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218" y="1397361"/>
            <a:ext cx="11343190" cy="530673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167EAC-7D35-097A-FCBD-82F2568FFBD5}"/>
                  </a:ext>
                </a:extLst>
              </p14:cNvPr>
              <p14:cNvContentPartPr/>
              <p14:nvPr/>
            </p14:nvContentPartPr>
            <p14:xfrm>
              <a:off x="584964" y="3478730"/>
              <a:ext cx="1994400" cy="21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2167EAC-7D35-097A-FCBD-82F2568FFB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324" y="3370730"/>
                <a:ext cx="2102040" cy="2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5613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7769-B077-E48E-82AF-8437451A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58750"/>
            <a:ext cx="14459175" cy="1325563"/>
          </a:xfrm>
        </p:spPr>
        <p:txBody>
          <a:bodyPr/>
          <a:lstStyle/>
          <a:p>
            <a:r>
              <a:rPr lang="en-US"/>
              <a:t>Mapping omics data to KEGG maps</a:t>
            </a:r>
          </a:p>
        </p:txBody>
      </p:sp>
      <p:pic>
        <p:nvPicPr>
          <p:cNvPr id="11" name="Content Placeholder 10" descr="A screenshot of a computer diagram&#10;&#10;AI-generated content may be incorrect.">
            <a:extLst>
              <a:ext uri="{FF2B5EF4-FFF2-40B4-BE49-F238E27FC236}">
                <a16:creationId xmlns:a16="http://schemas.microsoft.com/office/drawing/2014/main" id="{A2400F00-70EE-74E3-419B-294709B29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9334" y="1215434"/>
            <a:ext cx="7658100" cy="54838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AF480A-A354-6521-C41C-1625415AFCBD}"/>
              </a:ext>
            </a:extLst>
          </p:cNvPr>
          <p:cNvSpPr txBox="1"/>
          <p:nvPr/>
        </p:nvSpPr>
        <p:spPr>
          <a:xfrm>
            <a:off x="7958667" y="2286000"/>
            <a:ext cx="406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Upregulated genes</a:t>
            </a:r>
          </a:p>
          <a:p>
            <a:r>
              <a:rPr lang="en-US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Downregulated genes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52D7AF-51E8-9F38-3450-3F01E45DC8DE}"/>
              </a:ext>
            </a:extLst>
          </p:cNvPr>
          <p:cNvCxnSpPr/>
          <p:nvPr/>
        </p:nvCxnSpPr>
        <p:spPr>
          <a:xfrm flipH="1" flipV="1">
            <a:off x="7704667" y="1484313"/>
            <a:ext cx="965200" cy="8016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887F19-6CEA-B8E6-9091-2FC76D28BCE3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2150533"/>
            <a:ext cx="1253067" cy="2709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D43DB1B-40D5-9572-B164-3FA4E5CC538D}"/>
              </a:ext>
            </a:extLst>
          </p:cNvPr>
          <p:cNvCxnSpPr>
            <a:cxnSpLocks/>
          </p:cNvCxnSpPr>
          <p:nvPr/>
        </p:nvCxnSpPr>
        <p:spPr>
          <a:xfrm flipH="1">
            <a:off x="3759200" y="2809876"/>
            <a:ext cx="4199467" cy="182985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201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20A09-7A5B-E2DF-7624-EBEAF3C83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5A74-DC16-FCB5-1519-66B86C3B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KEGG: static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D7180-ABB7-6544-C94F-5E4E349E8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18" y="2110046"/>
            <a:ext cx="11242964" cy="34528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KEGG allows the </a:t>
            </a:r>
            <a:r>
              <a:rPr lang="en-US" b="1" dirty="0"/>
              <a:t>visulistaion of genomic data </a:t>
            </a:r>
            <a:r>
              <a:rPr lang="en-US" dirty="0"/>
              <a:t>to metabolic maps</a:t>
            </a:r>
          </a:p>
          <a:p>
            <a:r>
              <a:rPr lang="en-US" dirty="0"/>
              <a:t>To study how metabolism varies between species or conditions</a:t>
            </a:r>
          </a:p>
          <a:p>
            <a:r>
              <a:rPr lang="en-US" dirty="0"/>
              <a:t>But does not contain condition specific dynamics</a:t>
            </a:r>
          </a:p>
          <a:p>
            <a:r>
              <a:rPr lang="en-US" dirty="0"/>
              <a:t>Can’t map metabolic flux through a network – </a:t>
            </a:r>
            <a:r>
              <a:rPr lang="en-US" b="1" dirty="0"/>
              <a:t>KEGG maps are static</a:t>
            </a:r>
          </a:p>
          <a:p>
            <a:r>
              <a:rPr lang="en-US" dirty="0"/>
              <a:t>Can’t visualise enzyme capacity, e.g., we are </a:t>
            </a:r>
            <a:r>
              <a:rPr lang="en-US" b="1" dirty="0"/>
              <a:t>mapping a single values obtained from an experiment:</a:t>
            </a:r>
            <a:r>
              <a:rPr lang="en-US" dirty="0"/>
              <a:t> tells us nothing of the enzymes is operating at full capacity or not</a:t>
            </a:r>
          </a:p>
          <a:p>
            <a:r>
              <a:rPr lang="en-US" dirty="0"/>
              <a:t>Can’t make predictions about gene knockouts or changed environments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85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8D57319-2630-040F-13B1-46434BDD84A8}"/>
              </a:ext>
            </a:extLst>
          </p:cNvPr>
          <p:cNvSpPr txBox="1">
            <a:spLocks/>
          </p:cNvSpPr>
          <p:nvPr/>
        </p:nvSpPr>
        <p:spPr>
          <a:xfrm>
            <a:off x="318655" y="423253"/>
            <a:ext cx="111875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Opportunity of Genome Scale Metabolic Models</a:t>
            </a:r>
          </a:p>
        </p:txBody>
      </p:sp>
      <p:pic>
        <p:nvPicPr>
          <p:cNvPr id="5" name="Picture 4" descr="A diagram of a chemical process&#10;&#10;AI-generated content may be incorrect.">
            <a:extLst>
              <a:ext uri="{FF2B5EF4-FFF2-40B4-BE49-F238E27FC236}">
                <a16:creationId xmlns:a16="http://schemas.microsoft.com/office/drawing/2014/main" id="{580A134A-EFA1-3885-BA6F-7BC13485A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18168"/>
            <a:ext cx="3809999" cy="5439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9B437-D907-CD09-CB23-E6D68C501B10}"/>
              </a:ext>
            </a:extLst>
          </p:cNvPr>
          <p:cNvSpPr txBox="1"/>
          <p:nvPr/>
        </p:nvSpPr>
        <p:spPr>
          <a:xfrm>
            <a:off x="5348288" y="1920438"/>
            <a:ext cx="61579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Upregulated genes in cancer</a:t>
            </a:r>
          </a:p>
          <a:p>
            <a:r>
              <a:rPr lang="en-US" b="1" dirty="0"/>
              <a:t>… would be nice to test </a:t>
            </a:r>
            <a:r>
              <a:rPr lang="en-US" b="1" i="1" dirty="0"/>
              <a:t> in silico </a:t>
            </a:r>
            <a:r>
              <a:rPr lang="en-US" b="1" dirty="0"/>
              <a:t>…</a:t>
            </a:r>
          </a:p>
          <a:p>
            <a:endParaRPr lang="en-US" dirty="0"/>
          </a:p>
          <a:p>
            <a:r>
              <a:rPr lang="en-US" dirty="0"/>
              <a:t>Whilst maintaining this state of metabolism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would happen if we </a:t>
            </a:r>
            <a:r>
              <a:rPr lang="en-US" b="1" dirty="0"/>
              <a:t>knock out a gene?</a:t>
            </a:r>
            <a:r>
              <a:rPr lang="en-US" dirty="0"/>
              <a:t> e.g.,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1.1.1.27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would happen if we reroute metabolism by </a:t>
            </a:r>
            <a:r>
              <a:rPr lang="en-US" b="1" dirty="0"/>
              <a:t>knocking in a gene?</a:t>
            </a:r>
            <a:r>
              <a:rPr lang="en-US" dirty="0"/>
              <a:t> e.g.,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1.2.4.1, OR 4.1.1.1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would happen if we </a:t>
            </a:r>
            <a:r>
              <a:rPr lang="en-US" b="1" dirty="0"/>
              <a:t>stop glucose import?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We can’t do these dynamic analysis in KEGG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But we can do these analysis using </a:t>
            </a:r>
            <a:r>
              <a:rPr lang="en-US" b="1" dirty="0">
                <a:cs typeface="Courier New" panose="02070309020205020404" pitchFamily="49" charset="0"/>
              </a:rPr>
              <a:t>Flux Balance Analysis on Genome Scale Metabolic models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5C846E-7D89-CD15-3443-7DFD6BD9C749}"/>
              </a:ext>
            </a:extLst>
          </p:cNvPr>
          <p:cNvCxnSpPr>
            <a:cxnSpLocks/>
          </p:cNvCxnSpPr>
          <p:nvPr/>
        </p:nvCxnSpPr>
        <p:spPr>
          <a:xfrm flipH="1">
            <a:off x="4165600" y="3644900"/>
            <a:ext cx="1549400" cy="22479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0932C60-20B2-326E-8E80-2A12877F14C9}"/>
                  </a:ext>
                </a:extLst>
              </p14:cNvPr>
              <p14:cNvContentPartPr/>
              <p14:nvPr/>
            </p14:nvContentPartPr>
            <p14:xfrm>
              <a:off x="3203344" y="6003797"/>
              <a:ext cx="227880" cy="19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0932C60-20B2-326E-8E80-2A12877F14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3704" y="5824157"/>
                <a:ext cx="40752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DB80D59-41C5-8E20-ADCE-440C615D8A55}"/>
                  </a:ext>
                </a:extLst>
              </p14:cNvPr>
              <p14:cNvContentPartPr/>
              <p14:nvPr/>
            </p14:nvContentPartPr>
            <p14:xfrm>
              <a:off x="8274844" y="4312024"/>
              <a:ext cx="2466000" cy="77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DB80D59-41C5-8E20-ADCE-440C615D8A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85204" y="4132024"/>
                <a:ext cx="2645640" cy="43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0515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CD15-D99F-32CC-5FEB-88A55761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AB8DB-8AAA-297D-D930-A9DA829CB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70" y="1690688"/>
            <a:ext cx="1176663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Introduced Systems Biology</a:t>
            </a:r>
          </a:p>
          <a:p>
            <a:pPr lvl="1"/>
            <a:r>
              <a:rPr lang="en-US" dirty="0"/>
              <a:t>Systems Biology looks at all interacting components of a system</a:t>
            </a:r>
          </a:p>
          <a:p>
            <a:pPr lvl="1"/>
            <a:r>
              <a:rPr lang="en-US" dirty="0"/>
              <a:t>Aims to link the environment to the phenotype of a biological system</a:t>
            </a:r>
          </a:p>
          <a:p>
            <a:r>
              <a:rPr lang="en-US" dirty="0"/>
              <a:t>Data repositories for storing omics data</a:t>
            </a:r>
          </a:p>
          <a:p>
            <a:pPr lvl="1"/>
            <a:r>
              <a:rPr lang="en-US" dirty="0"/>
              <a:t>NCBI – Genomes</a:t>
            </a:r>
          </a:p>
          <a:p>
            <a:pPr lvl="1"/>
            <a:r>
              <a:rPr lang="en-US" dirty="0"/>
              <a:t>GEO – Transcriptomes</a:t>
            </a:r>
          </a:p>
          <a:p>
            <a:pPr lvl="1"/>
            <a:r>
              <a:rPr lang="en-US" dirty="0"/>
              <a:t>UniProt – Proteins and proteomes</a:t>
            </a:r>
          </a:p>
          <a:p>
            <a:pPr lvl="1"/>
            <a:r>
              <a:rPr lang="en-US" dirty="0"/>
              <a:t>KEGG– Database of biological systems</a:t>
            </a:r>
          </a:p>
          <a:p>
            <a:r>
              <a:rPr lang="en-US" dirty="0"/>
              <a:t>Map omics to KEGG maps to visualise gene / protein involvement</a:t>
            </a:r>
          </a:p>
          <a:p>
            <a:r>
              <a:rPr lang="en-US" dirty="0"/>
              <a:t>Limitations of KEGG: static maps</a:t>
            </a:r>
          </a:p>
          <a:p>
            <a:r>
              <a:rPr lang="en-US" dirty="0"/>
              <a:t>Introduced the concept of Genome Scale Metabolic Models to make predictions</a:t>
            </a:r>
          </a:p>
          <a:p>
            <a:r>
              <a:rPr lang="en-US" b="1" dirty="0"/>
              <a:t>Any questions?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97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32525</TotalTime>
  <Words>1349</Words>
  <Application>Microsoft Macintosh PowerPoint</Application>
  <PresentationFormat>Widescreen</PresentationFormat>
  <Paragraphs>276</Paragraphs>
  <Slides>37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Display</vt:lpstr>
      <vt:lpstr>Arial</vt:lpstr>
      <vt:lpstr>Corbel</vt:lpstr>
      <vt:lpstr>Courier New</vt:lpstr>
      <vt:lpstr>Noto Sans</vt:lpstr>
      <vt:lpstr>Wingdings</vt:lpstr>
      <vt:lpstr>Office Theme</vt:lpstr>
      <vt:lpstr>PowerPoint Presentation</vt:lpstr>
      <vt:lpstr>CODE-M #1 Systems Biology</vt:lpstr>
      <vt:lpstr>In this lecture we will…</vt:lpstr>
      <vt:lpstr>What is Systems Biology ?</vt:lpstr>
      <vt:lpstr>Analogy: A car drives because of its interacting systems</vt:lpstr>
      <vt:lpstr>Which system failed?</vt:lpstr>
      <vt:lpstr>Analogy: The environment changed</vt:lpstr>
      <vt:lpstr>Bioinformatics enables Systems Biology</vt:lpstr>
      <vt:lpstr>Systems Biology looks at complete biological systems </vt:lpstr>
      <vt:lpstr>Warburg effect is a systems property of cancer</vt:lpstr>
      <vt:lpstr>Warburg effect is a systems property of cancer</vt:lpstr>
      <vt:lpstr>Biological (omics) data sources and databases</vt:lpstr>
      <vt:lpstr>Bioinformatics opportunity: Human Genome Project (1990 – 2003) 3.1 billion base pairs ~ 3.1 Gb of data 21,000 protein-coding genes   </vt:lpstr>
      <vt:lpstr>The cost of genome sequencing became cheaper</vt:lpstr>
      <vt:lpstr>100,000 genome project (2013 – 2018)</vt:lpstr>
      <vt:lpstr>Genomes are stored in databases</vt:lpstr>
      <vt:lpstr>Its not just human genomes…</vt:lpstr>
      <vt:lpstr>Transcriptomes are stored in data repositories</vt:lpstr>
      <vt:lpstr>PowerPoint Presentation</vt:lpstr>
      <vt:lpstr>UniProt: Database of protein sequences and proteomes</vt:lpstr>
      <vt:lpstr>UniProt: Contains over 150 million protein sequences from almost 588,000 proteomes  </vt:lpstr>
      <vt:lpstr>Bioinformatics opportunity: What do these sequences tell us about the biology?</vt:lpstr>
      <vt:lpstr>PowerPoint Presentation</vt:lpstr>
      <vt:lpstr>Metabolism is complicated</vt:lpstr>
      <vt:lpstr>KEGG database to study Biological Systems</vt:lpstr>
      <vt:lpstr>KEGG database to study metabolic pathways</vt:lpstr>
      <vt:lpstr>A closer look at enzyme: 5.3.1.9</vt:lpstr>
      <vt:lpstr>A closer look at reaction: R0071</vt:lpstr>
      <vt:lpstr>A closer look at compound: COO92</vt:lpstr>
      <vt:lpstr>Bioinformatics applications of KEGG</vt:lpstr>
      <vt:lpstr>Reconstruction species specific metabolism from annotated genomes</vt:lpstr>
      <vt:lpstr>PowerPoint Presentation</vt:lpstr>
      <vt:lpstr>Visulise specific metabolic pathways encoded by the genome</vt:lpstr>
      <vt:lpstr>Mapping omics data to KEGG maps</vt:lpstr>
      <vt:lpstr>Limitations of KEGG: static networks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Chapman, Stephen</dc:creator>
  <cp:lastModifiedBy>Chapman, Stephen</cp:lastModifiedBy>
  <cp:revision>17</cp:revision>
  <dcterms:created xsi:type="dcterms:W3CDTF">2025-02-14T10:30:46Z</dcterms:created>
  <dcterms:modified xsi:type="dcterms:W3CDTF">2026-10-12T09:52:33Z</dcterms:modified>
</cp:coreProperties>
</file>