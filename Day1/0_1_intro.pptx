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563" r:id="rId2"/>
    <p:sldId id="660" r:id="rId3"/>
    <p:sldId id="652" r:id="rId4"/>
    <p:sldId id="257" r:id="rId5"/>
    <p:sldId id="638" r:id="rId6"/>
    <p:sldId id="654" r:id="rId7"/>
    <p:sldId id="657" r:id="rId8"/>
    <p:sldId id="658" r:id="rId9"/>
    <p:sldId id="661" r:id="rId10"/>
    <p:sldId id="568" r:id="rId11"/>
    <p:sldId id="6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492A50-1943-E841-9CC8-2915F7E1A8CC}" v="22" dt="2026-10-12T15:27:44.2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32"/>
    <p:restoredTop sz="94444"/>
  </p:normalViewPr>
  <p:slideViewPr>
    <p:cSldViewPr snapToGrid="0">
      <p:cViewPr varScale="1">
        <p:scale>
          <a:sx n="77" d="100"/>
          <a:sy n="77" d="100"/>
        </p:scale>
        <p:origin x="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pman, Stephen" userId="31a87834-901a-4691-a691-bf491053d09a" providerId="ADAL" clId="{07072C4A-42DD-5720-86A8-E3A7D67E6347}"/>
    <pc:docChg chg="undo custSel addSld delSld modSld">
      <pc:chgData name="Chapman, Stephen" userId="31a87834-901a-4691-a691-bf491053d09a" providerId="ADAL" clId="{07072C4A-42DD-5720-86A8-E3A7D67E6347}" dt="2026-10-13T20:07:15.156" v="844" actId="20577"/>
      <pc:docMkLst>
        <pc:docMk/>
      </pc:docMkLst>
      <pc:sldChg chg="del">
        <pc:chgData name="Chapman, Stephen" userId="31a87834-901a-4691-a691-bf491053d09a" providerId="ADAL" clId="{07072C4A-42DD-5720-86A8-E3A7D67E6347}" dt="2026-10-12T14:00:53.641" v="1" actId="2696"/>
        <pc:sldMkLst>
          <pc:docMk/>
          <pc:sldMk cId="82028020" sldId="256"/>
        </pc:sldMkLst>
      </pc:sldChg>
      <pc:sldChg chg="add">
        <pc:chgData name="Chapman, Stephen" userId="31a87834-901a-4691-a691-bf491053d09a" providerId="ADAL" clId="{07072C4A-42DD-5720-86A8-E3A7D67E6347}" dt="2026-10-12T14:00:50.439" v="0"/>
        <pc:sldMkLst>
          <pc:docMk/>
          <pc:sldMk cId="588030990" sldId="563"/>
        </pc:sldMkLst>
      </pc:sldChg>
      <pc:sldChg chg="modSp mod">
        <pc:chgData name="Chapman, Stephen" userId="31a87834-901a-4691-a691-bf491053d09a" providerId="ADAL" clId="{07072C4A-42DD-5720-86A8-E3A7D67E6347}" dt="2026-10-12T14:02:00.135" v="104" actId="1076"/>
        <pc:sldMkLst>
          <pc:docMk/>
          <pc:sldMk cId="1345974033" sldId="652"/>
        </pc:sldMkLst>
        <pc:spChg chg="mod">
          <ac:chgData name="Chapman, Stephen" userId="31a87834-901a-4691-a691-bf491053d09a" providerId="ADAL" clId="{07072C4A-42DD-5720-86A8-E3A7D67E6347}" dt="2026-10-12T14:01:55.518" v="101" actId="1076"/>
          <ac:spMkLst>
            <pc:docMk/>
            <pc:sldMk cId="1345974033" sldId="652"/>
            <ac:spMk id="2" creationId="{B37832E4-E8EE-F751-3193-380A336663EE}"/>
          </ac:spMkLst>
        </pc:spChg>
        <pc:picChg chg="mod">
          <ac:chgData name="Chapman, Stephen" userId="31a87834-901a-4691-a691-bf491053d09a" providerId="ADAL" clId="{07072C4A-42DD-5720-86A8-E3A7D67E6347}" dt="2026-10-12T14:02:00.135" v="104" actId="1076"/>
          <ac:picMkLst>
            <pc:docMk/>
            <pc:sldMk cId="1345974033" sldId="652"/>
            <ac:picMk id="5" creationId="{A23BAAE1-5E6B-12E3-829D-603C3C42D1A4}"/>
          </ac:picMkLst>
        </pc:picChg>
      </pc:sldChg>
      <pc:sldChg chg="addSp delSp modSp mod setBg">
        <pc:chgData name="Chapman, Stephen" userId="31a87834-901a-4691-a691-bf491053d09a" providerId="ADAL" clId="{07072C4A-42DD-5720-86A8-E3A7D67E6347}" dt="2026-10-13T19:57:22.840" v="818" actId="20577"/>
        <pc:sldMkLst>
          <pc:docMk/>
          <pc:sldMk cId="1825707754" sldId="654"/>
        </pc:sldMkLst>
        <pc:spChg chg="add del mod">
          <ac:chgData name="Chapman, Stephen" userId="31a87834-901a-4691-a691-bf491053d09a" providerId="ADAL" clId="{07072C4A-42DD-5720-86A8-E3A7D67E6347}" dt="2026-10-12T14:02:35.957" v="106" actId="478"/>
          <ac:spMkLst>
            <pc:docMk/>
            <pc:sldMk cId="1825707754" sldId="654"/>
            <ac:spMk id="3" creationId="{3F3DB4F2-E9E0-62F4-E442-13B81C994654}"/>
          </ac:spMkLst>
        </pc:spChg>
        <pc:spChg chg="mod">
          <ac:chgData name="Chapman, Stephen" userId="31a87834-901a-4691-a691-bf491053d09a" providerId="ADAL" clId="{07072C4A-42DD-5720-86A8-E3A7D67E6347}" dt="2026-10-12T14:03:21.476" v="113" actId="26606"/>
          <ac:spMkLst>
            <pc:docMk/>
            <pc:sldMk cId="1825707754" sldId="654"/>
            <ac:spMk id="8" creationId="{95D85E6E-6512-D427-CBC3-3598F01E661D}"/>
          </ac:spMkLst>
        </pc:spChg>
        <pc:spChg chg="mod">
          <ac:chgData name="Chapman, Stephen" userId="31a87834-901a-4691-a691-bf491053d09a" providerId="ADAL" clId="{07072C4A-42DD-5720-86A8-E3A7D67E6347}" dt="2026-10-12T14:09:06.079" v="190" actId="1076"/>
          <ac:spMkLst>
            <pc:docMk/>
            <pc:sldMk cId="1825707754" sldId="654"/>
            <ac:spMk id="10" creationId="{C172EA57-CD20-BB0E-24A1-371AD22C40EA}"/>
          </ac:spMkLst>
        </pc:spChg>
        <pc:spChg chg="add del">
          <ac:chgData name="Chapman, Stephen" userId="31a87834-901a-4691-a691-bf491053d09a" providerId="ADAL" clId="{07072C4A-42DD-5720-86A8-E3A7D67E6347}" dt="2026-10-12T14:03:21.476" v="113" actId="26606"/>
          <ac:spMkLst>
            <pc:docMk/>
            <pc:sldMk cId="1825707754" sldId="654"/>
            <ac:spMk id="15" creationId="{058A14AF-9FB5-4CC7-BA35-E8E85D3EDF0E}"/>
          </ac:spMkLst>
        </pc:spChg>
        <pc:spChg chg="add del">
          <ac:chgData name="Chapman, Stephen" userId="31a87834-901a-4691-a691-bf491053d09a" providerId="ADAL" clId="{07072C4A-42DD-5720-86A8-E3A7D67E6347}" dt="2026-10-12T14:03:21.476" v="113" actId="26606"/>
          <ac:spMkLst>
            <pc:docMk/>
            <pc:sldMk cId="1825707754" sldId="654"/>
            <ac:spMk id="17" creationId="{3A9A4357-BD1D-4622-A4FE-766E6AB8DE84}"/>
          </ac:spMkLst>
        </pc:spChg>
        <pc:spChg chg="add del">
          <ac:chgData name="Chapman, Stephen" userId="31a87834-901a-4691-a691-bf491053d09a" providerId="ADAL" clId="{07072C4A-42DD-5720-86A8-E3A7D67E6347}" dt="2026-10-12T14:03:21.476" v="113" actId="26606"/>
          <ac:spMkLst>
            <pc:docMk/>
            <pc:sldMk cId="1825707754" sldId="654"/>
            <ac:spMk id="19" creationId="{E659831F-0D9A-4C63-9EBB-8435B85A440F}"/>
          </ac:spMkLst>
        </pc:spChg>
        <pc:spChg chg="add del">
          <ac:chgData name="Chapman, Stephen" userId="31a87834-901a-4691-a691-bf491053d09a" providerId="ADAL" clId="{07072C4A-42DD-5720-86A8-E3A7D67E6347}" dt="2026-10-12T14:03:21.476" v="113" actId="26606"/>
          <ac:spMkLst>
            <pc:docMk/>
            <pc:sldMk cId="1825707754" sldId="654"/>
            <ac:spMk id="21" creationId="{E6995CE5-F890-4ABA-82A2-26507CE8D2A3}"/>
          </ac:spMkLst>
        </pc:spChg>
        <pc:graphicFrameChg chg="add del mod modGraphic">
          <ac:chgData name="Chapman, Stephen" userId="31a87834-901a-4691-a691-bf491053d09a" providerId="ADAL" clId="{07072C4A-42DD-5720-86A8-E3A7D67E6347}" dt="2026-10-12T14:02:42.160" v="109" actId="478"/>
          <ac:graphicFrameMkLst>
            <pc:docMk/>
            <pc:sldMk cId="1825707754" sldId="654"/>
            <ac:graphicFrameMk id="4" creationId="{4A745340-F7F1-A033-398A-0C274A8AECF5}"/>
          </ac:graphicFrameMkLst>
        </pc:graphicFrameChg>
        <pc:graphicFrameChg chg="add del mod modGraphic">
          <ac:chgData name="Chapman, Stephen" userId="31a87834-901a-4691-a691-bf491053d09a" providerId="ADAL" clId="{07072C4A-42DD-5720-86A8-E3A7D67E6347}" dt="2026-10-12T14:06:15.801" v="168" actId="478"/>
          <ac:graphicFrameMkLst>
            <pc:docMk/>
            <pc:sldMk cId="1825707754" sldId="654"/>
            <ac:graphicFrameMk id="5" creationId="{F00182D6-C381-3966-7EA6-FFAE0CED0BEB}"/>
          </ac:graphicFrameMkLst>
        </pc:graphicFrameChg>
        <pc:graphicFrameChg chg="del">
          <ac:chgData name="Chapman, Stephen" userId="31a87834-901a-4691-a691-bf491053d09a" providerId="ADAL" clId="{07072C4A-42DD-5720-86A8-E3A7D67E6347}" dt="2026-10-12T14:02:33.789" v="105" actId="478"/>
          <ac:graphicFrameMkLst>
            <pc:docMk/>
            <pc:sldMk cId="1825707754" sldId="654"/>
            <ac:graphicFrameMk id="7" creationId="{429D3222-190C-AD6C-BD51-02C9947AB87A}"/>
          </ac:graphicFrameMkLst>
        </pc:graphicFrameChg>
        <pc:graphicFrameChg chg="add mod modGraphic">
          <ac:chgData name="Chapman, Stephen" userId="31a87834-901a-4691-a691-bf491053d09a" providerId="ADAL" clId="{07072C4A-42DD-5720-86A8-E3A7D67E6347}" dt="2026-10-13T19:57:22.840" v="818" actId="20577"/>
          <ac:graphicFrameMkLst>
            <pc:docMk/>
            <pc:sldMk cId="1825707754" sldId="654"/>
            <ac:graphicFrameMk id="11" creationId="{E7441C0D-74EE-7A17-A3DA-26A3C97335CA}"/>
          </ac:graphicFrameMkLst>
        </pc:graphicFrameChg>
        <pc:picChg chg="add del mod">
          <ac:chgData name="Chapman, Stephen" userId="31a87834-901a-4691-a691-bf491053d09a" providerId="ADAL" clId="{07072C4A-42DD-5720-86A8-E3A7D67E6347}" dt="2026-10-12T14:06:42.590" v="173" actId="478"/>
          <ac:picMkLst>
            <pc:docMk/>
            <pc:sldMk cId="1825707754" sldId="654"/>
            <ac:picMk id="9" creationId="{C9C0358E-BDB5-6B71-9C74-15AF988BA593}"/>
          </ac:picMkLst>
        </pc:picChg>
      </pc:sldChg>
      <pc:sldChg chg="addSp delSp modSp mod">
        <pc:chgData name="Chapman, Stephen" userId="31a87834-901a-4691-a691-bf491053d09a" providerId="ADAL" clId="{07072C4A-42DD-5720-86A8-E3A7D67E6347}" dt="2026-10-12T19:50:16.449" v="795" actId="1076"/>
        <pc:sldMkLst>
          <pc:docMk/>
          <pc:sldMk cId="3317549340" sldId="657"/>
        </pc:sldMkLst>
        <pc:spChg chg="del">
          <ac:chgData name="Chapman, Stephen" userId="31a87834-901a-4691-a691-bf491053d09a" providerId="ADAL" clId="{07072C4A-42DD-5720-86A8-E3A7D67E6347}" dt="2026-10-12T14:11:17.851" v="205" actId="478"/>
          <ac:spMkLst>
            <pc:docMk/>
            <pc:sldMk cId="3317549340" sldId="657"/>
            <ac:spMk id="2" creationId="{4A5CFF01-841B-8F4E-34DB-72E05B0AC906}"/>
          </ac:spMkLst>
        </pc:spChg>
        <pc:spChg chg="add del mod">
          <ac:chgData name="Chapman, Stephen" userId="31a87834-901a-4691-a691-bf491053d09a" providerId="ADAL" clId="{07072C4A-42DD-5720-86A8-E3A7D67E6347}" dt="2026-10-12T14:10:59.430" v="204" actId="478"/>
          <ac:spMkLst>
            <pc:docMk/>
            <pc:sldMk cId="3317549340" sldId="657"/>
            <ac:spMk id="4" creationId="{D6D032FC-15AD-BC3E-64B8-5FE177B630F9}"/>
          </ac:spMkLst>
        </pc:spChg>
        <pc:spChg chg="add mod">
          <ac:chgData name="Chapman, Stephen" userId="31a87834-901a-4691-a691-bf491053d09a" providerId="ADAL" clId="{07072C4A-42DD-5720-86A8-E3A7D67E6347}" dt="2026-10-12T19:50:16.449" v="795" actId="1076"/>
          <ac:spMkLst>
            <pc:docMk/>
            <pc:sldMk cId="3317549340" sldId="657"/>
            <ac:spMk id="6" creationId="{514C5F8F-1FE9-3AE2-5A87-9822DB853349}"/>
          </ac:spMkLst>
        </pc:spChg>
        <pc:graphicFrameChg chg="del">
          <ac:chgData name="Chapman, Stephen" userId="31a87834-901a-4691-a691-bf491053d09a" providerId="ADAL" clId="{07072C4A-42DD-5720-86A8-E3A7D67E6347}" dt="2026-10-12T14:10:57.829" v="203" actId="478"/>
          <ac:graphicFrameMkLst>
            <pc:docMk/>
            <pc:sldMk cId="3317549340" sldId="657"/>
            <ac:graphicFrameMk id="7" creationId="{0B35C0E5-1A25-FBA1-6480-143202CB8C0E}"/>
          </ac:graphicFrameMkLst>
        </pc:graphicFrameChg>
        <pc:graphicFrameChg chg="add mod modGraphic">
          <ac:chgData name="Chapman, Stephen" userId="31a87834-901a-4691-a691-bf491053d09a" providerId="ADAL" clId="{07072C4A-42DD-5720-86A8-E3A7D67E6347}" dt="2026-10-12T19:50:14.270" v="794" actId="1076"/>
          <ac:graphicFrameMkLst>
            <pc:docMk/>
            <pc:sldMk cId="3317549340" sldId="657"/>
            <ac:graphicFrameMk id="9" creationId="{E07A7562-73BD-3B50-BD38-A37A0204BA06}"/>
          </ac:graphicFrameMkLst>
        </pc:graphicFrameChg>
      </pc:sldChg>
      <pc:sldChg chg="modSp mod">
        <pc:chgData name="Chapman, Stephen" userId="31a87834-901a-4691-a691-bf491053d09a" providerId="ADAL" clId="{07072C4A-42DD-5720-86A8-E3A7D67E6347}" dt="2026-10-13T20:07:15.156" v="844" actId="20577"/>
        <pc:sldMkLst>
          <pc:docMk/>
          <pc:sldMk cId="211004549" sldId="658"/>
        </pc:sldMkLst>
        <pc:spChg chg="mod">
          <ac:chgData name="Chapman, Stephen" userId="31a87834-901a-4691-a691-bf491053d09a" providerId="ADAL" clId="{07072C4A-42DD-5720-86A8-E3A7D67E6347}" dt="2026-10-12T19:50:41.203" v="800" actId="1076"/>
          <ac:spMkLst>
            <pc:docMk/>
            <pc:sldMk cId="211004549" sldId="658"/>
            <ac:spMk id="2" creationId="{A93A1DA8-7E47-AEA9-86EC-35BCEC8ADD09}"/>
          </ac:spMkLst>
        </pc:spChg>
        <pc:graphicFrameChg chg="mod modGraphic">
          <ac:chgData name="Chapman, Stephen" userId="31a87834-901a-4691-a691-bf491053d09a" providerId="ADAL" clId="{07072C4A-42DD-5720-86A8-E3A7D67E6347}" dt="2026-10-13T20:07:15.156" v="844" actId="20577"/>
          <ac:graphicFrameMkLst>
            <pc:docMk/>
            <pc:sldMk cId="211004549" sldId="658"/>
            <ac:graphicFrameMk id="5" creationId="{F58BE240-93C9-D76D-4D95-0BD056CF2BC5}"/>
          </ac:graphicFrameMkLst>
        </pc:graphicFrameChg>
      </pc:sldChg>
      <pc:sldChg chg="modSp add mod">
        <pc:chgData name="Chapman, Stephen" userId="31a87834-901a-4691-a691-bf491053d09a" providerId="ADAL" clId="{07072C4A-42DD-5720-86A8-E3A7D67E6347}" dt="2026-10-12T14:01:16.227" v="88" actId="20577"/>
        <pc:sldMkLst>
          <pc:docMk/>
          <pc:sldMk cId="3099192246" sldId="660"/>
        </pc:sldMkLst>
        <pc:spChg chg="mod">
          <ac:chgData name="Chapman, Stephen" userId="31a87834-901a-4691-a691-bf491053d09a" providerId="ADAL" clId="{07072C4A-42DD-5720-86A8-E3A7D67E6347}" dt="2026-10-12T14:01:16.227" v="88" actId="20577"/>
          <ac:spMkLst>
            <pc:docMk/>
            <pc:sldMk cId="3099192246" sldId="660"/>
            <ac:spMk id="10" creationId="{8859729A-879E-0788-0CC0-2311550C2672}"/>
          </ac:spMkLst>
        </pc:spChg>
      </pc:sldChg>
      <pc:sldChg chg="addSp modSp new mod">
        <pc:chgData name="Chapman, Stephen" userId="31a87834-901a-4691-a691-bf491053d09a" providerId="ADAL" clId="{07072C4A-42DD-5720-86A8-E3A7D67E6347}" dt="2026-10-12T14:31:55.126" v="734" actId="1076"/>
        <pc:sldMkLst>
          <pc:docMk/>
          <pc:sldMk cId="2597482707" sldId="661"/>
        </pc:sldMkLst>
        <pc:spChg chg="mod">
          <ac:chgData name="Chapman, Stephen" userId="31a87834-901a-4691-a691-bf491053d09a" providerId="ADAL" clId="{07072C4A-42DD-5720-86A8-E3A7D67E6347}" dt="2026-10-12T14:27:06.475" v="692" actId="27636"/>
          <ac:spMkLst>
            <pc:docMk/>
            <pc:sldMk cId="2597482707" sldId="661"/>
            <ac:spMk id="2" creationId="{B857DE18-63B8-ECDD-734D-87CD083BEDB5}"/>
          </ac:spMkLst>
        </pc:spChg>
        <pc:spChg chg="mod">
          <ac:chgData name="Chapman, Stephen" userId="31a87834-901a-4691-a691-bf491053d09a" providerId="ADAL" clId="{07072C4A-42DD-5720-86A8-E3A7D67E6347}" dt="2026-10-12T14:27:49.538" v="727" actId="20577"/>
          <ac:spMkLst>
            <pc:docMk/>
            <pc:sldMk cId="2597482707" sldId="661"/>
            <ac:spMk id="3" creationId="{73625A6E-5947-7B4E-17A6-A9AC09590D2C}"/>
          </ac:spMkLst>
        </pc:spChg>
        <pc:picChg chg="add mod">
          <ac:chgData name="Chapman, Stephen" userId="31a87834-901a-4691-a691-bf491053d09a" providerId="ADAL" clId="{07072C4A-42DD-5720-86A8-E3A7D67E6347}" dt="2026-10-12T14:31:55.126" v="734" actId="1076"/>
          <ac:picMkLst>
            <pc:docMk/>
            <pc:sldMk cId="2597482707" sldId="661"/>
            <ac:picMk id="5" creationId="{F932C284-DBAB-D3BB-F353-F02D2E9F1FF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A6E07F-C17F-3143-9F46-18EC533348A1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2A2243-BD22-5A4E-9243-66BE4ED7E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609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to you today about an area of biology called Bioinformatics, or otherwise known as computational biology. All about how to get </a:t>
            </a:r>
            <a:r>
              <a:rPr lang="en-US" dirty="0" err="1"/>
              <a:t>ocmoiuters</a:t>
            </a:r>
            <a:r>
              <a:rPr lang="en-US"/>
              <a:t> to work for us enhance biological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CC971-CE31-7B46-B081-96258E9AA1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90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E876D-BE41-A35C-1917-BA3AD446A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35C1C6-B3E6-C707-C287-5664B9734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52671-E046-A3E8-9355-CE1BF4619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D7DDB-67CF-4247-B2BC-8EE43CC912A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9584B-B167-834D-D849-CFC474E8C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AFB41-60BD-E76A-A98E-C1C46802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318D1-D462-CB4C-B5E9-08A59AA3FB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5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0D157-9EAC-2B4C-CC1C-D33A9937C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30E1F-79BA-2F1A-0E4F-B989A1392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E330B-5D1C-544E-1A14-A44A62E32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D7DDB-67CF-4247-B2BC-8EE43CC912A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3115D-3CF9-619B-DE42-5681BFC49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DD286-2273-A545-DC7D-3001EF114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318D1-D462-CB4C-B5E9-08A59AA3FB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31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AE75A-D79F-839B-DBFB-3E70E6BB2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96590-6830-1204-8D8E-E72AE7397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696B5-0D38-DAD1-E4C7-47A95A862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D7DDB-67CF-4247-B2BC-8EE43CC912A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170AC-655E-D909-8D71-CE667B5D4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B3380-13F8-DCE7-2BB1-F243D960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318D1-D462-CB4C-B5E9-08A59AA3FB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99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BB4C8-6EB9-B2BC-52C1-9A961311B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F37EB-567B-987D-8096-6AB73BEEF3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1E9A0B-30CC-C4B0-DD80-27DD7B693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5440D-F215-853F-DA93-6E1FDF54C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D7DDB-67CF-4247-B2BC-8EE43CC912A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CA4FA-4C35-0F5A-9793-57C0BA80B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01640-8837-BF89-1219-51650EE38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318D1-D462-CB4C-B5E9-08A59AA3FB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5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01343-CCAC-4CDB-B208-B65FDFA2D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0356F-8473-4838-E2BC-1E92B60DD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9DBF08-7AC4-2647-975A-3C3F7D940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F7B6DC-57F4-84A6-A1BA-D14F93A509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69BACE-6886-14F7-565B-D036D5D013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F05219-EC44-78B3-F846-08425EE07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D7DDB-67CF-4247-B2BC-8EE43CC912A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4A6F9E-E7BC-B9ED-A2BC-F9709D60B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B81A1A-251A-77D8-52F1-E9869BB56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318D1-D462-CB4C-B5E9-08A59AA3FB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95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62DCC-8B88-8432-96ED-D6FA29C5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14469-8909-A5DB-1CD0-06DD7CB7F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D7DDB-67CF-4247-B2BC-8EE43CC912A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BD1AE0-B8F4-BB4C-2198-4B75FBE46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80100-EA1E-75B9-460E-E2AFE9F21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318D1-D462-CB4C-B5E9-08A59AA3FB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146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788319-65C2-40FB-045D-1D459C50B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D7DDB-67CF-4247-B2BC-8EE43CC912A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8CA350-F6CA-067D-0966-675553C7A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E5DA7-F7FB-4E0C-AB9B-BDEE0FBCA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318D1-D462-CB4C-B5E9-08A59AA3FB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637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B8E8A-172B-EFAE-1C6F-89CA4681E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FB12E-D7F9-7D0E-56CD-F46A44007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BA6CF8-71EF-3E5E-3840-D8155352D0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E2A4AF-24D6-02CE-5EEA-0F3CCEC12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D7DDB-67CF-4247-B2BC-8EE43CC912A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14912-06C8-86D5-87C0-4EA2A42E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E7185-E058-7FD3-0998-C0A928D5B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318D1-D462-CB4C-B5E9-08A59AA3FB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69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36A23-8F79-5D67-8C95-7D090965A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C0DC71-79D8-AF3A-02AF-EC6181FF443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CB967-B488-FC61-4F02-46DFCA612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6DCCD-E676-8F84-9103-66CDB8A3C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D7DDB-67CF-4247-B2BC-8EE43CC912A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0E19D-E882-A91B-9EF3-C197F7CC0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74A07-D0B2-68A9-0836-BBA555438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318D1-D462-CB4C-B5E9-08A59AA3FB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511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C2F0C-CE64-CA56-0DBA-9A0CCAFFF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36D43-B40E-9FC2-0A32-03FBEB6AA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8E3D0-86EB-9C93-DA32-C4B331598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D7DDB-67CF-4247-B2BC-8EE43CC912A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DCCE9-A0E4-D0B5-AFCC-9DCA43F9A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33AE8-BAD5-A978-392E-34643A606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318D1-D462-CB4C-B5E9-08A59AA3FB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079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75AB0C-356F-B516-59E7-6D9D73B624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E1859D-95AE-3082-F73A-20782A7FD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05C71-8CD7-6CF1-2F7D-1CC04C441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D7DDB-67CF-4247-B2BC-8EE43CC912A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0FA8E-D64D-5A60-DA3D-06C69FCCF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5340F-D28E-DECA-D1CB-3CDEF58F1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318D1-D462-CB4C-B5E9-08A59AA3FB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93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A28161-1AC7-1DEE-1AED-7BCAF98AE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525E8-4D06-268F-BE9F-AE297F92D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E56C7-2898-6715-9E1B-F3372810D8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2D7DDB-67CF-4247-B2BC-8EE43CC912A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F0542-0CDE-D45C-0CB1-0CB4F6D479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6F2E5-37D1-F534-BA0E-AD8B465F8A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3318D1-D462-CB4C-B5E9-08A59AA3FB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940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tephen.chapman@liverpool.ac.u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1C1E2-9380-DA3C-C8B0-840E66896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C3606F2-9FD1-61F0-8E6C-71ED42198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6006"/>
            <a:ext cx="12192000" cy="6851905"/>
          </a:xfrm>
        </p:spPr>
      </p:pic>
    </p:spTree>
    <p:extLst>
      <p:ext uri="{BB962C8B-B14F-4D97-AF65-F5344CB8AC3E}">
        <p14:creationId xmlns:p14="http://schemas.microsoft.com/office/powerpoint/2010/main" val="588030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5BCE19A-A47F-1302-E289-90BE57133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1890" y="4918591"/>
            <a:ext cx="6548219" cy="113602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Dr Stephen Chapman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stephen.chapman@liverpool.ac.uk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350 Biosciences Building</a:t>
            </a:r>
          </a:p>
        </p:txBody>
      </p:sp>
      <p:pic>
        <p:nvPicPr>
          <p:cNvPr id="6" name="Picture 5" descr="A logo on a black background&#10;&#10;Description automatically generated">
            <a:extLst>
              <a:ext uri="{FF2B5EF4-FFF2-40B4-BE49-F238E27FC236}">
                <a16:creationId xmlns:a16="http://schemas.microsoft.com/office/drawing/2014/main" id="{0F46D61B-6B9A-8E9A-B8B5-931698F5C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901" y="104226"/>
            <a:ext cx="3920076" cy="294005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859729A-879E-0788-0CC0-2311550C2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 fontScale="90000"/>
          </a:bodyPr>
          <a:lstStyle/>
          <a:p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CODE-M</a:t>
            </a:r>
            <a:b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Genome Scale Metabolic Modelling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C467A7-2763-8FE7-270B-2AA07C9FCD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90" y="869404"/>
            <a:ext cx="23368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192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832E4-E8EE-F751-3193-380A33666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14" y="267154"/>
            <a:ext cx="10515600" cy="1325563"/>
          </a:xfrm>
        </p:spPr>
        <p:txBody>
          <a:bodyPr/>
          <a:lstStyle/>
          <a:p>
            <a:r>
              <a:rPr lang="en-US" dirty="0"/>
              <a:t>Genome Scale Metabolic modelling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3BAAE1-5E6B-12E3-829D-603C3C42D1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676"/>
          <a:stretch>
            <a:fillRect/>
          </a:stretch>
        </p:blipFill>
        <p:spPr>
          <a:xfrm>
            <a:off x="1399989" y="1262030"/>
            <a:ext cx="9392022" cy="559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974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6D55D-D49D-B239-1BB0-9572FA891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Genome scale metabolic modelling predicts metabolic fluxes through a metabolic network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FCACC4-373D-911B-CED3-5799FB5C6BD2}"/>
              </a:ext>
            </a:extLst>
          </p:cNvPr>
          <p:cNvGrpSpPr/>
          <p:nvPr/>
        </p:nvGrpSpPr>
        <p:grpSpPr>
          <a:xfrm>
            <a:off x="0" y="1568102"/>
            <a:ext cx="11986210" cy="5289898"/>
            <a:chOff x="309521" y="2576137"/>
            <a:chExt cx="11986210" cy="5289898"/>
          </a:xfrm>
        </p:grpSpPr>
        <p:pic>
          <p:nvPicPr>
            <p:cNvPr id="5" name="Picture 4" descr="A chart with different colors&#10;&#10;Description automatically generated with medium confidence">
              <a:extLst>
                <a:ext uri="{FF2B5EF4-FFF2-40B4-BE49-F238E27FC236}">
                  <a16:creationId xmlns:a16="http://schemas.microsoft.com/office/drawing/2014/main" id="{1FF7CDA2-D810-C964-78E5-9804421B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7766" y="3944270"/>
              <a:ext cx="932697" cy="3369129"/>
            </a:xfrm>
            <a:prstGeom prst="rect">
              <a:avLst/>
            </a:prstGeom>
          </p:spPr>
        </p:pic>
        <p:pic>
          <p:nvPicPr>
            <p:cNvPr id="6" name="Picture 5" descr="A diagram of a plant&#10;&#10;Description automatically generated">
              <a:extLst>
                <a:ext uri="{FF2B5EF4-FFF2-40B4-BE49-F238E27FC236}">
                  <a16:creationId xmlns:a16="http://schemas.microsoft.com/office/drawing/2014/main" id="{94C951BF-E421-D2C9-AA64-080C9823C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300"/>
            <a:stretch>
              <a:fillRect/>
            </a:stretch>
          </p:blipFill>
          <p:spPr>
            <a:xfrm>
              <a:off x="309521" y="2896691"/>
              <a:ext cx="5458138" cy="4821909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8EE7A3F-FB5D-0E17-448F-8416B4E7D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5" t="45183" r="11378" b="992"/>
            <a:stretch>
              <a:fillRect/>
            </a:stretch>
          </p:blipFill>
          <p:spPr>
            <a:xfrm>
              <a:off x="6525266" y="2576137"/>
              <a:ext cx="5770465" cy="52898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33109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29EA4-3EBA-202A-1A8A-E2FAFD37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A14E8-A904-0605-38B5-21884FB59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Genome Scale Metabolic Models Explain how Changes in the Environment Lead to Changes in the Phenotype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5D8CD-E491-5BED-4B0B-B27ABCC75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387" y="1730733"/>
            <a:ext cx="10705044" cy="4351338"/>
          </a:xfrm>
        </p:spPr>
        <p:txBody>
          <a:bodyPr>
            <a:normAutofit/>
          </a:bodyPr>
          <a:lstStyle/>
          <a:p>
            <a:r>
              <a:rPr lang="en-US" sz="2400" dirty="0"/>
              <a:t>Systems Biology looks at </a:t>
            </a:r>
            <a:r>
              <a:rPr lang="en-US" sz="2400" b="1" dirty="0"/>
              <a:t>complete biological systems = holistic</a:t>
            </a:r>
          </a:p>
          <a:p>
            <a:r>
              <a:rPr lang="en-US" sz="2400" dirty="0"/>
              <a:t>Avoids looking at single genes or single proteins in isolation = </a:t>
            </a:r>
            <a:r>
              <a:rPr lang="en-US" sz="2400" b="1" dirty="0"/>
              <a:t>reductionism</a:t>
            </a:r>
          </a:p>
          <a:p>
            <a:r>
              <a:rPr lang="en-US" sz="2400" b="1" dirty="0"/>
              <a:t>Metabolism is the closest </a:t>
            </a:r>
            <a:r>
              <a:rPr lang="en-US" sz="2400" b="1" dirty="0" err="1"/>
              <a:t>omic</a:t>
            </a:r>
            <a:r>
              <a:rPr lang="en-US" sz="2400" b="1" dirty="0"/>
              <a:t> layer to the phenotype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214FD6-17CE-F921-1B20-D5D4353DC424}"/>
              </a:ext>
            </a:extLst>
          </p:cNvPr>
          <p:cNvSpPr txBox="1"/>
          <p:nvPr/>
        </p:nvSpPr>
        <p:spPr>
          <a:xfrm>
            <a:off x="168025" y="5572997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876F3B3-DA2A-14AF-519A-61AC0F9CA942}"/>
              </a:ext>
            </a:extLst>
          </p:cNvPr>
          <p:cNvGrpSpPr/>
          <p:nvPr/>
        </p:nvGrpSpPr>
        <p:grpSpPr>
          <a:xfrm>
            <a:off x="564366" y="2503943"/>
            <a:ext cx="10493917" cy="3385486"/>
            <a:chOff x="403682" y="2076407"/>
            <a:chExt cx="14504490" cy="4128075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9517CDB-7F44-25CE-06F9-F18DAEFEB2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71870" y="4543625"/>
              <a:ext cx="734075" cy="191486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DAF895E-34B1-7EAF-6F46-9CBBF54D196E}"/>
                </a:ext>
              </a:extLst>
            </p:cNvPr>
            <p:cNvGrpSpPr/>
            <p:nvPr/>
          </p:nvGrpSpPr>
          <p:grpSpPr>
            <a:xfrm>
              <a:off x="2191407" y="3019704"/>
              <a:ext cx="6511381" cy="3178615"/>
              <a:chOff x="1607915" y="2332139"/>
              <a:chExt cx="8044649" cy="3178615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2DD755C-60DE-014D-F0B8-73D9A2C129CA}"/>
                  </a:ext>
                </a:extLst>
              </p:cNvPr>
              <p:cNvGrpSpPr/>
              <p:nvPr/>
            </p:nvGrpSpPr>
            <p:grpSpPr>
              <a:xfrm>
                <a:off x="1607915" y="2332139"/>
                <a:ext cx="8044649" cy="3178615"/>
                <a:chOff x="468771" y="2308989"/>
                <a:chExt cx="8044649" cy="3178615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FCB8D1F2-22B5-AE05-8C76-59F2DB227128}"/>
                    </a:ext>
                  </a:extLst>
                </p:cNvPr>
                <p:cNvGrpSpPr/>
                <p:nvPr/>
              </p:nvGrpSpPr>
              <p:grpSpPr>
                <a:xfrm>
                  <a:off x="468771" y="2700998"/>
                  <a:ext cx="8044649" cy="1822770"/>
                  <a:chOff x="-318308" y="2052816"/>
                  <a:chExt cx="8044649" cy="1822770"/>
                </a:xfrm>
              </p:grpSpPr>
              <p:pic>
                <p:nvPicPr>
                  <p:cNvPr id="17" name="Picture 16">
                    <a:extLst>
                      <a:ext uri="{FF2B5EF4-FFF2-40B4-BE49-F238E27FC236}">
                        <a16:creationId xmlns:a16="http://schemas.microsoft.com/office/drawing/2014/main" id="{3D96B251-FE33-C014-4FDE-A9E3927BAD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rcRect l="50151" t="65542" r="30599" b="3068"/>
                  <a:stretch/>
                </p:blipFill>
                <p:spPr>
                  <a:xfrm>
                    <a:off x="6082737" y="2052816"/>
                    <a:ext cx="1643604" cy="1780573"/>
                  </a:xfrm>
                  <a:prstGeom prst="rect">
                    <a:avLst/>
                  </a:prstGeom>
                </p:spPr>
              </p:pic>
              <p:pic>
                <p:nvPicPr>
                  <p:cNvPr id="18" name="Picture 17">
                    <a:extLst>
                      <a:ext uri="{FF2B5EF4-FFF2-40B4-BE49-F238E27FC236}">
                        <a16:creationId xmlns:a16="http://schemas.microsoft.com/office/drawing/2014/main" id="{292D044E-6088-0CF2-90A1-0322A01941E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rcRect l="31149" t="67716" r="50821" b="5349"/>
                  <a:stretch/>
                </p:blipFill>
                <p:spPr>
                  <a:xfrm>
                    <a:off x="2785229" y="2212903"/>
                    <a:ext cx="1539434" cy="1527858"/>
                  </a:xfrm>
                  <a:prstGeom prst="rect">
                    <a:avLst/>
                  </a:prstGeom>
                </p:spPr>
              </p:pic>
              <p:pic>
                <p:nvPicPr>
                  <p:cNvPr id="19" name="Picture 18">
                    <a:extLst>
                      <a:ext uri="{FF2B5EF4-FFF2-40B4-BE49-F238E27FC236}">
                        <a16:creationId xmlns:a16="http://schemas.microsoft.com/office/drawing/2014/main" id="{B10EBFF9-1743-16A8-4AE1-A26621C070D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rcRect l="11877" t="65542" r="70500" b="3068"/>
                  <a:stretch/>
                </p:blipFill>
                <p:spPr>
                  <a:xfrm>
                    <a:off x="-318308" y="2095013"/>
                    <a:ext cx="1504709" cy="1780573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FAFADCD-0D83-F84A-9C40-45B40EE4A7F3}"/>
                    </a:ext>
                  </a:extLst>
                </p:cNvPr>
                <p:cNvSpPr txBox="1"/>
                <p:nvPr/>
              </p:nvSpPr>
              <p:spPr>
                <a:xfrm>
                  <a:off x="556529" y="5096866"/>
                  <a:ext cx="10182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>
                      <a:latin typeface="Arial" panose="020B0604020202020204" pitchFamily="34" charset="0"/>
                      <a:cs typeface="Arial" panose="020B0604020202020204" pitchFamily="34" charset="0"/>
                    </a:rPr>
                    <a:t>genome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E60A1DF-68DC-9729-40FE-A966AAD53844}"/>
                    </a:ext>
                  </a:extLst>
                </p:cNvPr>
                <p:cNvSpPr txBox="1"/>
                <p:nvPr/>
              </p:nvSpPr>
              <p:spPr>
                <a:xfrm>
                  <a:off x="3199393" y="5118272"/>
                  <a:ext cx="15824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>
                      <a:latin typeface="Arial" panose="020B0604020202020204" pitchFamily="34" charset="0"/>
                      <a:cs typeface="Arial" panose="020B0604020202020204" pitchFamily="34" charset="0"/>
                    </a:rPr>
                    <a:t>transcriptome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EC44E25-E978-9902-3950-768A90227183}"/>
                    </a:ext>
                  </a:extLst>
                </p:cNvPr>
                <p:cNvSpPr txBox="1"/>
                <p:nvPr/>
              </p:nvSpPr>
              <p:spPr>
                <a:xfrm>
                  <a:off x="6923844" y="5043424"/>
                  <a:ext cx="115929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>
                      <a:latin typeface="Arial" panose="020B0604020202020204" pitchFamily="34" charset="0"/>
                      <a:cs typeface="Arial" panose="020B0604020202020204" pitchFamily="34" charset="0"/>
                    </a:rPr>
                    <a:t>proteome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AFC3616-0196-CB2F-970B-29119FFCD5BD}"/>
                    </a:ext>
                  </a:extLst>
                </p:cNvPr>
                <p:cNvSpPr txBox="1"/>
                <p:nvPr/>
              </p:nvSpPr>
              <p:spPr>
                <a:xfrm>
                  <a:off x="513817" y="2353778"/>
                  <a:ext cx="68480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>
                      <a:latin typeface="Arial" panose="020B0604020202020204" pitchFamily="34" charset="0"/>
                      <a:cs typeface="Arial" panose="020B0604020202020204" pitchFamily="34" charset="0"/>
                    </a:rPr>
                    <a:t>DNA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C8701E3-FAFA-22DB-7A25-5364B32BE596}"/>
                    </a:ext>
                  </a:extLst>
                </p:cNvPr>
                <p:cNvSpPr txBox="1"/>
                <p:nvPr/>
              </p:nvSpPr>
              <p:spPr>
                <a:xfrm>
                  <a:off x="3544923" y="2338578"/>
                  <a:ext cx="8899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>
                      <a:latin typeface="Arial" panose="020B0604020202020204" pitchFamily="34" charset="0"/>
                      <a:cs typeface="Arial" panose="020B0604020202020204" pitchFamily="34" charset="0"/>
                    </a:rPr>
                    <a:t>mRNA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6AAA13F-D309-A257-98C6-21C256EDDA6F}"/>
                    </a:ext>
                  </a:extLst>
                </p:cNvPr>
                <p:cNvSpPr txBox="1"/>
                <p:nvPr/>
              </p:nvSpPr>
              <p:spPr>
                <a:xfrm>
                  <a:off x="6919452" y="2308989"/>
                  <a:ext cx="9669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>
                      <a:latin typeface="Arial" panose="020B0604020202020204" pitchFamily="34" charset="0"/>
                      <a:cs typeface="Arial" panose="020B0604020202020204" pitchFamily="34" charset="0"/>
                    </a:rPr>
                    <a:t>protein</a:t>
                  </a:r>
                </a:p>
              </p:txBody>
            </p:sp>
          </p:grp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ED00E9B9-BA1F-C5B3-0F9F-9F3C7C9AC3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2486" y="3680749"/>
                <a:ext cx="1437442" cy="0"/>
              </a:xfrm>
              <a:prstGeom prst="straightConnector1">
                <a:avLst/>
              </a:prstGeom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71327E-05CB-26E5-E624-9758F4416CBF}"/>
                  </a:ext>
                </a:extLst>
              </p:cNvPr>
              <p:cNvSpPr txBox="1"/>
              <p:nvPr/>
            </p:nvSpPr>
            <p:spPr>
              <a:xfrm>
                <a:off x="2766347" y="2825936"/>
                <a:ext cx="2781872" cy="412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/>
                  <a:t>transcription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161005-84A5-A996-A834-DF00FC3E2170}"/>
                  </a:ext>
                </a:extLst>
              </p:cNvPr>
              <p:cNvSpPr txBox="1"/>
              <p:nvPr/>
            </p:nvSpPr>
            <p:spPr>
              <a:xfrm>
                <a:off x="6211132" y="2820780"/>
                <a:ext cx="1938056" cy="4128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i="1"/>
                  <a:t>translation</a:t>
                </a:r>
                <a:endParaRPr lang="en-US" i="1"/>
              </a:p>
            </p:txBody>
          </p:sp>
        </p:grp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7F58764-3900-4B83-9C6A-F635E716F493}"/>
                </a:ext>
              </a:extLst>
            </p:cNvPr>
            <p:cNvCxnSpPr>
              <a:cxnSpLocks/>
            </p:cNvCxnSpPr>
            <p:nvPr/>
          </p:nvCxnSpPr>
          <p:spPr>
            <a:xfrm>
              <a:off x="1401473" y="3786488"/>
              <a:ext cx="764354" cy="373042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15FB028-2668-300C-708A-DEF3351029DE}"/>
                </a:ext>
              </a:extLst>
            </p:cNvPr>
            <p:cNvSpPr txBox="1"/>
            <p:nvPr/>
          </p:nvSpPr>
          <p:spPr>
            <a:xfrm>
              <a:off x="10005891" y="5754139"/>
              <a:ext cx="2010028" cy="4503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metabolome</a:t>
              </a:r>
            </a:p>
          </p:txBody>
        </p:sp>
        <p:pic>
          <p:nvPicPr>
            <p:cNvPr id="52" name="Graphic 51" descr="Sun with solid fill">
              <a:extLst>
                <a:ext uri="{FF2B5EF4-FFF2-40B4-BE49-F238E27FC236}">
                  <a16:creationId xmlns:a16="http://schemas.microsoft.com/office/drawing/2014/main" id="{EBE6EDCE-D502-024C-15B6-8C442A60D5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757" y="3249159"/>
              <a:ext cx="914400" cy="914400"/>
            </a:xfrm>
            <a:prstGeom prst="rect">
              <a:avLst/>
            </a:prstGeom>
          </p:spPr>
        </p:pic>
        <p:pic>
          <p:nvPicPr>
            <p:cNvPr id="59" name="Graphic 58" descr="Cloud with solid fill">
              <a:extLst>
                <a:ext uri="{FF2B5EF4-FFF2-40B4-BE49-F238E27FC236}">
                  <a16:creationId xmlns:a16="http://schemas.microsoft.com/office/drawing/2014/main" id="{8F7036B0-4C51-4F17-0F1D-7588018D6A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3682" y="4133784"/>
              <a:ext cx="914400" cy="914400"/>
            </a:xfrm>
            <a:prstGeom prst="rect">
              <a:avLst/>
            </a:prstGeom>
          </p:spPr>
        </p:pic>
        <p:pic>
          <p:nvPicPr>
            <p:cNvPr id="61" name="Graphic 60" descr="Water with solid fill">
              <a:extLst>
                <a:ext uri="{FF2B5EF4-FFF2-40B4-BE49-F238E27FC236}">
                  <a16:creationId xmlns:a16="http://schemas.microsoft.com/office/drawing/2014/main" id="{1087CB5E-DB20-01C4-4413-D6D8B7E205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5858" y="4856682"/>
              <a:ext cx="369333" cy="369333"/>
            </a:xfrm>
            <a:prstGeom prst="rect">
              <a:avLst/>
            </a:prstGeom>
          </p:spPr>
        </p:pic>
        <p:pic>
          <p:nvPicPr>
            <p:cNvPr id="62" name="Graphic 61" descr="Water with solid fill">
              <a:extLst>
                <a:ext uri="{FF2B5EF4-FFF2-40B4-BE49-F238E27FC236}">
                  <a16:creationId xmlns:a16="http://schemas.microsoft.com/office/drawing/2014/main" id="{68D9B86C-096C-F42D-299E-9763B41D2A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5303" y="4868830"/>
              <a:ext cx="369333" cy="369333"/>
            </a:xfrm>
            <a:prstGeom prst="rect">
              <a:avLst/>
            </a:prstGeom>
          </p:spPr>
        </p:pic>
        <p:pic>
          <p:nvPicPr>
            <p:cNvPr id="63" name="Graphic 62" descr="Water with solid fill">
              <a:extLst>
                <a:ext uri="{FF2B5EF4-FFF2-40B4-BE49-F238E27FC236}">
                  <a16:creationId xmlns:a16="http://schemas.microsoft.com/office/drawing/2014/main" id="{5C3BE289-4568-96C3-1380-4C6CAEEA6D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7075" y="4856680"/>
              <a:ext cx="369333" cy="369333"/>
            </a:xfrm>
            <a:prstGeom prst="rect">
              <a:avLst/>
            </a:prstGeom>
          </p:spPr>
        </p:pic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78FCF78F-5AB4-CE60-7BB7-B880EE14570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348562"/>
              <a:ext cx="1163473" cy="0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71" name="Picture 70" descr="A bunch of wheat on a white background&#10;&#10;AI-generated content may be incorrect.">
              <a:extLst>
                <a:ext uri="{FF2B5EF4-FFF2-40B4-BE49-F238E27FC236}">
                  <a16:creationId xmlns:a16="http://schemas.microsoft.com/office/drawing/2014/main" id="{8DF0B6E7-2A5F-BA40-B4F2-364AFEEE1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366985" y="2076407"/>
              <a:ext cx="1330342" cy="2238868"/>
            </a:xfrm>
            <a:prstGeom prst="rect">
              <a:avLst/>
            </a:prstGeom>
          </p:spPr>
        </p:pic>
        <p:pic>
          <p:nvPicPr>
            <p:cNvPr id="75" name="Picture 74" descr="A drawing of a plant&#10;&#10;AI-generated content may be incorrect.">
              <a:extLst>
                <a:ext uri="{FF2B5EF4-FFF2-40B4-BE49-F238E27FC236}">
                  <a16:creationId xmlns:a16="http://schemas.microsoft.com/office/drawing/2014/main" id="{CDCDB317-69A5-3144-612D-442F4458A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319021" y="4812149"/>
              <a:ext cx="1589151" cy="960606"/>
            </a:xfrm>
            <a:prstGeom prst="rect">
              <a:avLst/>
            </a:prstGeom>
          </p:spPr>
        </p:pic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B94CDE0-67F2-6D56-C482-250468B551E6}"/>
              </a:ext>
            </a:extLst>
          </p:cNvPr>
          <p:cNvCxnSpPr>
            <a:cxnSpLocks/>
          </p:cNvCxnSpPr>
          <p:nvPr/>
        </p:nvCxnSpPr>
        <p:spPr>
          <a:xfrm>
            <a:off x="6753657" y="4255528"/>
            <a:ext cx="84176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F8464A-512C-FD40-E283-409140281DBE}"/>
              </a:ext>
            </a:extLst>
          </p:cNvPr>
          <p:cNvCxnSpPr>
            <a:cxnSpLocks/>
          </p:cNvCxnSpPr>
          <p:nvPr/>
        </p:nvCxnSpPr>
        <p:spPr>
          <a:xfrm flipV="1">
            <a:off x="8871990" y="3179562"/>
            <a:ext cx="941738" cy="559108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8044AFA-C456-77DB-F373-0F791E62403C}"/>
              </a:ext>
            </a:extLst>
          </p:cNvPr>
          <p:cNvCxnSpPr>
            <a:cxnSpLocks/>
          </p:cNvCxnSpPr>
          <p:nvPr/>
        </p:nvCxnSpPr>
        <p:spPr>
          <a:xfrm>
            <a:off x="8792015" y="4471753"/>
            <a:ext cx="932645" cy="482548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2CFBE4A-918E-2D6E-E37D-DA70AB6EEFF8}"/>
              </a:ext>
            </a:extLst>
          </p:cNvPr>
          <p:cNvSpPr txBox="1"/>
          <p:nvPr/>
        </p:nvSpPr>
        <p:spPr>
          <a:xfrm>
            <a:off x="9793548" y="5520097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phenotype</a:t>
            </a:r>
          </a:p>
        </p:txBody>
      </p:sp>
      <p:pic>
        <p:nvPicPr>
          <p:cNvPr id="27" name="Picture 26" descr="A blue and white hexagons&#10;&#10;AI-generated content may be incorrect.">
            <a:extLst>
              <a:ext uri="{FF2B5EF4-FFF2-40B4-BE49-F238E27FC236}">
                <a16:creationId xmlns:a16="http://schemas.microsoft.com/office/drawing/2014/main" id="{C2125643-350F-6D8B-3C1A-A0AC8AF23E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6479" y="3571857"/>
            <a:ext cx="1135536" cy="125101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C505D20-6E50-0C1B-BBB7-512C0B974D50}"/>
              </a:ext>
            </a:extLst>
          </p:cNvPr>
          <p:cNvSpPr txBox="1"/>
          <p:nvPr/>
        </p:nvSpPr>
        <p:spPr>
          <a:xfrm>
            <a:off x="7417746" y="3264318"/>
            <a:ext cx="1454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metabolites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68C6A5F-653B-9ABF-AF50-74FB2746F978}"/>
              </a:ext>
            </a:extLst>
          </p:cNvPr>
          <p:cNvCxnSpPr>
            <a:cxnSpLocks/>
          </p:cNvCxnSpPr>
          <p:nvPr/>
        </p:nvCxnSpPr>
        <p:spPr>
          <a:xfrm>
            <a:off x="330200" y="5967729"/>
            <a:ext cx="1060146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259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5D85E6E-6512-D427-CBC3-3598F01E6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Day 1: Basics of metabolic modelling </a:t>
            </a:r>
            <a:br>
              <a:rPr lang="en-US"/>
            </a:br>
            <a:r>
              <a:rPr lang="en-US"/>
              <a:t>Tue 27</a:t>
            </a:r>
            <a:r>
              <a:rPr lang="en-US" baseline="30000"/>
              <a:t>th</a:t>
            </a:r>
            <a:r>
              <a:rPr lang="en-US"/>
              <a:t> October: online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72EA57-CD20-BB0E-24A1-371AD22C40EA}"/>
              </a:ext>
            </a:extLst>
          </p:cNvPr>
          <p:cNvSpPr txBox="1"/>
          <p:nvPr/>
        </p:nvSpPr>
        <p:spPr>
          <a:xfrm>
            <a:off x="1215073" y="1560060"/>
            <a:ext cx="10264348" cy="1277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Explain the genome </a:t>
            </a:r>
            <a:r>
              <a:rPr lang="en-GB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→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transcriptome </a:t>
            </a:r>
            <a:r>
              <a:rPr lang="en-GB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→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metabolome relationship and explore ‘</a:t>
            </a:r>
            <a:r>
              <a:rPr lang="en-GB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omic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databases </a:t>
            </a:r>
          </a:p>
          <a:p>
            <a:pPr marL="342900" lvl="0" indent="-3429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Describe what a </a:t>
            </a:r>
            <a:r>
              <a:rPr lang="en-GB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GSMM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contains and download one as SBML from </a:t>
            </a:r>
            <a:r>
              <a:rPr lang="en-GB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BiGG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</a:p>
          <a:p>
            <a:pPr marL="342900" lvl="0" indent="-3429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ea typeface="Arial" panose="020B0604020202020204" pitchFamily="34" charset="0"/>
              </a:rPr>
              <a:t>Simulate a </a:t>
            </a:r>
            <a:r>
              <a:rPr lang="en-GB" b="1" dirty="0">
                <a:latin typeface="Arial" panose="020B0604020202020204" pitchFamily="34" charset="0"/>
                <a:ea typeface="Arial" panose="020B0604020202020204" pitchFamily="34" charset="0"/>
              </a:rPr>
              <a:t>GSMM</a:t>
            </a:r>
            <a:r>
              <a:rPr lang="en-GB" dirty="0">
                <a:latin typeface="Arial" panose="020B0604020202020204" pitchFamily="34" charset="0"/>
                <a:ea typeface="Arial" panose="020B0604020202020204" pitchFamily="34" charset="0"/>
              </a:rPr>
              <a:t> using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GB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FBA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 </a:t>
            </a:r>
            <a:r>
              <a:rPr lang="en-GB" sz="18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COBRApy</a:t>
            </a:r>
            <a:endParaRPr lang="en-GB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Interpret an FBA solution and visualise fluxes on an Escher map</a:t>
            </a:r>
            <a:r>
              <a:rPr lang="en-GB" dirty="0">
                <a:effectLst/>
              </a:rPr>
              <a:t> </a:t>
            </a: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7441C0D-74EE-7A17-A3DA-26A3C9733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306741"/>
              </p:ext>
            </p:extLst>
          </p:nvPr>
        </p:nvGraphicFramePr>
        <p:xfrm>
          <a:off x="457200" y="2837333"/>
          <a:ext cx="11429999" cy="3935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49078">
                  <a:extLst>
                    <a:ext uri="{9D8B030D-6E8A-4147-A177-3AD203B41FA5}">
                      <a16:colId xmlns:a16="http://schemas.microsoft.com/office/drawing/2014/main" val="1131472928"/>
                    </a:ext>
                  </a:extLst>
                </a:gridCol>
                <a:gridCol w="7791569">
                  <a:extLst>
                    <a:ext uri="{9D8B030D-6E8A-4147-A177-3AD203B41FA5}">
                      <a16:colId xmlns:a16="http://schemas.microsoft.com/office/drawing/2014/main" val="3651053895"/>
                    </a:ext>
                  </a:extLst>
                </a:gridCol>
                <a:gridCol w="2089352">
                  <a:extLst>
                    <a:ext uri="{9D8B030D-6E8A-4147-A177-3AD203B41FA5}">
                      <a16:colId xmlns:a16="http://schemas.microsoft.com/office/drawing/2014/main" val="1177949710"/>
                    </a:ext>
                  </a:extLst>
                </a:gridCol>
              </a:tblGrid>
              <a:tr h="281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Time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Session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Lead / format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3922204748"/>
                  </a:ext>
                </a:extLst>
              </a:tr>
              <a:tr h="468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</a:rPr>
                        <a:t>09:30–10:00</a:t>
                      </a:r>
                      <a:endParaRPr lang="en-GB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</a:rPr>
                        <a:t>Welcome,  the environment–phenotype problem</a:t>
                      </a:r>
                      <a:endParaRPr lang="en-GB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</a:rPr>
                        <a:t>Stephen — talk</a:t>
                      </a:r>
                      <a:endParaRPr lang="en-GB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2578122068"/>
                  </a:ext>
                </a:extLst>
              </a:tr>
              <a:tr h="468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10:00–11:00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</a:rPr>
                        <a:t>Lecture 1: Intro to systems biology; omics data</a:t>
                      </a:r>
                      <a:endParaRPr lang="en-GB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Stephen — lecture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1321123939"/>
                  </a:ext>
                </a:extLst>
              </a:tr>
              <a:tr h="468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11:00–12:00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</a:rPr>
                        <a:t>Lecture 2: What is a GSMM?</a:t>
                      </a:r>
                      <a:endParaRPr lang="en-GB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</a:rPr>
                        <a:t>Stephen — lecture + live demo 2_1.ipynb</a:t>
                      </a:r>
                      <a:endParaRPr lang="en-GB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3370049540"/>
                  </a:ext>
                </a:extLst>
              </a:tr>
              <a:tr h="281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12:00–13:00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Lunch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—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1638888332"/>
                  </a:ext>
                </a:extLst>
              </a:tr>
              <a:tr h="655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13:00–14:15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Lecture 3: Flux Balance Analysis — constraints, objective, linear programming; intro to FVA; limitations &amp; applications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</a:rPr>
                        <a:t>Stephen — lecture</a:t>
                      </a:r>
                      <a:endParaRPr lang="en-GB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2305468680"/>
                  </a:ext>
                </a:extLst>
              </a:tr>
              <a:tr h="468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14:15–15:45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</a:rPr>
                        <a:t>Hands-on: load an E. coli model, set the medium, run FBA, read the summary, visualise with Escher</a:t>
                      </a:r>
                      <a:endParaRPr lang="en-GB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</a:rPr>
                        <a:t>Stephen — Guided notebook 3_1.ipynb</a:t>
                      </a:r>
                      <a:endParaRPr lang="en-GB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681573798"/>
                  </a:ext>
                </a:extLst>
              </a:tr>
              <a:tr h="281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15:45–16:00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Wrap-up &amp; bridge to Day 2 (where do models come from?)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Stephen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2135099669"/>
                  </a:ext>
                </a:extLst>
              </a:tr>
              <a:tr h="468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16:00–17:00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Drop-in clinic — install Tier 1 (cobrapy + Escher + Jupyter) on own laptops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</a:rPr>
                        <a:t>All facilitators</a:t>
                      </a:r>
                      <a:endParaRPr lang="en-GB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3503901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5707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323D2-33BD-32B3-6BD3-1382A788B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F74A725-0ABB-1154-136B-137973C8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2: Metabolic Model Reconstruction</a:t>
            </a:r>
            <a:br>
              <a:rPr lang="en-US" dirty="0"/>
            </a:br>
            <a:r>
              <a:rPr lang="en-US" dirty="0"/>
              <a:t>Wed 28</a:t>
            </a:r>
            <a:r>
              <a:rPr lang="en-US" baseline="30000" dirty="0"/>
              <a:t>th</a:t>
            </a:r>
            <a:r>
              <a:rPr lang="en-US" dirty="0"/>
              <a:t> October: online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4C5F8F-1FE9-3AE2-5A87-9822DB853349}"/>
              </a:ext>
            </a:extLst>
          </p:cNvPr>
          <p:cNvSpPr txBox="1"/>
          <p:nvPr/>
        </p:nvSpPr>
        <p:spPr>
          <a:xfrm>
            <a:off x="1159328" y="1821180"/>
            <a:ext cx="10515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rtl="0" fontAlgn="base">
              <a:buFont typeface="Arial" panose="020B0604020202020204" pitchFamily="34" charset="0"/>
              <a:buChar char="•"/>
            </a:pPr>
            <a:r>
              <a:rPr lang="en-GB" sz="18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Build a small model from scratch in </a:t>
            </a:r>
            <a:r>
              <a:rPr lang="en-GB" sz="1800" b="1" i="0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cobrapy</a:t>
            </a:r>
            <a:r>
              <a:rPr lang="en-GB" sz="18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(metabolites, reactions, bounds, GPRs, objective) and save it as SBML. </a:t>
            </a:r>
          </a:p>
          <a:p>
            <a:pPr marL="285750" marR="0" lvl="0" indent="-285750" algn="l" rtl="0" fontAlgn="base">
              <a:buFont typeface="Arial" panose="020B0604020202020204" pitchFamily="34" charset="0"/>
              <a:buChar char="•"/>
            </a:pPr>
            <a:r>
              <a:rPr lang="en-GB" sz="18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Explain the stages of a modern reconstruction pipeline </a:t>
            </a:r>
            <a:r>
              <a:rPr lang="en-GB" sz="18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(genome → annotation → draft network → gap-filling → curation). </a:t>
            </a:r>
          </a:p>
          <a:p>
            <a:pPr marL="285750" marR="0" lvl="0" indent="-285750" algn="l" rtl="0" fontAlgn="base">
              <a:buFont typeface="Arial" panose="020B0604020202020204" pitchFamily="34" charset="0"/>
              <a:buChar char="•"/>
            </a:pPr>
            <a:r>
              <a:rPr lang="en-GB" sz="18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Build Models with </a:t>
            </a:r>
            <a:r>
              <a:rPr lang="en-GB" sz="1800" b="1" i="0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ModelSEED</a:t>
            </a:r>
            <a:r>
              <a:rPr lang="en-GB" sz="18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compare them with curated ones 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07A7562-73BD-3B50-BD38-A37A0204B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105753"/>
              </p:ext>
            </p:extLst>
          </p:nvPr>
        </p:nvGraphicFramePr>
        <p:xfrm>
          <a:off x="666307" y="3429000"/>
          <a:ext cx="11008621" cy="3352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9429">
                  <a:extLst>
                    <a:ext uri="{9D8B030D-6E8A-4147-A177-3AD203B41FA5}">
                      <a16:colId xmlns:a16="http://schemas.microsoft.com/office/drawing/2014/main" val="2709801842"/>
                    </a:ext>
                  </a:extLst>
                </a:gridCol>
                <a:gridCol w="6186469">
                  <a:extLst>
                    <a:ext uri="{9D8B030D-6E8A-4147-A177-3AD203B41FA5}">
                      <a16:colId xmlns:a16="http://schemas.microsoft.com/office/drawing/2014/main" val="3149787200"/>
                    </a:ext>
                  </a:extLst>
                </a:gridCol>
                <a:gridCol w="2822723">
                  <a:extLst>
                    <a:ext uri="{9D8B030D-6E8A-4147-A177-3AD203B41FA5}">
                      <a16:colId xmlns:a16="http://schemas.microsoft.com/office/drawing/2014/main" val="10218071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effectLst/>
                        </a:rPr>
                        <a:t>Time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>
                          <a:effectLst/>
                        </a:rPr>
                        <a:t>Session</a:t>
                      </a:r>
                      <a:endParaRPr lang="en-GB" sz="15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effectLst/>
                        </a:rPr>
                        <a:t>Lead / format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3276382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effectLst/>
                        </a:rPr>
                        <a:t>09:30–09:45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effectLst/>
                        </a:rPr>
                        <a:t>Recap of Day 1; the reconstruction problem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effectLst/>
                        </a:rPr>
                        <a:t>Francesco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769515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>
                          <a:effectLst/>
                        </a:rPr>
                        <a:t>09:45–12:00</a:t>
                      </a:r>
                      <a:endParaRPr lang="en-GB" sz="15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>
                          <a:effectLst/>
                        </a:rPr>
                        <a:t>Hands-on: build the toy model from scratch in </a:t>
                      </a:r>
                      <a:r>
                        <a:rPr lang="en-GB" sz="1500" dirty="0" err="1">
                          <a:effectLst/>
                        </a:rPr>
                        <a:t>COBRApy</a:t>
                      </a:r>
                      <a:r>
                        <a:rPr lang="en-GB" sz="1500" dirty="0">
                          <a:effectLst/>
                        </a:rPr>
                        <a:t>; add GPRs; save SBML; run FBA &amp; Escher</a:t>
                      </a:r>
                      <a:endParaRPr lang="en-GB" sz="15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effectLst/>
                        </a:rPr>
                        <a:t>Notebook (Day 2 part A)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191808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effectLst/>
                        </a:rPr>
                        <a:t>12:00–13:00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effectLst/>
                        </a:rPr>
                        <a:t>Lunch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>
                          <a:effectLst/>
                        </a:rPr>
                        <a:t>—</a:t>
                      </a:r>
                      <a:endParaRPr lang="en-GB" sz="15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1147957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>
                          <a:effectLst/>
                        </a:rPr>
                        <a:t>13:00–14:00</a:t>
                      </a:r>
                      <a:endParaRPr lang="en-GB" sz="15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>
                          <a:effectLst/>
                        </a:rPr>
                        <a:t>Reconstruction pipelines – annotation, draft networks, gap-filling, curation; manual vs automated; tool landscape(</a:t>
                      </a:r>
                      <a:r>
                        <a:rPr lang="en-GB" sz="1500" dirty="0" err="1">
                          <a:effectLst/>
                        </a:rPr>
                        <a:t>CarveMe</a:t>
                      </a:r>
                      <a:r>
                        <a:rPr lang="en-GB" sz="1500" dirty="0">
                          <a:effectLst/>
                        </a:rPr>
                        <a:t>, </a:t>
                      </a:r>
                      <a:r>
                        <a:rPr lang="en-GB" sz="1500" dirty="0" err="1">
                          <a:effectLst/>
                        </a:rPr>
                        <a:t>modelSEED</a:t>
                      </a:r>
                      <a:r>
                        <a:rPr lang="en-GB" sz="1500" dirty="0">
                          <a:effectLst/>
                        </a:rPr>
                        <a:t>,, </a:t>
                      </a:r>
                      <a:r>
                        <a:rPr lang="en-GB" sz="1500" dirty="0" err="1">
                          <a:effectLst/>
                        </a:rPr>
                        <a:t>gapseq</a:t>
                      </a:r>
                      <a:r>
                        <a:rPr lang="en-GB" sz="1500" dirty="0">
                          <a:effectLst/>
                        </a:rPr>
                        <a:t>, KBASE)</a:t>
                      </a:r>
                      <a:endParaRPr lang="en-GB" sz="15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>
                          <a:effectLst/>
                        </a:rPr>
                        <a:t>Francesco — Lecture</a:t>
                      </a:r>
                      <a:endParaRPr lang="en-GB" sz="15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1957903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>
                          <a:effectLst/>
                        </a:rPr>
                        <a:t>14:00–15:30</a:t>
                      </a:r>
                      <a:endParaRPr lang="en-GB" sz="15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>
                          <a:effectLst/>
                        </a:rPr>
                        <a:t>Hands-on : </a:t>
                      </a:r>
                      <a:r>
                        <a:rPr lang="en-GB" sz="1500" dirty="0" err="1">
                          <a:effectLst/>
                        </a:rPr>
                        <a:t>modelSEED</a:t>
                      </a:r>
                      <a:r>
                        <a:rPr lang="en-GB" sz="1500" dirty="0">
                          <a:effectLst/>
                        </a:rPr>
                        <a:t> based reconstruction</a:t>
                      </a:r>
                      <a:endParaRPr lang="en-GB" sz="15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effectLst/>
                        </a:rPr>
                        <a:t>Notebook (Day 2 part B)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2626805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effectLst/>
                        </a:rPr>
                        <a:t>15:30–16:00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>
                          <a:effectLst/>
                        </a:rPr>
                        <a:t>Discussion: how far to trust an automated reconstruction; quality metrics (MEMOTE)</a:t>
                      </a:r>
                      <a:endParaRPr lang="en-GB" sz="15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>
                          <a:effectLst/>
                        </a:rPr>
                        <a:t>Francesco — discussion</a:t>
                      </a:r>
                      <a:endParaRPr lang="en-GB" sz="15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1138239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effectLst/>
                        </a:rPr>
                        <a:t>16:00–17:00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>
                          <a:effectLst/>
                        </a:rPr>
                        <a:t>Drop-in clinic</a:t>
                      </a:r>
                      <a:endParaRPr lang="en-GB" sz="15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>
                          <a:effectLst/>
                        </a:rPr>
                        <a:t>All facilitators</a:t>
                      </a:r>
                      <a:endParaRPr lang="en-GB" sz="15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801479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7549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523C8-669D-C430-9A4A-7894E8B6A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73B515C-B852-2FE5-B815-D905E1B8F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/>
              <a:t>Day 3: Data Integration and </a:t>
            </a:r>
            <a:r>
              <a:rPr lang="en-GB" dirty="0"/>
              <a:t>Advanced analysis</a:t>
            </a:r>
            <a:br>
              <a:rPr lang="en-GB" dirty="0"/>
            </a:br>
            <a:r>
              <a:rPr lang="en-GB" dirty="0"/>
              <a:t>Thursday 29</a:t>
            </a:r>
            <a:r>
              <a:rPr lang="en-GB" baseline="30000" dirty="0"/>
              <a:t>th</a:t>
            </a:r>
            <a:r>
              <a:rPr lang="en-GB" dirty="0"/>
              <a:t> October: Liverpool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3A1DA8-7E47-AEA9-86EC-35BCEC8ADD09}"/>
              </a:ext>
            </a:extLst>
          </p:cNvPr>
          <p:cNvSpPr txBox="1"/>
          <p:nvPr/>
        </p:nvSpPr>
        <p:spPr>
          <a:xfrm>
            <a:off x="249366" y="1688641"/>
            <a:ext cx="96431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Run </a:t>
            </a:r>
            <a:r>
              <a:rPr lang="en-GB" b="1" dirty="0" err="1"/>
              <a:t>pFBA</a:t>
            </a:r>
            <a:r>
              <a:rPr lang="en-GB" b="1" dirty="0"/>
              <a:t> and FVA </a:t>
            </a:r>
            <a:r>
              <a:rPr lang="en-GB" dirty="0"/>
              <a:t>on a genome-scale model and interpret the difference from plain </a:t>
            </a:r>
            <a:r>
              <a:rPr lang="en-GB" b="1" dirty="0"/>
              <a:t>FBA</a:t>
            </a:r>
            <a:r>
              <a:rPr lang="en-GB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Identify essential genes/reactions and use knockouts to redirect flux toward a target product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Understand how various </a:t>
            </a:r>
            <a:r>
              <a:rPr lang="en-GB" b="1" dirty="0"/>
              <a:t>omics-integration algorithms </a:t>
            </a:r>
            <a:r>
              <a:rPr lang="en-GB" dirty="0"/>
              <a:t>constrain a GSMM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Assessment: Show us what you know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58BE240-93C9-D76D-4D95-0BD056CF2B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4645819"/>
              </p:ext>
            </p:extLst>
          </p:nvPr>
        </p:nvGraphicFramePr>
        <p:xfrm>
          <a:off x="838200" y="2888970"/>
          <a:ext cx="10844906" cy="38797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0247">
                  <a:extLst>
                    <a:ext uri="{9D8B030D-6E8A-4147-A177-3AD203B41FA5}">
                      <a16:colId xmlns:a16="http://schemas.microsoft.com/office/drawing/2014/main" val="3800490816"/>
                    </a:ext>
                  </a:extLst>
                </a:gridCol>
                <a:gridCol w="5951741">
                  <a:extLst>
                    <a:ext uri="{9D8B030D-6E8A-4147-A177-3AD203B41FA5}">
                      <a16:colId xmlns:a16="http://schemas.microsoft.com/office/drawing/2014/main" val="517889639"/>
                    </a:ext>
                  </a:extLst>
                </a:gridCol>
                <a:gridCol w="3412918">
                  <a:extLst>
                    <a:ext uri="{9D8B030D-6E8A-4147-A177-3AD203B41FA5}">
                      <a16:colId xmlns:a16="http://schemas.microsoft.com/office/drawing/2014/main" val="658461634"/>
                    </a:ext>
                  </a:extLst>
                </a:gridCol>
              </a:tblGrid>
              <a:tr h="344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Time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Session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effectLst/>
                        </a:rPr>
                        <a:t>Lead / format</a:t>
                      </a:r>
                      <a:endParaRPr lang="en-GB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3134237652"/>
                  </a:ext>
                </a:extLst>
              </a:tr>
              <a:tr h="145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effectLst/>
                        </a:rPr>
                        <a:t>09:30–09:45</a:t>
                      </a:r>
                      <a:endParaRPr lang="en-GB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effectLst/>
                        </a:rPr>
                        <a:t>Recap; from single-model analysis to design and communities</a:t>
                      </a:r>
                      <a:endParaRPr lang="en-GB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Francesco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4135868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09:45–11:00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Hands-on: analysing real models — </a:t>
                      </a:r>
                      <a:r>
                        <a:rPr lang="en-GB" sz="1600" dirty="0" err="1">
                          <a:effectLst/>
                        </a:rPr>
                        <a:t>pFBA</a:t>
                      </a:r>
                      <a:r>
                        <a:rPr lang="en-GB" sz="1600">
                          <a:effectLst/>
                        </a:rPr>
                        <a:t>, FVA</a:t>
                      </a:r>
                      <a:r>
                        <a:rPr lang="en-GB" sz="1600" dirty="0">
                          <a:effectLst/>
                        </a:rPr>
                        <a:t>, robustness; aerobic vs anaerobic media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Francesco / Stephen — Guided notebook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1964547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effectLst/>
                        </a:rPr>
                        <a:t>11:00–12:00</a:t>
                      </a:r>
                      <a:endParaRPr lang="en-GB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Hands-on: gene/reaction essentiality; strain optimisation — knockouts to boost ethanol/acetate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Francesco / Stephen — Guided notebook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3423078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effectLst/>
                        </a:rPr>
                        <a:t>12:00–13:00</a:t>
                      </a:r>
                      <a:endParaRPr lang="en-GB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effectLst/>
                        </a:rPr>
                        <a:t>Lunch</a:t>
                      </a:r>
                      <a:endParaRPr lang="en-GB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—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1441005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effectLst/>
                        </a:rPr>
                        <a:t>13:00–14:00</a:t>
                      </a:r>
                      <a:endParaRPr lang="en-GB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Omics integration: GPRs to reaction scores; constraint- vs objective-based methods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effectLst/>
                        </a:rPr>
                        <a:t>Stephen— lecture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2073459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14:00–15:30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Assessment:  Show us what you know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Francesco / Stephen —  Notebook </a:t>
                      </a:r>
                      <a:r>
                        <a:rPr lang="en-GB" sz="1600">
                          <a:effectLst/>
                        </a:rPr>
                        <a:t>assessment</a:t>
                      </a:r>
                      <a:r>
                        <a:rPr lang="en-GB" sz="1600" dirty="0" err="1">
                          <a:effectLst/>
                        </a:rPr>
                        <a:t>.ipynb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3475777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effectLst/>
                        </a:rPr>
                        <a:t>15:30–16:00</a:t>
                      </a:r>
                      <a:endParaRPr lang="en-GB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effectLst/>
                        </a:rPr>
                        <a:t>Wrap-up: where to go next; resources; feedback</a:t>
                      </a:r>
                      <a:endParaRPr lang="en-GB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effectLst/>
                        </a:rPr>
                        <a:t>Francesco/Stephen</a:t>
                      </a:r>
                      <a:endParaRPr lang="en-GB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3817710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effectLst/>
                        </a:rPr>
                        <a:t>16:00–17:00</a:t>
                      </a:r>
                      <a:endParaRPr lang="en-GB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Drop-in clinic 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</a:rPr>
                        <a:t>All facilitators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1688357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004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7DE18-63B8-ECDD-734D-87CD083BE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Day 3: Data Integration and </a:t>
            </a:r>
            <a:r>
              <a:rPr lang="en-GB" dirty="0"/>
              <a:t>Advanced analysis</a:t>
            </a:r>
            <a:br>
              <a:rPr lang="en-GB" dirty="0"/>
            </a:br>
            <a:r>
              <a:rPr lang="en-GB" dirty="0"/>
              <a:t>Thursday 29</a:t>
            </a:r>
            <a:r>
              <a:rPr lang="en-GB" baseline="30000" dirty="0"/>
              <a:t>th</a:t>
            </a:r>
            <a:r>
              <a:rPr lang="en-GB" dirty="0"/>
              <a:t> October: Liverpool</a:t>
            </a:r>
            <a:br>
              <a:rPr lang="en-GB" sz="5400" dirty="0"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25A6E-5947-7B4E-17A6-A9AC09590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MerseyBIO</a:t>
            </a:r>
            <a:r>
              <a:rPr lang="en-US" dirty="0"/>
              <a:t> (Crown street, L69 7ZB)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32C284-DBAB-D3BB-F353-F02D2E9F1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30" y="2468876"/>
            <a:ext cx="10963940" cy="402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482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Arrow 3">
            <a:extLst>
              <a:ext uri="{FF2B5EF4-FFF2-40B4-BE49-F238E27FC236}">
                <a16:creationId xmlns:a16="http://schemas.microsoft.com/office/drawing/2014/main" id="{04FC226E-386F-2B18-237F-B497000E190C}"/>
              </a:ext>
            </a:extLst>
          </p:cNvPr>
          <p:cNvSpPr/>
          <p:nvPr/>
        </p:nvSpPr>
        <p:spPr>
          <a:xfrm>
            <a:off x="204537" y="1309634"/>
            <a:ext cx="11851105" cy="952303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1557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9C0890-2C8B-9A5C-8DF8-0CD47005E591}"/>
              </a:ext>
            </a:extLst>
          </p:cNvPr>
          <p:cNvSpPr txBox="1"/>
          <p:nvPr/>
        </p:nvSpPr>
        <p:spPr>
          <a:xfrm>
            <a:off x="136358" y="193737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2011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AF1E60-BC41-1702-859D-92E91E418F55}"/>
              </a:ext>
            </a:extLst>
          </p:cNvPr>
          <p:cNvSpPr txBox="1"/>
          <p:nvPr/>
        </p:nvSpPr>
        <p:spPr>
          <a:xfrm>
            <a:off x="2786255" y="1941276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2015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F1A3A1-767B-6050-D2DC-61C8C92E4B91}"/>
              </a:ext>
            </a:extLst>
          </p:cNvPr>
          <p:cNvSpPr txBox="1"/>
          <p:nvPr/>
        </p:nvSpPr>
        <p:spPr>
          <a:xfrm>
            <a:off x="6285959" y="1941276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2019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DABF7C-66BB-1235-1809-2FA3544A2BEA}"/>
              </a:ext>
            </a:extLst>
          </p:cNvPr>
          <p:cNvSpPr txBox="1"/>
          <p:nvPr/>
        </p:nvSpPr>
        <p:spPr>
          <a:xfrm>
            <a:off x="8875533" y="1941276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2024</a:t>
            </a:r>
          </a:p>
        </p:txBody>
      </p:sp>
      <p:pic>
        <p:nvPicPr>
          <p:cNvPr id="11" name="Picture 10" descr="A purple and yellow logo&#10;&#10;Description automatically generated">
            <a:extLst>
              <a:ext uri="{FF2B5EF4-FFF2-40B4-BE49-F238E27FC236}">
                <a16:creationId xmlns:a16="http://schemas.microsoft.com/office/drawing/2014/main" id="{8092855E-42B3-41C7-4E6A-2C5D229C7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3" y="2338607"/>
            <a:ext cx="2635709" cy="11151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321449-AF18-988A-27D8-0F2B157E4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562" y="2344350"/>
            <a:ext cx="3573262" cy="876670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063A1E2-CA31-716F-A637-EF241FAF5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959" y="2433490"/>
            <a:ext cx="2589574" cy="92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e University of Liverpool – Prestige-AF">
            <a:extLst>
              <a:ext uri="{FF2B5EF4-FFF2-40B4-BE49-F238E27FC236}">
                <a16:creationId xmlns:a16="http://schemas.microsoft.com/office/drawing/2014/main" id="{B2ABF3D8-1DFE-97ED-C35D-D28C338F1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1826" y="2487382"/>
            <a:ext cx="3219575" cy="817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1A875B1-846B-12EB-401C-320B3F641511}"/>
              </a:ext>
            </a:extLst>
          </p:cNvPr>
          <p:cNvSpPr txBox="1"/>
          <p:nvPr/>
        </p:nvSpPr>
        <p:spPr>
          <a:xfrm>
            <a:off x="136358" y="3717759"/>
            <a:ext cx="26498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PhD Systems Biology: modelled photosynthesis using FBA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0329FC-E4BC-D634-D4B8-C781DD17A545}"/>
              </a:ext>
            </a:extLst>
          </p:cNvPr>
          <p:cNvSpPr txBox="1"/>
          <p:nvPr/>
        </p:nvSpPr>
        <p:spPr>
          <a:xfrm>
            <a:off x="2922667" y="3717759"/>
            <a:ext cx="3173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Postdoc1: Modelled DHA production using FBA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B0F8AC-A266-26EF-4702-18DDBD54C7C1}"/>
              </a:ext>
            </a:extLst>
          </p:cNvPr>
          <p:cNvSpPr txBox="1"/>
          <p:nvPr/>
        </p:nvSpPr>
        <p:spPr>
          <a:xfrm>
            <a:off x="6285959" y="3717758"/>
            <a:ext cx="317333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Postdoc 2:</a:t>
            </a:r>
          </a:p>
          <a:p>
            <a:r>
              <a:rPr lang="en-US" b="1" dirty="0"/>
              <a:t>Modelled human cell signaling using logical modelling</a:t>
            </a:r>
          </a:p>
          <a:p>
            <a:endParaRPr lang="en-US" b="1" dirty="0"/>
          </a:p>
          <a:p>
            <a:r>
              <a:rPr lang="en-US" b="1" dirty="0"/>
              <a:t>Postdoc 3: </a:t>
            </a:r>
          </a:p>
          <a:p>
            <a:r>
              <a:rPr lang="en-US" b="1" dirty="0"/>
              <a:t>Modelled human and mouse mitochondrial metabolism using FBA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17E138-F7D3-3A73-7DBE-5402C5818B9F}"/>
              </a:ext>
            </a:extLst>
          </p:cNvPr>
          <p:cNvSpPr txBox="1"/>
          <p:nvPr/>
        </p:nvSpPr>
        <p:spPr>
          <a:xfrm>
            <a:off x="9201904" y="3744462"/>
            <a:ext cx="31733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Lecturer: Computational Biology and statistics</a:t>
            </a:r>
          </a:p>
          <a:p>
            <a:pPr lvl="1"/>
            <a:r>
              <a:rPr lang="en-US" dirty="0"/>
              <a:t>Modelling Liver cancer</a:t>
            </a:r>
          </a:p>
          <a:p>
            <a:pPr lvl="1"/>
            <a:r>
              <a:rPr lang="en-US" dirty="0"/>
              <a:t>Modelling Brain cancer</a:t>
            </a:r>
          </a:p>
          <a:p>
            <a:pPr lvl="1"/>
            <a:r>
              <a:rPr lang="en-US" dirty="0"/>
              <a:t>Modelling Rice met.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C9549EC-C681-608F-187C-E329C6EEB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little bit about me</a:t>
            </a:r>
          </a:p>
        </p:txBody>
      </p:sp>
    </p:spTree>
    <p:extLst>
      <p:ext uri="{BB962C8B-B14F-4D97-AF65-F5344CB8AC3E}">
        <p14:creationId xmlns:p14="http://schemas.microsoft.com/office/powerpoint/2010/main" val="2178189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85295-A5F4-F10D-EFC5-9E6829D2B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Lecture 1:	Systems Biology: 10-11am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249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3255131-b129-4010-86e1-474bfd7e8076}" enabled="0" method="" siteId="{53255131-b129-4010-86e1-474bfd7e807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1762</TotalTime>
  <Words>777</Words>
  <Application>Microsoft Macintosh PowerPoint</Application>
  <PresentationFormat>Widescreen</PresentationFormat>
  <Paragraphs>135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CODE-M Genome Scale Metabolic Modelling</vt:lpstr>
      <vt:lpstr>Genome Scale Metabolic modelling</vt:lpstr>
      <vt:lpstr>Genome scale metabolic modelling predicts metabolic fluxes through a metabolic network </vt:lpstr>
      <vt:lpstr>Genome Scale Metabolic Models Explain how Changes in the Environment Lead to Changes in the Phenotype</vt:lpstr>
      <vt:lpstr>Day 1: Basics of metabolic modelling  Tue 27th October: online</vt:lpstr>
      <vt:lpstr>Day 2: Metabolic Model Reconstruction Wed 28th October: online</vt:lpstr>
      <vt:lpstr>Day 3: Data Integration and Advanced analysis Thursday 29th October: Liverpool</vt:lpstr>
      <vt:lpstr>Day 3: Data Integration and Advanced analysis Thursday 29th October: Liverpool </vt:lpstr>
      <vt:lpstr>A little bit about me</vt:lpstr>
      <vt:lpstr>Lecture 1: Systems Biology: 10-11am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Chapman, Stephen</dc:creator>
  <cp:lastModifiedBy>Chapman, Stephen</cp:lastModifiedBy>
  <cp:revision>1</cp:revision>
  <dcterms:created xsi:type="dcterms:W3CDTF">2026-10-10T20:20:00Z</dcterms:created>
  <dcterms:modified xsi:type="dcterms:W3CDTF">2026-10-13T20:07:16Z</dcterms:modified>
</cp:coreProperties>
</file>