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64" r:id="rId2"/>
    <p:sldId id="257" r:id="rId3"/>
    <p:sldId id="652" r:id="rId4"/>
    <p:sldId id="258" r:id="rId5"/>
    <p:sldId id="654" r:id="rId6"/>
    <p:sldId id="579" r:id="rId7"/>
    <p:sldId id="634" r:id="rId8"/>
    <p:sldId id="625" r:id="rId9"/>
    <p:sldId id="656" r:id="rId10"/>
    <p:sldId id="663" r:id="rId11"/>
    <p:sldId id="658" r:id="rId12"/>
    <p:sldId id="438" r:id="rId13"/>
    <p:sldId id="362" r:id="rId14"/>
    <p:sldId id="664" r:id="rId15"/>
    <p:sldId id="660" r:id="rId16"/>
    <p:sldId id="661" r:id="rId17"/>
    <p:sldId id="639" r:id="rId18"/>
    <p:sldId id="681" r:id="rId19"/>
    <p:sldId id="678" r:id="rId20"/>
    <p:sldId id="6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D77"/>
    <a:srgbClr val="FFC3D2"/>
    <a:srgbClr val="FEFFFA"/>
    <a:srgbClr val="598ED7"/>
    <a:srgbClr val="FFFEFF"/>
    <a:srgbClr val="6CABDB"/>
    <a:srgbClr val="D1F0FB"/>
    <a:srgbClr val="F5BF7B"/>
    <a:srgbClr val="F47A4D"/>
    <a:srgbClr val="F38D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4065C4-103D-454A-941A-78D4D249D86B}" v="33" dt="2026-10-12T10:21:03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783"/>
    <p:restoredTop sz="94151"/>
  </p:normalViewPr>
  <p:slideViewPr>
    <p:cSldViewPr snapToGrid="0">
      <p:cViewPr varScale="1">
        <p:scale>
          <a:sx n="62" d="100"/>
          <a:sy n="62" d="100"/>
        </p:scale>
        <p:origin x="1680" y="1320"/>
      </p:cViewPr>
      <p:guideLst/>
    </p:cSldViewPr>
  </p:slideViewPr>
  <p:outlineViewPr>
    <p:cViewPr>
      <p:scale>
        <a:sx n="33" d="100"/>
        <a:sy n="33" d="100"/>
      </p:scale>
      <p:origin x="0" y="-16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409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pman, Stephen" userId="31a87834-901a-4691-a691-bf491053d09a" providerId="ADAL" clId="{07072C4A-42DD-5720-86A8-E3A7D67E6347}"/>
    <pc:docChg chg="undo custSel addSld delSld modSld sldOrd">
      <pc:chgData name="Chapman, Stephen" userId="31a87834-901a-4691-a691-bf491053d09a" providerId="ADAL" clId="{07072C4A-42DD-5720-86A8-E3A7D67E6347}" dt="2026-10-12T10:21:05.144" v="8848" actId="2696"/>
      <pc:docMkLst>
        <pc:docMk/>
      </pc:docMkLst>
      <pc:sldChg chg="addSp delSp modSp mod">
        <pc:chgData name="Chapman, Stephen" userId="31a87834-901a-4691-a691-bf491053d09a" providerId="ADAL" clId="{07072C4A-42DD-5720-86A8-E3A7D67E6347}" dt="2026-10-12T09:52:17.263" v="7987" actId="1076"/>
        <pc:sldMkLst>
          <pc:docMk/>
          <pc:sldMk cId="3099192246" sldId="257"/>
        </pc:sldMkLst>
        <pc:spChg chg="del">
          <ac:chgData name="Chapman, Stephen" userId="31a87834-901a-4691-a691-bf491053d09a" providerId="ADAL" clId="{07072C4A-42DD-5720-86A8-E3A7D67E6347}" dt="2026-10-12T09:49:19.440" v="7975" actId="478"/>
          <ac:spMkLst>
            <pc:docMk/>
            <pc:sldMk cId="3099192246" sldId="257"/>
            <ac:spMk id="2" creationId="{761A5680-9E3B-A504-ED89-8A1C44B3E8F5}"/>
          </ac:spMkLst>
        </pc:spChg>
        <pc:spChg chg="add del mod">
          <ac:chgData name="Chapman, Stephen" userId="31a87834-901a-4691-a691-bf491053d09a" providerId="ADAL" clId="{07072C4A-42DD-5720-86A8-E3A7D67E6347}" dt="2026-10-12T09:49:39.834" v="7977" actId="478"/>
          <ac:spMkLst>
            <pc:docMk/>
            <pc:sldMk cId="3099192246" sldId="257"/>
            <ac:spMk id="4" creationId="{046B9B7C-4F24-A6DD-30C9-89A108A707E9}"/>
          </ac:spMkLst>
        </pc:spChg>
        <pc:spChg chg="mod">
          <ac:chgData name="Chapman, Stephen" userId="31a87834-901a-4691-a691-bf491053d09a" providerId="ADAL" clId="{07072C4A-42DD-5720-86A8-E3A7D67E6347}" dt="2026-10-12T09:49:52.890" v="7984" actId="20577"/>
          <ac:spMkLst>
            <pc:docMk/>
            <pc:sldMk cId="3099192246" sldId="257"/>
            <ac:spMk id="10" creationId="{8859729A-879E-0788-0CC0-2311550C2672}"/>
          </ac:spMkLst>
        </pc:spChg>
        <pc:picChg chg="add mod">
          <ac:chgData name="Chapman, Stephen" userId="31a87834-901a-4691-a691-bf491053d09a" providerId="ADAL" clId="{07072C4A-42DD-5720-86A8-E3A7D67E6347}" dt="2026-10-12T09:52:17.263" v="7987" actId="1076"/>
          <ac:picMkLst>
            <pc:docMk/>
            <pc:sldMk cId="3099192246" sldId="257"/>
            <ac:picMk id="7" creationId="{A5DFE71F-84A4-ECB7-03F7-8503FD29FD14}"/>
          </ac:picMkLst>
        </pc:picChg>
      </pc:sldChg>
      <pc:sldChg chg="modSp mod">
        <pc:chgData name="Chapman, Stephen" userId="31a87834-901a-4691-a691-bf491053d09a" providerId="ADAL" clId="{07072C4A-42DD-5720-86A8-E3A7D67E6347}" dt="2026-10-12T10:00:28.285" v="8155" actId="20577"/>
        <pc:sldMkLst>
          <pc:docMk/>
          <pc:sldMk cId="2368242803" sldId="258"/>
        </pc:sldMkLst>
        <pc:spChg chg="mod">
          <ac:chgData name="Chapman, Stephen" userId="31a87834-901a-4691-a691-bf491053d09a" providerId="ADAL" clId="{07072C4A-42DD-5720-86A8-E3A7D67E6347}" dt="2026-10-12T10:00:28.285" v="8155" actId="20577"/>
          <ac:spMkLst>
            <pc:docMk/>
            <pc:sldMk cId="2368242803" sldId="258"/>
            <ac:spMk id="6" creationId="{7B0682EC-1229-DBCB-F49A-1C6EA36BC92C}"/>
          </ac:spMkLst>
        </pc:spChg>
      </pc:sldChg>
      <pc:sldChg chg="add del">
        <pc:chgData name="Chapman, Stephen" userId="31a87834-901a-4691-a691-bf491053d09a" providerId="ADAL" clId="{07072C4A-42DD-5720-86A8-E3A7D67E6347}" dt="2026-10-12T09:48:57.815" v="7974"/>
        <pc:sldMkLst>
          <pc:docMk/>
          <pc:sldMk cId="962872880" sldId="304"/>
        </pc:sldMkLst>
      </pc:sldChg>
      <pc:sldChg chg="del">
        <pc:chgData name="Chapman, Stephen" userId="31a87834-901a-4691-a691-bf491053d09a" providerId="ADAL" clId="{07072C4A-42DD-5720-86A8-E3A7D67E6347}" dt="2026-10-12T10:00:35.827" v="8157" actId="2696"/>
        <pc:sldMkLst>
          <pc:docMk/>
          <pc:sldMk cId="2265424136" sldId="387"/>
        </pc:sldMkLst>
      </pc:sldChg>
      <pc:sldChg chg="modSp del mod">
        <pc:chgData name="Chapman, Stephen" userId="31a87834-901a-4691-a691-bf491053d09a" providerId="ADAL" clId="{07072C4A-42DD-5720-86A8-E3A7D67E6347}" dt="2026-10-12T10:17:59.983" v="8846" actId="2696"/>
        <pc:sldMkLst>
          <pc:docMk/>
          <pc:sldMk cId="235215285" sldId="647"/>
        </pc:sldMkLst>
        <pc:spChg chg="mod">
          <ac:chgData name="Chapman, Stephen" userId="31a87834-901a-4691-a691-bf491053d09a" providerId="ADAL" clId="{07072C4A-42DD-5720-86A8-E3A7D67E6347}" dt="2026-10-12T09:59:58.819" v="8152" actId="113"/>
          <ac:spMkLst>
            <pc:docMk/>
            <pc:sldMk cId="235215285" sldId="647"/>
            <ac:spMk id="6" creationId="{777FA4D3-E51F-C633-DB49-81A29D568EEB}"/>
          </ac:spMkLst>
        </pc:spChg>
      </pc:sldChg>
      <pc:sldChg chg="del">
        <pc:chgData name="Chapman, Stephen" userId="31a87834-901a-4691-a691-bf491053d09a" providerId="ADAL" clId="{07072C4A-42DD-5720-86A8-E3A7D67E6347}" dt="2026-10-12T09:53:42.946" v="8025" actId="2696"/>
        <pc:sldMkLst>
          <pc:docMk/>
          <pc:sldMk cId="907011161" sldId="655"/>
        </pc:sldMkLst>
      </pc:sldChg>
      <pc:sldChg chg="addSp modSp mod">
        <pc:chgData name="Chapman, Stephen" userId="31a87834-901a-4691-a691-bf491053d09a" providerId="ADAL" clId="{07072C4A-42DD-5720-86A8-E3A7D67E6347}" dt="2026-10-12T09:55:20.259" v="8049" actId="20577"/>
        <pc:sldMkLst>
          <pc:docMk/>
          <pc:sldMk cId="703600498" sldId="664"/>
        </pc:sldMkLst>
        <pc:spChg chg="add mod">
          <ac:chgData name="Chapman, Stephen" userId="31a87834-901a-4691-a691-bf491053d09a" providerId="ADAL" clId="{07072C4A-42DD-5720-86A8-E3A7D67E6347}" dt="2026-10-12T09:55:20.259" v="8049" actId="20577"/>
          <ac:spMkLst>
            <pc:docMk/>
            <pc:sldMk cId="703600498" sldId="664"/>
            <ac:spMk id="3" creationId="{0418D9E1-353C-3819-CEDC-0F8EA1AA2223}"/>
          </ac:spMkLst>
        </pc:spChg>
      </pc:sldChg>
      <pc:sldChg chg="del">
        <pc:chgData name="Chapman, Stephen" userId="31a87834-901a-4691-a691-bf491053d09a" providerId="ADAL" clId="{07072C4A-42DD-5720-86A8-E3A7D67E6347}" dt="2026-10-12T10:00:34.184" v="8156" actId="2696"/>
        <pc:sldMkLst>
          <pc:docMk/>
          <pc:sldMk cId="283735756" sldId="675"/>
        </pc:sldMkLst>
      </pc:sldChg>
      <pc:sldChg chg="del">
        <pc:chgData name="Chapman, Stephen" userId="31a87834-901a-4691-a691-bf491053d09a" providerId="ADAL" clId="{07072C4A-42DD-5720-86A8-E3A7D67E6347}" dt="2026-10-12T09:59:43.256" v="8131" actId="2696"/>
        <pc:sldMkLst>
          <pc:docMk/>
          <pc:sldMk cId="3623088291" sldId="676"/>
        </pc:sldMkLst>
      </pc:sldChg>
      <pc:sldChg chg="modSp add del mod">
        <pc:chgData name="Chapman, Stephen" userId="31a87834-901a-4691-a691-bf491053d09a" providerId="ADAL" clId="{07072C4A-42DD-5720-86A8-E3A7D67E6347}" dt="2026-10-12T10:17:24.871" v="8843" actId="13926"/>
        <pc:sldMkLst>
          <pc:docMk/>
          <pc:sldMk cId="3204218467" sldId="678"/>
        </pc:sldMkLst>
        <pc:spChg chg="mod">
          <ac:chgData name="Chapman, Stephen" userId="31a87834-901a-4691-a691-bf491053d09a" providerId="ADAL" clId="{07072C4A-42DD-5720-86A8-E3A7D67E6347}" dt="2026-10-12T10:17:24.871" v="8843" actId="13926"/>
          <ac:spMkLst>
            <pc:docMk/>
            <pc:sldMk cId="3204218467" sldId="678"/>
            <ac:spMk id="3" creationId="{2A6B6425-6A8B-81BD-511E-E78E76949258}"/>
          </ac:spMkLst>
        </pc:spChg>
        <pc:spChg chg="mod">
          <ac:chgData name="Chapman, Stephen" userId="31a87834-901a-4691-a691-bf491053d09a" providerId="ADAL" clId="{07072C4A-42DD-5720-86A8-E3A7D67E6347}" dt="2026-10-12T10:03:52.391" v="8231" actId="14100"/>
          <ac:spMkLst>
            <pc:docMk/>
            <pc:sldMk cId="3204218467" sldId="678"/>
            <ac:spMk id="10" creationId="{0F7DFFAC-B89F-9C22-FA66-1C1AA6A95FEF}"/>
          </ac:spMkLst>
        </pc:spChg>
      </pc:sldChg>
      <pc:sldChg chg="add del">
        <pc:chgData name="Chapman, Stephen" userId="31a87834-901a-4691-a691-bf491053d09a" providerId="ADAL" clId="{07072C4A-42DD-5720-86A8-E3A7D67E6347}" dt="2026-10-12T10:17:58.041" v="8844" actId="2696"/>
        <pc:sldMkLst>
          <pc:docMk/>
          <pc:sldMk cId="1093892536" sldId="679"/>
        </pc:sldMkLst>
      </pc:sldChg>
      <pc:sldChg chg="add del">
        <pc:chgData name="Chapman, Stephen" userId="31a87834-901a-4691-a691-bf491053d09a" providerId="ADAL" clId="{07072C4A-42DD-5720-86A8-E3A7D67E6347}" dt="2026-10-12T10:17:59.387" v="8845" actId="2696"/>
        <pc:sldMkLst>
          <pc:docMk/>
          <pc:sldMk cId="2925659449" sldId="680"/>
        </pc:sldMkLst>
      </pc:sldChg>
      <pc:sldChg chg="del">
        <pc:chgData name="Chapman, Stephen" userId="31a87834-901a-4691-a691-bf491053d09a" providerId="ADAL" clId="{07072C4A-42DD-5720-86A8-E3A7D67E6347}" dt="2026-10-12T09:59:45.231" v="8135" actId="2696"/>
        <pc:sldMkLst>
          <pc:docMk/>
          <pc:sldMk cId="964085488" sldId="681"/>
        </pc:sldMkLst>
      </pc:sldChg>
      <pc:sldChg chg="add">
        <pc:chgData name="Chapman, Stephen" userId="31a87834-901a-4691-a691-bf491053d09a" providerId="ADAL" clId="{07072C4A-42DD-5720-86A8-E3A7D67E6347}" dt="2026-10-12T10:21:03.098" v="8847"/>
        <pc:sldMkLst>
          <pc:docMk/>
          <pc:sldMk cId="3037973257" sldId="681"/>
        </pc:sldMkLst>
      </pc:sldChg>
      <pc:sldChg chg="modSp new del mod">
        <pc:chgData name="Chapman, Stephen" userId="31a87834-901a-4691-a691-bf491053d09a" providerId="ADAL" clId="{07072C4A-42DD-5720-86A8-E3A7D67E6347}" dt="2026-10-12T10:04:11.680" v="8238" actId="2696"/>
        <pc:sldMkLst>
          <pc:docMk/>
          <pc:sldMk cId="393085076" sldId="682"/>
        </pc:sldMkLst>
        <pc:spChg chg="mod">
          <ac:chgData name="Chapman, Stephen" userId="31a87834-901a-4691-a691-bf491053d09a" providerId="ADAL" clId="{07072C4A-42DD-5720-86A8-E3A7D67E6347}" dt="2026-10-12T09:59:16.528" v="8130" actId="20577"/>
          <ac:spMkLst>
            <pc:docMk/>
            <pc:sldMk cId="393085076" sldId="682"/>
            <ac:spMk id="2" creationId="{E6FF560E-DB2D-669A-5F43-10BC58F8C94B}"/>
          </ac:spMkLst>
        </pc:spChg>
        <pc:spChg chg="mod">
          <ac:chgData name="Chapman, Stephen" userId="31a87834-901a-4691-a691-bf491053d09a" providerId="ADAL" clId="{07072C4A-42DD-5720-86A8-E3A7D67E6347}" dt="2026-10-12T10:03:04.854" v="8227" actId="20577"/>
          <ac:spMkLst>
            <pc:docMk/>
            <pc:sldMk cId="393085076" sldId="682"/>
            <ac:spMk id="3" creationId="{E7F23AEF-0D02-6C37-B520-CF5EEA4FC4BB}"/>
          </ac:spMkLst>
        </pc:spChg>
      </pc:sldChg>
      <pc:sldChg chg="add">
        <pc:chgData name="Chapman, Stephen" userId="31a87834-901a-4691-a691-bf491053d09a" providerId="ADAL" clId="{07072C4A-42DD-5720-86A8-E3A7D67E6347}" dt="2026-10-12T10:01:50.177" v="8201" actId="2890"/>
        <pc:sldMkLst>
          <pc:docMk/>
          <pc:sldMk cId="2894911794" sldId="683"/>
        </pc:sldMkLst>
      </pc:sldChg>
      <pc:sldChg chg="modSp new del mod">
        <pc:chgData name="Chapman, Stephen" userId="31a87834-901a-4691-a691-bf491053d09a" providerId="ADAL" clId="{07072C4A-42DD-5720-86A8-E3A7D67E6347}" dt="2026-10-12T10:21:05.144" v="8848" actId="2696"/>
        <pc:sldMkLst>
          <pc:docMk/>
          <pc:sldMk cId="2741587382" sldId="684"/>
        </pc:sldMkLst>
        <pc:spChg chg="mod">
          <ac:chgData name="Chapman, Stephen" userId="31a87834-901a-4691-a691-bf491053d09a" providerId="ADAL" clId="{07072C4A-42DD-5720-86A8-E3A7D67E6347}" dt="2026-10-12T10:13:29.803" v="8619" actId="20577"/>
          <ac:spMkLst>
            <pc:docMk/>
            <pc:sldMk cId="2741587382" sldId="684"/>
            <ac:spMk id="2" creationId="{8B445027-1405-060C-B50B-344C85673B03}"/>
          </ac:spMkLst>
        </pc:spChg>
      </pc:sldChg>
      <pc:sldChg chg="add del">
        <pc:chgData name="Chapman, Stephen" userId="31a87834-901a-4691-a691-bf491053d09a" providerId="ADAL" clId="{07072C4A-42DD-5720-86A8-E3A7D67E6347}" dt="2026-10-12T10:03:29.421" v="8229"/>
        <pc:sldMkLst>
          <pc:docMk/>
          <pc:sldMk cId="3118744061" sldId="684"/>
        </pc:sldMkLst>
      </pc:sldChg>
      <pc:sldChg chg="add del">
        <pc:chgData name="Chapman, Stephen" userId="31a87834-901a-4691-a691-bf491053d09a" providerId="ADAL" clId="{07072C4A-42DD-5720-86A8-E3A7D67E6347}" dt="2026-10-12T10:03:29.421" v="8229"/>
        <pc:sldMkLst>
          <pc:docMk/>
          <pc:sldMk cId="2965986281" sldId="685"/>
        </pc:sldMkLst>
      </pc:sldChg>
      <pc:sldChg chg="add del">
        <pc:chgData name="Chapman, Stephen" userId="31a87834-901a-4691-a691-bf491053d09a" providerId="ADAL" clId="{07072C4A-42DD-5720-86A8-E3A7D67E6347}" dt="2026-10-12T10:03:29.421" v="8229"/>
        <pc:sldMkLst>
          <pc:docMk/>
          <pc:sldMk cId="2391279857" sldId="68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DD6D0-8CEE-4D96-A193-0E48E26BF70F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789AE0A2-F826-45CD-B2FF-1B8C18D945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Computational representation of system wide metabolism</a:t>
          </a:r>
        </a:p>
      </dgm:t>
    </dgm:pt>
    <dgm:pt modelId="{7D044DB5-285E-44B3-B621-375EFE224F7C}" type="parTrans" cxnId="{57A7D9A9-7EA4-485C-8BAF-83A0F732DF0F}">
      <dgm:prSet/>
      <dgm:spPr/>
      <dgm:t>
        <a:bodyPr/>
        <a:lstStyle/>
        <a:p>
          <a:endParaRPr lang="en-US"/>
        </a:p>
      </dgm:t>
    </dgm:pt>
    <dgm:pt modelId="{F649C426-D601-4BC4-ABE9-4A86BCF493B5}" type="sibTrans" cxnId="{57A7D9A9-7EA4-485C-8BAF-83A0F732DF0F}">
      <dgm:prSet/>
      <dgm:spPr/>
      <dgm:t>
        <a:bodyPr/>
        <a:lstStyle/>
        <a:p>
          <a:endParaRPr lang="en-US"/>
        </a:p>
      </dgm:t>
    </dgm:pt>
    <dgm:pt modelId="{266D9E26-1983-493D-8E64-7FC5A2E3B0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 all annotated metabolic genes</a:t>
          </a:r>
        </a:p>
      </dgm:t>
    </dgm:pt>
    <dgm:pt modelId="{0BEF1A8B-0FD2-4C4C-AEBA-93D762BA849D}" type="parTrans" cxnId="{166EF6C3-6344-40E8-BF17-877E50AC60FB}">
      <dgm:prSet/>
      <dgm:spPr/>
      <dgm:t>
        <a:bodyPr/>
        <a:lstStyle/>
        <a:p>
          <a:endParaRPr lang="en-US"/>
        </a:p>
      </dgm:t>
    </dgm:pt>
    <dgm:pt modelId="{368E0266-F30B-4BAF-A6C6-4B2F61A8FBD9}" type="sibTrans" cxnId="{166EF6C3-6344-40E8-BF17-877E50AC60FB}">
      <dgm:prSet/>
      <dgm:spPr/>
      <dgm:t>
        <a:bodyPr/>
        <a:lstStyle/>
        <a:p>
          <a:endParaRPr lang="en-US"/>
        </a:p>
      </dgm:t>
    </dgm:pt>
    <dgm:pt modelId="{2E42123A-B861-43AA-849E-659A2B5037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Describes the metabolic role of each metabolic gene</a:t>
          </a:r>
        </a:p>
      </dgm:t>
    </dgm:pt>
    <dgm:pt modelId="{A66A262D-0E7E-4070-9301-C5BF4EA3E360}" type="parTrans" cxnId="{B1D2A867-57BF-4249-A247-48645F4E4106}">
      <dgm:prSet/>
      <dgm:spPr/>
      <dgm:t>
        <a:bodyPr/>
        <a:lstStyle/>
        <a:p>
          <a:endParaRPr lang="en-US"/>
        </a:p>
      </dgm:t>
    </dgm:pt>
    <dgm:pt modelId="{3883F253-A6DC-480F-817F-73B2B0018281}" type="sibTrans" cxnId="{B1D2A867-57BF-4249-A247-48645F4E4106}">
      <dgm:prSet/>
      <dgm:spPr/>
      <dgm:t>
        <a:bodyPr/>
        <a:lstStyle/>
        <a:p>
          <a:endParaRPr lang="en-US"/>
        </a:p>
      </dgm:t>
    </dgm:pt>
    <dgm:pt modelId="{C43C2FD8-DB11-4A74-8DCB-B4145233B5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Describes the substrates and products of each metabolic reaction</a:t>
          </a:r>
        </a:p>
      </dgm:t>
    </dgm:pt>
    <dgm:pt modelId="{01C8F753-CDA5-42CC-A7D7-E03ED3918801}" type="parTrans" cxnId="{55A273A4-15E1-4CAD-B27A-6F0CFF0D868A}">
      <dgm:prSet/>
      <dgm:spPr/>
      <dgm:t>
        <a:bodyPr/>
        <a:lstStyle/>
        <a:p>
          <a:endParaRPr lang="en-US"/>
        </a:p>
      </dgm:t>
    </dgm:pt>
    <dgm:pt modelId="{11CCDAD2-03FC-4E7E-A2E0-9A762FC4E5A1}" type="sibTrans" cxnId="{55A273A4-15E1-4CAD-B27A-6F0CFF0D868A}">
      <dgm:prSet/>
      <dgm:spPr/>
      <dgm:t>
        <a:bodyPr/>
        <a:lstStyle/>
        <a:p>
          <a:endParaRPr lang="en-US"/>
        </a:p>
      </dgm:t>
    </dgm:pt>
    <dgm:pt modelId="{D45BB897-40F3-4B0C-B598-C2CC1B768C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Interconnect metabolism: The product of one reaction is a substrate for the next reaction</a:t>
          </a:r>
        </a:p>
      </dgm:t>
    </dgm:pt>
    <dgm:pt modelId="{926C6FE6-AA9A-40B1-99A4-BD7BBB904013}" type="parTrans" cxnId="{D076BBA4-A1F5-4C24-BC18-9F0BA5586F47}">
      <dgm:prSet/>
      <dgm:spPr/>
      <dgm:t>
        <a:bodyPr/>
        <a:lstStyle/>
        <a:p>
          <a:endParaRPr lang="en-US"/>
        </a:p>
      </dgm:t>
    </dgm:pt>
    <dgm:pt modelId="{413070EA-554B-411B-8B5F-02CAA8C1A0B4}" type="sibTrans" cxnId="{D076BBA4-A1F5-4C24-BC18-9F0BA5586F47}">
      <dgm:prSet/>
      <dgm:spPr/>
      <dgm:t>
        <a:bodyPr/>
        <a:lstStyle/>
        <a:p>
          <a:endParaRPr lang="en-US"/>
        </a:p>
      </dgm:t>
    </dgm:pt>
    <dgm:pt modelId="{F533590C-1DB7-451F-B90F-C359D234F483}" type="pres">
      <dgm:prSet presAssocID="{B09DD6D0-8CEE-4D96-A193-0E48E26BF70F}" presName="root" presStyleCnt="0">
        <dgm:presLayoutVars>
          <dgm:dir/>
          <dgm:resizeHandles val="exact"/>
        </dgm:presLayoutVars>
      </dgm:prSet>
      <dgm:spPr/>
    </dgm:pt>
    <dgm:pt modelId="{B54BE88D-EFE0-4222-A177-4868D8DEF1CF}" type="pres">
      <dgm:prSet presAssocID="{789AE0A2-F826-45CD-B2FF-1B8C18D94574}" presName="compNode" presStyleCnt="0"/>
      <dgm:spPr/>
    </dgm:pt>
    <dgm:pt modelId="{4CEEF0D4-57F8-41FF-A65A-2039B9F14E00}" type="pres">
      <dgm:prSet presAssocID="{789AE0A2-F826-45CD-B2FF-1B8C18D94574}" presName="bgRect" presStyleLbl="bgShp" presStyleIdx="0" presStyleCnt="5"/>
      <dgm:spPr/>
    </dgm:pt>
    <dgm:pt modelId="{EF4E291E-6AF9-43B4-BB85-69832BFF0F2F}" type="pres">
      <dgm:prSet presAssocID="{789AE0A2-F826-45CD-B2FF-1B8C18D9457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49D3DF62-F7F8-461B-9E2C-54B0D5EABD13}" type="pres">
      <dgm:prSet presAssocID="{789AE0A2-F826-45CD-B2FF-1B8C18D94574}" presName="spaceRect" presStyleCnt="0"/>
      <dgm:spPr/>
    </dgm:pt>
    <dgm:pt modelId="{40A2A614-DCC3-41D5-AE91-89F2233C5A96}" type="pres">
      <dgm:prSet presAssocID="{789AE0A2-F826-45CD-B2FF-1B8C18D94574}" presName="parTx" presStyleLbl="revTx" presStyleIdx="0" presStyleCnt="5">
        <dgm:presLayoutVars>
          <dgm:chMax val="0"/>
          <dgm:chPref val="0"/>
        </dgm:presLayoutVars>
      </dgm:prSet>
      <dgm:spPr/>
    </dgm:pt>
    <dgm:pt modelId="{972881C8-78C9-448F-AFC4-D7321F75C450}" type="pres">
      <dgm:prSet presAssocID="{F649C426-D601-4BC4-ABE9-4A86BCF493B5}" presName="sibTrans" presStyleCnt="0"/>
      <dgm:spPr/>
    </dgm:pt>
    <dgm:pt modelId="{DB4B629A-13C2-4F86-9CD6-1A50959298DC}" type="pres">
      <dgm:prSet presAssocID="{266D9E26-1983-493D-8E64-7FC5A2E3B014}" presName="compNode" presStyleCnt="0"/>
      <dgm:spPr/>
    </dgm:pt>
    <dgm:pt modelId="{7015AFEB-E605-4439-B29D-EC85CF8A6C21}" type="pres">
      <dgm:prSet presAssocID="{266D9E26-1983-493D-8E64-7FC5A2E3B014}" presName="bgRect" presStyleLbl="bgShp" presStyleIdx="1" presStyleCnt="5"/>
      <dgm:spPr/>
    </dgm:pt>
    <dgm:pt modelId="{B3B1D75A-E7D5-4377-A440-3CF2501D42FA}" type="pres">
      <dgm:prSet presAssocID="{266D9E26-1983-493D-8E64-7FC5A2E3B01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0C92A428-0961-4E7B-8A13-8D2F3D0059C6}" type="pres">
      <dgm:prSet presAssocID="{266D9E26-1983-493D-8E64-7FC5A2E3B014}" presName="spaceRect" presStyleCnt="0"/>
      <dgm:spPr/>
    </dgm:pt>
    <dgm:pt modelId="{EF01C342-161D-4955-88FA-FE16443A7D4A}" type="pres">
      <dgm:prSet presAssocID="{266D9E26-1983-493D-8E64-7FC5A2E3B014}" presName="parTx" presStyleLbl="revTx" presStyleIdx="1" presStyleCnt="5">
        <dgm:presLayoutVars>
          <dgm:chMax val="0"/>
          <dgm:chPref val="0"/>
        </dgm:presLayoutVars>
      </dgm:prSet>
      <dgm:spPr/>
    </dgm:pt>
    <dgm:pt modelId="{B603F973-F855-476E-9D6D-224654FC4914}" type="pres">
      <dgm:prSet presAssocID="{368E0266-F30B-4BAF-A6C6-4B2F61A8FBD9}" presName="sibTrans" presStyleCnt="0"/>
      <dgm:spPr/>
    </dgm:pt>
    <dgm:pt modelId="{DADF8C3D-BC06-4AAC-8FE2-E51F2520647D}" type="pres">
      <dgm:prSet presAssocID="{2E42123A-B861-43AA-849E-659A2B503729}" presName="compNode" presStyleCnt="0"/>
      <dgm:spPr/>
    </dgm:pt>
    <dgm:pt modelId="{987DC34F-FEB5-48D2-8804-C27DE8EF5E42}" type="pres">
      <dgm:prSet presAssocID="{2E42123A-B861-43AA-849E-659A2B503729}" presName="bgRect" presStyleLbl="bgShp" presStyleIdx="2" presStyleCnt="5"/>
      <dgm:spPr/>
    </dgm:pt>
    <dgm:pt modelId="{BEC46671-DABF-445B-8F0A-9635B7F1FF2B}" type="pres">
      <dgm:prSet presAssocID="{2E42123A-B861-43AA-849E-659A2B50372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044E4821-13B1-48E7-80F5-E70C9BCC8063}" type="pres">
      <dgm:prSet presAssocID="{2E42123A-B861-43AA-849E-659A2B503729}" presName="spaceRect" presStyleCnt="0"/>
      <dgm:spPr/>
    </dgm:pt>
    <dgm:pt modelId="{4246D3D9-EFA9-4370-9016-D2A8E2F1E3AD}" type="pres">
      <dgm:prSet presAssocID="{2E42123A-B861-43AA-849E-659A2B503729}" presName="parTx" presStyleLbl="revTx" presStyleIdx="2" presStyleCnt="5">
        <dgm:presLayoutVars>
          <dgm:chMax val="0"/>
          <dgm:chPref val="0"/>
        </dgm:presLayoutVars>
      </dgm:prSet>
      <dgm:spPr/>
    </dgm:pt>
    <dgm:pt modelId="{5F8DDF82-3595-4B04-8D42-0A48EDB6A678}" type="pres">
      <dgm:prSet presAssocID="{3883F253-A6DC-480F-817F-73B2B0018281}" presName="sibTrans" presStyleCnt="0"/>
      <dgm:spPr/>
    </dgm:pt>
    <dgm:pt modelId="{721014EA-1FAB-4444-A612-269D48A4275B}" type="pres">
      <dgm:prSet presAssocID="{C43C2FD8-DB11-4A74-8DCB-B4145233B5B0}" presName="compNode" presStyleCnt="0"/>
      <dgm:spPr/>
    </dgm:pt>
    <dgm:pt modelId="{D20AC604-06F2-4A02-9F56-4459A5B5BC4C}" type="pres">
      <dgm:prSet presAssocID="{C43C2FD8-DB11-4A74-8DCB-B4145233B5B0}" presName="bgRect" presStyleLbl="bgShp" presStyleIdx="3" presStyleCnt="5"/>
      <dgm:spPr/>
    </dgm:pt>
    <dgm:pt modelId="{68E45316-6BC2-484B-9E20-A1D48EE5645A}" type="pres">
      <dgm:prSet presAssocID="{C43C2FD8-DB11-4A74-8DCB-B4145233B5B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AD4723C8-4274-4D60-BC0D-60F91EAB6106}" type="pres">
      <dgm:prSet presAssocID="{C43C2FD8-DB11-4A74-8DCB-B4145233B5B0}" presName="spaceRect" presStyleCnt="0"/>
      <dgm:spPr/>
    </dgm:pt>
    <dgm:pt modelId="{F75CEDA5-E9CB-41AA-9A90-D757C29B6D5B}" type="pres">
      <dgm:prSet presAssocID="{C43C2FD8-DB11-4A74-8DCB-B4145233B5B0}" presName="parTx" presStyleLbl="revTx" presStyleIdx="3" presStyleCnt="5">
        <dgm:presLayoutVars>
          <dgm:chMax val="0"/>
          <dgm:chPref val="0"/>
        </dgm:presLayoutVars>
      </dgm:prSet>
      <dgm:spPr/>
    </dgm:pt>
    <dgm:pt modelId="{5865AF36-3824-42DE-92A7-0068A8269B95}" type="pres">
      <dgm:prSet presAssocID="{11CCDAD2-03FC-4E7E-A2E0-9A762FC4E5A1}" presName="sibTrans" presStyleCnt="0"/>
      <dgm:spPr/>
    </dgm:pt>
    <dgm:pt modelId="{FAE075F0-7ABA-487C-B052-8886A6F51A24}" type="pres">
      <dgm:prSet presAssocID="{D45BB897-40F3-4B0C-B598-C2CC1B768C23}" presName="compNode" presStyleCnt="0"/>
      <dgm:spPr/>
    </dgm:pt>
    <dgm:pt modelId="{B1DE9109-6490-4434-95DC-EF5EE69109C9}" type="pres">
      <dgm:prSet presAssocID="{D45BB897-40F3-4B0C-B598-C2CC1B768C23}" presName="bgRect" presStyleLbl="bgShp" presStyleIdx="4" presStyleCnt="5"/>
      <dgm:spPr/>
    </dgm:pt>
    <dgm:pt modelId="{87011444-86DE-47F9-8E7A-660642F4BDB2}" type="pres">
      <dgm:prSet presAssocID="{D45BB897-40F3-4B0C-B598-C2CC1B768C2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3C83C695-6898-4301-9A24-6A6543151977}" type="pres">
      <dgm:prSet presAssocID="{D45BB897-40F3-4B0C-B598-C2CC1B768C23}" presName="spaceRect" presStyleCnt="0"/>
      <dgm:spPr/>
    </dgm:pt>
    <dgm:pt modelId="{26FC2490-EAE8-4A16-920B-CC0C6C2CBF3C}" type="pres">
      <dgm:prSet presAssocID="{D45BB897-40F3-4B0C-B598-C2CC1B768C2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F2E1432-28C4-4C96-8466-B6C2452EB6CB}" type="presOf" srcId="{C43C2FD8-DB11-4A74-8DCB-B4145233B5B0}" destId="{F75CEDA5-E9CB-41AA-9A90-D757C29B6D5B}" srcOrd="0" destOrd="0" presId="urn:microsoft.com/office/officeart/2018/2/layout/IconVerticalSolidList"/>
    <dgm:cxn modelId="{88FCF54A-7035-4FB6-B383-89A8807CA7FA}" type="presOf" srcId="{789AE0A2-F826-45CD-B2FF-1B8C18D94574}" destId="{40A2A614-DCC3-41D5-AE91-89F2233C5A96}" srcOrd="0" destOrd="0" presId="urn:microsoft.com/office/officeart/2018/2/layout/IconVerticalSolidList"/>
    <dgm:cxn modelId="{262B5867-1871-4779-9063-7DE02D6F79AB}" type="presOf" srcId="{B09DD6D0-8CEE-4D96-A193-0E48E26BF70F}" destId="{F533590C-1DB7-451F-B90F-C359D234F483}" srcOrd="0" destOrd="0" presId="urn:microsoft.com/office/officeart/2018/2/layout/IconVerticalSolidList"/>
    <dgm:cxn modelId="{B1D2A867-57BF-4249-A247-48645F4E4106}" srcId="{B09DD6D0-8CEE-4D96-A193-0E48E26BF70F}" destId="{2E42123A-B861-43AA-849E-659A2B503729}" srcOrd="2" destOrd="0" parTransId="{A66A262D-0E7E-4070-9301-C5BF4EA3E360}" sibTransId="{3883F253-A6DC-480F-817F-73B2B0018281}"/>
    <dgm:cxn modelId="{55A273A4-15E1-4CAD-B27A-6F0CFF0D868A}" srcId="{B09DD6D0-8CEE-4D96-A193-0E48E26BF70F}" destId="{C43C2FD8-DB11-4A74-8DCB-B4145233B5B0}" srcOrd="3" destOrd="0" parTransId="{01C8F753-CDA5-42CC-A7D7-E03ED3918801}" sibTransId="{11CCDAD2-03FC-4E7E-A2E0-9A762FC4E5A1}"/>
    <dgm:cxn modelId="{D076BBA4-A1F5-4C24-BC18-9F0BA5586F47}" srcId="{B09DD6D0-8CEE-4D96-A193-0E48E26BF70F}" destId="{D45BB897-40F3-4B0C-B598-C2CC1B768C23}" srcOrd="4" destOrd="0" parTransId="{926C6FE6-AA9A-40B1-99A4-BD7BBB904013}" sibTransId="{413070EA-554B-411B-8B5F-02CAA8C1A0B4}"/>
    <dgm:cxn modelId="{057CDEA8-65AF-42E0-AD97-B9400DEF1F2F}" type="presOf" srcId="{266D9E26-1983-493D-8E64-7FC5A2E3B014}" destId="{EF01C342-161D-4955-88FA-FE16443A7D4A}" srcOrd="0" destOrd="0" presId="urn:microsoft.com/office/officeart/2018/2/layout/IconVerticalSolidList"/>
    <dgm:cxn modelId="{57A7D9A9-7EA4-485C-8BAF-83A0F732DF0F}" srcId="{B09DD6D0-8CEE-4D96-A193-0E48E26BF70F}" destId="{789AE0A2-F826-45CD-B2FF-1B8C18D94574}" srcOrd="0" destOrd="0" parTransId="{7D044DB5-285E-44B3-B621-375EFE224F7C}" sibTransId="{F649C426-D601-4BC4-ABE9-4A86BCF493B5}"/>
    <dgm:cxn modelId="{166EF6C3-6344-40E8-BF17-877E50AC60FB}" srcId="{B09DD6D0-8CEE-4D96-A193-0E48E26BF70F}" destId="{266D9E26-1983-493D-8E64-7FC5A2E3B014}" srcOrd="1" destOrd="0" parTransId="{0BEF1A8B-0FD2-4C4C-AEBA-93D762BA849D}" sibTransId="{368E0266-F30B-4BAF-A6C6-4B2F61A8FBD9}"/>
    <dgm:cxn modelId="{19B235F5-AA67-4273-AB6B-9101309DBB91}" type="presOf" srcId="{2E42123A-B861-43AA-849E-659A2B503729}" destId="{4246D3D9-EFA9-4370-9016-D2A8E2F1E3AD}" srcOrd="0" destOrd="0" presId="urn:microsoft.com/office/officeart/2018/2/layout/IconVerticalSolidList"/>
    <dgm:cxn modelId="{B8F28FFB-C85D-4671-8FDD-837BDA2A9CDF}" type="presOf" srcId="{D45BB897-40F3-4B0C-B598-C2CC1B768C23}" destId="{26FC2490-EAE8-4A16-920B-CC0C6C2CBF3C}" srcOrd="0" destOrd="0" presId="urn:microsoft.com/office/officeart/2018/2/layout/IconVerticalSolidList"/>
    <dgm:cxn modelId="{28AF035C-1BBC-4A3E-8250-8348C07CE1E3}" type="presParOf" srcId="{F533590C-1DB7-451F-B90F-C359D234F483}" destId="{B54BE88D-EFE0-4222-A177-4868D8DEF1CF}" srcOrd="0" destOrd="0" presId="urn:microsoft.com/office/officeart/2018/2/layout/IconVerticalSolidList"/>
    <dgm:cxn modelId="{01580689-0CF1-4893-8AD8-00E59752E942}" type="presParOf" srcId="{B54BE88D-EFE0-4222-A177-4868D8DEF1CF}" destId="{4CEEF0D4-57F8-41FF-A65A-2039B9F14E00}" srcOrd="0" destOrd="0" presId="urn:microsoft.com/office/officeart/2018/2/layout/IconVerticalSolidList"/>
    <dgm:cxn modelId="{3572D1FA-A500-474A-BA08-B0A80B869BC5}" type="presParOf" srcId="{B54BE88D-EFE0-4222-A177-4868D8DEF1CF}" destId="{EF4E291E-6AF9-43B4-BB85-69832BFF0F2F}" srcOrd="1" destOrd="0" presId="urn:microsoft.com/office/officeart/2018/2/layout/IconVerticalSolidList"/>
    <dgm:cxn modelId="{364E333E-9574-4EA6-BB29-B9BCD6E538B0}" type="presParOf" srcId="{B54BE88D-EFE0-4222-A177-4868D8DEF1CF}" destId="{49D3DF62-F7F8-461B-9E2C-54B0D5EABD13}" srcOrd="2" destOrd="0" presId="urn:microsoft.com/office/officeart/2018/2/layout/IconVerticalSolidList"/>
    <dgm:cxn modelId="{14B147F3-0C4E-4C35-8F7B-A8F72DA1FA52}" type="presParOf" srcId="{B54BE88D-EFE0-4222-A177-4868D8DEF1CF}" destId="{40A2A614-DCC3-41D5-AE91-89F2233C5A96}" srcOrd="3" destOrd="0" presId="urn:microsoft.com/office/officeart/2018/2/layout/IconVerticalSolidList"/>
    <dgm:cxn modelId="{B2077568-385F-496F-B375-BE9E13723732}" type="presParOf" srcId="{F533590C-1DB7-451F-B90F-C359D234F483}" destId="{972881C8-78C9-448F-AFC4-D7321F75C450}" srcOrd="1" destOrd="0" presId="urn:microsoft.com/office/officeart/2018/2/layout/IconVerticalSolidList"/>
    <dgm:cxn modelId="{F6934D6F-6D24-4506-9E44-5142FDE3906C}" type="presParOf" srcId="{F533590C-1DB7-451F-B90F-C359D234F483}" destId="{DB4B629A-13C2-4F86-9CD6-1A50959298DC}" srcOrd="2" destOrd="0" presId="urn:microsoft.com/office/officeart/2018/2/layout/IconVerticalSolidList"/>
    <dgm:cxn modelId="{2D3FD26D-B372-40D0-9308-9F53595B6391}" type="presParOf" srcId="{DB4B629A-13C2-4F86-9CD6-1A50959298DC}" destId="{7015AFEB-E605-4439-B29D-EC85CF8A6C21}" srcOrd="0" destOrd="0" presId="urn:microsoft.com/office/officeart/2018/2/layout/IconVerticalSolidList"/>
    <dgm:cxn modelId="{3CC00A37-A116-4ACD-9871-F68E91CF950A}" type="presParOf" srcId="{DB4B629A-13C2-4F86-9CD6-1A50959298DC}" destId="{B3B1D75A-E7D5-4377-A440-3CF2501D42FA}" srcOrd="1" destOrd="0" presId="urn:microsoft.com/office/officeart/2018/2/layout/IconVerticalSolidList"/>
    <dgm:cxn modelId="{24B45C66-C797-4E94-8FBF-09B1E0799BAD}" type="presParOf" srcId="{DB4B629A-13C2-4F86-9CD6-1A50959298DC}" destId="{0C92A428-0961-4E7B-8A13-8D2F3D0059C6}" srcOrd="2" destOrd="0" presId="urn:microsoft.com/office/officeart/2018/2/layout/IconVerticalSolidList"/>
    <dgm:cxn modelId="{AE718778-A242-4FAE-BEBA-62E5E726CBDB}" type="presParOf" srcId="{DB4B629A-13C2-4F86-9CD6-1A50959298DC}" destId="{EF01C342-161D-4955-88FA-FE16443A7D4A}" srcOrd="3" destOrd="0" presId="urn:microsoft.com/office/officeart/2018/2/layout/IconVerticalSolidList"/>
    <dgm:cxn modelId="{993B31B1-2224-4300-8763-5B5F59F63551}" type="presParOf" srcId="{F533590C-1DB7-451F-B90F-C359D234F483}" destId="{B603F973-F855-476E-9D6D-224654FC4914}" srcOrd="3" destOrd="0" presId="urn:microsoft.com/office/officeart/2018/2/layout/IconVerticalSolidList"/>
    <dgm:cxn modelId="{DBB6B630-E30E-481D-A0FE-40CCD72BEB3D}" type="presParOf" srcId="{F533590C-1DB7-451F-B90F-C359D234F483}" destId="{DADF8C3D-BC06-4AAC-8FE2-E51F2520647D}" srcOrd="4" destOrd="0" presId="urn:microsoft.com/office/officeart/2018/2/layout/IconVerticalSolidList"/>
    <dgm:cxn modelId="{923AF6C4-3FB5-4560-88CC-05B717A6E036}" type="presParOf" srcId="{DADF8C3D-BC06-4AAC-8FE2-E51F2520647D}" destId="{987DC34F-FEB5-48D2-8804-C27DE8EF5E42}" srcOrd="0" destOrd="0" presId="urn:microsoft.com/office/officeart/2018/2/layout/IconVerticalSolidList"/>
    <dgm:cxn modelId="{8F141AD5-5F07-4A23-81F8-E064DDD99C01}" type="presParOf" srcId="{DADF8C3D-BC06-4AAC-8FE2-E51F2520647D}" destId="{BEC46671-DABF-445B-8F0A-9635B7F1FF2B}" srcOrd="1" destOrd="0" presId="urn:microsoft.com/office/officeart/2018/2/layout/IconVerticalSolidList"/>
    <dgm:cxn modelId="{2AFA651F-E586-4755-927D-9B4E8E96AC81}" type="presParOf" srcId="{DADF8C3D-BC06-4AAC-8FE2-E51F2520647D}" destId="{044E4821-13B1-48E7-80F5-E70C9BCC8063}" srcOrd="2" destOrd="0" presId="urn:microsoft.com/office/officeart/2018/2/layout/IconVerticalSolidList"/>
    <dgm:cxn modelId="{F9832873-BDFF-402B-8AD7-6A61B730BEF2}" type="presParOf" srcId="{DADF8C3D-BC06-4AAC-8FE2-E51F2520647D}" destId="{4246D3D9-EFA9-4370-9016-D2A8E2F1E3AD}" srcOrd="3" destOrd="0" presId="urn:microsoft.com/office/officeart/2018/2/layout/IconVerticalSolidList"/>
    <dgm:cxn modelId="{047FF292-72B3-4432-81F3-37BF15E09851}" type="presParOf" srcId="{F533590C-1DB7-451F-B90F-C359D234F483}" destId="{5F8DDF82-3595-4B04-8D42-0A48EDB6A678}" srcOrd="5" destOrd="0" presId="urn:microsoft.com/office/officeart/2018/2/layout/IconVerticalSolidList"/>
    <dgm:cxn modelId="{DDE00C27-372B-4402-A104-CE307CAEAE22}" type="presParOf" srcId="{F533590C-1DB7-451F-B90F-C359D234F483}" destId="{721014EA-1FAB-4444-A612-269D48A4275B}" srcOrd="6" destOrd="0" presId="urn:microsoft.com/office/officeart/2018/2/layout/IconVerticalSolidList"/>
    <dgm:cxn modelId="{9AB96844-7BEE-4091-9B2B-FF07A159E8FE}" type="presParOf" srcId="{721014EA-1FAB-4444-A612-269D48A4275B}" destId="{D20AC604-06F2-4A02-9F56-4459A5B5BC4C}" srcOrd="0" destOrd="0" presId="urn:microsoft.com/office/officeart/2018/2/layout/IconVerticalSolidList"/>
    <dgm:cxn modelId="{A73DBDB4-E5CA-4176-9D78-DDED0DC938A2}" type="presParOf" srcId="{721014EA-1FAB-4444-A612-269D48A4275B}" destId="{68E45316-6BC2-484B-9E20-A1D48EE5645A}" srcOrd="1" destOrd="0" presId="urn:microsoft.com/office/officeart/2018/2/layout/IconVerticalSolidList"/>
    <dgm:cxn modelId="{1B1C8F73-E625-4C9E-BE1E-C6B151106E73}" type="presParOf" srcId="{721014EA-1FAB-4444-A612-269D48A4275B}" destId="{AD4723C8-4274-4D60-BC0D-60F91EAB6106}" srcOrd="2" destOrd="0" presId="urn:microsoft.com/office/officeart/2018/2/layout/IconVerticalSolidList"/>
    <dgm:cxn modelId="{DE6C8F70-EBA5-4ECB-AAE8-12593479B148}" type="presParOf" srcId="{721014EA-1FAB-4444-A612-269D48A4275B}" destId="{F75CEDA5-E9CB-41AA-9A90-D757C29B6D5B}" srcOrd="3" destOrd="0" presId="urn:microsoft.com/office/officeart/2018/2/layout/IconVerticalSolidList"/>
    <dgm:cxn modelId="{F518DB56-8A26-4DF2-A03F-49551FF4BECE}" type="presParOf" srcId="{F533590C-1DB7-451F-B90F-C359D234F483}" destId="{5865AF36-3824-42DE-92A7-0068A8269B95}" srcOrd="7" destOrd="0" presId="urn:microsoft.com/office/officeart/2018/2/layout/IconVerticalSolidList"/>
    <dgm:cxn modelId="{F2BF75A0-5814-4883-ACAB-6A8B7F2B7177}" type="presParOf" srcId="{F533590C-1DB7-451F-B90F-C359D234F483}" destId="{FAE075F0-7ABA-487C-B052-8886A6F51A24}" srcOrd="8" destOrd="0" presId="urn:microsoft.com/office/officeart/2018/2/layout/IconVerticalSolidList"/>
    <dgm:cxn modelId="{AA4516F7-4FB0-4056-A51F-7BC6A76D2903}" type="presParOf" srcId="{FAE075F0-7ABA-487C-B052-8886A6F51A24}" destId="{B1DE9109-6490-4434-95DC-EF5EE69109C9}" srcOrd="0" destOrd="0" presId="urn:microsoft.com/office/officeart/2018/2/layout/IconVerticalSolidList"/>
    <dgm:cxn modelId="{374F3342-C96D-4837-8AC4-CD9ED994F405}" type="presParOf" srcId="{FAE075F0-7ABA-487C-B052-8886A6F51A24}" destId="{87011444-86DE-47F9-8E7A-660642F4BDB2}" srcOrd="1" destOrd="0" presId="urn:microsoft.com/office/officeart/2018/2/layout/IconVerticalSolidList"/>
    <dgm:cxn modelId="{1F1D7B39-FFDF-4B73-8B0B-9593BC341740}" type="presParOf" srcId="{FAE075F0-7ABA-487C-B052-8886A6F51A24}" destId="{3C83C695-6898-4301-9A24-6A6543151977}" srcOrd="2" destOrd="0" presId="urn:microsoft.com/office/officeart/2018/2/layout/IconVerticalSolidList"/>
    <dgm:cxn modelId="{F2E88E56-5BF0-44C4-AF98-EDB55179CFA4}" type="presParOf" srcId="{FAE075F0-7ABA-487C-B052-8886A6F51A24}" destId="{26FC2490-EAE8-4A16-920B-CC0C6C2CBF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EF0D4-57F8-41FF-A65A-2039B9F14E00}">
      <dsp:nvSpPr>
        <dsp:cNvPr id="0" name=""/>
        <dsp:cNvSpPr/>
      </dsp:nvSpPr>
      <dsp:spPr>
        <a:xfrm>
          <a:off x="0" y="2594"/>
          <a:ext cx="10875818" cy="552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E291E-6AF9-43B4-BB85-69832BFF0F2F}">
      <dsp:nvSpPr>
        <dsp:cNvPr id="0" name=""/>
        <dsp:cNvSpPr/>
      </dsp:nvSpPr>
      <dsp:spPr>
        <a:xfrm>
          <a:off x="167155" y="126924"/>
          <a:ext cx="303918" cy="3039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2A614-DCC3-41D5-AE91-89F2233C5A96}">
      <dsp:nvSpPr>
        <dsp:cNvPr id="0" name=""/>
        <dsp:cNvSpPr/>
      </dsp:nvSpPr>
      <dsp:spPr>
        <a:xfrm>
          <a:off x="638229" y="2594"/>
          <a:ext cx="10237588" cy="55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1" tIns="58481" rIns="58481" bIns="584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Computational representation of system wide metabolism</a:t>
          </a:r>
        </a:p>
      </dsp:txBody>
      <dsp:txXfrm>
        <a:off x="638229" y="2594"/>
        <a:ext cx="10237588" cy="552579"/>
      </dsp:txXfrm>
    </dsp:sp>
    <dsp:sp modelId="{7015AFEB-E605-4439-B29D-EC85CF8A6C21}">
      <dsp:nvSpPr>
        <dsp:cNvPr id="0" name=""/>
        <dsp:cNvSpPr/>
      </dsp:nvSpPr>
      <dsp:spPr>
        <a:xfrm>
          <a:off x="0" y="693319"/>
          <a:ext cx="10875818" cy="552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1D75A-E7D5-4377-A440-3CF2501D42FA}">
      <dsp:nvSpPr>
        <dsp:cNvPr id="0" name=""/>
        <dsp:cNvSpPr/>
      </dsp:nvSpPr>
      <dsp:spPr>
        <a:xfrm>
          <a:off x="167155" y="817649"/>
          <a:ext cx="303918" cy="3039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1C342-161D-4955-88FA-FE16443A7D4A}">
      <dsp:nvSpPr>
        <dsp:cNvPr id="0" name=""/>
        <dsp:cNvSpPr/>
      </dsp:nvSpPr>
      <dsp:spPr>
        <a:xfrm>
          <a:off x="638229" y="693319"/>
          <a:ext cx="10237588" cy="55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1" tIns="58481" rIns="58481" bIns="584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Contain all annotated metabolic genes</a:t>
          </a:r>
        </a:p>
      </dsp:txBody>
      <dsp:txXfrm>
        <a:off x="638229" y="693319"/>
        <a:ext cx="10237588" cy="552579"/>
      </dsp:txXfrm>
    </dsp:sp>
    <dsp:sp modelId="{987DC34F-FEB5-48D2-8804-C27DE8EF5E42}">
      <dsp:nvSpPr>
        <dsp:cNvPr id="0" name=""/>
        <dsp:cNvSpPr/>
      </dsp:nvSpPr>
      <dsp:spPr>
        <a:xfrm>
          <a:off x="0" y="1384044"/>
          <a:ext cx="10875818" cy="552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46671-DABF-445B-8F0A-9635B7F1FF2B}">
      <dsp:nvSpPr>
        <dsp:cNvPr id="0" name=""/>
        <dsp:cNvSpPr/>
      </dsp:nvSpPr>
      <dsp:spPr>
        <a:xfrm>
          <a:off x="167155" y="1508374"/>
          <a:ext cx="303918" cy="3039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6D3D9-EFA9-4370-9016-D2A8E2F1E3AD}">
      <dsp:nvSpPr>
        <dsp:cNvPr id="0" name=""/>
        <dsp:cNvSpPr/>
      </dsp:nvSpPr>
      <dsp:spPr>
        <a:xfrm>
          <a:off x="638229" y="1384044"/>
          <a:ext cx="10237588" cy="55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1" tIns="58481" rIns="58481" bIns="584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Describes the metabolic role of each metabolic gene</a:t>
          </a:r>
        </a:p>
      </dsp:txBody>
      <dsp:txXfrm>
        <a:off x="638229" y="1384044"/>
        <a:ext cx="10237588" cy="552579"/>
      </dsp:txXfrm>
    </dsp:sp>
    <dsp:sp modelId="{D20AC604-06F2-4A02-9F56-4459A5B5BC4C}">
      <dsp:nvSpPr>
        <dsp:cNvPr id="0" name=""/>
        <dsp:cNvSpPr/>
      </dsp:nvSpPr>
      <dsp:spPr>
        <a:xfrm>
          <a:off x="0" y="2074768"/>
          <a:ext cx="10875818" cy="552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45316-6BC2-484B-9E20-A1D48EE5645A}">
      <dsp:nvSpPr>
        <dsp:cNvPr id="0" name=""/>
        <dsp:cNvSpPr/>
      </dsp:nvSpPr>
      <dsp:spPr>
        <a:xfrm>
          <a:off x="167155" y="2199099"/>
          <a:ext cx="303918" cy="3039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CEDA5-E9CB-41AA-9A90-D757C29B6D5B}">
      <dsp:nvSpPr>
        <dsp:cNvPr id="0" name=""/>
        <dsp:cNvSpPr/>
      </dsp:nvSpPr>
      <dsp:spPr>
        <a:xfrm>
          <a:off x="638229" y="2074768"/>
          <a:ext cx="10237588" cy="55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1" tIns="58481" rIns="58481" bIns="584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Describes the substrates and products of each metabolic reaction</a:t>
          </a:r>
        </a:p>
      </dsp:txBody>
      <dsp:txXfrm>
        <a:off x="638229" y="2074768"/>
        <a:ext cx="10237588" cy="552579"/>
      </dsp:txXfrm>
    </dsp:sp>
    <dsp:sp modelId="{B1DE9109-6490-4434-95DC-EF5EE69109C9}">
      <dsp:nvSpPr>
        <dsp:cNvPr id="0" name=""/>
        <dsp:cNvSpPr/>
      </dsp:nvSpPr>
      <dsp:spPr>
        <a:xfrm>
          <a:off x="0" y="2765493"/>
          <a:ext cx="10875818" cy="552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11444-86DE-47F9-8E7A-660642F4BDB2}">
      <dsp:nvSpPr>
        <dsp:cNvPr id="0" name=""/>
        <dsp:cNvSpPr/>
      </dsp:nvSpPr>
      <dsp:spPr>
        <a:xfrm>
          <a:off x="167155" y="2889824"/>
          <a:ext cx="303918" cy="3039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C2490-EAE8-4A16-920B-CC0C6C2CBF3C}">
      <dsp:nvSpPr>
        <dsp:cNvPr id="0" name=""/>
        <dsp:cNvSpPr/>
      </dsp:nvSpPr>
      <dsp:spPr>
        <a:xfrm>
          <a:off x="638229" y="2765493"/>
          <a:ext cx="10237588" cy="552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81" tIns="58481" rIns="58481" bIns="5848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Interconnect metabolism: The product of one reaction is a substrate for the next reaction</a:t>
          </a:r>
        </a:p>
      </dsp:txBody>
      <dsp:txXfrm>
        <a:off x="638229" y="2765493"/>
        <a:ext cx="10237588" cy="5525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09:43:13.23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84,'82'0,"-1"0,-45 0,4 0,-2 0,-11 0,5-3,-10 2,5-2,-1 3,1 0,-2 0,2 0,-4 0,5 0,-3 3,1-3,1 3,-1-3,1 0,-2 0,1 0,-1 0,4 0,-5 0,8-3,-9 3,3-6,2 5,-5-5,8 3,-5-1,-1 2,3-1,-5 2,5-2,-3 1,4 1,-4-2,4 3,-4 0,1 0,0 0,9 0,-16 0,17 0,-15 0,7 0,4 0,-13 0,15-3,-9 3,7-3,0 3,-10 0,4 0,5 0,-8 0,9 0,-5 0,-6 0,14 0,-16 0,20 0,-19 0,14 0,-13 0,8 0,-3 0,0 0,3 0,1 0,-3 0,1 0,-5 0,5 0,1 0,-6 0,9 0,-8 0,2 0,3 0,-8 0,8-3,0 2,-6-5,4 6,-2-3,3 0,-2 2,7-2,-15 3,24 0,-27 0,21 0,-14-3,2 3,7-6,-8 3,3 0,0 0,-2 3,3 0,-3 0,2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E24DB-03B1-4A41-8680-5BA99A0110D6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93633-1BC1-A941-B8C9-BB52E877C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to you today about an area of biology called Bioinformatics, or otherwise known as computational biology. All about how to get </a:t>
            </a:r>
            <a:r>
              <a:rPr lang="en-US" dirty="0" err="1"/>
              <a:t>ocmoiuters</a:t>
            </a:r>
            <a:r>
              <a:rPr lang="en-US" dirty="0"/>
              <a:t> to work for us enhance biological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1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7033-CA9E-9048-8851-0BCE687F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05A6C-63D4-DFDB-EB85-098C1E3F7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B8CB-C429-9327-B8D0-0DC7E73F9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1DD68-B22D-F21A-6FFB-6CE9FB992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08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B3ACD-E1B6-D24D-ABDF-386FCF79D8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1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1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reactions are reversible, then indeed, the reaction lower bound can be constrained to a negative  value to reflect the directionality/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A0A16-9C0D-524E-BA0D-486398226C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77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84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D88E-5429-957D-0D1F-D7568901E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CFE51-1D06-BAE7-527D-62FCFE6B3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EF64-7D28-A90E-78B8-48398DB2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3A9B2-DE3B-386C-F831-C1D44A1F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E545-A3CB-9DA3-DD45-A31A729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ACF6-3D80-2DF3-F217-7C0A6682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5C4BE-B219-C8D6-B653-3B990B546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42F7B-D089-3DAC-1DA3-AA619CFA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B5721-E367-5B0D-A835-3D4B30AE1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D4659-076A-DA6B-A9CB-BA1D3757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43DF-4F66-AC6B-1898-41838F96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23CB6-0273-2EE0-2920-17B1ECB7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DAD12-1A6F-6C7D-FE94-E6C4870E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4896C-7574-02E8-D584-A4E2E810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2D2C-E0A4-9D89-1EC2-787CA532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3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27AA-7293-ED12-2C4C-14C73F75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7551-DDE0-F468-92E5-E0D29CFE7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D66C-5419-E0A9-048C-283806FF8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45BF9-8905-B5CD-5D48-39B7CAAB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355A4-722E-E0D6-C5F0-CA12244D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57937-8E79-23B7-EB18-2710C23E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8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CF47-C925-B82E-CF58-50A47C84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6664A-EC58-F7CF-6F69-8D530209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96BE6-2DB6-A150-99B5-AC2A3A2B7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32C68-8134-DB17-28E2-B07B0DF3B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50F24-A5AD-9B9A-16BE-FF0606454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B3837-91D0-3446-3CFB-E22A356B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102FA-1B6A-A675-A01E-B83EC5EA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E47E3-65F9-F3AF-AA4A-C5BE4E6A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8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A5C8-F376-092F-884F-7A4FC68E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3CCE-1175-53CE-F4E5-3228CC97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BD80D-5D82-7BE3-6E80-27F9A8D5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3BC15-7DA2-C682-7047-B993D52E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1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97BE9-E56D-56BE-2635-5DB8554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D2763-D16A-27F3-123F-C8143421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29664-8621-D8CA-99B3-7968ECD2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1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12DA-F301-0BBB-7E9B-8F9B8E91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BCEB-008B-713E-28F3-05792DEAB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BDD05-0C4D-8DE9-E6A4-3F890D897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A9F43-B626-00FD-23A6-4C0B9A9B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EAF4A-9D31-548F-9746-F7286D3A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7E96A-7C94-5074-9F69-C3F798FC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7B42-55E4-FFA4-2E0C-8CAE855B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A9B5A-B31F-1C86-D543-A46FD3673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EE0CD-DD27-0839-F837-D6F608202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C5FF-A6C4-720B-2AC4-565C9729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0217B-E761-5046-26C0-F56246E7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BE19D-E219-E035-D8D5-2C5A2AB6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9DA4-F6A1-9E68-F493-04BE843C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8215F-36B7-BA24-3784-FEBABA627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93FFA-3333-FD18-CDD0-C6187BF7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2DD3F-8D81-946D-69D4-3DBF157F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63D45-5BC6-0B5D-3A7B-0C3DC719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E6ED7-4124-531B-B546-28D4F4149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445C0-8D26-7EF5-79D3-531277F65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0EC04-7020-0F3D-6B41-D401021E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7A390-532B-F4BC-BFE9-A08073C0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7B45-D9CC-687D-F178-07C863DF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3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991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451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6BCDD-2E92-75FD-045C-AD180073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7DADC-DD7D-562F-F68C-F6EA7D11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7A8A-CAC3-D4A6-2BD5-4E08614F5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0BBA0-F29B-414E-B8DE-05AFDB89171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3C03-8830-D40A-D71B-4E27A96F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A1EC-D800-65EF-D201-15673262C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chapman@liverpoo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12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bigg.ucsd.ed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bioinformaticsadvances/article/5/1/vbae172/7876298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article/10.1186/1752-0509-7-74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186/1752-0509-7-74" TargetMode="External"/><Relationship Id="rId5" Type="http://schemas.openxmlformats.org/officeDocument/2006/relationships/image" Target="../media/image32.png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escher.github.io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EA50-C632-49AD-CB2C-409F6601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730F6-F426-3821-9DE0-FE9F52772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202847" cy="6858000"/>
          </a:xfrm>
        </p:spPr>
      </p:pic>
    </p:spTree>
    <p:extLst>
      <p:ext uri="{BB962C8B-B14F-4D97-AF65-F5344CB8AC3E}">
        <p14:creationId xmlns:p14="http://schemas.microsoft.com/office/powerpoint/2010/main" val="273981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BCE19A-A47F-1302-E289-90BE57133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1890" y="4918591"/>
            <a:ext cx="6548219" cy="113602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 Stephen Chapman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stephen.chapman@liverpool.ac.uk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350 Biosciences Building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0F46D61B-6B9A-8E9A-B8B5-931698F5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901" y="104226"/>
            <a:ext cx="3920076" cy="29400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59729A-879E-0788-0CC0-2311550C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 fontScale="90000"/>
          </a:bodyPr>
          <a:lstStyle/>
          <a:p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CODE-M</a:t>
            </a:r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#2 Genome-Scale Metabolic Models (GSMMs)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FE71F-84A4-ECB7-03F7-8503FD29F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0" y="869404"/>
            <a:ext cx="2336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9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46AA-2A26-EDD9-F733-79FDD360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 we talked about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DE3C8-82B3-9C69-B4C6-B418796A9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" y="1490231"/>
            <a:ext cx="11865429" cy="4351338"/>
          </a:xfrm>
        </p:spPr>
        <p:txBody>
          <a:bodyPr/>
          <a:lstStyle/>
          <a:p>
            <a:r>
              <a:rPr lang="en-US" b="1" dirty="0"/>
              <a:t>Systems Biology </a:t>
            </a:r>
            <a:r>
              <a:rPr lang="en-US" dirty="0"/>
              <a:t>as a non reductionist / </a:t>
            </a:r>
            <a:r>
              <a:rPr lang="en-US" b="1" dirty="0"/>
              <a:t>holistic approach </a:t>
            </a:r>
            <a:r>
              <a:rPr lang="en-US" dirty="0"/>
              <a:t>to understand complex biological systems</a:t>
            </a:r>
          </a:p>
          <a:p>
            <a:r>
              <a:rPr lang="en-US" b="1" dirty="0"/>
              <a:t>Metabolism dictates the phenotype </a:t>
            </a:r>
            <a:r>
              <a:rPr lang="en-US" dirty="0"/>
              <a:t>as it sits downstream of regulation</a:t>
            </a:r>
          </a:p>
          <a:p>
            <a:r>
              <a:rPr lang="en-US" b="1" dirty="0"/>
              <a:t>KEGG </a:t>
            </a:r>
            <a:r>
              <a:rPr lang="en-US" dirty="0"/>
              <a:t>is a database of biological systems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10" descr="A screenshot of a computer diagram&#10;&#10;AI-generated content may be incorrect.">
            <a:extLst>
              <a:ext uri="{FF2B5EF4-FFF2-40B4-BE49-F238E27FC236}">
                <a16:creationId xmlns:a16="http://schemas.microsoft.com/office/drawing/2014/main" id="{264EF68A-93D8-684B-5A5F-877AF3F4A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11"/>
          <a:stretch>
            <a:fillRect/>
          </a:stretch>
        </p:blipFill>
        <p:spPr>
          <a:xfrm>
            <a:off x="0" y="3429000"/>
            <a:ext cx="6950050" cy="31796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43F195-6060-B81E-26F2-5837987B34A3}"/>
              </a:ext>
            </a:extLst>
          </p:cNvPr>
          <p:cNvSpPr txBox="1"/>
          <p:nvPr/>
        </p:nvSpPr>
        <p:spPr>
          <a:xfrm>
            <a:off x="6868407" y="3547438"/>
            <a:ext cx="5241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Map omics data to</a:t>
            </a:r>
          </a:p>
          <a:p>
            <a:r>
              <a:rPr lang="en-US" sz="2800" dirty="0"/>
              <a:t>      metabolic pathways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Can’t make </a:t>
            </a:r>
            <a:r>
              <a:rPr lang="en-US" sz="2800" i="1" dirty="0"/>
              <a:t>in silico </a:t>
            </a:r>
            <a:r>
              <a:rPr lang="en-US" sz="2800" dirty="0"/>
              <a:t>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KEGG pathways are static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Possible with GSMMs</a:t>
            </a:r>
          </a:p>
        </p:txBody>
      </p:sp>
    </p:spTree>
    <p:extLst>
      <p:ext uri="{BB962C8B-B14F-4D97-AF65-F5344CB8AC3E}">
        <p14:creationId xmlns:p14="http://schemas.microsoft.com/office/powerpoint/2010/main" val="289415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F31A-DC87-DA5A-B318-EC29191C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we will talk about…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0682EC-1229-DBCB-F49A-1C6EA36BC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Genome scale metabolic models</a:t>
            </a:r>
          </a:p>
          <a:p>
            <a:r>
              <a:rPr lang="en-US" dirty="0"/>
              <a:t>Variety of genome scale metabolic models</a:t>
            </a:r>
          </a:p>
          <a:p>
            <a:r>
              <a:rPr lang="en-US" dirty="0"/>
              <a:t>Where to get genome scale metabolomic models</a:t>
            </a:r>
          </a:p>
          <a:p>
            <a:r>
              <a:rPr lang="en-US" dirty="0"/>
              <a:t>SBML file format of genome scale metabolic models</a:t>
            </a:r>
          </a:p>
          <a:p>
            <a:r>
              <a:rPr lang="en-US" dirty="0"/>
              <a:t>How to load a genome scale metabolic model into </a:t>
            </a:r>
            <a:r>
              <a:rPr lang="en-US" dirty="0" err="1"/>
              <a:t>COBRApy</a:t>
            </a:r>
            <a:endParaRPr lang="en-US" dirty="0"/>
          </a:p>
          <a:p>
            <a:r>
              <a:rPr lang="en-US" dirty="0"/>
              <a:t>Contents of a genome scale metabolic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42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F2B8-6D46-AAB1-C71E-ED317C32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8907"/>
            <a:ext cx="10515600" cy="1325563"/>
          </a:xfrm>
        </p:spPr>
        <p:txBody>
          <a:bodyPr/>
          <a:lstStyle/>
          <a:p>
            <a:r>
              <a:rPr lang="en-US" dirty="0"/>
              <a:t>A Genome Scale Metabolic Model (GSMM)…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89292-03B1-043C-D6C2-A82F425FA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8000"/>
                    </a14:imgEffect>
                  </a14:imgLayer>
                </a14:imgProps>
              </a:ext>
            </a:extLst>
          </a:blip>
          <a:srcRect b="41679"/>
          <a:stretch/>
        </p:blipFill>
        <p:spPr bwMode="auto">
          <a:xfrm>
            <a:off x="148229" y="1348885"/>
            <a:ext cx="11895537" cy="424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55474F2-882F-B7C5-02E5-5DB3968CD6A2}"/>
              </a:ext>
            </a:extLst>
          </p:cNvPr>
          <p:cNvSpPr txBox="1">
            <a:spLocks/>
          </p:cNvSpPr>
          <p:nvPr/>
        </p:nvSpPr>
        <p:spPr>
          <a:xfrm>
            <a:off x="838198" y="56387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… a collection of an organisms’ metabolism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6FD059-9659-C54E-1DC5-557E8A31DD14}"/>
              </a:ext>
            </a:extLst>
          </p:cNvPr>
          <p:cNvSpPr/>
          <p:nvPr/>
        </p:nvSpPr>
        <p:spPr>
          <a:xfrm>
            <a:off x="92597" y="1018572"/>
            <a:ext cx="439838" cy="601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1FE52D-AE9D-D871-B24E-C50F2A5EADA1}"/>
              </a:ext>
            </a:extLst>
          </p:cNvPr>
          <p:cNvSpPr txBox="1"/>
          <p:nvPr/>
        </p:nvSpPr>
        <p:spPr>
          <a:xfrm>
            <a:off x="3221879" y="1787704"/>
            <a:ext cx="1941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metabolic reactions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862670-7745-7076-5F34-CED29A2AB16E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192850" y="2126258"/>
            <a:ext cx="0" cy="33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108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50DF-62CB-9A43-0152-69406C6E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A9EB-7013-72C7-CFDF-3F8FC812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3" y="0"/>
            <a:ext cx="10972440" cy="1144800"/>
          </a:xfrm>
        </p:spPr>
        <p:txBody>
          <a:bodyPr/>
          <a:lstStyle/>
          <a:p>
            <a:r>
              <a:rPr lang="en-US" sz="3200" b="1" i="1" dirty="0"/>
              <a:t>i</a:t>
            </a:r>
            <a:r>
              <a:rPr lang="en-US" sz="3200" b="1" dirty="0"/>
              <a:t>RC1080</a:t>
            </a:r>
            <a:r>
              <a:rPr lang="en-US" sz="3200" dirty="0"/>
              <a:t> – a GSMM of </a:t>
            </a:r>
            <a:r>
              <a:rPr lang="en-US" sz="3200" b="1" i="1" dirty="0"/>
              <a:t>C. reinhardtii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EED39-8149-3963-D770-88A403191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8000"/>
                    </a14:imgEffect>
                  </a14:imgLayer>
                </a14:imgProps>
              </a:ext>
            </a:extLst>
          </a:blip>
          <a:srcRect b="41679"/>
          <a:stretch/>
        </p:blipFill>
        <p:spPr bwMode="auto">
          <a:xfrm>
            <a:off x="0" y="1739723"/>
            <a:ext cx="11895537" cy="424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1843E6-B19E-6EA7-D4DB-51DF2EBA537E}"/>
              </a:ext>
            </a:extLst>
          </p:cNvPr>
          <p:cNvSpPr txBox="1"/>
          <p:nvPr/>
        </p:nvSpPr>
        <p:spPr>
          <a:xfrm>
            <a:off x="158982" y="6351150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(Chang et al., 2011)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93E98-B5EF-3162-88D5-956AB9DE542F}"/>
              </a:ext>
            </a:extLst>
          </p:cNvPr>
          <p:cNvSpPr/>
          <p:nvPr/>
        </p:nvSpPr>
        <p:spPr>
          <a:xfrm>
            <a:off x="1220248" y="1081968"/>
            <a:ext cx="483861" cy="400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46FCE-D2EC-C167-3275-35F71C5146AB}"/>
              </a:ext>
            </a:extLst>
          </p:cNvPr>
          <p:cNvSpPr/>
          <p:nvPr/>
        </p:nvSpPr>
        <p:spPr>
          <a:xfrm>
            <a:off x="32215" y="1705270"/>
            <a:ext cx="495063" cy="397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627A046-F28B-2ADA-7B0D-27A6EC5FA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78" y="980597"/>
            <a:ext cx="22156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2190 reactions</a:t>
            </a:r>
          </a:p>
          <a:p>
            <a:r>
              <a:rPr lang="en-GB" b="1" dirty="0">
                <a:solidFill>
                  <a:srgbClr val="002060"/>
                </a:solidFill>
              </a:rPr>
              <a:t>1068 metabolites</a:t>
            </a:r>
          </a:p>
          <a:p>
            <a:r>
              <a:rPr lang="en-GB" b="1" dirty="0">
                <a:solidFill>
                  <a:srgbClr val="002060"/>
                </a:solidFill>
              </a:rPr>
              <a:t>1080 genes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44B48D-9518-72E6-DB1D-CE1BC802BA37}"/>
              </a:ext>
            </a:extLst>
          </p:cNvPr>
          <p:cNvSpPr txBox="1"/>
          <p:nvPr/>
        </p:nvSpPr>
        <p:spPr>
          <a:xfrm>
            <a:off x="8678617" y="958280"/>
            <a:ext cx="248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45  metabolic inputs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387CF-535A-6F7A-899B-57C0D66161C6}"/>
              </a:ext>
            </a:extLst>
          </p:cNvPr>
          <p:cNvSpPr txBox="1"/>
          <p:nvPr/>
        </p:nvSpPr>
        <p:spPr>
          <a:xfrm>
            <a:off x="9033164" y="1282202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</a:t>
            </a:r>
            <a:r>
              <a:rPr lang="en-US" baseline="-250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B1E484-89D7-E031-FB37-A1D81A6DD356}"/>
              </a:ext>
            </a:extLst>
          </p:cNvPr>
          <p:cNvSpPr txBox="1"/>
          <p:nvPr/>
        </p:nvSpPr>
        <p:spPr>
          <a:xfrm>
            <a:off x="9906001" y="1647827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en-US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E2D2B-8EBC-5A42-E617-E0879CB90D2C}"/>
              </a:ext>
            </a:extLst>
          </p:cNvPr>
          <p:cNvSpPr txBox="1"/>
          <p:nvPr/>
        </p:nvSpPr>
        <p:spPr>
          <a:xfrm>
            <a:off x="7796648" y="121164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acetate</a:t>
            </a:r>
            <a:endParaRPr lang="en-US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BD833-89F5-8C85-140B-0BE907FBC945}"/>
              </a:ext>
            </a:extLst>
          </p:cNvPr>
          <p:cNvSpPr txBox="1"/>
          <p:nvPr/>
        </p:nvSpPr>
        <p:spPr>
          <a:xfrm>
            <a:off x="10658473" y="2006245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photons</a:t>
            </a:r>
            <a:endParaRPr lang="en-US" baseline="-25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098FC2-FAD7-26E4-C029-70D70CBFFB5F}"/>
              </a:ext>
            </a:extLst>
          </p:cNvPr>
          <p:cNvCxnSpPr>
            <a:stCxn id="17" idx="2"/>
          </p:cNvCxnSpPr>
          <p:nvPr/>
        </p:nvCxnSpPr>
        <p:spPr>
          <a:xfrm flipH="1">
            <a:off x="7798378" y="1580979"/>
            <a:ext cx="468912" cy="7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F44815-833E-5AA2-E068-0908F2D03E63}"/>
              </a:ext>
            </a:extLst>
          </p:cNvPr>
          <p:cNvCxnSpPr/>
          <p:nvPr/>
        </p:nvCxnSpPr>
        <p:spPr>
          <a:xfrm flipH="1">
            <a:off x="8766152" y="1580979"/>
            <a:ext cx="468912" cy="7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4E9E63-3758-F5E0-D29E-75E203B877D5}"/>
              </a:ext>
            </a:extLst>
          </p:cNvPr>
          <p:cNvCxnSpPr/>
          <p:nvPr/>
        </p:nvCxnSpPr>
        <p:spPr>
          <a:xfrm flipH="1">
            <a:off x="9687439" y="1978278"/>
            <a:ext cx="468912" cy="7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59D999-DB06-F0F3-7731-A4732D0C8F12}"/>
              </a:ext>
            </a:extLst>
          </p:cNvPr>
          <p:cNvCxnSpPr/>
          <p:nvPr/>
        </p:nvCxnSpPr>
        <p:spPr>
          <a:xfrm flipH="1">
            <a:off x="10557032" y="2318846"/>
            <a:ext cx="468912" cy="79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5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E65A7-E0B1-7A8E-20CB-56C7F13DD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BEAA86-C910-2479-C1EC-48AB75F033EE}"/>
              </a:ext>
            </a:extLst>
          </p:cNvPr>
          <p:cNvSpPr/>
          <p:nvPr/>
        </p:nvSpPr>
        <p:spPr>
          <a:xfrm>
            <a:off x="318052" y="2282210"/>
            <a:ext cx="3898127" cy="603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8823BC2-0588-E6F6-3C25-E82CB765E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723790"/>
              </p:ext>
            </p:extLst>
          </p:nvPr>
        </p:nvGraphicFramePr>
        <p:xfrm>
          <a:off x="219036" y="2019060"/>
          <a:ext cx="10875818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CustomShape 1">
            <a:extLst>
              <a:ext uri="{FF2B5EF4-FFF2-40B4-BE49-F238E27FC236}">
                <a16:creationId xmlns:a16="http://schemas.microsoft.com/office/drawing/2014/main" id="{FEC9E9C7-11A0-E577-AA71-89CD7388E40B}"/>
              </a:ext>
            </a:extLst>
          </p:cNvPr>
          <p:cNvSpPr/>
          <p:nvPr/>
        </p:nvSpPr>
        <p:spPr>
          <a:xfrm>
            <a:off x="170688" y="352848"/>
            <a:ext cx="11850624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spc="-1" dirty="0">
                <a:latin typeface="+mj-lt"/>
              </a:rPr>
              <a:t>Genome scale metabolic models are constructed from genome annotations</a:t>
            </a:r>
            <a:endParaRPr lang="en-US" sz="4400" b="0" strike="noStrike" spc="-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985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439800" y="114629"/>
            <a:ext cx="1051488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latin typeface="+mj-lt"/>
                <a:ea typeface="DejaVu Sans"/>
              </a:rPr>
              <a:t>Evolution of genome scale metabolic models</a:t>
            </a:r>
            <a:endParaRPr lang="en-US" sz="4400" b="0" strike="noStrike" spc="-1" dirty="0">
              <a:latin typeface="+mj-l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D50D7EC-F489-2BE6-0717-2611957DD959}"/>
              </a:ext>
            </a:extLst>
          </p:cNvPr>
          <p:cNvGrpSpPr/>
          <p:nvPr/>
        </p:nvGrpSpPr>
        <p:grpSpPr>
          <a:xfrm>
            <a:off x="6893646" y="2053921"/>
            <a:ext cx="5291526" cy="3762468"/>
            <a:chOff x="6719490" y="2213460"/>
            <a:chExt cx="5291526" cy="3762468"/>
          </a:xfrm>
        </p:grpSpPr>
        <p:pic>
          <p:nvPicPr>
            <p:cNvPr id="7" name="Picture 83">
              <a:extLst>
                <a:ext uri="{FF2B5EF4-FFF2-40B4-BE49-F238E27FC236}">
                  <a16:creationId xmlns:a16="http://schemas.microsoft.com/office/drawing/2014/main" id="{6776DE30-3758-AC63-8348-359A4617CD30}"/>
                </a:ext>
              </a:extLst>
            </p:cNvPr>
            <p:cNvPicPr/>
            <p:nvPr/>
          </p:nvPicPr>
          <p:blipFill rotWithShape="1">
            <a:blip r:embed="rId3"/>
            <a:srcRect l="53508" r="1158"/>
            <a:stretch/>
          </p:blipFill>
          <p:spPr>
            <a:xfrm>
              <a:off x="6909363" y="2426483"/>
              <a:ext cx="5101653" cy="3549445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C4B975-F136-C857-F0D7-80775938389A}"/>
                </a:ext>
              </a:extLst>
            </p:cNvPr>
            <p:cNvSpPr/>
            <p:nvPr/>
          </p:nvSpPr>
          <p:spPr>
            <a:xfrm>
              <a:off x="6719490" y="2213460"/>
              <a:ext cx="518143" cy="581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D3922E-F5A0-32C3-908D-D3C5EA59FCB6}"/>
              </a:ext>
            </a:extLst>
          </p:cNvPr>
          <p:cNvGrpSpPr/>
          <p:nvPr/>
        </p:nvGrpSpPr>
        <p:grpSpPr>
          <a:xfrm>
            <a:off x="-55873" y="1490753"/>
            <a:ext cx="7903097" cy="5382069"/>
            <a:chOff x="121551" y="1490754"/>
            <a:chExt cx="7583777" cy="5096051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1212BE61-C011-1F23-9FFB-BA3EEB6C1DE8}"/>
                </a:ext>
              </a:extLst>
            </p:cNvPr>
            <p:cNvSpPr/>
            <p:nvPr/>
          </p:nvSpPr>
          <p:spPr>
            <a:xfrm>
              <a:off x="457200" y="3776870"/>
              <a:ext cx="6578445" cy="36367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69F445-B5C6-DD04-68E1-CF69244A13C0}"/>
                </a:ext>
              </a:extLst>
            </p:cNvPr>
            <p:cNvSpPr txBox="1"/>
            <p:nvPr/>
          </p:nvSpPr>
          <p:spPr>
            <a:xfrm>
              <a:off x="410092" y="414054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1999</a:t>
              </a:r>
            </a:p>
          </p:txBody>
        </p:sp>
        <p:pic>
          <p:nvPicPr>
            <p:cNvPr id="2050" name="Picture 2" descr="Haemophilus influenzae: Types of Infection | CDC">
              <a:extLst>
                <a:ext uri="{FF2B5EF4-FFF2-40B4-BE49-F238E27FC236}">
                  <a16:creationId xmlns:a16="http://schemas.microsoft.com/office/drawing/2014/main" id="{96F9797A-D25F-AAB7-66CD-5923F7786A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74" y="2931989"/>
              <a:ext cx="1101262" cy="6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332BF2F-B0B3-F866-64B3-AED8AAC0651C}"/>
                </a:ext>
              </a:extLst>
            </p:cNvPr>
            <p:cNvCxnSpPr>
              <a:stCxn id="3" idx="0"/>
              <a:endCxn id="2050" idx="2"/>
            </p:cNvCxnSpPr>
            <p:nvPr/>
          </p:nvCxnSpPr>
          <p:spPr>
            <a:xfrm flipH="1" flipV="1">
              <a:off x="758905" y="3562341"/>
              <a:ext cx="1" cy="5782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0E95C8-C81D-3744-1F61-390266785BB0}"/>
                </a:ext>
              </a:extLst>
            </p:cNvPr>
            <p:cNvSpPr txBox="1"/>
            <p:nvPr/>
          </p:nvSpPr>
          <p:spPr>
            <a:xfrm>
              <a:off x="121551" y="2597607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H. influenza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5D9A9A-A9D3-A35E-085F-771E5CF47A97}"/>
                </a:ext>
              </a:extLst>
            </p:cNvPr>
            <p:cNvSpPr txBox="1"/>
            <p:nvPr/>
          </p:nvSpPr>
          <p:spPr>
            <a:xfrm>
              <a:off x="1162951" y="414054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26688E-5BD5-4820-F9E2-23A6914E7BD6}"/>
                </a:ext>
              </a:extLst>
            </p:cNvPr>
            <p:cNvCxnSpPr>
              <a:cxnSpLocks/>
              <a:stCxn id="15" idx="0"/>
              <a:endCxn id="2052" idx="2"/>
            </p:cNvCxnSpPr>
            <p:nvPr/>
          </p:nvCxnSpPr>
          <p:spPr>
            <a:xfrm flipH="1" flipV="1">
              <a:off x="1502344" y="2654155"/>
              <a:ext cx="9421" cy="14863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2" name="Picture 4" descr="E. coli: What is It, How Does it Cause Infection, Symptoms &amp; Causes">
              <a:extLst>
                <a:ext uri="{FF2B5EF4-FFF2-40B4-BE49-F238E27FC236}">
                  <a16:creationId xmlns:a16="http://schemas.microsoft.com/office/drawing/2014/main" id="{FF46F917-179D-0D68-145D-2623CFFFFE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759" y="1820822"/>
              <a:ext cx="1015169" cy="833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F9E6E3-7CA6-2A89-B0CD-8EA86455677B}"/>
                </a:ext>
              </a:extLst>
            </p:cNvPr>
            <p:cNvSpPr txBox="1"/>
            <p:nvPr/>
          </p:nvSpPr>
          <p:spPr>
            <a:xfrm>
              <a:off x="1008533" y="1490754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E. coli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FBAEB8-C4E5-FF6B-C134-89D4BBE3EC4E}"/>
                </a:ext>
              </a:extLst>
            </p:cNvPr>
            <p:cNvSpPr txBox="1"/>
            <p:nvPr/>
          </p:nvSpPr>
          <p:spPr>
            <a:xfrm>
              <a:off x="1912872" y="343592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2004</a:t>
              </a:r>
            </a:p>
          </p:txBody>
        </p:sp>
        <p:pic>
          <p:nvPicPr>
            <p:cNvPr id="2054" name="Picture 6" descr="Saccharomyces cerevisiae — Wikipédia">
              <a:extLst>
                <a:ext uri="{FF2B5EF4-FFF2-40B4-BE49-F238E27FC236}">
                  <a16:creationId xmlns:a16="http://schemas.microsoft.com/office/drawing/2014/main" id="{C7044C15-8ACB-9906-923B-99D90A3BDE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7880" y="4536166"/>
              <a:ext cx="11430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13D342D-9756-4EEA-FF99-E03078E272FD}"/>
                </a:ext>
              </a:extLst>
            </p:cNvPr>
            <p:cNvCxnSpPr>
              <a:cxnSpLocks/>
              <a:endCxn id="2054" idx="0"/>
            </p:cNvCxnSpPr>
            <p:nvPr/>
          </p:nvCxnSpPr>
          <p:spPr>
            <a:xfrm flipH="1">
              <a:off x="2289380" y="3805254"/>
              <a:ext cx="1" cy="7309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E1C3DC-1459-27C4-7F66-4270B418C0A2}"/>
                </a:ext>
              </a:extLst>
            </p:cNvPr>
            <p:cNvSpPr txBox="1"/>
            <p:nvPr/>
          </p:nvSpPr>
          <p:spPr>
            <a:xfrm>
              <a:off x="1629739" y="5679166"/>
              <a:ext cx="1505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S. cerevisiae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5EA01E-9C9F-3862-A0B1-5A04B60C06F4}"/>
                </a:ext>
              </a:extLst>
            </p:cNvPr>
            <p:cNvSpPr txBox="1"/>
            <p:nvPr/>
          </p:nvSpPr>
          <p:spPr>
            <a:xfrm>
              <a:off x="2561574" y="413734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2005</a:t>
              </a:r>
            </a:p>
          </p:txBody>
        </p:sp>
        <p:pic>
          <p:nvPicPr>
            <p:cNvPr id="2056" name="Picture 8" descr="Poster Maison souris debout (Mus musculus) - PIXERS.FR">
              <a:extLst>
                <a:ext uri="{FF2B5EF4-FFF2-40B4-BE49-F238E27FC236}">
                  <a16:creationId xmlns:a16="http://schemas.microsoft.com/office/drawing/2014/main" id="{01313D9D-97E7-2FD4-95CF-D3AC42EB03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41"/>
            <a:stretch/>
          </p:blipFill>
          <p:spPr bwMode="auto">
            <a:xfrm>
              <a:off x="2170442" y="2157762"/>
              <a:ext cx="1501441" cy="1214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31C8692-DB39-DD1B-2778-30D6C2830D5A}"/>
                </a:ext>
              </a:extLst>
            </p:cNvPr>
            <p:cNvCxnSpPr>
              <a:cxnSpLocks/>
              <a:stCxn id="29" idx="0"/>
              <a:endCxn id="2056" idx="2"/>
            </p:cNvCxnSpPr>
            <p:nvPr/>
          </p:nvCxnSpPr>
          <p:spPr>
            <a:xfrm flipV="1">
              <a:off x="2910388" y="3372063"/>
              <a:ext cx="10775" cy="765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0624566-FC84-8F55-9653-1A055731D96E}"/>
                </a:ext>
              </a:extLst>
            </p:cNvPr>
            <p:cNvSpPr txBox="1"/>
            <p:nvPr/>
          </p:nvSpPr>
          <p:spPr>
            <a:xfrm>
              <a:off x="2054050" y="2073712"/>
              <a:ext cx="147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M. musculus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1C8C76B-7EA2-F526-6FC0-00C5D2988404}"/>
                </a:ext>
              </a:extLst>
            </p:cNvPr>
            <p:cNvSpPr txBox="1"/>
            <p:nvPr/>
          </p:nvSpPr>
          <p:spPr>
            <a:xfrm>
              <a:off x="3711998" y="414373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B9EAD3-02B4-7855-1331-A8E81F674D6C}"/>
                </a:ext>
              </a:extLst>
            </p:cNvPr>
            <p:cNvSpPr txBox="1"/>
            <p:nvPr/>
          </p:nvSpPr>
          <p:spPr>
            <a:xfrm>
              <a:off x="3466076" y="6217473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H. sapiens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9F3BD68-D4B9-FD81-EF69-29E9FD991E65}"/>
                </a:ext>
              </a:extLst>
            </p:cNvPr>
            <p:cNvCxnSpPr>
              <a:cxnSpLocks/>
              <a:stCxn id="35" idx="0"/>
              <a:endCxn id="2060" idx="2"/>
            </p:cNvCxnSpPr>
            <p:nvPr/>
          </p:nvCxnSpPr>
          <p:spPr>
            <a:xfrm flipH="1" flipV="1">
              <a:off x="4058317" y="3397848"/>
              <a:ext cx="2495" cy="7458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60" name="Picture 12" descr="Mycobacterium tuberculosis - Cusabio">
              <a:extLst>
                <a:ext uri="{FF2B5EF4-FFF2-40B4-BE49-F238E27FC236}">
                  <a16:creationId xmlns:a16="http://schemas.microsoft.com/office/drawing/2014/main" id="{3E19145E-14B4-D054-B0FD-74F6AFA150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434"/>
            <a:stretch/>
          </p:blipFill>
          <p:spPr bwMode="auto">
            <a:xfrm>
              <a:off x="3573698" y="2192544"/>
              <a:ext cx="969238" cy="1205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0A6AE4C-AAF8-DAEB-67FE-18728CB54E64}"/>
                </a:ext>
              </a:extLst>
            </p:cNvPr>
            <p:cNvSpPr txBox="1"/>
            <p:nvPr/>
          </p:nvSpPr>
          <p:spPr>
            <a:xfrm>
              <a:off x="3093066" y="1805475"/>
              <a:ext cx="1736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M. tuberculosis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19EA87-690F-D216-1B3C-2AA5593EA091}"/>
                </a:ext>
              </a:extLst>
            </p:cNvPr>
            <p:cNvSpPr txBox="1"/>
            <p:nvPr/>
          </p:nvSpPr>
          <p:spPr>
            <a:xfrm>
              <a:off x="4643713" y="4170405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2010</a:t>
              </a:r>
            </a:p>
          </p:txBody>
        </p:sp>
        <p:pic>
          <p:nvPicPr>
            <p:cNvPr id="2062" name="Picture 14">
              <a:extLst>
                <a:ext uri="{FF2B5EF4-FFF2-40B4-BE49-F238E27FC236}">
                  <a16:creationId xmlns:a16="http://schemas.microsoft.com/office/drawing/2014/main" id="{A80E12ED-C602-D80C-BF0D-C350D49C40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6506" y="2213460"/>
              <a:ext cx="1032042" cy="1548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62A4D4E-EE2C-0769-8BAA-88518BF2C5E4}"/>
                </a:ext>
              </a:extLst>
            </p:cNvPr>
            <p:cNvSpPr txBox="1"/>
            <p:nvPr/>
          </p:nvSpPr>
          <p:spPr>
            <a:xfrm>
              <a:off x="4762241" y="1820822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A. thaliana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228BB3-D4AB-C6CA-E351-0E1A2C546B66}"/>
                </a:ext>
              </a:extLst>
            </p:cNvPr>
            <p:cNvSpPr txBox="1"/>
            <p:nvPr/>
          </p:nvSpPr>
          <p:spPr>
            <a:xfrm>
              <a:off x="5253705" y="3509851"/>
              <a:ext cx="680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2011</a:t>
              </a:r>
            </a:p>
          </p:txBody>
        </p:sp>
        <p:pic>
          <p:nvPicPr>
            <p:cNvPr id="2064" name="Picture 16" descr="Development of a synthetic gene expression system in Chlamydomonas  reinhardtii — OpenPlant">
              <a:extLst>
                <a:ext uri="{FF2B5EF4-FFF2-40B4-BE49-F238E27FC236}">
                  <a16:creationId xmlns:a16="http://schemas.microsoft.com/office/drawing/2014/main" id="{34A1DA2D-10ED-22AC-3FEB-48E7D229D5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6509" y="4435825"/>
              <a:ext cx="1497148" cy="1398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7136A68-7331-8AFC-897C-76CDC67EB966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>
              <a:off x="5593959" y="3879183"/>
              <a:ext cx="6835" cy="8099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5B537E-F839-53DF-6272-8238ECC168B2}"/>
                </a:ext>
              </a:extLst>
            </p:cNvPr>
            <p:cNvSpPr txBox="1"/>
            <p:nvPr/>
          </p:nvSpPr>
          <p:spPr>
            <a:xfrm>
              <a:off x="5013460" y="5665565"/>
              <a:ext cx="149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C. reinhardtii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28B9822-589B-C7F3-C399-D0B7096F350F}"/>
                </a:ext>
              </a:extLst>
            </p:cNvPr>
            <p:cNvCxnSpPr>
              <a:cxnSpLocks/>
              <a:endCxn id="2068" idx="2"/>
            </p:cNvCxnSpPr>
            <p:nvPr/>
          </p:nvCxnSpPr>
          <p:spPr>
            <a:xfrm flipH="1" flipV="1">
              <a:off x="6291049" y="3525327"/>
              <a:ext cx="6870" cy="609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16E592E-795C-05E1-076B-505D495A49EF}"/>
                </a:ext>
              </a:extLst>
            </p:cNvPr>
            <p:cNvSpPr txBox="1"/>
            <p:nvPr/>
          </p:nvSpPr>
          <p:spPr>
            <a:xfrm>
              <a:off x="5302106" y="2142718"/>
              <a:ext cx="2403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human mitochondrion</a:t>
              </a:r>
            </a:p>
          </p:txBody>
        </p:sp>
        <p:pic>
          <p:nvPicPr>
            <p:cNvPr id="2068" name="Picture 20" descr="Mitochondrion, SEM - Stock Image C001/2590 | Scanning electron micrograph,  Cell biology, Mitochondria">
              <a:extLst>
                <a:ext uri="{FF2B5EF4-FFF2-40B4-BE49-F238E27FC236}">
                  <a16:creationId xmlns:a16="http://schemas.microsoft.com/office/drawing/2014/main" id="{1D09A50B-4006-F407-2F03-BA79EF359D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526"/>
            <a:stretch/>
          </p:blipFill>
          <p:spPr bwMode="auto">
            <a:xfrm>
              <a:off x="5664403" y="2436950"/>
              <a:ext cx="1253292" cy="1088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6327DA6A-1A3A-A867-3186-A9C79BE0AEC4}"/>
                </a:ext>
              </a:extLst>
            </p:cNvPr>
            <p:cNvCxnSpPr>
              <a:cxnSpLocks/>
              <a:stCxn id="43" idx="0"/>
              <a:endCxn id="2062" idx="2"/>
            </p:cNvCxnSpPr>
            <p:nvPr/>
          </p:nvCxnSpPr>
          <p:spPr>
            <a:xfrm flipV="1">
              <a:off x="4992527" y="3761523"/>
              <a:ext cx="0" cy="4088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E1B0FFE-DFFF-D6D3-DDFE-268A0E088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6922" y="4488116"/>
              <a:ext cx="1222360" cy="179811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2A732A8-3C8A-D481-F88C-8CF36D97C88E}"/>
              </a:ext>
            </a:extLst>
          </p:cNvPr>
          <p:cNvSpPr txBox="1"/>
          <p:nvPr/>
        </p:nvSpPr>
        <p:spPr>
          <a:xfrm>
            <a:off x="6017054" y="4283256"/>
            <a:ext cx="727001" cy="390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97B6-E171-F9FB-3B20-9DA0BFF4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Metabolic models are stored in </a:t>
            </a:r>
            <a:r>
              <a:rPr lang="en-US" dirty="0">
                <a:hlinkClick r:id="rId2"/>
              </a:rPr>
              <a:t>BIGG Models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4B2F3B-AA87-7541-9F4E-06DF39FD5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3662" y="1293997"/>
            <a:ext cx="11044675" cy="519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6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49E8-CB29-D759-F739-10B65E60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146D-4271-3ACD-D3D5-B74C1D71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9" y="-158023"/>
            <a:ext cx="12420600" cy="1325563"/>
          </a:xfrm>
        </p:spPr>
        <p:txBody>
          <a:bodyPr/>
          <a:lstStyle/>
          <a:p>
            <a:r>
              <a:rPr lang="en-US" dirty="0"/>
              <a:t>Metabolic models are stored in SBML format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B5F9E40-F68C-FB86-58AE-57B482FAE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200" y="639000"/>
            <a:ext cx="4257897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&lt;model id=”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metabolic_model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listOfCompartments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/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listOfCompartments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listOfSpecies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&lt;...&gt;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listOfSpecies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listOfReactions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listOfReactants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listOfReactants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geneProductAssociatio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&lt;...&gt;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geneProductAssociation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listOfReactions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/model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8668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07CC-DD1B-949C-8331-B58AEB02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982F-034A-F49F-CDAA-98DDB5C5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9" y="-158023"/>
            <a:ext cx="12420600" cy="1325563"/>
          </a:xfrm>
        </p:spPr>
        <p:txBody>
          <a:bodyPr/>
          <a:lstStyle/>
          <a:p>
            <a:r>
              <a:rPr lang="en-US" dirty="0"/>
              <a:t>Metabolic models are stored in SBML format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1502EE-D4D4-B1DE-539C-FD0E7245C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200" y="639000"/>
            <a:ext cx="4257897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&lt;model id=”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metabolic_model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listOfCompartments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/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listOfCompartments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listOfSpecies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&lt;...&gt;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listOfSpecies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listOfReactions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listOfReactants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listOfReactants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geneProductAssociatio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&lt;...&gt;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geneProductAssociation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listOfReactions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/model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A6CCF-1A5A-55C6-92CC-B082B2F1E9B8}"/>
              </a:ext>
            </a:extLst>
          </p:cNvPr>
          <p:cNvSpPr txBox="1"/>
          <p:nvPr/>
        </p:nvSpPr>
        <p:spPr>
          <a:xfrm>
            <a:off x="7978011" y="1392690"/>
            <a:ext cx="2562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id=“c” name=”</a:t>
            </a:r>
            <a:r>
              <a:rPr lang="en-US" sz="1600" b="1" dirty="0"/>
              <a:t>cytoplasm</a:t>
            </a:r>
            <a:r>
              <a:rPr lang="en-US" sz="1600" dirty="0"/>
              <a:t>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FC2BA6-E5C4-0F05-84CE-3848501D7409}"/>
              </a:ext>
            </a:extLst>
          </p:cNvPr>
          <p:cNvCxnSpPr>
            <a:cxnSpLocks/>
          </p:cNvCxnSpPr>
          <p:nvPr/>
        </p:nvCxnSpPr>
        <p:spPr>
          <a:xfrm flipH="1">
            <a:off x="6276028" y="1562864"/>
            <a:ext cx="1721467" cy="15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0376BC-5E0B-6DBF-A444-237EB317A604}"/>
              </a:ext>
            </a:extLst>
          </p:cNvPr>
          <p:cNvGrpSpPr/>
          <p:nvPr/>
        </p:nvGrpSpPr>
        <p:grpSpPr>
          <a:xfrm>
            <a:off x="0" y="2093407"/>
            <a:ext cx="14590025" cy="3203020"/>
            <a:chOff x="0" y="1715721"/>
            <a:chExt cx="14590025" cy="32030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B169C8-473D-5AB3-C56F-1E15DE6D22A6}"/>
                </a:ext>
              </a:extLst>
            </p:cNvPr>
            <p:cNvSpPr txBox="1"/>
            <p:nvPr/>
          </p:nvSpPr>
          <p:spPr>
            <a:xfrm>
              <a:off x="7765325" y="1715721"/>
              <a:ext cx="405700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species id=”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M_glc_D_e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 </a:t>
              </a:r>
              <a:r>
                <a:rPr lang="en-US" altLang="en-US" sz="1600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name"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D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-Glucose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</a:t>
              </a:r>
              <a:br>
                <a:rPr lang="en-US" altLang="en-US" sz="1600" dirty="0">
                  <a:cs typeface="Courier New" panose="02070309020205020404" pitchFamily="49" charset="0"/>
                </a:rPr>
              </a:b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resource ”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kegg.compound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/C00031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"</a:t>
              </a:r>
            </a:p>
            <a:p>
              <a:endParaRPr lang="en-US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8695D48-2ABA-7CA9-AE2C-2C34D76FC1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686" y="1952337"/>
              <a:ext cx="13330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5BAC69-4687-2E3B-496F-10401DB308DF}"/>
                </a:ext>
              </a:extLst>
            </p:cNvPr>
            <p:cNvSpPr txBox="1"/>
            <p:nvPr/>
          </p:nvSpPr>
          <p:spPr>
            <a:xfrm>
              <a:off x="0" y="3425722"/>
              <a:ext cx="6400800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reaction id=”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R_Hex1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”, reversible=“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F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 name = “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hexokinase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</a:t>
              </a:r>
            </a:p>
            <a:p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resource ”</a:t>
              </a:r>
              <a:r>
                <a:rPr lang="en-US" altLang="en-US" sz="1600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k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egg.reaction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/R00299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</a:t>
              </a:r>
            </a:p>
            <a:p>
              <a:r>
                <a:rPr lang="en-US" altLang="en-US" sz="1600" dirty="0">
                  <a:cs typeface="Courier New" panose="02070309020205020404" pitchFamily="49" charset="0"/>
                </a:rPr>
                <a:t>resource ”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identifiers.org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/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uniprot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/P19367</a:t>
              </a:r>
              <a:r>
                <a:rPr lang="en-US" altLang="en-US" sz="1800" dirty="0">
                  <a:cs typeface="Courier New" panose="02070309020205020404" pitchFamily="49" charset="0"/>
                </a:rPr>
                <a:t>”</a:t>
              </a:r>
            </a:p>
            <a:p>
              <a:r>
                <a:rPr lang="en-US" altLang="en-US" sz="1600" b="1" dirty="0" err="1">
                  <a:cs typeface="Courier New" panose="02070309020205020404" pitchFamily="49" charset="0"/>
                </a:rPr>
                <a:t>lowerBound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 = 0</a:t>
              </a:r>
            </a:p>
            <a:p>
              <a:r>
                <a:rPr lang="en-US" altLang="en-US" sz="1600" b="1" dirty="0" err="1">
                  <a:cs typeface="Courier New" panose="02070309020205020404" pitchFamily="49" charset="0"/>
                </a:rPr>
                <a:t>upperBound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 = 1000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498E5D0-5591-5040-6F9E-F7235040E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107" y="3417680"/>
              <a:ext cx="19512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09D352-49AA-F309-0DC9-3463DDA72626}"/>
                </a:ext>
              </a:extLst>
            </p:cNvPr>
            <p:cNvSpPr txBox="1"/>
            <p:nvPr/>
          </p:nvSpPr>
          <p:spPr>
            <a:xfrm>
              <a:off x="8172897" y="3311583"/>
              <a:ext cx="6417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600" dirty="0">
                  <a:cs typeface="Courier New" panose="02070309020205020404" pitchFamily="49" charset="0"/>
                </a:rPr>
                <a:t>species="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M_atp_c</a:t>
              </a:r>
              <a:r>
                <a:rPr lang="en-US" altLang="en-US" sz="1600" dirty="0">
                  <a:cs typeface="Courier New" panose="02070309020205020404" pitchFamily="49" charset="0"/>
                </a:rPr>
                <a:t>"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  <a:p>
              <a:r>
                <a:rPr lang="en-US" altLang="en-US" sz="1600" dirty="0">
                  <a:cs typeface="Courier New" panose="02070309020205020404" pitchFamily="49" charset="0"/>
                </a:rPr>
                <a:t>species=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“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M_glc_D_c</a:t>
              </a:r>
              <a:r>
                <a:rPr lang="en-US" altLang="en-US" sz="1600" dirty="0">
                  <a:cs typeface="Courier New" panose="02070309020205020404" pitchFamily="49" charset="0"/>
                </a:rPr>
                <a:t>”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65C3B9D-A89D-FBFC-1774-630095B11F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7851" y="3875287"/>
              <a:ext cx="1585906" cy="43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25AF47E-C415-AF5F-8751-202BD2571B23}"/>
                </a:ext>
              </a:extLst>
            </p:cNvPr>
            <p:cNvSpPr txBox="1"/>
            <p:nvPr/>
          </p:nvSpPr>
          <p:spPr>
            <a:xfrm>
              <a:off x="8172897" y="4333966"/>
              <a:ext cx="6417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600" dirty="0">
                  <a:cs typeface="Courier New" panose="02070309020205020404" pitchFamily="49" charset="0"/>
                </a:rPr>
                <a:t>species="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M_adp_c</a:t>
              </a:r>
              <a:r>
                <a:rPr lang="en-US" altLang="en-US" sz="1600" dirty="0">
                  <a:cs typeface="Courier New" panose="02070309020205020404" pitchFamily="49" charset="0"/>
                </a:rPr>
                <a:t>"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  <a:p>
              <a:r>
                <a:rPr lang="en-US" altLang="en-US" sz="1600" dirty="0">
                  <a:cs typeface="Courier New" panose="02070309020205020404" pitchFamily="49" charset="0"/>
                </a:rPr>
                <a:t>species= 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“M_g6p_c</a:t>
              </a:r>
              <a:r>
                <a:rPr lang="en-US" altLang="en-US" sz="1600" dirty="0">
                  <a:cs typeface="Courier New" panose="02070309020205020404" pitchFamily="49" charset="0"/>
                </a:rPr>
                <a:t>”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4C5762B-C3E8-6B97-9F87-ADFBE6C10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4182" y="4641874"/>
              <a:ext cx="1678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7F13251-EB47-B088-3D0B-DCAF489CD755}"/>
              </a:ext>
            </a:extLst>
          </p:cNvPr>
          <p:cNvSpPr txBox="1"/>
          <p:nvPr/>
        </p:nvSpPr>
        <p:spPr>
          <a:xfrm>
            <a:off x="399449" y="2742319"/>
            <a:ext cx="3983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id="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G_b4232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label="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b4232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name=”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hex1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”</a:t>
            </a:r>
            <a:endParaRPr lang="en-US" dirty="0"/>
          </a:p>
          <a:p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id="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G_b4233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label="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b4233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name=”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hex2</a:t>
            </a:r>
          </a:p>
          <a:p>
            <a:endParaRPr lang="en-US" sz="1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699BAE-8173-DF2B-5173-F7CCC2378080}"/>
              </a:ext>
            </a:extLst>
          </p:cNvPr>
          <p:cNvCxnSpPr>
            <a:cxnSpLocks/>
          </p:cNvCxnSpPr>
          <p:nvPr/>
        </p:nvCxnSpPr>
        <p:spPr>
          <a:xfrm>
            <a:off x="4229100" y="3013422"/>
            <a:ext cx="1178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95FDBE6-93A3-51B7-B91D-AA1A058FF46E}"/>
              </a:ext>
            </a:extLst>
          </p:cNvPr>
          <p:cNvSpPr txBox="1"/>
          <p:nvPr/>
        </p:nvSpPr>
        <p:spPr>
          <a:xfrm>
            <a:off x="-262739" y="5204756"/>
            <a:ext cx="73396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         &lt;</a:t>
            </a:r>
            <a:r>
              <a:rPr lang="en-US" sz="1600" dirty="0" err="1"/>
              <a:t>fbc:</a:t>
            </a:r>
            <a:r>
              <a:rPr lang="en-US" sz="1600" b="1" dirty="0" err="1"/>
              <a:t>or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    &lt;</a:t>
            </a:r>
            <a:r>
              <a:rPr lang="en-US" sz="1600" dirty="0" err="1"/>
              <a:t>fbc:geneProductRef</a:t>
            </a:r>
            <a:r>
              <a:rPr lang="en-US" sz="1600" dirty="0"/>
              <a:t> </a:t>
            </a:r>
            <a:r>
              <a:rPr lang="en-US" sz="1600" dirty="0" err="1"/>
              <a:t>fbc:geneProduct</a:t>
            </a:r>
            <a:r>
              <a:rPr lang="en-US" sz="1600" dirty="0"/>
              <a:t>="</a:t>
            </a:r>
            <a:r>
              <a:rPr lang="en-US" sz="1600" b="1" dirty="0"/>
              <a:t>G_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 b4232 </a:t>
            </a:r>
            <a:r>
              <a:rPr lang="en-US" sz="1600" dirty="0"/>
              <a:t>"/&gt;</a:t>
            </a:r>
          </a:p>
          <a:p>
            <a:r>
              <a:rPr lang="en-US" sz="1600" dirty="0"/>
              <a:t>              &lt;</a:t>
            </a:r>
            <a:r>
              <a:rPr lang="en-US" sz="1600" dirty="0" err="1"/>
              <a:t>fbc:geneProductRef</a:t>
            </a:r>
            <a:r>
              <a:rPr lang="en-US" sz="1600" dirty="0"/>
              <a:t> </a:t>
            </a:r>
            <a:r>
              <a:rPr lang="en-US" sz="1600" dirty="0" err="1"/>
              <a:t>fbc:geneProduct</a:t>
            </a:r>
            <a:r>
              <a:rPr lang="en-US" sz="1600" dirty="0"/>
              <a:t>="</a:t>
            </a:r>
            <a:r>
              <a:rPr lang="en-US" sz="1600" b="1" dirty="0"/>
              <a:t>G_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 b42323</a:t>
            </a:r>
            <a:r>
              <a:rPr lang="en-US" sz="1600" dirty="0"/>
              <a:t>"/&gt;</a:t>
            </a:r>
          </a:p>
          <a:p>
            <a:r>
              <a:rPr lang="en-US" sz="1600" dirty="0"/>
              <a:t>          &lt;/</a:t>
            </a:r>
            <a:r>
              <a:rPr lang="en-US" sz="1600" dirty="0" err="1"/>
              <a:t>fbc:or</a:t>
            </a:r>
            <a:r>
              <a:rPr lang="en-US" sz="1600" dirty="0"/>
              <a:t>&gt;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7C14A05-69ED-06E5-74BD-E53B3960D3B3}"/>
              </a:ext>
            </a:extLst>
          </p:cNvPr>
          <p:cNvCxnSpPr>
            <a:cxnSpLocks/>
          </p:cNvCxnSpPr>
          <p:nvPr/>
        </p:nvCxnSpPr>
        <p:spPr>
          <a:xfrm>
            <a:off x="5130429" y="5727036"/>
            <a:ext cx="486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31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168221" y="342057"/>
            <a:ext cx="11588349" cy="916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 dirty="0">
                <a:solidFill>
                  <a:srgbClr val="002060"/>
                </a:solidFill>
                <a:latin typeface="+mj-lt"/>
                <a:ea typeface="DejaVu Sans"/>
              </a:rPr>
              <a:t>Metabolic models consist of reactions, metabolites and attributes</a:t>
            </a:r>
            <a:endParaRPr lang="en-US" sz="2800" b="0" strike="noStrike" spc="-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307922" y="1115745"/>
            <a:ext cx="2239313" cy="646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 dirty="0">
                <a:latin typeface="Arial"/>
              </a:rPr>
              <a:t>Reaction: </a:t>
            </a:r>
            <a:r>
              <a:rPr lang="en-US" sz="1800" b="0" strike="noStrike" spc="-1" dirty="0">
                <a:latin typeface="Arial"/>
              </a:rPr>
              <a:t> </a:t>
            </a:r>
          </a:p>
          <a:p>
            <a:r>
              <a:rPr lang="en-US" sz="2800" b="0" strike="noStrike" spc="-1" dirty="0">
                <a:solidFill>
                  <a:srgbClr val="002060"/>
                </a:solidFill>
                <a:latin typeface="Arial"/>
              </a:rPr>
              <a:t>Hexokinase</a:t>
            </a:r>
          </a:p>
        </p:txBody>
      </p:sp>
      <p:sp>
        <p:nvSpPr>
          <p:cNvPr id="123" name="TextShape 5"/>
          <p:cNvSpPr txBox="1"/>
          <p:nvPr/>
        </p:nvSpPr>
        <p:spPr>
          <a:xfrm>
            <a:off x="307922" y="4153585"/>
            <a:ext cx="2343485" cy="646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 dirty="0">
                <a:latin typeface="Arial"/>
              </a:rPr>
              <a:t>Metabolite: </a:t>
            </a:r>
            <a:r>
              <a:rPr lang="en-US" sz="1800" b="0" strike="noStrike" spc="-1" dirty="0">
                <a:latin typeface="Arial"/>
              </a:rPr>
              <a:t> </a:t>
            </a:r>
          </a:p>
          <a:p>
            <a:r>
              <a:rPr lang="en-US" sz="2800" b="0" strike="noStrike" spc="-1" dirty="0">
                <a:solidFill>
                  <a:schemeClr val="accent2"/>
                </a:solidFill>
                <a:latin typeface="Arial"/>
              </a:rPr>
              <a:t>Glucose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BDA4C37-6974-6B44-8844-D0508BFB5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882391"/>
              </p:ext>
            </p:extLst>
          </p:nvPr>
        </p:nvGraphicFramePr>
        <p:xfrm>
          <a:off x="2996384" y="1001442"/>
          <a:ext cx="8560616" cy="3037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51850">
                  <a:extLst>
                    <a:ext uri="{9D8B030D-6E8A-4147-A177-3AD203B41FA5}">
                      <a16:colId xmlns:a16="http://schemas.microsoft.com/office/drawing/2014/main" val="844041171"/>
                    </a:ext>
                  </a:extLst>
                </a:gridCol>
                <a:gridCol w="5608766">
                  <a:extLst>
                    <a:ext uri="{9D8B030D-6E8A-4147-A177-3AD203B41FA5}">
                      <a16:colId xmlns:a16="http://schemas.microsoft.com/office/drawing/2014/main" val="65547901"/>
                    </a:ext>
                  </a:extLst>
                </a:gridCol>
              </a:tblGrid>
              <a:tr h="271877">
                <a:tc>
                  <a:txBody>
                    <a:bodyPr/>
                    <a:lstStyle/>
                    <a:p>
                      <a:r>
                        <a:rPr lang="en-US" dirty="0"/>
                        <a:t>unique reaction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R_HEX1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93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hexokinase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53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equation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M_atp_c + M_glc_D_c       M_adp_c + M_g6p_c + M_H_c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50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Gene-Protein-Reaction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/>
                        <a:t>ENSG00000106633 or</a:t>
                      </a:r>
                    </a:p>
                    <a:p>
                      <a:r>
                        <a:rPr lang="en-US" sz="1800" b="0" strike="noStrike" spc="-1" dirty="0"/>
                        <a:t>ENSG00000156515 or</a:t>
                      </a:r>
                    </a:p>
                    <a:p>
                      <a:r>
                        <a:rPr lang="en-US" sz="1800" b="0" strike="noStrike" spc="-1" dirty="0"/>
                        <a:t>ENSG00000159399 or</a:t>
                      </a:r>
                    </a:p>
                    <a:p>
                      <a:r>
                        <a:rPr lang="en-US" sz="1800" b="0" strike="noStrike" spc="-1" dirty="0"/>
                        <a:t>ENSG00000160883</a:t>
                      </a:r>
                      <a:endParaRPr lang="en-US" sz="18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18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reaction upper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87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reaction lower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57864"/>
                  </a:ext>
                </a:extLst>
              </a:tr>
            </a:tbl>
          </a:graphicData>
        </a:graphic>
      </p:graphicFrame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12A51944-4A2B-E24D-869E-3EED07D0F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939684"/>
              </p:ext>
            </p:extLst>
          </p:nvPr>
        </p:nvGraphicFramePr>
        <p:xfrm>
          <a:off x="2996384" y="4197987"/>
          <a:ext cx="5564556" cy="2494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01154">
                  <a:extLst>
                    <a:ext uri="{9D8B030D-6E8A-4147-A177-3AD203B41FA5}">
                      <a16:colId xmlns:a16="http://schemas.microsoft.com/office/drawing/2014/main" val="844041171"/>
                    </a:ext>
                  </a:extLst>
                </a:gridCol>
                <a:gridCol w="2863402">
                  <a:extLst>
                    <a:ext uri="{9D8B030D-6E8A-4147-A177-3AD203B41FA5}">
                      <a16:colId xmlns:a16="http://schemas.microsoft.com/office/drawing/2014/main" val="65547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unique species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M_glc_D_c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93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D_glucose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53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/>
                        <a:t>Cytosol</a:t>
                      </a:r>
                      <a:endParaRPr lang="en-US" sz="1800" b="0" strike="noStrike" spc="-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18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chemical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C6H1206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87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KEGG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C00031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5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44954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A68C1D-B23C-A743-AE23-CEEEF9D32362}"/>
              </a:ext>
            </a:extLst>
          </p:cNvPr>
          <p:cNvCxnSpPr>
            <a:cxnSpLocks/>
          </p:cNvCxnSpPr>
          <p:nvPr/>
        </p:nvCxnSpPr>
        <p:spPr>
          <a:xfrm>
            <a:off x="8143460" y="1952610"/>
            <a:ext cx="3005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6901-E02F-FDFA-A107-EC37151A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49F1C-D2F4-D281-2904-B662F563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256032"/>
            <a:ext cx="7879842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Gene-Protein Reaction rules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18221-A151-F9A4-E6A8-CB25992B297A}"/>
              </a:ext>
            </a:extLst>
          </p:cNvPr>
          <p:cNvSpPr txBox="1"/>
          <p:nvPr/>
        </p:nvSpPr>
        <p:spPr>
          <a:xfrm>
            <a:off x="1676248" y="1534509"/>
            <a:ext cx="88372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GPR rules are used to logically map genes/proteins to reactions</a:t>
            </a:r>
          </a:p>
        </p:txBody>
      </p:sp>
      <p:pic>
        <p:nvPicPr>
          <p:cNvPr id="6" name="Picture 5" descr="page20image19157056">
            <a:extLst>
              <a:ext uri="{FF2B5EF4-FFF2-40B4-BE49-F238E27FC236}">
                <a16:creationId xmlns:a16="http://schemas.microsoft.com/office/drawing/2014/main" id="{30D8B7FD-D6CD-188A-F4D4-1CEE9BF83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72" y="2259668"/>
            <a:ext cx="9691686" cy="379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D09EDA-C4ED-F33D-F6A1-1E688761882E}"/>
              </a:ext>
            </a:extLst>
          </p:cNvPr>
          <p:cNvSpPr txBox="1"/>
          <p:nvPr/>
        </p:nvSpPr>
        <p:spPr>
          <a:xfrm>
            <a:off x="175320" y="6417302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Image from Machado D, et al. (2016) </a:t>
            </a:r>
            <a:r>
              <a:rPr lang="en-GB" dirty="0" err="1"/>
              <a:t>PLoS</a:t>
            </a:r>
            <a:r>
              <a:rPr lang="en-GB" dirty="0"/>
              <a:t> Computational Biology</a:t>
            </a:r>
          </a:p>
        </p:txBody>
      </p:sp>
    </p:spTree>
    <p:extLst>
      <p:ext uri="{BB962C8B-B14F-4D97-AF65-F5344CB8AC3E}">
        <p14:creationId xmlns:p14="http://schemas.microsoft.com/office/powerpoint/2010/main" val="216176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0945-0430-EED3-6993-91FD2489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11" y="365125"/>
            <a:ext cx="11469189" cy="1325563"/>
          </a:xfrm>
        </p:spPr>
        <p:txBody>
          <a:bodyPr/>
          <a:lstStyle/>
          <a:p>
            <a:r>
              <a:rPr lang="en-US" dirty="0"/>
              <a:t>Exchange reactions allow metabolite uptake / exit</a:t>
            </a:r>
          </a:p>
        </p:txBody>
      </p:sp>
      <p:pic>
        <p:nvPicPr>
          <p:cNvPr id="5" name="Content Placeholder 5" descr="Diagram of a diagram of the cycle of fats&#10;&#10;AI-generated content may be incorrect.">
            <a:extLst>
              <a:ext uri="{FF2B5EF4-FFF2-40B4-BE49-F238E27FC236}">
                <a16:creationId xmlns:a16="http://schemas.microsoft.com/office/drawing/2014/main" id="{9C3DD817-797A-C52D-B7AC-2739FE54C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157747" y="1410831"/>
            <a:ext cx="5989715" cy="544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18D9E1-353C-3819-CEDC-0F8EA1AA2223}"/>
              </a:ext>
            </a:extLst>
          </p:cNvPr>
          <p:cNvSpPr txBox="1"/>
          <p:nvPr/>
        </p:nvSpPr>
        <p:spPr>
          <a:xfrm>
            <a:off x="114300" y="6488668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Chapman et al.,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00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81C9-CABC-E7C9-3A6A-F8779815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3" y="365125"/>
            <a:ext cx="10885967" cy="1325563"/>
          </a:xfrm>
        </p:spPr>
        <p:txBody>
          <a:bodyPr/>
          <a:lstStyle/>
          <a:p>
            <a:r>
              <a:rPr lang="en-US" dirty="0" err="1"/>
              <a:t>COBRApy</a:t>
            </a:r>
            <a:r>
              <a:rPr lang="en-US" dirty="0"/>
              <a:t> is the most used Python package to analsye and simulate metabolic models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D805709-76AD-16B5-B880-6791AD789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5616692" cy="480218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882996-C969-B8A6-FB98-22559FC4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692" y="2731959"/>
            <a:ext cx="6241893" cy="3629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513491-5CD7-4338-B4C9-FF6223C18FAB}"/>
              </a:ext>
            </a:extLst>
          </p:cNvPr>
          <p:cNvSpPr txBox="1"/>
          <p:nvPr/>
        </p:nvSpPr>
        <p:spPr>
          <a:xfrm>
            <a:off x="37349" y="6492874"/>
            <a:ext cx="587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link.springer.com</a:t>
            </a:r>
            <a:r>
              <a:rPr lang="en-US" dirty="0">
                <a:hlinkClick r:id="rId4"/>
              </a:rPr>
              <a:t>/article/10.1186/1752-0509-7-74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416009-BCF4-5BA8-0AEF-1BF1E1ABC76B}"/>
              </a:ext>
            </a:extLst>
          </p:cNvPr>
          <p:cNvSpPr txBox="1"/>
          <p:nvPr/>
        </p:nvSpPr>
        <p:spPr>
          <a:xfrm>
            <a:off x="6096000" y="2066182"/>
            <a:ext cx="5690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Constraint-Based Reconstruction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228068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9FCE-46EB-4F6C-FF55-AB6261EF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16" y="22896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cobra.io_read_sbml_model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creates a model object with 3 core classes</a:t>
            </a:r>
          </a:p>
        </p:txBody>
      </p:sp>
      <p:pic>
        <p:nvPicPr>
          <p:cNvPr id="9" name="Content Placeholder 8" descr="A diagram of a program&#10;&#10;AI-generated content may be incorrect.">
            <a:extLst>
              <a:ext uri="{FF2B5EF4-FFF2-40B4-BE49-F238E27FC236}">
                <a16:creationId xmlns:a16="http://schemas.microsoft.com/office/drawing/2014/main" id="{7A31931F-0FC5-491D-499D-7AEA8BC4B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52" y="1421618"/>
            <a:ext cx="8895273" cy="5204169"/>
          </a:xfrm>
          <a:prstGeom prst="rect">
            <a:avLst/>
          </a:prstGeom>
        </p:spPr>
      </p:pic>
      <p:pic>
        <p:nvPicPr>
          <p:cNvPr id="18" name="Picture 17" descr="A black rectangular object with text&#10;&#10;AI-generated content may be incorrect.">
            <a:extLst>
              <a:ext uri="{FF2B5EF4-FFF2-40B4-BE49-F238E27FC236}">
                <a16:creationId xmlns:a16="http://schemas.microsoft.com/office/drawing/2014/main" id="{E0047D0B-560A-2707-2718-619909744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005" y="1909549"/>
            <a:ext cx="1110677" cy="44941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EDF81CF-C592-B9CB-A020-EB1242A1C53B}"/>
                  </a:ext>
                </a:extLst>
              </p14:cNvPr>
              <p14:cNvContentPartPr/>
              <p14:nvPr/>
            </p14:nvContentPartPr>
            <p14:xfrm>
              <a:off x="1773292" y="3554117"/>
              <a:ext cx="1064520" cy="30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EDF81CF-C592-B9CB-A020-EB1242A1C5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3652" y="3374477"/>
                <a:ext cx="1244160" cy="3898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C0FF45A3-63D9-ED7C-E430-A3184A76A894}"/>
              </a:ext>
            </a:extLst>
          </p:cNvPr>
          <p:cNvSpPr txBox="1"/>
          <p:nvPr/>
        </p:nvSpPr>
        <p:spPr>
          <a:xfrm>
            <a:off x="37349" y="6492874"/>
            <a:ext cx="587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https://</a:t>
            </a:r>
            <a:r>
              <a:rPr lang="en-US" dirty="0" err="1">
                <a:hlinkClick r:id="rId6"/>
              </a:rPr>
              <a:t>link.springer.com</a:t>
            </a:r>
            <a:r>
              <a:rPr lang="en-US" dirty="0">
                <a:hlinkClick r:id="rId6"/>
              </a:rPr>
              <a:t>/article/10.1186/1752-0509-7-74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00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C6DE-0775-824A-4014-B735209F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3A1818-78A3-8C19-EC42-72E4BBA9BA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51797" y="1170461"/>
            <a:ext cx="9361234" cy="1144800"/>
          </a:xfrm>
        </p:spPr>
        <p:txBody>
          <a:bodyPr/>
          <a:lstStyle/>
          <a:p>
            <a:pPr marL="0" indent="0">
              <a:buNone/>
            </a:pPr>
            <a:r>
              <a:rPr lang="en-US" sz="7200" dirty="0">
                <a:solidFill>
                  <a:srgbClr val="002060"/>
                </a:solidFill>
              </a:rPr>
              <a:t>Flux Balance Analysis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689BAD-0E81-51F3-D98E-1C79118C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Metabolic models are simulated using…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DF566-7CC9-22FC-62F6-932A1040A1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73" b="11001"/>
          <a:stretch/>
        </p:blipFill>
        <p:spPr>
          <a:xfrm>
            <a:off x="609480" y="2367308"/>
            <a:ext cx="4488873" cy="4350863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890DDEF-B1B4-C970-6838-A84B1A1D19C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67433" y="4060365"/>
            <a:ext cx="6093291" cy="1144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… to predict steady state metabolic fluxes…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B0D6E9B-3456-4902-4064-9888B4586B3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67435" y="2493694"/>
            <a:ext cx="6093291" cy="1144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FBA implements linear programming on the metabolic model…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5726E64-1E58-86D0-A1B5-11A075CA415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67434" y="5286188"/>
            <a:ext cx="6093291" cy="1144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… subject to imposed constraints of each reaction!</a:t>
            </a:r>
          </a:p>
        </p:txBody>
      </p:sp>
    </p:spTree>
    <p:extLst>
      <p:ext uri="{BB962C8B-B14F-4D97-AF65-F5344CB8AC3E}">
        <p14:creationId xmlns:p14="http://schemas.microsoft.com/office/powerpoint/2010/main" val="1376563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4042-2A8C-F4B4-B909-CAE8351B4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34258"/>
            <a:ext cx="10972440" cy="1144800"/>
          </a:xfrm>
        </p:spPr>
        <p:txBody>
          <a:bodyPr/>
          <a:lstStyle/>
          <a:p>
            <a:r>
              <a:rPr lang="en-US" dirty="0"/>
              <a:t> Visualising flux distributions with Escher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6F0CC-C119-3C21-886D-DF6C85311F3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1354" y="1249311"/>
            <a:ext cx="12215446" cy="2179689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https://escher.github.io</a:t>
            </a:r>
            <a:r>
              <a:rPr lang="en-US" dirty="0"/>
              <a:t> – automates flux visulisation for a few pathways for a few organisms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EFBF1-B28D-9FA0-5B7D-73481BA24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4" y="2680004"/>
            <a:ext cx="5528245" cy="417799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76E4B0-CEAC-4527-96FA-5A3AB36D0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700" y="2534618"/>
            <a:ext cx="5313913" cy="432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73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356B-D1EA-0F34-A2D3-E85465BC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6425-6A8B-81BD-511E-E78E76949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584" y="1843088"/>
            <a:ext cx="11603967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hlinkClick r:id="rId3"/>
              </a:rPr>
              <a:t>1. Installed Anaconda </a:t>
            </a:r>
            <a:r>
              <a:rPr lang="en-US" sz="8000" dirty="0" err="1">
                <a:hlinkClick r:id="rId3"/>
              </a:rPr>
              <a:t>Navigator</a:t>
            </a:r>
            <a:r>
              <a:rPr lang="en-US" sz="8000" dirty="0" err="1"/>
              <a:t>Created</a:t>
            </a:r>
            <a:r>
              <a:rPr lang="en-US" sz="8000" dirty="0"/>
              <a:t> a Conda environment using </a:t>
            </a:r>
            <a:r>
              <a:rPr lang="en-US" sz="8000" b="1" dirty="0"/>
              <a:t>Terminal </a:t>
            </a:r>
            <a:r>
              <a:rPr lang="en-US" sz="8000" dirty="0"/>
              <a:t>(Mac) An environment allows to install specific packages to be used within that environment</a:t>
            </a:r>
            <a:r>
              <a:rPr lang="en-GB" sz="7200" dirty="0"/>
              <a:t>$ </a:t>
            </a:r>
          </a:p>
          <a:p>
            <a:pPr marL="0" indent="0">
              <a:buNone/>
            </a:pPr>
            <a:r>
              <a:rPr lang="en-GB" sz="7200" dirty="0"/>
              <a:t>	$  </a:t>
            </a:r>
            <a:r>
              <a:rPr lang="en-GB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create -n </a:t>
            </a:r>
            <a:r>
              <a:rPr lang="en-GB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cobra_env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python=3.11</a:t>
            </a:r>
          </a:p>
          <a:p>
            <a:pPr marL="0" indent="0">
              <a:buNone/>
            </a:pPr>
            <a:r>
              <a:rPr lang="en-GB" sz="7200" dirty="0"/>
              <a:t>	$ </a:t>
            </a:r>
            <a:r>
              <a:rPr lang="en-GB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activate </a:t>
            </a:r>
            <a:r>
              <a:rPr lang="en-GB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cobra_env</a:t>
            </a:r>
            <a:endParaRPr lang="en-GB" sz="72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0" indent="-1143000">
              <a:buFont typeface="+mj-lt"/>
              <a:buAutoNum type="arabicPeriod"/>
            </a:pPr>
            <a:endParaRPr lang="en-GB" sz="72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sz="7200" dirty="0"/>
              <a:t>2. Installed </a:t>
            </a:r>
            <a:r>
              <a:rPr lang="en-GB" sz="7200" dirty="0" err="1"/>
              <a:t>COBRApy</a:t>
            </a:r>
            <a:r>
              <a:rPr lang="en-GB" sz="7200" dirty="0"/>
              <a:t> into environment</a:t>
            </a:r>
          </a:p>
          <a:p>
            <a:pPr marL="0" indent="0">
              <a:buNone/>
            </a:pPr>
            <a:r>
              <a:rPr lang="en-GB" sz="7200" dirty="0"/>
              <a:t>	$ 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cobra</a:t>
            </a:r>
          </a:p>
          <a:p>
            <a:pPr marL="0" indent="0">
              <a:buNone/>
            </a:pPr>
            <a:r>
              <a:rPr lang="en-GB" sz="7200" dirty="0"/>
              <a:t>	$ 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cobra </a:t>
            </a:r>
            <a:r>
              <a:rPr lang="en-GB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escher</a:t>
            </a:r>
            <a:endParaRPr lang="en-GB" sz="72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7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7200" dirty="0"/>
              <a:t>$ 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matplotlib</a:t>
            </a:r>
          </a:p>
          <a:p>
            <a:pPr marL="0" indent="0">
              <a:buNone/>
            </a:pPr>
            <a:endParaRPr lang="en-GB" sz="72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7200" dirty="0">
                <a:cs typeface="Courier New" panose="02070309020205020404" pitchFamily="49" charset="0"/>
              </a:rPr>
              <a:t>3. Installed </a:t>
            </a:r>
            <a:r>
              <a:rPr lang="en-GB" sz="7200" dirty="0" err="1">
                <a:cs typeface="Courier New" panose="02070309020205020404" pitchFamily="49" charset="0"/>
              </a:rPr>
              <a:t>jupyter</a:t>
            </a:r>
            <a:r>
              <a:rPr lang="en-GB" sz="7200" dirty="0">
                <a:cs typeface="Courier New" panose="02070309020205020404" pitchFamily="49" charset="0"/>
              </a:rPr>
              <a:t> notebooks into the environment</a:t>
            </a:r>
          </a:p>
          <a:p>
            <a:pPr marL="0" indent="0">
              <a:buNone/>
            </a:pPr>
            <a:r>
              <a:rPr lang="en-GB" sz="7200" dirty="0"/>
              <a:t>	$ </a:t>
            </a: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notebook </a:t>
            </a:r>
            <a:r>
              <a:rPr lang="en-GB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ipykernal</a:t>
            </a:r>
            <a:endParaRPr lang="en-GB" sz="72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7200" dirty="0">
                <a:highlight>
                  <a:srgbClr val="FFFF00"/>
                </a:highlight>
              </a:rPr>
              <a:t>	</a:t>
            </a:r>
          </a:p>
          <a:p>
            <a:pPr marL="0" indent="0">
              <a:buNone/>
            </a:pPr>
            <a:endParaRPr lang="en-GB" sz="7200" dirty="0"/>
          </a:p>
          <a:p>
            <a:pPr marL="0" indent="0">
              <a:buNone/>
            </a:pPr>
            <a:r>
              <a:rPr lang="en-GB" sz="7200" dirty="0"/>
              <a:t>3. </a:t>
            </a:r>
          </a:p>
          <a:p>
            <a:pPr marL="0" indent="0">
              <a:buNone/>
            </a:pPr>
            <a:r>
              <a:rPr lang="en-GB" sz="7200" dirty="0"/>
              <a:t>45.</a:t>
            </a:r>
          </a:p>
          <a:p>
            <a:pPr marL="514350" indent="-514350">
              <a:buAutoNum type="arabicPeriod"/>
            </a:pPr>
            <a:endParaRPr lang="en-US" sz="4500" dirty="0"/>
          </a:p>
          <a:p>
            <a:pPr marL="514350" indent="-514350">
              <a:buAutoNum type="arabicPeriod"/>
            </a:pPr>
            <a:r>
              <a:rPr lang="en-US" sz="4500" dirty="0" err="1"/>
              <a:t>Instal</a:t>
            </a:r>
            <a:r>
              <a:rPr lang="en-US" sz="4500" dirty="0"/>
              <a:t> cobra</a:t>
            </a:r>
          </a:p>
          <a:p>
            <a:pPr marL="457200" lvl="1" indent="0">
              <a:buNone/>
            </a:pPr>
            <a:endParaRPr lang="en-GB" dirty="0">
              <a:highlight>
                <a:srgbClr val="FFFF00"/>
              </a:highlight>
            </a:endParaRPr>
          </a:p>
          <a:p>
            <a:pPr lvl="1"/>
            <a:endParaRPr lang="en-GB" dirty="0">
              <a:highlight>
                <a:srgbClr val="FFFF00"/>
              </a:highlight>
            </a:endParaRPr>
          </a:p>
          <a:p>
            <a:pPr lvl="1"/>
            <a:r>
              <a:rPr lang="en-GB" sz="3300" dirty="0">
                <a:highlight>
                  <a:srgbClr val="FFFF00"/>
                </a:highlight>
              </a:rPr>
              <a:t>3. </a:t>
            </a:r>
            <a:r>
              <a:rPr lang="en-GB" dirty="0">
                <a:highlight>
                  <a:srgbClr val="FFFF00"/>
                </a:highlight>
              </a:rPr>
              <a:t>$ </a:t>
            </a:r>
            <a:r>
              <a:rPr lang="en-GB" dirty="0" err="1">
                <a:highlight>
                  <a:srgbClr val="FFFF00"/>
                </a:highlight>
              </a:rPr>
              <a:t>conda</a:t>
            </a:r>
            <a:r>
              <a:rPr lang="en-GB" dirty="0">
                <a:highlight>
                  <a:srgbClr val="FFFF00"/>
                </a:highlight>
              </a:rPr>
              <a:t> create -n </a:t>
            </a:r>
            <a:r>
              <a:rPr lang="en-GB" dirty="0" err="1">
                <a:highlight>
                  <a:srgbClr val="FFFF00"/>
                </a:highlight>
              </a:rPr>
              <a:t>cobra_env</a:t>
            </a:r>
            <a:r>
              <a:rPr lang="en-GB" dirty="0">
                <a:highlight>
                  <a:srgbClr val="FFFF00"/>
                </a:highlight>
              </a:rPr>
              <a:t> python=3.11</a:t>
            </a:r>
          </a:p>
          <a:p>
            <a:pPr marL="0" indent="0">
              <a:buNone/>
            </a:pPr>
            <a:r>
              <a:rPr lang="en-GB" sz="3300" dirty="0">
                <a:highlight>
                  <a:srgbClr val="FFFF00"/>
                </a:highlight>
              </a:rPr>
              <a:t>$	</a:t>
            </a:r>
            <a:endParaRPr lang="en-GB" dirty="0">
              <a:highlight>
                <a:srgbClr val="FFFF00"/>
              </a:highlight>
            </a:endParaRPr>
          </a:p>
          <a:p>
            <a:r>
              <a:rPr lang="en-GB" sz="3300" dirty="0">
                <a:highlight>
                  <a:srgbClr val="FFFF00"/>
                </a:highlight>
              </a:rPr>
              <a:t>$</a:t>
            </a:r>
            <a:r>
              <a:rPr lang="en-GB" dirty="0">
                <a:highlight>
                  <a:srgbClr val="FFFF00"/>
                </a:highlight>
              </a:rPr>
              <a:t> $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Paste these commands into the</a:t>
            </a:r>
          </a:p>
          <a:p>
            <a:pPr marL="0" indent="0">
              <a:buNone/>
            </a:pPr>
            <a:r>
              <a:rPr lang="en-US" dirty="0"/>
              <a:t>     terminal /  Conda prompt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GB" sz="3800" dirty="0"/>
              <a:t>$</a:t>
            </a:r>
            <a:endParaRPr lang="en-GB" sz="3300" dirty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GB" sz="3300" dirty="0"/>
              <a:t>$ </a:t>
            </a:r>
            <a:r>
              <a:rPr lang="en-GB" sz="3300" dirty="0" err="1">
                <a:highlight>
                  <a:srgbClr val="FFFF00"/>
                </a:highlight>
              </a:rPr>
              <a:t>conda</a:t>
            </a:r>
            <a:r>
              <a:rPr lang="en-GB" sz="3300" dirty="0">
                <a:highlight>
                  <a:srgbClr val="FFFF00"/>
                </a:highlight>
              </a:rPr>
              <a:t> activate </a:t>
            </a:r>
            <a:r>
              <a:rPr lang="en-GB" sz="3300" dirty="0" err="1">
                <a:highlight>
                  <a:srgbClr val="FFFF00"/>
                </a:highlight>
              </a:rPr>
              <a:t>cobra_env</a:t>
            </a:r>
            <a:endParaRPr lang="en-GB" sz="33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F7DFFAC-B89F-9C22-FA66-1C1AA6A95FEF}"/>
              </a:ext>
            </a:extLst>
          </p:cNvPr>
          <p:cNvSpPr txBox="1">
            <a:spLocks/>
          </p:cNvSpPr>
          <p:nvPr/>
        </p:nvSpPr>
        <p:spPr>
          <a:xfrm>
            <a:off x="337584" y="517525"/>
            <a:ext cx="111686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Demonstration: uploading and inspecting </a:t>
            </a:r>
            <a:r>
              <a:rPr lang="en-US" i="1" dirty="0"/>
              <a:t>a </a:t>
            </a:r>
            <a:r>
              <a:rPr lang="en-US" dirty="0"/>
              <a:t>GEM using </a:t>
            </a:r>
            <a:r>
              <a:rPr lang="en-US" dirty="0" err="1"/>
              <a:t>COBRApy</a:t>
            </a:r>
            <a:endParaRPr lang="en-US" dirty="0"/>
          </a:p>
        </p:txBody>
      </p:sp>
      <p:pic>
        <p:nvPicPr>
          <p:cNvPr id="16" name="Graphic 15" descr="Monitor with solid fill">
            <a:extLst>
              <a:ext uri="{FF2B5EF4-FFF2-40B4-BE49-F238E27FC236}">
                <a16:creationId xmlns:a16="http://schemas.microsoft.com/office/drawing/2014/main" id="{A3F7E199-FCCB-B870-CBF8-EE735D05F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983" y="2820453"/>
            <a:ext cx="4743433" cy="47434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39283AB-CE29-AECC-0568-9CB3281649F9}"/>
              </a:ext>
            </a:extLst>
          </p:cNvPr>
          <p:cNvSpPr/>
          <p:nvPr/>
        </p:nvSpPr>
        <p:spPr>
          <a:xfrm>
            <a:off x="8895999" y="4343970"/>
            <a:ext cx="1665239" cy="1188195"/>
          </a:xfrm>
          <a:prstGeom prst="rect">
            <a:avLst/>
          </a:prstGeom>
          <a:solidFill>
            <a:srgbClr val="F7BD7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cobra_env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87C0A9-E94B-5B55-3267-67ECD0383050}"/>
              </a:ext>
            </a:extLst>
          </p:cNvPr>
          <p:cNvSpPr txBox="1"/>
          <p:nvPr/>
        </p:nvSpPr>
        <p:spPr>
          <a:xfrm>
            <a:off x="4092539" y="2998853"/>
            <a:ext cx="27881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Python 3.11</a:t>
            </a:r>
          </a:p>
          <a:p>
            <a:pPr algn="r"/>
            <a:r>
              <a:rPr lang="en-US" b="1" dirty="0"/>
              <a:t>install </a:t>
            </a:r>
            <a:r>
              <a:rPr lang="en-US" b="1" dirty="0" err="1"/>
              <a:t>COBRApy</a:t>
            </a:r>
            <a:endParaRPr lang="en-US" b="1" dirty="0"/>
          </a:p>
          <a:p>
            <a:pPr algn="r"/>
            <a:r>
              <a:rPr lang="en-US" b="1" dirty="0"/>
              <a:t>install </a:t>
            </a:r>
            <a:r>
              <a:rPr lang="en-US" b="1" dirty="0" err="1"/>
              <a:t>jupyter</a:t>
            </a:r>
            <a:r>
              <a:rPr lang="en-US" b="1" dirty="0"/>
              <a:t> notebooks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1339D7-BAF2-DBDB-094D-EBFFCB851727}"/>
              </a:ext>
            </a:extLst>
          </p:cNvPr>
          <p:cNvCxnSpPr>
            <a:cxnSpLocks/>
          </p:cNvCxnSpPr>
          <p:nvPr/>
        </p:nvCxnSpPr>
        <p:spPr>
          <a:xfrm>
            <a:off x="6866751" y="3185376"/>
            <a:ext cx="2119792" cy="1281868"/>
          </a:xfrm>
          <a:prstGeom prst="straightConnector1">
            <a:avLst/>
          </a:prstGeom>
          <a:ln w="444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0F2F22-98F1-900A-10BF-0DF8BFF3F64F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>
            <a:off x="6880738" y="3460518"/>
            <a:ext cx="2015261" cy="1477550"/>
          </a:xfrm>
          <a:prstGeom prst="straightConnector1">
            <a:avLst/>
          </a:prstGeom>
          <a:ln w="444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86E969-6FBE-9D88-45D9-A567DDE6F73E}"/>
              </a:ext>
            </a:extLst>
          </p:cNvPr>
          <p:cNvCxnSpPr>
            <a:cxnSpLocks/>
          </p:cNvCxnSpPr>
          <p:nvPr/>
        </p:nvCxnSpPr>
        <p:spPr>
          <a:xfrm>
            <a:off x="6550429" y="3883090"/>
            <a:ext cx="2436114" cy="1309080"/>
          </a:xfrm>
          <a:prstGeom prst="straightConnector1">
            <a:avLst/>
          </a:prstGeom>
          <a:ln w="444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218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64120-D24D-6BC1-5E8B-2D2C32D1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61BA-46D8-2C9D-AC4A-B3D1579F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692EB4-D1A0-F2B9-98B1-A7945B1147F2}"/>
              </a:ext>
            </a:extLst>
          </p:cNvPr>
          <p:cNvSpPr txBox="1">
            <a:spLocks/>
          </p:cNvSpPr>
          <p:nvPr/>
        </p:nvSpPr>
        <p:spPr>
          <a:xfrm>
            <a:off x="503582" y="1690688"/>
            <a:ext cx="11688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genome scale model is a collection of an organism's metabolism</a:t>
            </a:r>
          </a:p>
          <a:p>
            <a:r>
              <a:rPr lang="en-US" dirty="0"/>
              <a:t>Many GSMM modes exist for different species</a:t>
            </a:r>
          </a:p>
          <a:p>
            <a:r>
              <a:rPr lang="en-US" dirty="0"/>
              <a:t>Downloaded from BIGG database</a:t>
            </a:r>
          </a:p>
          <a:p>
            <a:r>
              <a:rPr lang="en-US" dirty="0"/>
              <a:t>Stored In SBML format which lists compartments, metabolites, reactions, genes and gene-protein reaction rules</a:t>
            </a:r>
          </a:p>
          <a:p>
            <a:r>
              <a:rPr lang="en-US" dirty="0"/>
              <a:t>Each reaction has a set of bounds that determines that reactions activity</a:t>
            </a:r>
          </a:p>
          <a:p>
            <a:r>
              <a:rPr lang="en-US" dirty="0"/>
              <a:t>GSMMs can be loaded and </a:t>
            </a:r>
            <a:r>
              <a:rPr lang="en-US" dirty="0" err="1"/>
              <a:t>analysed</a:t>
            </a:r>
            <a:r>
              <a:rPr lang="en-US" dirty="0"/>
              <a:t> using </a:t>
            </a:r>
            <a:r>
              <a:rPr lang="en-US" dirty="0" err="1"/>
              <a:t>COBRApy</a:t>
            </a:r>
            <a:r>
              <a:rPr lang="en-US" dirty="0"/>
              <a:t> package</a:t>
            </a:r>
          </a:p>
          <a:p>
            <a:r>
              <a:rPr lang="en-US" dirty="0"/>
              <a:t>They can be simulated using Flux Balance Analysis</a:t>
            </a:r>
          </a:p>
          <a:p>
            <a:r>
              <a:rPr lang="en-US" b="1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894911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34320</TotalTime>
  <Words>1196</Words>
  <Application>Microsoft Macintosh PowerPoint</Application>
  <PresentationFormat>Widescreen</PresentationFormat>
  <Paragraphs>224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Office Theme</vt:lpstr>
      <vt:lpstr>PowerPoint Presentation</vt:lpstr>
      <vt:lpstr> CODE-M #2 Genome-Scale Metabolic Models (GSMMs)</vt:lpstr>
      <vt:lpstr>Last time we talked about about</vt:lpstr>
      <vt:lpstr>Today we will talk about…</vt:lpstr>
      <vt:lpstr>A Genome Scale Metabolic Model (GSMM)…</vt:lpstr>
      <vt:lpstr>iRC1080 – a GSMM of C. reinhardtii</vt:lpstr>
      <vt:lpstr>PowerPoint Presentation</vt:lpstr>
      <vt:lpstr>PowerPoint Presentation</vt:lpstr>
      <vt:lpstr>Metabolic models are stored in BIGG Models</vt:lpstr>
      <vt:lpstr>Metabolic models are stored in SBML format</vt:lpstr>
      <vt:lpstr>Metabolic models are stored in SBML format</vt:lpstr>
      <vt:lpstr>PowerPoint Presentation</vt:lpstr>
      <vt:lpstr>Gene-Protein Reaction rules</vt:lpstr>
      <vt:lpstr>Exchange reactions allow metabolite uptake / exit</vt:lpstr>
      <vt:lpstr>COBRApy is the most used Python package to analsye and simulate metabolic models</vt:lpstr>
      <vt:lpstr>cobra.io_read_sbml_model(): creates a model object with 3 core classes</vt:lpstr>
      <vt:lpstr>Metabolic models are simulated using…</vt:lpstr>
      <vt:lpstr> Visualising flux distributions with Escher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Chapman, Stephen</dc:creator>
  <cp:lastModifiedBy>Chapman, Stephen</cp:lastModifiedBy>
  <cp:revision>24</cp:revision>
  <dcterms:created xsi:type="dcterms:W3CDTF">2025-02-14T10:30:46Z</dcterms:created>
  <dcterms:modified xsi:type="dcterms:W3CDTF">2026-10-12T10:21:13Z</dcterms:modified>
</cp:coreProperties>
</file>